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Masters/slideMaster4.xml" ContentType="application/vnd.openxmlformats-officedocument.presentationml.slideMaster+xml"/>
  <Override PartName="/ppt/slideMasters/theme/theme5.xml" ContentType="application/vnd.openxmlformats-officedocument.theme+xml"/>
  <Override PartName="/ppt/slideMasters/slideMaster5.xml" ContentType="application/vnd.openxmlformats-officedocument.presentationml.slideMaster+xml"/>
  <Override PartName="/ppt/slideMasters/theme/theme6.xml" ContentType="application/vnd.openxmlformats-officedocument.theme+xml"/>
  <Override PartName="/ppt/slideMasters/slideMaster6.xml" ContentType="application/vnd.openxmlformats-officedocument.presentationml.slideMaster+xml"/>
  <Override PartName="/ppt/slideMasters/theme/theme7.xml" ContentType="application/vnd.openxmlformats-officedocument.theme+xml"/>
  <Override PartName="/ppt/slideMasters/slideMaster7.xml" ContentType="application/vnd.openxmlformats-officedocument.presentationml.slideMaster+xml"/>
  <Override PartName="/ppt/slideMasters/theme/theme8.xml" ContentType="application/vnd.openxmlformats-officedocument.theme+xml"/>
  <Override PartName="/ppt/slideMasters/slideMaster8.xml" ContentType="application/vnd.openxmlformats-officedocument.presentationml.slideMaster+xml"/>
  <Override PartName="/ppt/slideMasters/theme/theme9.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notesMasters/theme/theme10.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44971b3f0b248fc" /><Relationship Type="http://schemas.openxmlformats.org/officeDocument/2006/relationships/extended-properties" Target="/docProps/app.xml" Id="R9eb4f90b69e24179" /><Relationship Type="http://schemas.openxmlformats.org/officeDocument/2006/relationships/officeDocument" Target="/ppt/presentation.xml" Id="R349d262162c441ce" /></Relationships>
</file>

<file path=ppt/presentation.xml><?xml version="1.0" encoding="utf-8"?>
<p:presentation xmlns:p="http://schemas.openxmlformats.org/presentationml/2006/main">
  <p:sldMasterIdLst>
    <p:sldMasterId xmlns:r="http://schemas.openxmlformats.org/officeDocument/2006/relationships" id="2147483648" r:id="Rf40501ec11414137"/>
    <p:sldMasterId xmlns:r="http://schemas.openxmlformats.org/officeDocument/2006/relationships" id="2147483651" r:id="R79bfa3a7180340b4"/>
    <p:sldMasterId xmlns:r="http://schemas.openxmlformats.org/officeDocument/2006/relationships" id="2147483653" r:id="Rcde9125856ca47cf"/>
    <p:sldMasterId xmlns:r="http://schemas.openxmlformats.org/officeDocument/2006/relationships" id="2147483655" r:id="R313c577e803f46dc"/>
    <p:sldMasterId xmlns:r="http://schemas.openxmlformats.org/officeDocument/2006/relationships" id="2147483657" r:id="R4ac2081fbb79413f"/>
    <p:sldMasterId xmlns:r="http://schemas.openxmlformats.org/officeDocument/2006/relationships" id="2147483660" r:id="Rbe7612e290d042e5"/>
    <p:sldMasterId xmlns:r="http://schemas.openxmlformats.org/officeDocument/2006/relationships" id="2147483662" r:id="Rf3ec9f7b95fa4a6c"/>
    <p:sldMasterId xmlns:r="http://schemas.openxmlformats.org/officeDocument/2006/relationships" id="2147483664" r:id="Rd7007b4d44de437d"/>
  </p:sldMasterIdLst>
  <p:notesMasterIdLst>
    <p:notesMasterId xmlns:r="http://schemas.openxmlformats.org/officeDocument/2006/relationships" r:id="R2c8c9d8ae2234d5b"/>
  </p:notesMasterIdLst>
  <p:sldIdLst>
    <p:sldId xmlns:r="http://schemas.openxmlformats.org/officeDocument/2006/relationships" id="256" r:id="Rcb1f912809fb4f8c"/>
    <p:sldId xmlns:r="http://schemas.openxmlformats.org/officeDocument/2006/relationships" id="257" r:id="R1f95563cba6348d8"/>
    <p:sldId xmlns:r="http://schemas.openxmlformats.org/officeDocument/2006/relationships" id="258" r:id="Re40f7ea036884a2d"/>
    <p:sldId xmlns:r="http://schemas.openxmlformats.org/officeDocument/2006/relationships" id="259" r:id="Rfa9fd8ccb4ef4cfa"/>
    <p:sldId xmlns:r="http://schemas.openxmlformats.org/officeDocument/2006/relationships" id="260" r:id="R63e409db2e6444c6"/>
    <p:sldId xmlns:r="http://schemas.openxmlformats.org/officeDocument/2006/relationships" id="261" r:id="Rf248d259b3be441f"/>
    <p:sldId xmlns:r="http://schemas.openxmlformats.org/officeDocument/2006/relationships" id="262" r:id="Rf196af66aeec441d"/>
    <p:sldId xmlns:r="http://schemas.openxmlformats.org/officeDocument/2006/relationships" id="263" r:id="Re2df54e6c3154d9b"/>
    <p:sldId xmlns:r="http://schemas.openxmlformats.org/officeDocument/2006/relationships" id="264" r:id="R07f41f8d4afa4812"/>
    <p:sldId xmlns:r="http://schemas.openxmlformats.org/officeDocument/2006/relationships" id="265" r:id="R879c50bda45446ed"/>
    <p:sldId xmlns:r="http://schemas.openxmlformats.org/officeDocument/2006/relationships" id="266" r:id="R91508ec851424c48"/>
    <p:sldId xmlns:r="http://schemas.openxmlformats.org/officeDocument/2006/relationships" id="267" r:id="Rd112195e468c4ae3"/>
    <p:sldId xmlns:r="http://schemas.openxmlformats.org/officeDocument/2006/relationships" id="268" r:id="Rd69c138d67a643ab"/>
    <p:sldId xmlns:r="http://schemas.openxmlformats.org/officeDocument/2006/relationships" id="269" r:id="R6e4125db33ef41b2"/>
    <p:sldId xmlns:r="http://schemas.openxmlformats.org/officeDocument/2006/relationships" id="270" r:id="Rececd576153d442e"/>
    <p:sldId xmlns:r="http://schemas.openxmlformats.org/officeDocument/2006/relationships" id="271" r:id="Rf0bcb8a3ba1c4ce8"/>
    <p:sldId xmlns:r="http://schemas.openxmlformats.org/officeDocument/2006/relationships" id="272" r:id="R20794029212141da"/>
    <p:sldId xmlns:r="http://schemas.openxmlformats.org/officeDocument/2006/relationships" id="273" r:id="R692ec9feb6e54a34"/>
    <p:sldId xmlns:r="http://schemas.openxmlformats.org/officeDocument/2006/relationships" id="274" r:id="R06bb71a1c6cc4eb9"/>
    <p:sldId xmlns:r="http://schemas.openxmlformats.org/officeDocument/2006/relationships" id="275" r:id="R2c7be3dee2904768"/>
    <p:sldId xmlns:r="http://schemas.openxmlformats.org/officeDocument/2006/relationships" id="276" r:id="Ra490c91f33254c39"/>
    <p:sldId xmlns:r="http://schemas.openxmlformats.org/officeDocument/2006/relationships" id="277" r:id="Rc4e7bee85b114ba9"/>
  </p:sldIdLst>
  <p:sldSz cx="12001500" cy="68072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790d822aa6d4320" /><Relationship Type="http://schemas.openxmlformats.org/officeDocument/2006/relationships/slideMaster" Target="/ppt/slideMasters/slideMaster1.xml" Id="Rf40501ec11414137" /><Relationship Type="http://schemas.openxmlformats.org/officeDocument/2006/relationships/slideMaster" Target="/ppt/slideMasters/slideMaster2.xml" Id="R79bfa3a7180340b4" /><Relationship Type="http://schemas.openxmlformats.org/officeDocument/2006/relationships/slideMaster" Target="/ppt/slideMasters/slideMaster3.xml" Id="Rcde9125856ca47cf" /><Relationship Type="http://schemas.openxmlformats.org/officeDocument/2006/relationships/slideMaster" Target="/ppt/slideMasters/slideMaster4.xml" Id="R313c577e803f46dc" /><Relationship Type="http://schemas.openxmlformats.org/officeDocument/2006/relationships/slideMaster" Target="/ppt/slideMasters/slideMaster5.xml" Id="R4ac2081fbb79413f" /><Relationship Type="http://schemas.openxmlformats.org/officeDocument/2006/relationships/slideMaster" Target="/ppt/slideMasters/slideMaster6.xml" Id="Rbe7612e290d042e5" /><Relationship Type="http://schemas.openxmlformats.org/officeDocument/2006/relationships/slideMaster" Target="/ppt/slideMasters/slideMaster7.xml" Id="Rf3ec9f7b95fa4a6c" /><Relationship Type="http://schemas.openxmlformats.org/officeDocument/2006/relationships/slideMaster" Target="/ppt/slideMasters/slideMaster8.xml" Id="Rd7007b4d44de437d" /><Relationship Type="http://schemas.openxmlformats.org/officeDocument/2006/relationships/notesMaster" Target="/ppt/notesMasters/notesMaster1.xml" Id="R2c8c9d8ae2234d5b" /><Relationship Type="http://schemas.openxmlformats.org/officeDocument/2006/relationships/presProps" Target="/ppt/presProps.xml" Id="Rc1be04d86e1e4c45" /><Relationship Type="http://schemas.openxmlformats.org/officeDocument/2006/relationships/viewProps" Target="/ppt/viewProps.xml" Id="Rc11cfeb3c69a4825" /><Relationship Type="http://schemas.openxmlformats.org/officeDocument/2006/relationships/tableStyles" Target="/ppt/tableStyles.xml" Id="Rc0fa2abe57254e54" /><Relationship Type="http://schemas.openxmlformats.org/officeDocument/2006/relationships/slide" Target="/ppt/slides/slide1.xml" Id="Rcb1f912809fb4f8c" /><Relationship Type="http://schemas.openxmlformats.org/officeDocument/2006/relationships/slide" Target="/ppt/slides/slide2.xml" Id="R1f95563cba6348d8" /><Relationship Type="http://schemas.openxmlformats.org/officeDocument/2006/relationships/slide" Target="/ppt/slides/slide3.xml" Id="Re40f7ea036884a2d" /><Relationship Type="http://schemas.openxmlformats.org/officeDocument/2006/relationships/slide" Target="/ppt/slides/slide4.xml" Id="Rfa9fd8ccb4ef4cfa" /><Relationship Type="http://schemas.openxmlformats.org/officeDocument/2006/relationships/slide" Target="/ppt/slides/slide5.xml" Id="R63e409db2e6444c6" /><Relationship Type="http://schemas.openxmlformats.org/officeDocument/2006/relationships/slide" Target="/ppt/slides/slide6.xml" Id="Rf248d259b3be441f" /><Relationship Type="http://schemas.openxmlformats.org/officeDocument/2006/relationships/slide" Target="/ppt/slides/slide7.xml" Id="Rf196af66aeec441d" /><Relationship Type="http://schemas.openxmlformats.org/officeDocument/2006/relationships/slide" Target="/ppt/slides/slide8.xml" Id="Re2df54e6c3154d9b" /><Relationship Type="http://schemas.openxmlformats.org/officeDocument/2006/relationships/slide" Target="/ppt/slides/slide9.xml" Id="R07f41f8d4afa4812" /><Relationship Type="http://schemas.openxmlformats.org/officeDocument/2006/relationships/slide" Target="/ppt/slides/slide10.xml" Id="R879c50bda45446ed" /><Relationship Type="http://schemas.openxmlformats.org/officeDocument/2006/relationships/slide" Target="/ppt/slides/slide11.xml" Id="R91508ec851424c48" /><Relationship Type="http://schemas.openxmlformats.org/officeDocument/2006/relationships/slide" Target="/ppt/slides/slide12.xml" Id="Rd112195e468c4ae3" /><Relationship Type="http://schemas.openxmlformats.org/officeDocument/2006/relationships/slide" Target="/ppt/slides/slide13.xml" Id="Rd69c138d67a643ab" /><Relationship Type="http://schemas.openxmlformats.org/officeDocument/2006/relationships/slide" Target="/ppt/slides/slide14.xml" Id="R6e4125db33ef41b2" /><Relationship Type="http://schemas.openxmlformats.org/officeDocument/2006/relationships/slide" Target="/ppt/slides/slide15.xml" Id="Rececd576153d442e" /><Relationship Type="http://schemas.openxmlformats.org/officeDocument/2006/relationships/slide" Target="/ppt/slides/slide16.xml" Id="Rf0bcb8a3ba1c4ce8" /><Relationship Type="http://schemas.openxmlformats.org/officeDocument/2006/relationships/slide" Target="/ppt/slides/slide17.xml" Id="R20794029212141da" /><Relationship Type="http://schemas.openxmlformats.org/officeDocument/2006/relationships/slide" Target="/ppt/slides/slide18.xml" Id="R692ec9feb6e54a34" /><Relationship Type="http://schemas.openxmlformats.org/officeDocument/2006/relationships/slide" Target="/ppt/slides/slide19.xml" Id="R06bb71a1c6cc4eb9" /><Relationship Type="http://schemas.openxmlformats.org/officeDocument/2006/relationships/slide" Target="/ppt/slides/slide20.xml" Id="R2c7be3dee2904768" /><Relationship Type="http://schemas.openxmlformats.org/officeDocument/2006/relationships/slide" Target="/ppt/slides/slide21.xml" Id="Ra490c91f33254c39" /><Relationship Type="http://schemas.openxmlformats.org/officeDocument/2006/relationships/slide" Target="/ppt/slides/slide22.xml" Id="Rc4e7bee85b114ba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10.xml" Id="R134251e3e0f24a9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10.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00f938d4b0475f" /><Relationship Type="http://schemas.openxmlformats.org/officeDocument/2006/relationships/notesMaster" Target="/ppt/notesMasters/notesMaster1.xml" Id="R55c78743b0404a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09f1ddd0dcc34c38" /><Relationship Type="http://schemas.openxmlformats.org/officeDocument/2006/relationships/notesMaster" Target="/ppt/notesMasters/notesMaster1.xml" Id="R0eb34e98a46c4553" /></Relationships>
</file>

<file path=ppt/notesSlides/_rels/notesSlide3.xml.rels>&#65279;<?xml version="1.0" encoding="utf-8"?><Relationships xmlns="http://schemas.openxmlformats.org/package/2006/relationships"><Relationship Type="http://schemas.openxmlformats.org/officeDocument/2006/relationships/slide" Target="/ppt/slides/slide3.xml" Id="Rc93b9d8a4d3240bf" /><Relationship Type="http://schemas.openxmlformats.org/officeDocument/2006/relationships/notesMaster" Target="/ppt/notesMasters/notesMaster1.xml" Id="R5f7595ec79174988" /></Relationships>
</file>

<file path=ppt/notesSlides/_rels/notesSlide4.xml.rels>&#65279;<?xml version="1.0" encoding="utf-8"?><Relationships xmlns="http://schemas.openxmlformats.org/package/2006/relationships"><Relationship Type="http://schemas.openxmlformats.org/officeDocument/2006/relationships/slide" Target="/ppt/slides/slide4.xml" Id="R3ef58054729843a0" /><Relationship Type="http://schemas.openxmlformats.org/officeDocument/2006/relationships/notesMaster" Target="/ppt/notesMasters/notesMaster1.xml" Id="Rc316b5f956cd4336" /></Relationships>
</file>

<file path=ppt/notesSlides/_rels/notesSlide5.xml.rels>&#65279;<?xml version="1.0" encoding="utf-8"?><Relationships xmlns="http://schemas.openxmlformats.org/package/2006/relationships"><Relationship Type="http://schemas.openxmlformats.org/officeDocument/2006/relationships/slide" Target="/ppt/slides/slide5.xml" Id="R030350b2e4fd462d" /><Relationship Type="http://schemas.openxmlformats.org/officeDocument/2006/relationships/notesMaster" Target="/ppt/notesMasters/notesMaster1.xml" Id="Ra932b0d4cb994699" /></Relationships>
</file>

<file path=ppt/notesSlides/_rels/notesSlide6.xml.rels>&#65279;<?xml version="1.0" encoding="utf-8"?><Relationships xmlns="http://schemas.openxmlformats.org/package/2006/relationships"><Relationship Type="http://schemas.openxmlformats.org/officeDocument/2006/relationships/slide" Target="/ppt/slides/slide6.xml" Id="R4e6f167b8ad949a6" /><Relationship Type="http://schemas.openxmlformats.org/officeDocument/2006/relationships/notesMaster" Target="/ppt/notesMasters/notesMaster1.xml" Id="R032b7b605821409b" /></Relationships>
</file>

<file path=ppt/notesSlides/_rels/notesSlide7.xml.rels>&#65279;<?xml version="1.0" encoding="utf-8"?><Relationships xmlns="http://schemas.openxmlformats.org/package/2006/relationships"><Relationship Type="http://schemas.openxmlformats.org/officeDocument/2006/relationships/slide" Target="/ppt/slides/slide7.xml" Id="R8cac478e3b7347dd" /><Relationship Type="http://schemas.openxmlformats.org/officeDocument/2006/relationships/notesMaster" Target="/ppt/notesMasters/notesMaster1.xml" Id="R527a137fea634f96" /></Relationships>
</file>

<file path=ppt/notesSlides/_rels/notesSlide8.xml.rels>&#65279;<?xml version="1.0" encoding="utf-8"?><Relationships xmlns="http://schemas.openxmlformats.org/package/2006/relationships"><Relationship Type="http://schemas.openxmlformats.org/officeDocument/2006/relationships/slide" Target="/ppt/slides/slide8.xml" Id="R5734290d44f84310" /><Relationship Type="http://schemas.openxmlformats.org/officeDocument/2006/relationships/notesMaster" Target="/ppt/notesMasters/notesMaster1.xml" Id="R655bacaed57c495f" /></Relationships>
</file>

<file path=ppt/notesSlides/_rels/notesSlide9.xml.rels>&#65279;<?xml version="1.0" encoding="utf-8"?><Relationships xmlns="http://schemas.openxmlformats.org/package/2006/relationships"><Relationship Type="http://schemas.openxmlformats.org/officeDocument/2006/relationships/slide" Target="/ppt/slides/slide9.xml" Id="R0d3c8e005f484536" /><Relationship Type="http://schemas.openxmlformats.org/officeDocument/2006/relationships/notesMaster" Target="/ppt/notesMasters/notesMaster1.xml" Id="R74d952d675c7445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7bd56c1aef64254" /><Relationship Type="http://schemas.openxmlformats.org/officeDocument/2006/relationships/notesMaster" Target="/ppt/notesMasters/notesMaster1.xml" Id="R69c8c9557aa0421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3d4721911604b5b" /><Relationship Type="http://schemas.openxmlformats.org/officeDocument/2006/relationships/notesMaster" Target="/ppt/notesMasters/notesMaster1.xml" Id="R4f548dd1b178423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4927a4410364e1f" /><Relationship Type="http://schemas.openxmlformats.org/officeDocument/2006/relationships/notesMaster" Target="/ppt/notesMasters/notesMaster1.xml" Id="R83bf30f194d2409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e553505bf134f66" /><Relationship Type="http://schemas.openxmlformats.org/officeDocument/2006/relationships/notesMaster" Target="/ppt/notesMasters/notesMaster1.xml" Id="Reed6098513174cb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601bcf792f04b55" /><Relationship Type="http://schemas.openxmlformats.org/officeDocument/2006/relationships/notesMaster" Target="/ppt/notesMasters/notesMaster1.xml" Id="R0b76e362ea994a6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b8f9237153d4f1e" /><Relationship Type="http://schemas.openxmlformats.org/officeDocument/2006/relationships/notesMaster" Target="/ppt/notesMasters/notesMaster1.xml" Id="R94f1e5e656b04c7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56ff6f8eb59469e" /><Relationship Type="http://schemas.openxmlformats.org/officeDocument/2006/relationships/notesMaster" Target="/ppt/notesMasters/notesMaster1.xml" Id="R7c126b6f7cdf422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6f65853657c41d6" /><Relationship Type="http://schemas.openxmlformats.org/officeDocument/2006/relationships/notesMaster" Target="/ppt/notesMasters/notesMaster1.xml" Id="Rd8d4e77851db429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cca7534c4d44e8c" /><Relationship Type="http://schemas.openxmlformats.org/officeDocument/2006/relationships/notesMaster" Target="/ppt/notesMasters/notesMaster1.xml" Id="R86e629978ddd46c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1f6602e0a1b466c" /><Relationship Type="http://schemas.openxmlformats.org/officeDocument/2006/relationships/notesMaster" Target="/ppt/notesMasters/notesMaster1.xml" Id="R4563bb8afc41433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aacd7f67dbb4580" /><Relationship Type="http://schemas.openxmlformats.org/officeDocument/2006/relationships/notesMaster" Target="/ppt/notesMasters/notesMaster1.xml" Id="R8ef17d9a3e794fd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32de8e2a2c341ec" /><Relationship Type="http://schemas.openxmlformats.org/officeDocument/2006/relationships/notesMaster" Target="/ppt/notesMasters/notesMaster1.xml" Id="R1c91329c08964bf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5e7455cd63e4e88" /><Relationship Type="http://schemas.openxmlformats.org/officeDocument/2006/relationships/notesMaster" Target="/ppt/notesMasters/notesMaster1.xml" Id="Recb220cee0fa43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尊敬的各位评委老师，大家好。我们是来自桂林电子科技大学的“神经没有bug队”。今天我们带来的项目是“基于领域对抗多头残差图卷积网络的EEG情绪识别模型优化与端侧部署”。我们的项目旨在解决脑电情绪识别在实际应用中面临的泛化性差和部署难的问题，通过一系列算法优化和工程实践，实现了一个从模型训练到端侧推理的完整技术方案。接下来，我将详细介绍我们的工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本次汇报将分为五个部分。首先，我将介绍项目的研究背景、意义以及我们面临的技术难点和创新点。接着，会详细阐述我们的总体技术方案和三大核心技术原理。第三部分将展示我们的软件设计与实现细节。第四部分是系统测试与结果分析。最后，对整个项目进行总结并对未来工作进行展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接下来，我将详细介绍我们的方案设计与核心技术原理。这部分将涵盖我们的总体技术路线、基线模型的选择，以及MRGCN、DANN和模型量化三大核心技术的具体实现。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首先来看研究背景。在脑机接口和边缘智能快速发展的今天，基于脑电信号的情绪识别因其直接性和抗伪装性，展现出巨大的应用潜力。然而，EEG信号本身具有高维度、强噪声的特点，尤其是跨被试和跨时段的数据分布差异，也就是我们常说的“域偏移”问题，严重制约了模型的泛化能力。因此，我们的项目目标就是构建一个完整的技术方案，解决这些挑战，最终实现一个高效、准确且能够在端侧设备上部署的EEG情绪识别系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为了实现这一目标，我们识别出三大核心技术难点：首先是图模型强大的表达能力与端侧推理效率之间的矛盾；其次是如何有效解决跨被试的域偏移问题；最后是如何打通从模型训练到端侧部署的复杂工程链路。针对这些难点，我们提出了四大核心创新：通过滑动窗口增强动态信息表达；构建融合多种连接方式的脑网络；引入领域对抗训练提升泛化能力；以及最终构建一个从算法到产品的完整工程闭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接下来，我将详细介绍我们的方案设计与核心技术原理。这部分将涵盖我们的总体技术路线、基线模型的选择，以及MRGCN、DANN和模型量化三大核心技术的具体实现。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我们的总体技术路线遵循一个清晰的全链路流程。首先，对原始EEG数据进行预处理，通过滑动窗口构建模型输入。然后，以MRGCN为核心进行图建模，提取脑区拓扑特征。接着，通过引入DANN等方法进行模型优化，提升泛化能力。之后，我们对训练好的模型进行量化压缩和格式转换，以适应端侧部署。最后，在ARM64平台上进行性能验证，形成一个完整的从算法到应用的闭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我们的总体技术路线遵循一个清晰的全链路流程。首先，对原始EEG数据进行预处理，通过滑动窗口构建模型输入。然后，以MRGCN为核心进行图建模，提取脑区拓扑特征。接着，通过引入DANN等方法进行模型优化，提升泛化能力。之后，我们对训练好的模型进行量化压缩和格式转换，以适应端侧部署。最后，在ARM64平台上进行性能验证，形成一个完整的从算法到应用的闭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我们的软件系统采用了模块化设计，如这张架构图所示。核心模块包括负责模型实现的训练实验模块，负责结构组合的结构扩展模块，以及包含DANN和自动调参的泛化调优模块。此外，还有专门的量化转换模块和端侧推理模块。这些核心模块由公共资源脚本和输出评估模块提供支撑，整个架构职责清晰，便于开发、测试和维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在模型选择上，我们对比了多种方案。传统的DNN模型虽然简单快速，但无法捕捉电极间的空间关系。CNN-LSTM能利用时序信息，但对非规则的脑电拓扑结构表达不足。普通的GCN虽然引入了图结构，但其表达能力有限。最终，我们选择MRGCN，即多头残差图卷积网络作为核心基线模型，因为它在脑区拓扑建模、训练稳定性和强大的特征表达能力之间取得了最佳平衡，是后续优化的理想起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第二个核心技术是DANN，即领域对抗训练。它旨在解决EEG数据中普遍存在的域偏移问题。我们在MRGCN特征提取器后增加了两个分类器：一个用于情绪分类，另一个用于判断样本来自训练集还是测试集。关键在于梯度反转层，它在反向传播时会翻转域分类器的梯度方向。这样，特征提取器就陷入了一种“对抗”：它既要让情绪分类器准确分类，又要让域分类器无法分辨样本来源。最终，模型会学习到对情绪有效但对域差异不敏感的“域不变特征”，从而大大提升泛化能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第二个核心技术是DANN，即领域对抗训练。它旨在解决EEG数据中普遍存在的域偏移问题。我们在MRGCN特征提取器后增加了两个分类器：一个用于情绪分类，另一个用于判断样本来自训练集还是测试集。关键在于梯度反转层，它在反向传播时会翻转域分类器的梯度方向。这样，特征提取器就陷入了一种“对抗”：它既要让情绪分类器准确分类，又要让域分类器无法分辨样本来源。最终，模型会学习到对情绪有效但对域差异不敏感的“域不变特征”，从而大大提升泛化能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理论介绍完毕，接下来我们进入第三部分，详细介绍我们的软件设计与实现过程。这部分将展示我们的代码架构、数据处理流程以及端侧部署的具体步骤。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我们的软件系统采用了模块化设计，如这张架构图所示。核心模块包括负责模型实现的训练实验模块，负责结构组合的结构扩展模块，以及包含DANN和自动调参的泛化调优模块。此外，还有专门的量化转换模块和端侧推理模块。这些核心模块由公共资源脚本和输出评估模块提供支撑，整个架构职责清晰，便于开发、测试和维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我们的第一个核心技术是MRGCN模型。它的基本思想是将EEG电极看作图的节点，电极间的连接看作边，从而利用图卷积来提取脑区之间的拓扑交互特征。</a:t>
            </a:r>
          </a:p>
          <a:p xmlns:a="http://schemas.openxmlformats.org/drawingml/2006/main">
            <a:pPr indent="0" algn="l">
              <a:lnSpc>
                <a:spcPct val="100000"/>
              </a:lnSpc>
              <a:buNone/>
            </a:pPr>
            <a:r>
              <a:rPr sz="1400" b="0" i="0" u="none">
                <a:solidFill>
                  <a:srgbClr val="000000"/>
                </a:solidFill>
              </a:rPr>
              <a:t>我们构建的脑网络融合了三种信息：基于物理位置的短距离连接、基于数据相关性的功能连接，以及一个可由模型自动学习的邻接矩阵。通过多头图卷积和残差连接，模型能够从不同角度提取多样化的特征，并有效缓解训练过程中的梯度消失问题，最终实现对情绪特征的高效提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我们的软件系统采用了模块化设计，如这张架构图所示。核心模块包括负责模型实现的训练实验模块，负责结构组合的结构扩展模块，以及包含DANN和自动调参的泛化调优模块。此外，还有专门的量化转换模块和端侧推理模块。这些核心模块由公共资源脚本和输出评估模块提供支撑，整个架构职责清晰，便于开发、测试和维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完成了软件实现后，我们对系统进行了全面的测试与分析。第四部分将展示我们的测试内容、评价指标以及关键的测试结果。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我们的测试主要围绕两个维度展开：算法有效性和端侧部署性能。为此，我们定义了一系列核心评价指标。</a:t>
            </a:r>
          </a:p>
          <a:p xmlns:a="http://schemas.openxmlformats.org/drawingml/2006/main">
            <a:pPr indent="0" algn="l">
              <a:lnSpc>
                <a:spcPct val="100000"/>
              </a:lnSpc>
              <a:buNone/>
            </a:pPr>
            <a:r>
              <a:rPr sz="1400" b="0" i="0" u="none">
                <a:solidFill>
                  <a:srgbClr val="000000"/>
                </a:solidFill>
              </a:rPr>
              <a:t>在算法层面，我们首要关注分类准确率，确保模型解决问题的能力；同时关注模型在不同环境下的稳定性，以保证其泛化能力。</a:t>
            </a:r>
          </a:p>
          <a:p xmlns:a="http://schemas.openxmlformats.org/drawingml/2006/main">
            <a:pPr indent="0" algn="l">
              <a:lnSpc>
                <a:spcPct val="100000"/>
              </a:lnSpc>
              <a:buNone/>
            </a:pPr>
            <a:r>
              <a:rPr sz="1400" b="0" i="0" u="none">
                <a:solidFill>
                  <a:srgbClr val="000000"/>
                </a:solidFill>
              </a:rPr>
              <a:t>在部署层面，为了保证用户体验，我们重点关注单样本推理延迟和系统的吞吐量；此外，考虑到移动端设备的存储和带宽限制，量化压缩后的模型体积也是一个关键指标。</a:t>
            </a:r>
          </a:p>
          <a:p xmlns:a="http://schemas.openxmlformats.org/drawingml/2006/main">
            <a:pPr indent="0" algn="l">
              <a:lnSpc>
                <a:spcPct val="100000"/>
              </a:lnSpc>
              <a:buNone/>
            </a:pPr>
            <a:r>
              <a:rPr sz="1400" b="0" i="0" u="none">
                <a:solidFill>
                  <a:srgbClr val="000000"/>
                </a:solidFill>
              </a:rPr>
              <a:t>这五大核心指标，从准确性、速度、并发、体积、稳定性五个维度，共同构成了对我们方案的全面评估体系，确保上线产品既“准”又“快”，还“轻量可靠”。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我们的端侧优化带来了显著的收益。在模型层面，我们通过调参控制了模型规模；在量化层面，PTQ和QAT显著减小了模型体积；在引擎层面，NCNN框架的优化有效提升了推理吞吐量。当然，我们也分析了误差的来源，包括数据预处理、模型训练随机性、量化本身带来的精度损失以及端侧测量时的系统误差。对这些误差的分析有助于我们未来进一步优化系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完成了软件实现后，我们对系统进行了全面的测试与分析。第四部分将展示我们的测试内容、评价指标以及关键的测试结果。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最后，对我们的项目进行总结与展望。我们成功构建了一个从算法到端侧部署的完整技术方案，核心贡献在于解决了高精度模型的泛化和落地问题，为图神经网络在边缘平台的应用提供了可复用的工程路径。展望未来，我们计划进一步完善评测体系，进行算子级的底层优化，并将测试场景扩展到更复杂的跨被试和在线推理，向真正的产品化应用迈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我的汇报到此结束，感谢各位评委老师的聆听。我们非常乐意回答大家可能有的任何问题。谢谢！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d4cfc191789486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1d67fe45ab34db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43899b9f89e3474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3.xml" Id="R9ca5ec05ecf64c8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4.xml" Id="Rd7ec2a64b33f44c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5.xml" Id="Re6adda63b33a45b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5.xml" Id="Rf52a27bea19a494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6.xml" Id="Ra422df83bf114fa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7.xml" Id="Rdb5720bdff7b4678"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8.xml" Id="R958c580c13364c9b" /></Relationships>
</file>

<file path=ppt/slideLayouts/slideLayout1.xml><?xml version="1.0" encoding="utf-8"?>
<p:sldLayout xmlns:p="http://schemas.openxmlformats.org/presentationml/2006/main" type="title" preserve="1">
  <p:cSld>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type="title" preserve="1">
  <p:cSld>
    <p:spTree>
      <p:nvGrpSpPr>
        <p:cNvPr id="1" name=""/>
        <p:cNvGrpSpPr/>
        <p:nvPr/>
      </p:nvGrpSpPr>
      <p:grpSpPr>
        <a:xfrm xmlns:a="http://schemas.openxmlformats.org/drawingml/2006/main"/>
      </p:grpSpPr>
    </p:spTree>
  </p:cSld>
</p:sldLayout>
</file>

<file path=ppt/slideLayouts/slideLayout4.xml><?xml version="1.0" encoding="utf-8"?>
<p:sldLayout xmlns:p="http://schemas.openxmlformats.org/presentationml/2006/main" type="title" preserve="1">
  <p:cSld>
    <p:spTree>
      <p:nvGrpSpPr>
        <p:cNvPr id="1" name=""/>
        <p:cNvGrpSpPr/>
        <p:nvPr/>
      </p:nvGrpSpPr>
      <p:grpSpPr>
        <a:xfrm xmlns:a="http://schemas.openxmlformats.org/drawingml/2006/main"/>
      </p:grpSpPr>
    </p:spTree>
  </p:cSld>
</p:sldLayout>
</file>

<file path=ppt/slideLayouts/slideLayout5.xml><?xml version="1.0" encoding="utf-8"?>
<p:sldLayout xmlns:p="http://schemas.openxmlformats.org/presentationml/2006/main" type="title" preserve="1">
  <p:cSld>
    <p:spTree>
      <p:nvGrpSpPr>
        <p:cNvPr id="1" name=""/>
        <p:cNvGrpSpPr/>
        <p:nvPr/>
      </p:nvGrpSpPr>
      <p:grpSpPr>
        <a:xfrm xmlns:a="http://schemas.openxmlformats.org/drawingml/2006/main"/>
      </p:grpSpPr>
    </p:spTree>
  </p:cSld>
</p:sldLayout>
</file>

<file path=ppt/slideLayouts/slideLayout6.xml><?xml version="1.0" encoding="utf-8"?>
<p:sldLayout xmlns:p="http://schemas.openxmlformats.org/presentationml/2006/main" type="title" preserve="1">
  <p:cSld>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8.xml><?xml version="1.0" encoding="utf-8"?>
<p:sldLayout xmlns:p="http://schemas.openxmlformats.org/presentationml/2006/main" type="title" preserve="1">
  <p:cSld>
    <p:spTree>
      <p:nvGrpSpPr>
        <p:cNvPr id="1" name=""/>
        <p:cNvGrpSpPr/>
        <p:nvPr/>
      </p:nvGrpSpPr>
      <p:grpSpPr>
        <a:xfrm xmlns:a="http://schemas.openxmlformats.org/drawingml/2006/main"/>
      </p:grpSpPr>
    </p:spTree>
  </p:cSld>
</p:sldLayout>
</file>

<file path=ppt/slideLayouts/slideLayout9.xml><?xml version="1.0" encoding="utf-8"?>
<p:sldLayout xmlns:p="http://schemas.openxmlformats.org/presentationml/2006/main" type="title" preserve="1">
  <p:cSld>
    <p:spTree>
      <p:nvGrpSpPr>
        <p:cNvPr id="1" name=""/>
        <p:cNvGrpSpPr/>
        <p:nvPr/>
      </p:nvGrpSpPr>
      <p:grpSpPr>
        <a:xfrm xmlns:a="http://schemas.openxmlformats.org/drawingml/2006/main"/>
      </p:grpSpPr>
    </p:spTree>
  </p:cSld>
</p:sldLayout>
</file>

<file path=ppt/slideLayouts/slideLayout10.xml><?xml version="1.0" encoding="utf-8"?>
<p:sldLayout xmlns:p="http://schemas.openxmlformats.org/presentationml/2006/main" type="title" preserve="1">
  <p:cSld>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5be2f6d7f74c15" /><Relationship Type="http://schemas.openxmlformats.org/officeDocument/2006/relationships/slideLayout" Target="/ppt/slideLayouts/slideLayout1.xml" Id="R977d124153d14ddd" /><Relationship Type="http://schemas.openxmlformats.org/officeDocument/2006/relationships/slideLayout" Target="/ppt/slideLayouts/slideLayout2.xml" Id="R0c2bacf1ff4f4158"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a1f098203b5d41f5" /><Relationship Type="http://schemas.openxmlformats.org/officeDocument/2006/relationships/slideLayout" Target="/ppt/slideLayouts/slideLayout3.xml" Id="Rb1ba1f9a289d446e" /></Relationships>
</file>

<file path=ppt/slideMasters/_rels/slideMaster3.xml.rels>&#65279;<?xml version="1.0" encoding="utf-8"?><Relationships xmlns="http://schemas.openxmlformats.org/package/2006/relationships"><Relationship Type="http://schemas.openxmlformats.org/officeDocument/2006/relationships/theme" Target="/ppt/slideMasters/theme/theme4.xml" Id="R607c59581670450f" /><Relationship Type="http://schemas.openxmlformats.org/officeDocument/2006/relationships/slideLayout" Target="/ppt/slideLayouts/slideLayout4.xml" Id="R5ecf959efba34336" /></Relationships>
</file>

<file path=ppt/slideMasters/_rels/slideMaster4.xml.rels>&#65279;<?xml version="1.0" encoding="utf-8"?><Relationships xmlns="http://schemas.openxmlformats.org/package/2006/relationships"><Relationship Type="http://schemas.openxmlformats.org/officeDocument/2006/relationships/theme" Target="/ppt/slideMasters/theme/theme5.xml" Id="R829dbcac197548d1" /><Relationship Type="http://schemas.openxmlformats.org/officeDocument/2006/relationships/slideLayout" Target="/ppt/slideLayouts/slideLayout5.xml" Id="R02daf2f83e1b4f3b" /></Relationships>
</file>

<file path=ppt/slideMasters/_rels/slideMaster5.xml.rels>&#65279;<?xml version="1.0" encoding="utf-8"?><Relationships xmlns="http://schemas.openxmlformats.org/package/2006/relationships"><Relationship Type="http://schemas.openxmlformats.org/officeDocument/2006/relationships/theme" Target="/ppt/slideMasters/theme/theme6.xml" Id="Re9eebf1b28664679" /><Relationship Type="http://schemas.openxmlformats.org/officeDocument/2006/relationships/slideLayout" Target="/ppt/slideLayouts/slideLayout6.xml" Id="R9332dc5990194252" /><Relationship Type="http://schemas.openxmlformats.org/officeDocument/2006/relationships/slideLayout" Target="/ppt/slideLayouts/slideLayout7.xml" Id="Rad099cf64a364668" /></Relationships>
</file>

<file path=ppt/slideMasters/_rels/slideMaster6.xml.rels>&#65279;<?xml version="1.0" encoding="utf-8"?><Relationships xmlns="http://schemas.openxmlformats.org/package/2006/relationships"><Relationship Type="http://schemas.openxmlformats.org/officeDocument/2006/relationships/theme" Target="/ppt/slideMasters/theme/theme7.xml" Id="R91a1f323374a4930" /><Relationship Type="http://schemas.openxmlformats.org/officeDocument/2006/relationships/slideLayout" Target="/ppt/slideLayouts/slideLayout8.xml" Id="R63eb48b0a9a84e80" /></Relationships>
</file>

<file path=ppt/slideMasters/_rels/slideMaster7.xml.rels>&#65279;<?xml version="1.0" encoding="utf-8"?><Relationships xmlns="http://schemas.openxmlformats.org/package/2006/relationships"><Relationship Type="http://schemas.openxmlformats.org/officeDocument/2006/relationships/theme" Target="/ppt/slideMasters/theme/theme8.xml" Id="R8536d3ba290543da" /><Relationship Type="http://schemas.openxmlformats.org/officeDocument/2006/relationships/slideLayout" Target="/ppt/slideLayouts/slideLayout9.xml" Id="R9597dd0305874ed0" /></Relationships>
</file>

<file path=ppt/slideMasters/_rels/slideMaster8.xml.rels>&#65279;<?xml version="1.0" encoding="utf-8"?><Relationships xmlns="http://schemas.openxmlformats.org/package/2006/relationships"><Relationship Type="http://schemas.openxmlformats.org/officeDocument/2006/relationships/theme" Target="/ppt/slideMasters/theme/theme9.xml" Id="Ra6f12167b1f44987" /><Relationship Type="http://schemas.openxmlformats.org/officeDocument/2006/relationships/slideLayout" Target="/ppt/slideLayouts/slideLayout10.xml" Id="Rf44f54d851de4910" /></Relationships>
</file>

<file path=ppt/slideMasters/slideMaster1.xml><?xml version="1.0" encoding="utf-8"?>
<p:sldMaster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977d124153d14ddd"/>
    <p:sldLayoutId xmlns:r="http://schemas.openxmlformats.org/officeDocument/2006/relationships" id="2147483650" r:id="R0c2bacf1ff4f4158"/>
  </p:sldLayoutIdLst>
  <p:hf sldNum="0" hdr="0" ftr="0" dt="0"/>
  <p:txStyles>
    <p:title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titleStyle>
    <p:body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bodyStyle>
    <p:other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52" r:id="Rb1ba1f9a289d446e"/>
  </p:sldLayoutIdLst>
  <p:hf sldNum="0" hdr="0" ftr="0" dt="0"/>
  <p:txStyles>
    <p:title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titleStyle>
    <p:body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bodyStyle>
    <p:other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otherStyle>
  </p:txStyles>
</p:sldMaster>
</file>

<file path=ppt/slideMasters/slideMaster3.xml><?xml version="1.0" encoding="utf-8"?>
<p:sldMaster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54" r:id="R5ecf959efba34336"/>
  </p:sldLayoutIdLst>
  <p:hf sldNum="0" hdr="0" ftr="0" dt="0"/>
  <p:txStyles>
    <p:title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titleStyle>
    <p:body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bodyStyle>
    <p:other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otherStyle>
  </p:txStyles>
</p:sldMaster>
</file>

<file path=ppt/slideMasters/slideMaster4.xml><?xml version="1.0" encoding="utf-8"?>
<p:sldMaster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56" r:id="R02daf2f83e1b4f3b"/>
  </p:sldLayoutIdLst>
  <p:hf sldNum="0" hdr="0" ftr="0" dt="0"/>
  <p:txStyles>
    <p:title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titleStyle>
    <p:body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bodyStyle>
    <p:other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otherStyle>
  </p:txStyles>
</p:sldMaster>
</file>

<file path=ppt/slideMasters/slideMaster5.xml><?xml version="1.0" encoding="utf-8"?>
<p:sldMaster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58" r:id="R9332dc5990194252"/>
    <p:sldLayoutId xmlns:r="http://schemas.openxmlformats.org/officeDocument/2006/relationships" id="2147483659" r:id="Rad099cf64a364668"/>
  </p:sldLayoutIdLst>
  <p:hf sldNum="0" hdr="0" ftr="0" dt="0"/>
  <p:txStyles>
    <p:title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titleStyle>
    <p:body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bodyStyle>
    <p:other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otherStyle>
  </p:txStyles>
</p:sldMaster>
</file>

<file path=ppt/slideMasters/slideMaster6.xml><?xml version="1.0" encoding="utf-8"?>
<p:sldMaster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61" r:id="R63eb48b0a9a84e80"/>
  </p:sldLayoutIdLst>
  <p:hf sldNum="0" hdr="0" ftr="0" dt="0"/>
  <p:txStyles>
    <p:title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titleStyle>
    <p:body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bodyStyle>
    <p:other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otherStyle>
  </p:txStyles>
</p:sldMaster>
</file>

<file path=ppt/slideMasters/slideMaster7.xml><?xml version="1.0" encoding="utf-8"?>
<p:sldMaster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63" r:id="R9597dd0305874ed0"/>
  </p:sldLayoutIdLst>
  <p:hf sldNum="0" hdr="0" ftr="0" dt="0"/>
  <p:txStyles>
    <p:title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titleStyle>
    <p:body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bodyStyle>
    <p:other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otherStyle>
  </p:txStyles>
</p:sldMaster>
</file>

<file path=ppt/slideMasters/slideMaster8.xml><?xml version="1.0" encoding="utf-8"?>
<p:sldMaster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65" r:id="Rf44f54d851de4910"/>
  </p:sldLayoutIdLst>
  <p:hf sldNum="0" hdr="0" ftr="0" dt="0"/>
  <p:txStyles>
    <p:title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titleStyle>
    <p:body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bodyStyle>
    <p:other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4.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5.xml><?xml version="1.0" encoding="utf-8"?>
<a:theme xmlns:a="http://schemas.openxmlformats.org/drawingml/2006/main" name="4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6.xml><?xml version="1.0" encoding="utf-8"?>
<a:theme xmlns:a="http://schemas.openxmlformats.org/drawingml/2006/main" name="5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7.xml><?xml version="1.0" encoding="utf-8"?>
<a:theme xmlns:a="http://schemas.openxmlformats.org/drawingml/2006/main" name="6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8.xml><?xml version="1.0" encoding="utf-8"?>
<a:theme xmlns:a="http://schemas.openxmlformats.org/drawingml/2006/main" name="7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9.xml><?xml version="1.0" encoding="utf-8"?>
<a:theme xmlns:a="http://schemas.openxmlformats.org/drawingml/2006/main" name="8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19d041a76564e02" /><Relationship Type="http://schemas.openxmlformats.org/officeDocument/2006/relationships/image" Target="/ppt/media/image.png" Id="R2ed973ce9d544646" /><Relationship Type="http://schemas.openxmlformats.org/officeDocument/2006/relationships/notesSlide" Target="/ppt/notesSlides/notesSlide1.xml" Id="Rb3c86bfbbf544d1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86843b4c3da44e4" /><Relationship Type="http://schemas.openxmlformats.org/officeDocument/2006/relationships/image" Target="/ppt/media/image2.png" Id="R6cff897995614f7a" /><Relationship Type="http://schemas.openxmlformats.org/officeDocument/2006/relationships/notesSlide" Target="/ppt/notesSlides/notesSlide2.xml" Id="Rcfbc26a2c76146a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26eeb396bc04f90" /><Relationship Type="http://schemas.openxmlformats.org/officeDocument/2006/relationships/image" Target="/ppt/media/image2.png" Id="R8e961dab67fc4c50" /><Relationship Type="http://schemas.openxmlformats.org/officeDocument/2006/relationships/notesSlide" Target="/ppt/notesSlides/notesSlide3.xml" Id="Rf6683ba6c4784ca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af0890fe5fb4f89" /><Relationship Type="http://schemas.openxmlformats.org/officeDocument/2006/relationships/image" Target="/ppt/media/image2.png" Id="Rb999a9c8a84f48a0" /><Relationship Type="http://schemas.openxmlformats.org/officeDocument/2006/relationships/image" Target="/ppt/media/image3.png" Id="Rbac71ac56927403d" /><Relationship Type="http://schemas.openxmlformats.org/officeDocument/2006/relationships/image" Target="/ppt/media/image4.png" Id="Rdae5c06da6f64a9a" /><Relationship Type="http://schemas.openxmlformats.org/officeDocument/2006/relationships/image" Target="/ppt/media/image5.png" Id="R6cf6757f88a44699" /><Relationship Type="http://schemas.openxmlformats.org/officeDocument/2006/relationships/image" Target="/ppt/media/image6.png" Id="R12b49c8e13d44dc7" /><Relationship Type="http://schemas.openxmlformats.org/officeDocument/2006/relationships/notesSlide" Target="/ppt/notesSlides/notesSlide4.xml" Id="Rcb213f1b15bb4c4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24347eedb3543ae" /><Relationship Type="http://schemas.openxmlformats.org/officeDocument/2006/relationships/image" Target="/ppt/media/image2.png" Id="Rf589ea75d744419e" /><Relationship Type="http://schemas.openxmlformats.org/officeDocument/2006/relationships/image" Target="/ppt/media/image7.png" Id="R98cde4dc4afc4c30" /><Relationship Type="http://schemas.openxmlformats.org/officeDocument/2006/relationships/image" Target="/ppt/media/image8.png" Id="R5fba5c0b641749a8" /><Relationship Type="http://schemas.openxmlformats.org/officeDocument/2006/relationships/image" Target="/ppt/media/image9.png" Id="R4860672a53fa4a5f" /><Relationship Type="http://schemas.openxmlformats.org/officeDocument/2006/relationships/image" Target="/ppt/media/image10.png" Id="R972fb3d62f744c70" /><Relationship Type="http://schemas.openxmlformats.org/officeDocument/2006/relationships/image" Target="/ppt/media/image11.png" Id="Rdff33252790a4617" /><Relationship Type="http://schemas.openxmlformats.org/officeDocument/2006/relationships/image" Target="/ppt/media/image12.png" Id="R01ddd4d0c2b34e46" /><Relationship Type="http://schemas.openxmlformats.org/officeDocument/2006/relationships/image" Target="/ppt/media/image13.png" Id="R2a0b9127f11f42fb" /><Relationship Type="http://schemas.openxmlformats.org/officeDocument/2006/relationships/notesSlide" Target="/ppt/notesSlides/notesSlide5.xml" Id="R9deb7f7e80244ca8"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075e79f7dbed4986" /><Relationship Type="http://schemas.openxmlformats.org/officeDocument/2006/relationships/image" Target="/ppt/media/image2.png" Id="R29f23e9e5a8243aa" /><Relationship Type="http://schemas.openxmlformats.org/officeDocument/2006/relationships/notesSlide" Target="/ppt/notesSlides/notesSlide6.xml" Id="R0cc3acf2402e42d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5151c651ba04e59" /><Relationship Type="http://schemas.openxmlformats.org/officeDocument/2006/relationships/image" Target="/ppt/media/image2.png" Id="R3b152177fc024911" /><Relationship Type="http://schemas.openxmlformats.org/officeDocument/2006/relationships/notesSlide" Target="/ppt/notesSlides/notesSlide7.xml" Id="Rc2dd18fb64c0480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5c38c5aceba483d" /><Relationship Type="http://schemas.openxmlformats.org/officeDocument/2006/relationships/image" Target="/ppt/media/image2.png" Id="R116a61a2eead473a" /><Relationship Type="http://schemas.openxmlformats.org/officeDocument/2006/relationships/notesSlide" Target="/ppt/notesSlides/notesSlide8.xml" Id="R7c2da70f78644fbd" /></Relationships>
</file>

<file path=ppt/slides/_rels/slide9.xml.rels>&#65279;<?xml version="1.0" encoding="utf-8"?><Relationships xmlns="http://schemas.openxmlformats.org/package/2006/relationships"><Relationship Type="http://schemas.openxmlformats.org/officeDocument/2006/relationships/slideLayout" Target="/ppt/slideLayouts/slideLayout4.xml" Id="R32dcbf38a7844a17" /><Relationship Type="http://schemas.openxmlformats.org/officeDocument/2006/relationships/image" Target="/ppt/media/image2.png" Id="Rdc1989b352d043ea" /><Relationship Type="http://schemas.openxmlformats.org/officeDocument/2006/relationships/notesSlide" Target="/ppt/notesSlides/notesSlide9.xml" Id="R7c087217ee7a49f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6f3bb9b1ae4430a" /><Relationship Type="http://schemas.openxmlformats.org/officeDocument/2006/relationships/image" Target="/ppt/media/image2.png" Id="R6f4726822b1f447a" /><Relationship Type="http://schemas.openxmlformats.org/officeDocument/2006/relationships/image" Target="/ppt/media/image14.png" Id="R73488404e42c42d4" /><Relationship Type="http://schemas.openxmlformats.org/officeDocument/2006/relationships/notesSlide" Target="/ppt/notesSlides/notesSlide10.xml" Id="R86fcf16616b245b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27475bfa0a74cc3" /><Relationship Type="http://schemas.openxmlformats.org/officeDocument/2006/relationships/image" Target="/ppt/media/image2.png" Id="Rfd599af7cbf44f15" /><Relationship Type="http://schemas.openxmlformats.org/officeDocument/2006/relationships/image" Target="/ppt/media/image15.png" Id="R2146d822f45c4ae9" /><Relationship Type="http://schemas.openxmlformats.org/officeDocument/2006/relationships/image" Target="/ppt/media/image16.png" Id="Redaa2dc394744cbd" /><Relationship Type="http://schemas.openxmlformats.org/officeDocument/2006/relationships/image" Target="/ppt/media/image17.png" Id="Raf1e90f715d548c3" /><Relationship Type="http://schemas.openxmlformats.org/officeDocument/2006/relationships/image" Target="/ppt/media/image18.png" Id="Rf029738e31de4831" /><Relationship Type="http://schemas.openxmlformats.org/officeDocument/2006/relationships/notesSlide" Target="/ppt/notesSlides/notesSlide11.xml" Id="R3fd76dace615483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6536443ebab4ede" /><Relationship Type="http://schemas.openxmlformats.org/officeDocument/2006/relationships/image" Target="/ppt/media/image2.png" Id="Ra5e57baf011e4c32" /><Relationship Type="http://schemas.openxmlformats.org/officeDocument/2006/relationships/notesSlide" Target="/ppt/notesSlides/notesSlide12.xml" Id="R6d29af714ee04f1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c1665c055f440c0" /><Relationship Type="http://schemas.openxmlformats.org/officeDocument/2006/relationships/image" Target="/ppt/media/image2.png" Id="R7ae71f1b04174e2f" /><Relationship Type="http://schemas.openxmlformats.org/officeDocument/2006/relationships/notesSlide" Target="/ppt/notesSlides/notesSlide13.xml" Id="Ra2ddf91a161342a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4.xml" Id="Rdb48e03920e544ee" /><Relationship Type="http://schemas.openxmlformats.org/officeDocument/2006/relationships/image" Target="/ppt/media/image2.png" Id="Rf39d6c63682f4cb6" /><Relationship Type="http://schemas.openxmlformats.org/officeDocument/2006/relationships/notesSlide" Target="/ppt/notesSlides/notesSlide14.xml" Id="Rf1f6bc01a55644b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61caeaad6304bf0" /><Relationship Type="http://schemas.openxmlformats.org/officeDocument/2006/relationships/image" Target="/ppt/media/image2.png" Id="R796415cdbcad4b85" /><Relationship Type="http://schemas.openxmlformats.org/officeDocument/2006/relationships/notesSlide" Target="/ppt/notesSlides/notesSlide15.xml" Id="Rff01891827b5463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8.xml" Id="Re1aff57be6d34467" /><Relationship Type="http://schemas.openxmlformats.org/officeDocument/2006/relationships/image" Target="/ppt/media/image2.png" Id="R0c49f38e971d4a94" /><Relationship Type="http://schemas.openxmlformats.org/officeDocument/2006/relationships/notesSlide" Target="/ppt/notesSlides/notesSlide16.xml" Id="Rbaea22c177b1456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b8e751bdb4e4c6d" /><Relationship Type="http://schemas.openxmlformats.org/officeDocument/2006/relationships/image" Target="/ppt/media/image2.png" Id="R8e4376ff0e1d41c3" /><Relationship Type="http://schemas.openxmlformats.org/officeDocument/2006/relationships/notesSlide" Target="/ppt/notesSlides/notesSlide17.xml" Id="R6fe21e554ef34a2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d12d01192804f54" /><Relationship Type="http://schemas.openxmlformats.org/officeDocument/2006/relationships/image" Target="/ppt/media/image2.png" Id="R7c3d7291eaf74ad4" /><Relationship Type="http://schemas.openxmlformats.org/officeDocument/2006/relationships/image" Target="/ppt/media/image19.png" Id="Reff8620b360d4224" /><Relationship Type="http://schemas.openxmlformats.org/officeDocument/2006/relationships/image" Target="/ppt/media/image20.png" Id="Rd8edb10c53024ef6" /><Relationship Type="http://schemas.openxmlformats.org/officeDocument/2006/relationships/notesSlide" Target="/ppt/notesSlides/notesSlide18.xml" Id="R2a8db6d7c87c483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c537e375d0042f3" /><Relationship Type="http://schemas.openxmlformats.org/officeDocument/2006/relationships/image" Target="/ppt/media/image2.png" Id="R3776ce50455f471f" /><Relationship Type="http://schemas.openxmlformats.org/officeDocument/2006/relationships/image" Target="/ppt/media/image21.png" Id="R378a2b3ba46644d3" /><Relationship Type="http://schemas.openxmlformats.org/officeDocument/2006/relationships/image" Target="/ppt/media/image22.png" Id="Re56f78f115d4422f" /><Relationship Type="http://schemas.openxmlformats.org/officeDocument/2006/relationships/notesSlide" Target="/ppt/notesSlides/notesSlide19.xml" Id="R0eea56c8671d442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9.xml" Id="R0366ea6589284d3c" /><Relationship Type="http://schemas.openxmlformats.org/officeDocument/2006/relationships/image" Target="/ppt/media/image2.png" Id="Rc7cfbd24029e4111" /><Relationship Type="http://schemas.openxmlformats.org/officeDocument/2006/relationships/notesSlide" Target="/ppt/notesSlides/notesSlide20.xml" Id="R12d46e37c1f5464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3152a768a3c466a" /><Relationship Type="http://schemas.openxmlformats.org/officeDocument/2006/relationships/image" Target="/ppt/media/image2.png" Id="R8668b80d403e4cba" /><Relationship Type="http://schemas.openxmlformats.org/officeDocument/2006/relationships/image" Target="/ppt/media/image23.png" Id="R18c9cba088f44d0c" /><Relationship Type="http://schemas.openxmlformats.org/officeDocument/2006/relationships/image" Target="/ppt/media/image24.png" Id="R5db2023517234a87" /><Relationship Type="http://schemas.openxmlformats.org/officeDocument/2006/relationships/image" Target="/ppt/media/image25.png" Id="R0c82c6229d544416" /><Relationship Type="http://schemas.openxmlformats.org/officeDocument/2006/relationships/image" Target="/ppt/media/image26.png" Id="Rd8707ad7471f4040" /><Relationship Type="http://schemas.openxmlformats.org/officeDocument/2006/relationships/image" Target="/ppt/media/image27.png" Id="Rb8fbb24349e9463c" /><Relationship Type="http://schemas.openxmlformats.org/officeDocument/2006/relationships/image" Target="/ppt/media/image28.png" Id="Rf03dba7d10b54ec4" /><Relationship Type="http://schemas.openxmlformats.org/officeDocument/2006/relationships/notesSlide" Target="/ppt/notesSlides/notesSlide21.xml" Id="R834de5bd92e34ef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720cd2dc97d4624" /><Relationship Type="http://schemas.openxmlformats.org/officeDocument/2006/relationships/image" Target="/ppt/media/image2.png" Id="R23af2eeec9a6435b" /><Relationship Type="http://schemas.openxmlformats.org/officeDocument/2006/relationships/notesSlide" Target="/ppt/notesSlides/notesSlide22.xml" Id="R510a3f3698b542ed" /></Relationships>
</file>

<file path=ppt/slides/slide1.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2ed973ce9d544646"/>
          <a:srcRect xmlns:a="http://schemas.openxmlformats.org/drawingml/2006/main" l="33" t="0" r="33" b="0"/>
          <a:stretch xmlns:a="http://schemas.openxmlformats.org/drawingml/2006/main">
            <a:fillRect l="0" t="0" r="0" b="0"/>
          </a:stretch>
        </p:blipFill>
        <p:spPr>
          <a:xfrm xmlns:a="http://schemas.openxmlformats.org/drawingml/2006/main">
            <a:off x="0" y="0"/>
            <a:ext cx="12001500" cy="6807200"/>
          </a:xfrm>
          <a:prstGeom xmlns:a="http://schemas.openxmlformats.org/drawingml/2006/main" prst="rect">
            <a:avLst/>
          </a:prstGeom>
          <a:ln xmlns:a="http://schemas.openxmlformats.org/drawingml/2006/main" w="25400" cap="flat" cmpd="sng">
            <a:noFill/>
            <a:prstDash val="solid"/>
            <a:round/>
          </a:ln>
        </p:spPr>
      </p:pic>
      <p:sp>
        <p:nvSpPr>
          <p:cNvPr id="4" name="AutoShape 4">
            <a:extLst xmlns:a="http://schemas.openxmlformats.org/drawingml/2006/main">
              <a:ext uri="{FF2B5EF4-FFF2-40B4-BE49-F238E27FC236}">
                <a16:creationId xmlns:a16="http://schemas.microsoft.com/office/drawing/2014/main" id="{CD94EDF9-D3F6-423F-9D56-2904BFB74373}"/>
              </a:ext>
            </a:extLst>
          </p:cNvPr>
          <p:cNvSpPr>
            <a:spLocks xmlns:a="http://schemas.openxmlformats.org/drawingml/2006/main" noGrp="1"/>
          </p:cNvSpPr>
          <p:nvPr/>
        </p:nvSpPr>
        <p:spPr>
          <a:xfrm xmlns:a="http://schemas.openxmlformats.org/drawingml/2006/main">
            <a:off x="508000" y="1958975"/>
            <a:ext cx="10985500" cy="1143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00000"/>
              </a:lnSpc>
              <a:buNone/>
            </a:pPr>
            <a:r>
              <a:rPr sz="2800" b="1" i="0" u="none">
                <a:solidFill>
                  <a:srgbClr val="0F172A"/>
                </a:solidFill>
                <a:latin typeface="Noto Sans SC"/>
                <a:ea typeface="Noto Sans SC"/>
                <a:cs typeface="Noto Sans SC"/>
              </a:rPr>
              <a:t>基于领域对抗多头残差图卷积网络的EEG情绪识别模型优化与端侧部署</a:t>
            </a:r>
          </a:p>
        </p:txBody>
      </p:sp>
      <p:sp>
        <p:nvSpPr>
          <p:cNvPr id="11" name="文本框 10">
            <a:extLst xmlns:a="http://schemas.openxmlformats.org/drawingml/2006/main">
              <a:ext uri="{FF2B5EF4-FFF2-40B4-BE49-F238E27FC236}">
                <a16:creationId xmlns:a16="http://schemas.microsoft.com/office/drawing/2014/main" id="{B82569E9-B908-4F5F-9225-3FF574AA1A57}"/>
              </a:ext>
            </a:extLst>
          </p:cNvPr>
          <p:cNvSpPr>
            <a:spLocks xmlns:a="http://schemas.openxmlformats.org/drawingml/2006/main" noGrp="1"/>
          </p:cNvSpPr>
          <p:nvPr/>
        </p:nvSpPr>
        <p:spPr>
          <a:xfrm xmlns:a="http://schemas.openxmlformats.org/drawingml/2006/main">
            <a:off x="1237615" y="3681095"/>
            <a:ext cx="4360545" cy="264350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 xmlns:a="http://schemas.openxmlformats.org/drawingml/2006/main">
            <a:r>
              <a:rPr sz="2000" b="1">
                <a:solidFill>
                  <a:srgbClr val="1E3A8A"/>
                </a:solidFill>
                <a:latin typeface="Noto Sans SC"/>
                <a:ea typeface="Noto Sans SC"/>
                <a:cs typeface="Noto Sans SC"/>
              </a:rPr>
              <a:t>队伍名称：</a:t>
            </a:r>
            <a:r>
              <a:rPr sz="2000">
                <a:solidFill>
                  <a:srgbClr val="334155"/>
                </a:solidFill>
                <a:latin typeface="Noto Sans SC"/>
                <a:ea typeface="Noto Sans SC"/>
                <a:cs typeface="Noto Sans SC"/>
              </a:rPr>
              <a:t>神经没有bug队</a:t>
            </a:r>
          </a:p>
          <a:p xmlns:a="http://schemas.openxmlformats.org/drawingml/2006/main"/>
          <a:p xmlns:a="http://schemas.openxmlformats.org/drawingml/2006/main">
            <a:r>
              <a:rPr sz="2000" b="1">
                <a:solidFill>
                  <a:srgbClr val="1E3A8A"/>
                </a:solidFill>
                <a:latin typeface="Noto Sans SC"/>
                <a:ea typeface="Noto Sans SC"/>
                <a:cs typeface="Noto Sans SC"/>
              </a:rPr>
              <a:t>参赛队员：</a:t>
            </a:r>
            <a:r>
              <a:rPr sz="2000">
                <a:solidFill>
                  <a:srgbClr val="334155"/>
                </a:solidFill>
                <a:latin typeface="Noto Sans SC"/>
                <a:ea typeface="Noto Sans SC"/>
                <a:cs typeface="Noto Sans SC"/>
              </a:rPr>
              <a:t>郑杰龙 | 庞冠春 | 侯程予</a:t>
            </a:r>
          </a:p>
          <a:p xmlns:a="http://schemas.openxmlformats.org/drawingml/2006/main"/>
          <a:p xmlns:a="http://schemas.openxmlformats.org/drawingml/2006/main">
            <a:r>
              <a:rPr sz="2000" b="1">
                <a:solidFill>
                  <a:srgbClr val="1E3A8A"/>
                </a:solidFill>
                <a:latin typeface="Noto Sans SC"/>
                <a:ea typeface="Noto Sans SC"/>
                <a:cs typeface="Noto Sans SC"/>
              </a:rPr>
              <a:t>完成时间：</a:t>
            </a:r>
            <a:r>
              <a:rPr sz="2000">
                <a:solidFill>
                  <a:srgbClr val="334155"/>
                </a:solidFill>
                <a:latin typeface="Noto Sans SC"/>
                <a:ea typeface="Noto Sans SC"/>
                <a:cs typeface="Noto Sans SC"/>
              </a:rPr>
              <a:t>2026年</a:t>
            </a:r>
            <a:r>
              <a:rPr sz="2000">
                <a:solidFill>
                  <a:srgbClr val="334155"/>
                </a:solidFill>
                <a:latin typeface="Noto Sans SC"/>
                <a:ea typeface="Noto Sans SC"/>
                <a:cs typeface="Noto Sans SC"/>
              </a:rPr>
              <a:t>6</a:t>
            </a:r>
            <a:r>
              <a:rPr sz="2000">
                <a:solidFill>
                  <a:srgbClr val="334155"/>
                </a:solidFill>
                <a:latin typeface="Noto Sans SC"/>
                <a:ea typeface="Noto Sans SC"/>
                <a:cs typeface="Noto Sans SC"/>
              </a:rPr>
              <a:t>月</a:t>
            </a:r>
          </a:p>
          <a:p xmlns:a="http://schemas.openxmlformats.org/drawingml/2006/main"/>
          <a:p xmlns:a="http://schemas.openxmlformats.org/drawingml/2006/main"/>
          <a:p xmlns:a="http://schemas.openxmlformats.org/drawingml/2006/main"/>
        </p:txBody>
      </p:sp>
    </p:spTree>
    <p:extLst>
      <p:ext uri="{BB962C8B-B14F-4D97-AF65-F5344CB8AC3E}">
        <p14:creationId xmlns:p14="http://schemas.microsoft.com/office/powerpoint/2010/main" val="1554264605"/>
      </p:ext>
    </p:extLst>
  </p:cSld>
</p:sld>
</file>

<file path=ppt/slides/slide2.xml><?xml version="1.0" encoding="utf-8"?>
<p:sld xmlns:p="http://schemas.openxmlformats.org/presentationml/2006/main">
  <p:cSld>
    <p:bg>
      <p:bgPr>
        <a:blipFill xmlns:a="http://schemas.openxmlformats.org/drawingml/2006/main">
          <a:blip xmlns:r="http://schemas.openxmlformats.org/officeDocument/2006/relationships" r:embed="R6cff897995614f7a"/>
          <a:srcRect l="0" t="0" r="0" b="0"/>
          <a:stretch>
            <a:fillRect l="-61" t="0" r="-61" b="0"/>
          </a:stretch>
        </a:blipFill>
      </p:bgPr>
    </p:bg>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EC804C0F-B0EA-4C4D-A55F-5ECB73F36C10}"/>
              </a:ext>
            </a:extLst>
          </p:cNvPr>
          <p:cNvSpPr>
            <a:spLocks xmlns:a="http://schemas.openxmlformats.org/drawingml/2006/main" noGrp="1"/>
          </p:cNvSpPr>
          <p:nvPr/>
        </p:nvSpPr>
        <p:spPr>
          <a:xfrm xmlns:a="http://schemas.openxmlformats.org/drawingml/2006/main">
            <a:off x="0" y="508000"/>
            <a:ext cx="12001500" cy="762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3600" b="1" i="0" u="none">
                <a:solidFill>
                  <a:srgbClr val="0F172A"/>
                </a:solidFill>
                <a:latin typeface="Noto Sans SC"/>
                <a:ea typeface="Noto Sans SC"/>
                <a:cs typeface="Noto Sans SC"/>
              </a:rPr>
              <a:t>目 录 </a:t>
            </a:r>
            <a:r>
              <a:rPr sz="2400" b="0" i="0" u="none">
                <a:solidFill>
                  <a:srgbClr val="475569"/>
                </a:solidFill>
                <a:latin typeface="Noto Sans SC"/>
                <a:ea typeface="Noto Sans SC"/>
                <a:cs typeface="Noto Sans SC"/>
              </a:rPr>
              <a:t>CONTENTS</a:t>
            </a:r>
          </a:p>
        </p:txBody>
      </p:sp>
      <p:sp>
        <p:nvSpPr>
          <p:cNvPr id="3" name="AutoShape 3">
            <a:extLst xmlns:a="http://schemas.openxmlformats.org/drawingml/2006/main">
              <a:ext uri="{FF2B5EF4-FFF2-40B4-BE49-F238E27FC236}">
                <a16:creationId xmlns:a16="http://schemas.microsoft.com/office/drawing/2014/main" id="{431A77E3-BC1F-4554-9B3D-BB3443AA9352}"/>
              </a:ext>
            </a:extLst>
          </p:cNvPr>
          <p:cNvSpPr>
            <a:spLocks xmlns:a="http://schemas.openxmlformats.org/drawingml/2006/main" noGrp="1"/>
          </p:cNvSpPr>
          <p:nvPr/>
        </p:nvSpPr>
        <p:spPr>
          <a:xfrm xmlns:a="http://schemas.openxmlformats.org/drawingml/2006/main">
            <a:off x="525780" y="1446530"/>
            <a:ext cx="3556000" cy="2440305"/>
          </a:xfrm>
          <a:prstGeom xmlns:a="http://schemas.openxmlformats.org/drawingml/2006/main" prst="roundRect">
            <a:avLst>
              <a:gd name="adj" fmla="val 6857"/>
            </a:avLst>
          </a:prstGeom>
          <a:solidFill xmlns:a="http://schemas.openxmlformats.org/drawingml/2006/main">
            <a:srgbClr val="FFFFFF">
              <a:alpha val="92000"/>
            </a:srgbClr>
          </a:solidFill>
          <a:ln xmlns:a="http://schemas.openxmlformats.org/drawingml/2006/main" w="12700" cmpd="sng">
            <a:solidFill>
              <a:srgbClr val="E2E8F0">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4" name="AutoShape 4">
            <a:extLst xmlns:a="http://schemas.openxmlformats.org/drawingml/2006/main">
              <a:ext uri="{FF2B5EF4-FFF2-40B4-BE49-F238E27FC236}">
                <a16:creationId xmlns:a16="http://schemas.microsoft.com/office/drawing/2014/main" id="{864DCA20-BA06-42A8-8A1A-5E0D8B7E02F7}"/>
              </a:ext>
            </a:extLst>
          </p:cNvPr>
          <p:cNvSpPr>
            <a:spLocks xmlns:a="http://schemas.openxmlformats.org/drawingml/2006/main" noGrp="1"/>
          </p:cNvSpPr>
          <p:nvPr/>
        </p:nvSpPr>
        <p:spPr>
          <a:xfrm xmlns:a="http://schemas.openxmlformats.org/drawingml/2006/main">
            <a:off x="716280" y="1573530"/>
            <a:ext cx="3175000" cy="123317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92000"/>
              </a:lnSpc>
              <a:buNone/>
            </a:pPr>
            <a:r>
              <a:rPr sz="2800" b="1" i="0" u="none">
                <a:solidFill>
                  <a:srgbClr val="D97706"/>
                </a:solidFill>
                <a:latin typeface="Noto Sans SC"/>
                <a:ea typeface="Noto Sans SC"/>
                <a:cs typeface="Noto Sans SC"/>
              </a:rPr>
              <a:t>01. </a:t>
            </a:r>
            <a:r>
              <a:rPr sz="1800" b="1" i="0" u="none">
                <a:solidFill>
                  <a:srgbClr val="0F172A"/>
                </a:solidFill>
                <a:latin typeface="Noto Sans SC"/>
                <a:ea typeface="Noto Sans SC"/>
                <a:cs typeface="Noto Sans SC"/>
              </a:rPr>
              <a:t>项目概述与背景</a:t>
            </a:r>
          </a:p>
          <a:p xmlns:a="http://schemas.openxmlformats.org/drawingml/2006/main">
            <a:pPr indent="0" algn="l">
              <a:lnSpc>
                <a:spcPct val="108000"/>
              </a:lnSpc>
              <a:spcBef>
                <a:spcPts val="1200"/>
              </a:spcBef>
              <a:buNone/>
            </a:pPr>
            <a:r>
              <a:rPr sz="1300">
                <a:solidFill>
                  <a:srgbClr val="475569"/>
                </a:solidFill>
                <a:latin typeface="Noto Sans SC"/>
                <a:ea typeface="Noto Sans SC"/>
                <a:cs typeface="Noto Sans SC"/>
              </a:rPr>
              <a:t>• </a:t>
            </a:r>
            <a:r>
              <a:rPr sz="1300">
                <a:solidFill>
                  <a:srgbClr val="475569"/>
                </a:solidFill>
                <a:latin typeface="Noto Sans SC"/>
                <a:ea typeface="Noto Sans SC"/>
                <a:cs typeface="Noto Sans SC"/>
              </a:rPr>
              <a:t>研究背景与意义</a:t>
            </a:r>
            <a:r>
              <a:rPr sz="1300">
                <a:solidFill>
                  <a:srgbClr val="475569"/>
                </a:solidFill>
                <a:latin typeface="Noto Sans SC"/>
                <a:ea typeface="Noto Sans SC"/>
                <a:cs typeface="Noto Sans SC"/>
              </a:rPr>
              <a:t> </a:t>
            </a:r>
          </a:p>
          <a:p xmlns:a="http://schemas.openxmlformats.org/drawingml/2006/main">
            <a:pPr indent="0" algn="l">
              <a:lnSpc>
                <a:spcPct val="108000"/>
              </a:lnSpc>
              <a:spcBef>
                <a:spcPts val="1200"/>
              </a:spcBef>
              <a:buNone/>
            </a:pPr>
            <a:r>
              <a:rPr sz="1300">
                <a:solidFill>
                  <a:srgbClr val="475569"/>
                </a:solidFill>
                <a:latin typeface="Noto Sans SC"/>
                <a:ea typeface="Noto Sans SC"/>
                <a:cs typeface="Noto Sans SC"/>
              </a:rPr>
              <a:t>• </a:t>
            </a:r>
            <a:r>
              <a:rPr sz="1300">
                <a:solidFill>
                  <a:srgbClr val="475569"/>
                </a:solidFill>
                <a:latin typeface="Noto Sans SC"/>
                <a:ea typeface="Noto Sans SC"/>
                <a:cs typeface="Noto Sans SC"/>
              </a:rPr>
              <a:t>技术难点与</a:t>
            </a:r>
            <a:r>
              <a:rPr sz="1300">
                <a:solidFill>
                  <a:srgbClr val="475569"/>
                </a:solidFill>
                <a:latin typeface="Noto Sans SC"/>
                <a:ea typeface="Noto Sans SC"/>
                <a:cs typeface="Noto Sans SC"/>
              </a:rPr>
              <a:t>主要创新</a:t>
            </a:r>
          </a:p>
        </p:txBody>
      </p:sp>
      <p:sp>
        <p:nvSpPr>
          <p:cNvPr id="5" name="AutoShape 5">
            <a:extLst xmlns:a="http://schemas.openxmlformats.org/drawingml/2006/main">
              <a:ext uri="{FF2B5EF4-FFF2-40B4-BE49-F238E27FC236}">
                <a16:creationId xmlns:a16="http://schemas.microsoft.com/office/drawing/2014/main" id="{781084AC-51F8-41A5-8D68-C151157286BB}"/>
              </a:ext>
            </a:extLst>
          </p:cNvPr>
          <p:cNvSpPr>
            <a:spLocks xmlns:a="http://schemas.openxmlformats.org/drawingml/2006/main" noGrp="1"/>
          </p:cNvSpPr>
          <p:nvPr/>
        </p:nvSpPr>
        <p:spPr>
          <a:xfrm xmlns:a="http://schemas.openxmlformats.org/drawingml/2006/main">
            <a:off x="4231640" y="1367155"/>
            <a:ext cx="3556000" cy="2508250"/>
          </a:xfrm>
          <a:prstGeom xmlns:a="http://schemas.openxmlformats.org/drawingml/2006/main" prst="roundRect">
            <a:avLst>
              <a:gd name="adj" fmla="val 6857"/>
            </a:avLst>
          </a:prstGeom>
          <a:solidFill xmlns:a="http://schemas.openxmlformats.org/drawingml/2006/main">
            <a:srgbClr val="FFFFFF">
              <a:alpha val="92000"/>
            </a:srgbClr>
          </a:solidFill>
          <a:ln xmlns:a="http://schemas.openxmlformats.org/drawingml/2006/main" w="12700" cmpd="sng">
            <a:solidFill>
              <a:srgbClr val="E2E8F0">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6" name="AutoShape 6">
            <a:extLst xmlns:a="http://schemas.openxmlformats.org/drawingml/2006/main">
              <a:ext uri="{FF2B5EF4-FFF2-40B4-BE49-F238E27FC236}">
                <a16:creationId xmlns:a16="http://schemas.microsoft.com/office/drawing/2014/main" id="{F6E8AD5C-15C6-4855-B9E1-4AD29839C202}"/>
              </a:ext>
            </a:extLst>
          </p:cNvPr>
          <p:cNvSpPr>
            <a:spLocks xmlns:a="http://schemas.openxmlformats.org/drawingml/2006/main" noGrp="1"/>
          </p:cNvSpPr>
          <p:nvPr/>
        </p:nvSpPr>
        <p:spPr>
          <a:xfrm xmlns:a="http://schemas.openxmlformats.org/drawingml/2006/main">
            <a:off x="4422140" y="1573530"/>
            <a:ext cx="3175000" cy="192024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92000"/>
              </a:lnSpc>
              <a:buNone/>
            </a:pPr>
            <a:r>
              <a:rPr sz="2800" b="1" i="0" u="none">
                <a:solidFill>
                  <a:srgbClr val="D97706"/>
                </a:solidFill>
                <a:latin typeface="Noto Sans SC"/>
                <a:ea typeface="Noto Sans SC"/>
                <a:cs typeface="Noto Sans SC"/>
              </a:rPr>
              <a:t>02.</a:t>
            </a:r>
            <a:r>
              <a:rPr sz="2800" b="1" i="0" u="none">
                <a:solidFill>
                  <a:srgbClr val="2563EB"/>
                </a:solidFill>
                <a:latin typeface="Noto Sans SC"/>
                <a:ea typeface="Noto Sans SC"/>
                <a:cs typeface="Noto Sans SC"/>
              </a:rPr>
              <a:t> </a:t>
            </a:r>
            <a:r>
              <a:rPr sz="1800" b="1" i="0" u="none">
                <a:solidFill>
                  <a:srgbClr val="0F172A"/>
                </a:solidFill>
                <a:latin typeface="Noto Sans SC"/>
                <a:ea typeface="Noto Sans SC"/>
                <a:cs typeface="Noto Sans SC"/>
              </a:rPr>
              <a:t>方案设计与技术原理</a:t>
            </a:r>
          </a:p>
          <a:p xmlns:a="http://schemas.openxmlformats.org/drawingml/2006/main">
            <a:pPr indent="0" algn="l">
              <a:lnSpc>
                <a:spcPct val="108000"/>
              </a:lnSpc>
              <a:spcBef>
                <a:spcPts val="1200"/>
              </a:spcBef>
              <a:buNone/>
            </a:pPr>
            <a:r>
              <a:rPr sz="1300" b="0" i="0" u="none">
                <a:solidFill>
                  <a:srgbClr val="475569"/>
                </a:solidFill>
                <a:latin typeface="Noto Sans SC"/>
                <a:ea typeface="Noto Sans SC"/>
                <a:cs typeface="Noto Sans SC"/>
              </a:rPr>
              <a:t>• 总体技术路线 </a:t>
            </a:r>
          </a:p>
          <a:p xmlns:a="http://schemas.openxmlformats.org/drawingml/2006/main">
            <a:pPr indent="0" algn="l">
              <a:lnSpc>
                <a:spcPct val="108000"/>
              </a:lnSpc>
              <a:spcBef>
                <a:spcPts val="1200"/>
              </a:spcBef>
              <a:buNone/>
            </a:pPr>
            <a:r>
              <a:rPr sz="1300">
                <a:solidFill>
                  <a:srgbClr val="475569"/>
                </a:solidFill>
                <a:latin typeface="Noto Sans SC"/>
                <a:ea typeface="Noto Sans SC"/>
                <a:cs typeface="Noto Sans SC"/>
              </a:rPr>
              <a:t>• </a:t>
            </a:r>
            <a:r>
              <a:rPr sz="1300">
                <a:solidFill>
                  <a:srgbClr val="475569"/>
                </a:solidFill>
                <a:latin typeface="Noto Sans SC"/>
                <a:ea typeface="Noto Sans SC"/>
                <a:cs typeface="Noto Sans SC"/>
              </a:rPr>
              <a:t>基线模型选择与论证</a:t>
            </a:r>
          </a:p>
          <a:p xmlns:a="http://schemas.openxmlformats.org/drawingml/2006/main">
            <a:pPr indent="0" algn="l">
              <a:lnSpc>
                <a:spcPct val="108000"/>
              </a:lnSpc>
              <a:spcBef>
                <a:spcPts val="1200"/>
              </a:spcBef>
              <a:buNone/>
            </a:pPr>
            <a:r>
              <a:rPr sz="1300" b="0" i="0" u="none">
                <a:solidFill>
                  <a:srgbClr val="475569"/>
                </a:solidFill>
                <a:latin typeface="Noto Sans SC"/>
                <a:ea typeface="Noto Sans SC"/>
                <a:cs typeface="Noto Sans SC"/>
              </a:rPr>
              <a:t>• 核心原理：MRGCN、DANN、</a:t>
            </a:r>
            <a:r>
              <a:rPr sz="1300" b="0" i="0" u="none">
                <a:solidFill>
                  <a:srgbClr val="475569"/>
                </a:solidFill>
                <a:latin typeface="Noto Sans SC"/>
                <a:ea typeface="Noto Sans SC"/>
                <a:cs typeface="Noto Sans SC"/>
              </a:rPr>
              <a:t>知识蒸馏</a:t>
            </a:r>
            <a:r>
              <a:rPr sz="1300">
                <a:solidFill>
                  <a:srgbClr val="475569"/>
                </a:solidFill>
                <a:latin typeface="Noto Sans SC"/>
                <a:ea typeface="Noto Sans SC"/>
                <a:cs typeface="Noto Sans SC"/>
              </a:rPr>
              <a:t>、</a:t>
            </a:r>
            <a:r>
              <a:rPr sz="1300">
                <a:solidFill>
                  <a:srgbClr val="475569"/>
                </a:solidFill>
                <a:latin typeface="Noto Sans SC"/>
                <a:ea typeface="Noto Sans SC"/>
                <a:cs typeface="Noto Sans SC"/>
              </a:rPr>
              <a:t>                       </a:t>
            </a:r>
            <a:r>
              <a:rPr sz="1300" b="0" i="0" u="none">
                <a:solidFill>
                  <a:srgbClr val="475569"/>
                </a:solidFill>
                <a:latin typeface="Noto Sans SC"/>
                <a:ea typeface="Noto Sans SC"/>
                <a:cs typeface="Noto Sans SC"/>
              </a:rPr>
              <a:t>模型量化</a:t>
            </a:r>
          </a:p>
        </p:txBody>
      </p:sp>
      <p:sp>
        <p:nvSpPr>
          <p:cNvPr id="7" name="AutoShape 7">
            <a:extLst xmlns:a="http://schemas.openxmlformats.org/drawingml/2006/main">
              <a:ext uri="{FF2B5EF4-FFF2-40B4-BE49-F238E27FC236}">
                <a16:creationId xmlns:a16="http://schemas.microsoft.com/office/drawing/2014/main" id="{AE11C81A-F8D0-466B-B984-86869F06743C}"/>
              </a:ext>
            </a:extLst>
          </p:cNvPr>
          <p:cNvSpPr>
            <a:spLocks xmlns:a="http://schemas.openxmlformats.org/drawingml/2006/main" noGrp="1"/>
          </p:cNvSpPr>
          <p:nvPr/>
        </p:nvSpPr>
        <p:spPr>
          <a:xfrm xmlns:a="http://schemas.openxmlformats.org/drawingml/2006/main">
            <a:off x="7937500" y="1367790"/>
            <a:ext cx="3556000" cy="2684780"/>
          </a:xfrm>
          <a:prstGeom xmlns:a="http://schemas.openxmlformats.org/drawingml/2006/main" prst="roundRect">
            <a:avLst>
              <a:gd name="adj" fmla="val 6857"/>
            </a:avLst>
          </a:prstGeom>
          <a:solidFill xmlns:a="http://schemas.openxmlformats.org/drawingml/2006/main">
            <a:srgbClr val="FFFFFF">
              <a:alpha val="92000"/>
            </a:srgbClr>
          </a:solidFill>
          <a:ln xmlns:a="http://schemas.openxmlformats.org/drawingml/2006/main" w="12700" cmpd="sng">
            <a:solidFill>
              <a:srgbClr val="E2E8F0">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8" name="AutoShape 8">
            <a:extLst xmlns:a="http://schemas.openxmlformats.org/drawingml/2006/main">
              <a:ext uri="{FF2B5EF4-FFF2-40B4-BE49-F238E27FC236}">
                <a16:creationId xmlns:a16="http://schemas.microsoft.com/office/drawing/2014/main" id="{2E146604-C143-488B-88FA-112FEF4F3898}"/>
              </a:ext>
            </a:extLst>
          </p:cNvPr>
          <p:cNvSpPr>
            <a:spLocks xmlns:a="http://schemas.openxmlformats.org/drawingml/2006/main" noGrp="1"/>
          </p:cNvSpPr>
          <p:nvPr/>
        </p:nvSpPr>
        <p:spPr>
          <a:xfrm xmlns:a="http://schemas.openxmlformats.org/drawingml/2006/main">
            <a:off x="8128000" y="1936750"/>
            <a:ext cx="3175000" cy="18415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algn="l">
              <a:lnSpc>
                <a:spcPct val="108000"/>
              </a:lnSpc>
              <a:spcBef>
                <a:spcPts val="1200"/>
              </a:spcBef>
              <a:buNone/>
            </a:pPr>
          </a:p>
        </p:txBody>
      </p:sp>
      <p:sp>
        <p:nvSpPr>
          <p:cNvPr id="9" name="AutoShape 9">
            <a:extLst xmlns:a="http://schemas.openxmlformats.org/drawingml/2006/main">
              <a:ext uri="{FF2B5EF4-FFF2-40B4-BE49-F238E27FC236}">
                <a16:creationId xmlns:a16="http://schemas.microsoft.com/office/drawing/2014/main" id="{17B8C1C1-3A65-479D-A084-AA00801EF2EB}"/>
              </a:ext>
            </a:extLst>
          </p:cNvPr>
          <p:cNvSpPr>
            <a:spLocks xmlns:a="http://schemas.openxmlformats.org/drawingml/2006/main" noGrp="1"/>
          </p:cNvSpPr>
          <p:nvPr/>
        </p:nvSpPr>
        <p:spPr>
          <a:xfrm xmlns:a="http://schemas.openxmlformats.org/drawingml/2006/main">
            <a:off x="1778000" y="4017645"/>
            <a:ext cx="4191000" cy="2406650"/>
          </a:xfrm>
          <a:prstGeom xmlns:a="http://schemas.openxmlformats.org/drawingml/2006/main" prst="roundRect">
            <a:avLst>
              <a:gd name="adj" fmla="val 7058"/>
            </a:avLst>
          </a:prstGeom>
          <a:solidFill xmlns:a="http://schemas.openxmlformats.org/drawingml/2006/main">
            <a:srgbClr val="FFFFFF">
              <a:alpha val="92000"/>
            </a:srgbClr>
          </a:solidFill>
          <a:ln xmlns:a="http://schemas.openxmlformats.org/drawingml/2006/main" w="12700" cmpd="sng">
            <a:solidFill>
              <a:srgbClr val="E2E8F0">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0" name="AutoShape 10">
            <a:extLst xmlns:a="http://schemas.openxmlformats.org/drawingml/2006/main">
              <a:ext uri="{FF2B5EF4-FFF2-40B4-BE49-F238E27FC236}">
                <a16:creationId xmlns:a16="http://schemas.microsoft.com/office/drawing/2014/main" id="{D8D3B9A1-9266-42A6-B547-D2A426914FF2}"/>
              </a:ext>
            </a:extLst>
          </p:cNvPr>
          <p:cNvSpPr>
            <a:spLocks xmlns:a="http://schemas.openxmlformats.org/drawingml/2006/main" noGrp="1"/>
          </p:cNvSpPr>
          <p:nvPr/>
        </p:nvSpPr>
        <p:spPr>
          <a:xfrm xmlns:a="http://schemas.openxmlformats.org/drawingml/2006/main">
            <a:off x="2032000" y="4445000"/>
            <a:ext cx="3683000" cy="1651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17000"/>
              </a:lnSpc>
              <a:spcBef>
                <a:spcPts val="1200"/>
              </a:spcBef>
              <a:buNone/>
            </a:pPr>
          </a:p>
        </p:txBody>
      </p:sp>
      <p:sp>
        <p:nvSpPr>
          <p:cNvPr id="11" name="AutoShape 11">
            <a:extLst xmlns:a="http://schemas.openxmlformats.org/drawingml/2006/main">
              <a:ext uri="{FF2B5EF4-FFF2-40B4-BE49-F238E27FC236}">
                <a16:creationId xmlns:a16="http://schemas.microsoft.com/office/drawing/2014/main" id="{FFADB220-35F8-44CD-8F5C-EEA9DC81F185}"/>
              </a:ext>
            </a:extLst>
          </p:cNvPr>
          <p:cNvSpPr>
            <a:spLocks xmlns:a="http://schemas.openxmlformats.org/drawingml/2006/main" noGrp="1"/>
          </p:cNvSpPr>
          <p:nvPr/>
        </p:nvSpPr>
        <p:spPr>
          <a:xfrm xmlns:a="http://schemas.openxmlformats.org/drawingml/2006/main">
            <a:off x="6305550" y="4051935"/>
            <a:ext cx="4191000" cy="2371725"/>
          </a:xfrm>
          <a:prstGeom xmlns:a="http://schemas.openxmlformats.org/drawingml/2006/main" prst="roundRect">
            <a:avLst>
              <a:gd name="adj" fmla="val 7058"/>
            </a:avLst>
          </a:prstGeom>
          <a:solidFill xmlns:a="http://schemas.openxmlformats.org/drawingml/2006/main">
            <a:srgbClr val="FFFFFF">
              <a:alpha val="92000"/>
            </a:srgbClr>
          </a:solidFill>
          <a:ln xmlns:a="http://schemas.openxmlformats.org/drawingml/2006/main" w="12700" cmpd="sng">
            <a:solidFill>
              <a:srgbClr val="E2E8F0">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2" name="AutoShape 12">
            <a:extLst xmlns:a="http://schemas.openxmlformats.org/drawingml/2006/main">
              <a:ext uri="{FF2B5EF4-FFF2-40B4-BE49-F238E27FC236}">
                <a16:creationId xmlns:a16="http://schemas.microsoft.com/office/drawing/2014/main" id="{62C11EA8-2A05-4143-A3BE-29CCB5DF77E3}"/>
              </a:ext>
            </a:extLst>
          </p:cNvPr>
          <p:cNvSpPr>
            <a:spLocks xmlns:a="http://schemas.openxmlformats.org/drawingml/2006/main" noGrp="1"/>
          </p:cNvSpPr>
          <p:nvPr/>
        </p:nvSpPr>
        <p:spPr>
          <a:xfrm xmlns:a="http://schemas.openxmlformats.org/drawingml/2006/main">
            <a:off x="6477000" y="4127500"/>
            <a:ext cx="3683000" cy="1226185"/>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92000"/>
              </a:lnSpc>
              <a:buNone/>
            </a:pPr>
          </a:p>
        </p:txBody>
      </p:sp>
      <p:sp>
        <p:nvSpPr>
          <p:cNvPr id="13" name="文本框 12">
            <a:extLst xmlns:a="http://schemas.openxmlformats.org/drawingml/2006/main">
              <a:ext uri="{FF2B5EF4-FFF2-40B4-BE49-F238E27FC236}">
                <a16:creationId xmlns:a16="http://schemas.microsoft.com/office/drawing/2014/main" id="{5B90A14C-D01E-4228-9A98-E2EC1E05ABCD}"/>
              </a:ext>
            </a:extLst>
          </p:cNvPr>
          <p:cNvSpPr>
            <a:spLocks xmlns:a="http://schemas.openxmlformats.org/drawingml/2006/main" noGrp="1"/>
          </p:cNvSpPr>
          <p:nvPr/>
        </p:nvSpPr>
        <p:spPr>
          <a:xfrm xmlns:a="http://schemas.openxmlformats.org/drawingml/2006/main">
            <a:off x="8128000" y="1367790"/>
            <a:ext cx="3105150" cy="232981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2800" b="1">
                <a:solidFill>
                  <a:srgbClr val="D97706"/>
                </a:solidFill>
                <a:latin typeface="Noto Sans SC"/>
                <a:ea typeface="Noto Sans SC"/>
                <a:cs typeface="Noto Sans SC"/>
              </a:rPr>
              <a:t>03.</a:t>
            </a:r>
            <a:r>
              <a:rPr sz="2800" b="1">
                <a:solidFill>
                  <a:srgbClr val="2563EB"/>
                </a:solidFill>
                <a:latin typeface="Noto Sans SC"/>
                <a:ea typeface="Noto Sans SC"/>
                <a:cs typeface="Noto Sans SC"/>
              </a:rPr>
              <a:t> </a:t>
            </a:r>
            <a:r>
              <a:rPr sz="1800" b="1">
                <a:solidFill>
                  <a:srgbClr val="0F172A"/>
                </a:solidFill>
                <a:latin typeface="Noto Sans SC"/>
                <a:ea typeface="Noto Sans SC"/>
                <a:cs typeface="Noto Sans SC"/>
              </a:rPr>
              <a:t>软件模块划分</a:t>
            </a:r>
          </a:p>
          <a:p xmlns:a="http://schemas.openxmlformats.org/drawingml/2006/main">
            <a:pPr algn="l">
              <a:lnSpc>
                <a:spcPct val="108000"/>
              </a:lnSpc>
              <a:spcBef>
                <a:spcPts val="1200"/>
              </a:spcBef>
              <a:buNone/>
            </a:pPr>
            <a:r>
              <a:rPr sz="1300">
                <a:solidFill>
                  <a:srgbClr val="475569"/>
                </a:solidFill>
                <a:latin typeface="Noto Sans SC"/>
                <a:ea typeface="Noto Sans SC"/>
                <a:cs typeface="Noto Sans SC"/>
              </a:rPr>
              <a:t>• 软件模块划分</a:t>
            </a:r>
          </a:p>
          <a:p xmlns:a="http://schemas.openxmlformats.org/drawingml/2006/main">
            <a:pPr algn="l">
              <a:lnSpc>
                <a:spcPct val="108000"/>
              </a:lnSpc>
              <a:spcBef>
                <a:spcPts val="1200"/>
              </a:spcBef>
              <a:buNone/>
            </a:pPr>
            <a:r>
              <a:rPr sz="1300">
                <a:solidFill>
                  <a:srgbClr val="475569"/>
                </a:solidFill>
                <a:latin typeface="Noto Sans SC"/>
                <a:ea typeface="Noto Sans SC"/>
                <a:cs typeface="Noto Sans SC"/>
              </a:rPr>
              <a:t>• 数据读取与样本构建流程</a:t>
            </a:r>
          </a:p>
          <a:p xmlns:a="http://schemas.openxmlformats.org/drawingml/2006/main">
            <a:pPr algn="l">
              <a:lnSpc>
                <a:spcPct val="108000"/>
              </a:lnSpc>
              <a:spcBef>
                <a:spcPts val="1200"/>
              </a:spcBef>
              <a:buNone/>
            </a:pPr>
            <a:r>
              <a:rPr sz="1300">
                <a:solidFill>
                  <a:srgbClr val="475569"/>
                </a:solidFill>
                <a:latin typeface="Noto Sans SC"/>
                <a:ea typeface="Noto Sans SC"/>
                <a:cs typeface="Noto Sans SC"/>
              </a:rPr>
              <a:t>• MRGCN训练流程</a:t>
            </a:r>
          </a:p>
          <a:p xmlns:a="http://schemas.openxmlformats.org/drawingml/2006/main">
            <a:pPr algn="l">
              <a:lnSpc>
                <a:spcPct val="108000"/>
              </a:lnSpc>
              <a:spcBef>
                <a:spcPts val="1200"/>
              </a:spcBef>
              <a:buNone/>
            </a:pPr>
            <a:r>
              <a:rPr sz="1300">
                <a:solidFill>
                  <a:srgbClr val="475569"/>
                </a:solidFill>
                <a:latin typeface="Noto Sans SC"/>
                <a:ea typeface="Noto Sans SC"/>
                <a:cs typeface="Noto Sans SC"/>
              </a:rPr>
              <a:t>• DANN扩展与自适应调参</a:t>
            </a:r>
          </a:p>
          <a:p xmlns:a="http://schemas.openxmlformats.org/drawingml/2006/main">
            <a:pPr algn="l">
              <a:lnSpc>
                <a:spcPct val="108000"/>
              </a:lnSpc>
              <a:spcBef>
                <a:spcPts val="1200"/>
              </a:spcBef>
              <a:buNone/>
            </a:pPr>
            <a:r>
              <a:rPr sz="1300">
                <a:solidFill>
                  <a:srgbClr val="475569"/>
                </a:solidFill>
                <a:latin typeface="Noto Sans SC"/>
                <a:ea typeface="Noto Sans SC"/>
                <a:cs typeface="Noto Sans SC"/>
              </a:rPr>
              <a:t>• 知识蒸馏与轻量模型训练</a:t>
            </a:r>
          </a:p>
          <a:p xmlns:a="http://schemas.openxmlformats.org/drawingml/2006/main">
            <a:pPr algn="l">
              <a:lnSpc>
                <a:spcPct val="108000"/>
              </a:lnSpc>
              <a:spcBef>
                <a:spcPts val="1200"/>
              </a:spcBef>
              <a:buNone/>
            </a:pPr>
            <a:r>
              <a:rPr sz="1300">
                <a:solidFill>
                  <a:srgbClr val="475569"/>
                </a:solidFill>
                <a:latin typeface="Noto Sans SC"/>
                <a:ea typeface="Noto Sans SC"/>
                <a:cs typeface="Noto Sans SC"/>
              </a:rPr>
              <a:t>• 量化与推理</a:t>
            </a:r>
          </a:p>
          <a:p xmlns:a="http://schemas.openxmlformats.org/drawingml/2006/main"/>
          <a:p xmlns:a="http://schemas.openxmlformats.org/drawingml/2006/main"/>
        </p:txBody>
      </p:sp>
      <p:sp>
        <p:nvSpPr>
          <p:cNvPr id="14" name="文本框 13">
            <a:extLst xmlns:a="http://schemas.openxmlformats.org/drawingml/2006/main">
              <a:ext uri="{FF2B5EF4-FFF2-40B4-BE49-F238E27FC236}">
                <a16:creationId xmlns:a16="http://schemas.microsoft.com/office/drawing/2014/main" id="{BB0DF2BF-148E-42F3-8B37-3D08C98A92DB}"/>
              </a:ext>
            </a:extLst>
          </p:cNvPr>
          <p:cNvSpPr>
            <a:spLocks xmlns:a="http://schemas.openxmlformats.org/drawingml/2006/main" noGrp="1"/>
          </p:cNvSpPr>
          <p:nvPr/>
        </p:nvSpPr>
        <p:spPr>
          <a:xfrm xmlns:a="http://schemas.openxmlformats.org/drawingml/2006/main">
            <a:off x="1904365" y="4064000"/>
            <a:ext cx="3985895" cy="224218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2800" b="1">
                <a:solidFill>
                  <a:srgbClr val="D97706"/>
                </a:solidFill>
                <a:latin typeface="Noto Sans SC"/>
                <a:ea typeface="Noto Sans SC"/>
                <a:cs typeface="Noto Sans SC"/>
              </a:rPr>
              <a:t>04. </a:t>
            </a:r>
            <a:r>
              <a:rPr sz="1800" b="1">
                <a:solidFill>
                  <a:srgbClr val="0F172A"/>
                </a:solidFill>
                <a:latin typeface="Noto Sans SC"/>
                <a:ea typeface="Noto Sans SC"/>
                <a:cs typeface="Noto Sans SC"/>
              </a:rPr>
              <a:t>系统测试与结果分析</a:t>
            </a:r>
          </a:p>
          <a:p xmlns:a="http://schemas.openxmlformats.org/drawingml/2006/main">
            <a:pPr algn="l">
              <a:lnSpc>
                <a:spcPct val="108000"/>
              </a:lnSpc>
              <a:spcBef>
                <a:spcPts val="1200"/>
              </a:spcBef>
              <a:buNone/>
            </a:pPr>
            <a:r>
              <a:rPr sz="1300">
                <a:solidFill>
                  <a:srgbClr val="475569"/>
                </a:solidFill>
                <a:latin typeface="Noto Sans SC"/>
                <a:ea typeface="Noto Sans SC"/>
                <a:cs typeface="Noto Sans SC"/>
              </a:rPr>
              <a:t>• 测试内容与评价指标</a:t>
            </a:r>
          </a:p>
          <a:p xmlns:a="http://schemas.openxmlformats.org/drawingml/2006/main">
            <a:pPr algn="l">
              <a:lnSpc>
                <a:spcPct val="108000"/>
              </a:lnSpc>
              <a:spcBef>
                <a:spcPts val="1200"/>
              </a:spcBef>
              <a:buNone/>
            </a:pPr>
            <a:r>
              <a:rPr sz="1300">
                <a:solidFill>
                  <a:srgbClr val="475569"/>
                </a:solidFill>
                <a:latin typeface="Noto Sans SC"/>
                <a:ea typeface="Noto Sans SC"/>
                <a:cs typeface="Noto Sans SC"/>
              </a:rPr>
              <a:t>• </a:t>
            </a:r>
            <a:r>
              <a:rPr sz="1300">
                <a:solidFill>
                  <a:srgbClr val="475569"/>
                </a:solidFill>
                <a:latin typeface="Noto Sans SC"/>
                <a:ea typeface="Noto Sans SC"/>
                <a:cs typeface="Noto Sans SC"/>
              </a:rPr>
              <a:t>模型轻量化</a:t>
            </a:r>
          </a:p>
          <a:p xmlns:a="http://schemas.openxmlformats.org/drawingml/2006/main">
            <a:pPr algn="l">
              <a:lnSpc>
                <a:spcPct val="108000"/>
              </a:lnSpc>
              <a:spcBef>
                <a:spcPts val="1200"/>
              </a:spcBef>
              <a:buNone/>
            </a:pPr>
            <a:r>
              <a:rPr sz="1300">
                <a:solidFill>
                  <a:srgbClr val="475569"/>
                </a:solidFill>
                <a:latin typeface="Noto Sans SC"/>
                <a:ea typeface="Noto Sans SC"/>
                <a:cs typeface="Noto Sans SC"/>
              </a:rPr>
              <a:t>• </a:t>
            </a:r>
            <a:r>
              <a:rPr sz="1300">
                <a:solidFill>
                  <a:srgbClr val="475569"/>
                </a:solidFill>
                <a:latin typeface="Noto Sans SC"/>
                <a:ea typeface="Noto Sans SC"/>
                <a:cs typeface="Noto Sans SC"/>
              </a:rPr>
              <a:t>项目候选模型对比与端侧部署方案选择</a:t>
            </a:r>
          </a:p>
          <a:p xmlns:a="http://schemas.openxmlformats.org/drawingml/2006/main">
            <a:pPr algn="l">
              <a:lnSpc>
                <a:spcPct val="108000"/>
              </a:lnSpc>
              <a:spcBef>
                <a:spcPts val="1200"/>
              </a:spcBef>
              <a:buNone/>
            </a:pPr>
            <a:r>
              <a:rPr sz="1300">
                <a:solidFill>
                  <a:srgbClr val="475569"/>
                </a:solidFill>
                <a:latin typeface="Noto Sans SC"/>
                <a:ea typeface="Noto Sans SC"/>
                <a:cs typeface="Noto Sans SC"/>
              </a:rPr>
              <a:t>• </a:t>
            </a:r>
            <a:r>
              <a:rPr sz="1300">
                <a:solidFill>
                  <a:srgbClr val="475569"/>
                </a:solidFill>
                <a:latin typeface="Noto Sans SC"/>
                <a:ea typeface="Noto Sans SC"/>
                <a:cs typeface="Noto Sans SC"/>
              </a:rPr>
              <a:t>多线程端侧推理性能对比</a:t>
            </a:r>
          </a:p>
          <a:p xmlns:a="http://schemas.openxmlformats.org/drawingml/2006/main">
            <a:pPr algn="l">
              <a:lnSpc>
                <a:spcPct val="108000"/>
              </a:lnSpc>
              <a:spcBef>
                <a:spcPts val="1200"/>
              </a:spcBef>
              <a:buNone/>
            </a:pPr>
            <a:r>
              <a:rPr sz="1300">
                <a:solidFill>
                  <a:srgbClr val="475569"/>
                </a:solidFill>
                <a:latin typeface="Noto Sans SC"/>
                <a:ea typeface="Noto Sans SC"/>
                <a:cs typeface="Noto Sans SC"/>
              </a:rPr>
              <a:t>• 优化效果与误差分析</a:t>
            </a:r>
          </a:p>
        </p:txBody>
      </p:sp>
      <p:sp>
        <p:nvSpPr>
          <p:cNvPr id="15" name="文本框 14">
            <a:extLst xmlns:a="http://schemas.openxmlformats.org/drawingml/2006/main">
              <a:ext uri="{FF2B5EF4-FFF2-40B4-BE49-F238E27FC236}">
                <a16:creationId xmlns:a16="http://schemas.microsoft.com/office/drawing/2014/main" id="{1136471D-73C9-4937-85E1-6DD49AD47B82}"/>
              </a:ext>
            </a:extLst>
          </p:cNvPr>
          <p:cNvSpPr>
            <a:spLocks xmlns:a="http://schemas.openxmlformats.org/drawingml/2006/main" noGrp="1"/>
          </p:cNvSpPr>
          <p:nvPr/>
        </p:nvSpPr>
        <p:spPr>
          <a:xfrm xmlns:a="http://schemas.openxmlformats.org/drawingml/2006/main">
            <a:off x="6477000" y="4083050"/>
            <a:ext cx="3873500" cy="204216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2800" b="1">
                <a:solidFill>
                  <a:srgbClr val="D97706"/>
                </a:solidFill>
                <a:latin typeface="Noto Sans SC"/>
                <a:ea typeface="Noto Sans SC"/>
                <a:cs typeface="Noto Sans SC"/>
              </a:rPr>
              <a:t>05. </a:t>
            </a:r>
            <a:r>
              <a:rPr sz="1800" b="1">
                <a:solidFill>
                  <a:srgbClr val="0F172A"/>
                </a:solidFill>
                <a:latin typeface="Noto Sans SC"/>
                <a:ea typeface="Noto Sans SC"/>
                <a:cs typeface="Noto Sans SC"/>
              </a:rPr>
              <a:t>总结与展望</a:t>
            </a:r>
          </a:p>
          <a:p xmlns:a="http://schemas.openxmlformats.org/drawingml/2006/main">
            <a:pPr algn="l">
              <a:lnSpc>
                <a:spcPct val="108000"/>
              </a:lnSpc>
              <a:spcBef>
                <a:spcPts val="1200"/>
              </a:spcBef>
              <a:buNone/>
            </a:pPr>
            <a:r>
              <a:rPr sz="1300">
                <a:solidFill>
                  <a:srgbClr val="475569"/>
                </a:solidFill>
                <a:latin typeface="Noto Sans SC"/>
                <a:ea typeface="Noto Sans SC"/>
                <a:cs typeface="Noto Sans SC"/>
              </a:rPr>
              <a:t>•项目总结</a:t>
            </a:r>
          </a:p>
          <a:p xmlns:a="http://schemas.openxmlformats.org/drawingml/2006/main">
            <a:pPr algn="l">
              <a:lnSpc>
                <a:spcPct val="108000"/>
              </a:lnSpc>
              <a:spcBef>
                <a:spcPts val="1200"/>
              </a:spcBef>
              <a:buNone/>
            </a:pPr>
            <a:r>
              <a:rPr sz="1300">
                <a:solidFill>
                  <a:srgbClr val="475569"/>
                </a:solidFill>
                <a:latin typeface="Noto Sans SC"/>
                <a:ea typeface="Noto Sans SC"/>
                <a:cs typeface="Noto Sans SC"/>
              </a:rPr>
              <a:t>•未来展望</a:t>
            </a:r>
          </a:p>
        </p:txBody>
      </p:sp>
    </p:spTree>
    <p:extLst>
      <p:ext uri="{BB962C8B-B14F-4D97-AF65-F5344CB8AC3E}">
        <p14:creationId xmlns:p14="http://schemas.microsoft.com/office/powerpoint/2010/main" val="768759084"/>
      </p:ext>
    </p:extLst>
  </p:cSld>
</p:sld>
</file>

<file path=ppt/slides/slide3.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8e961dab67fc4c50"/>
          <a:srcRect xmlns:a="http://schemas.openxmlformats.org/drawingml/2006/main" l="33" t="0" r="33" b="0"/>
          <a:stretch xmlns:a="http://schemas.openxmlformats.org/drawingml/2006/main">
            <a:fillRect l="0" t="0" r="0" b="0"/>
          </a:stretch>
        </p:blipFill>
        <p:spPr>
          <a:xfrm xmlns:a="http://schemas.openxmlformats.org/drawingml/2006/main">
            <a:off x="0" y="0"/>
            <a:ext cx="12001500" cy="6807200"/>
          </a:xfrm>
          <a:prstGeom xmlns:a="http://schemas.openxmlformats.org/drawingml/2006/main" prst="rect">
            <a:avLst/>
          </a:prstGeom>
          <a:ln xmlns:a="http://schemas.openxmlformats.org/drawingml/2006/main" w="25400" cap="flat" cmpd="sng">
            <a:noFill/>
            <a:prstDash val="solid"/>
            <a:round/>
          </a:ln>
        </p:spPr>
      </p:pic>
      <p:sp>
        <p:nvSpPr>
          <p:cNvPr id="3" name="AutoShape 3">
            <a:extLst xmlns:a="http://schemas.openxmlformats.org/drawingml/2006/main">
              <a:ext uri="{FF2B5EF4-FFF2-40B4-BE49-F238E27FC236}">
                <a16:creationId xmlns:a16="http://schemas.microsoft.com/office/drawing/2014/main" id="{975912B8-96DB-4B25-A853-5A02EBFD4CB1}"/>
              </a:ext>
            </a:extLst>
          </p:cNvPr>
          <p:cNvSpPr>
            <a:spLocks xmlns:a="http://schemas.openxmlformats.org/drawingml/2006/main" noGrp="1"/>
          </p:cNvSpPr>
          <p:nvPr/>
        </p:nvSpPr>
        <p:spPr>
          <a:xfrm xmlns:a="http://schemas.openxmlformats.org/drawingml/2006/main">
            <a:off x="0" y="1778000"/>
            <a:ext cx="12001500" cy="1524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9600" b="1" i="0" u="none">
                <a:solidFill>
                  <a:srgbClr val="1E3A8A"/>
                </a:solidFill>
                <a:latin typeface="微软雅黑"/>
                <a:ea typeface="微软雅黑"/>
                <a:cs typeface="微软雅黑"/>
              </a:rPr>
              <a:t>01</a:t>
            </a:r>
          </a:p>
        </p:txBody>
      </p:sp>
      <p:sp>
        <p:nvSpPr>
          <p:cNvPr id="4" name="AutoShape 4">
            <a:extLst xmlns:a="http://schemas.openxmlformats.org/drawingml/2006/main">
              <a:ext uri="{FF2B5EF4-FFF2-40B4-BE49-F238E27FC236}">
                <a16:creationId xmlns:a16="http://schemas.microsoft.com/office/drawing/2014/main" id="{E5BF64C9-B561-4EF5-B1F3-E8A5205A6809}"/>
              </a:ext>
            </a:extLst>
          </p:cNvPr>
          <p:cNvSpPr>
            <a:spLocks xmlns:a="http://schemas.openxmlformats.org/drawingml/2006/main" noGrp="1"/>
          </p:cNvSpPr>
          <p:nvPr/>
        </p:nvSpPr>
        <p:spPr>
          <a:xfrm xmlns:a="http://schemas.openxmlformats.org/drawingml/2006/main">
            <a:off x="0" y="3556000"/>
            <a:ext cx="12001500" cy="1016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4000" b="1" i="0" u="none">
                <a:solidFill>
                  <a:srgbClr val="111827"/>
                </a:solidFill>
                <a:latin typeface="Noto Sans SC"/>
                <a:ea typeface="Noto Sans SC"/>
                <a:cs typeface="Noto Sans SC"/>
              </a:rPr>
              <a:t>项目概述与</a:t>
            </a:r>
            <a:r>
              <a:rPr sz="4000" b="1" i="0" u="none">
                <a:solidFill>
                  <a:srgbClr val="111827"/>
                </a:solidFill>
                <a:latin typeface="Noto Sans SC"/>
                <a:ea typeface="Noto Sans SC"/>
                <a:cs typeface="Noto Sans SC"/>
              </a:rPr>
              <a:t>背景</a:t>
            </a:r>
          </a:p>
        </p:txBody>
      </p:sp>
      <p:sp>
        <p:nvSpPr>
          <p:cNvPr id="5" name="AutoShape 5">
            <a:extLst xmlns:a="http://schemas.openxmlformats.org/drawingml/2006/main">
              <a:ext uri="{FF2B5EF4-FFF2-40B4-BE49-F238E27FC236}">
                <a16:creationId xmlns:a16="http://schemas.microsoft.com/office/drawing/2014/main" id="{0EBE9315-3847-4109-A1F0-1BD818A31E93}"/>
              </a:ext>
            </a:extLst>
          </p:cNvPr>
          <p:cNvSpPr>
            <a:spLocks xmlns:a="http://schemas.openxmlformats.org/drawingml/2006/main" noGrp="1"/>
          </p:cNvSpPr>
          <p:nvPr/>
        </p:nvSpPr>
        <p:spPr>
          <a:xfrm xmlns:a="http://schemas.openxmlformats.org/drawingml/2006/main">
            <a:off x="0" y="5080000"/>
            <a:ext cx="12001500" cy="762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1800" b="0" i="0" u="none">
                <a:solidFill>
                  <a:srgbClr val="4B5563"/>
                </a:solidFill>
                <a:latin typeface="Noto Sans SC"/>
                <a:ea typeface="Noto Sans SC"/>
                <a:cs typeface="Noto Sans SC"/>
              </a:rPr>
              <a:t>研究背景与意义</a:t>
            </a:r>
            <a:r>
              <a:rPr sz="1800" b="0" i="0" u="none">
                <a:solidFill>
                  <a:srgbClr val="4B5563"/>
                </a:solidFill>
                <a:latin typeface="Noto Sans SC"/>
                <a:ea typeface="Noto Sans SC"/>
                <a:cs typeface="Noto Sans SC"/>
              </a:rPr>
              <a:t>| </a:t>
            </a:r>
            <a:r>
              <a:rPr sz="1800" b="0" i="0" u="none">
                <a:solidFill>
                  <a:srgbClr val="4B5563"/>
                </a:solidFill>
                <a:latin typeface="Noto Sans SC"/>
                <a:ea typeface="Noto Sans SC"/>
                <a:cs typeface="Noto Sans SC"/>
              </a:rPr>
              <a:t>技术难点与主要</a:t>
            </a:r>
            <a:r>
              <a:rPr sz="1800" b="0" i="0" u="none">
                <a:solidFill>
                  <a:srgbClr val="4B5563"/>
                </a:solidFill>
                <a:latin typeface="Noto Sans SC"/>
                <a:ea typeface="Noto Sans SC"/>
                <a:cs typeface="Noto Sans SC"/>
              </a:rPr>
              <a:t>创新</a:t>
            </a:r>
          </a:p>
        </p:txBody>
      </p:sp>
    </p:spTree>
    <p:extLst>
      <p:ext uri="{BB962C8B-B14F-4D97-AF65-F5344CB8AC3E}">
        <p14:creationId xmlns:p14="http://schemas.microsoft.com/office/powerpoint/2010/main" val="967709841"/>
      </p:ext>
    </p:extLst>
  </p:cSld>
</p:sld>
</file>

<file path=ppt/slides/slide4.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b999a9c8a84f48a0"/>
          <a:srcRect xmlns:a="http://schemas.openxmlformats.org/drawingml/2006/main" l="33" t="0" r="33" b="0"/>
          <a:stretch xmlns:a="http://schemas.openxmlformats.org/drawingml/2006/main">
            <a:fillRect l="0" t="0" r="0" b="0"/>
          </a:stretch>
        </p:blipFill>
        <p:spPr>
          <a:xfrm xmlns:a="http://schemas.openxmlformats.org/drawingml/2006/main">
            <a:off x="0" y="0"/>
            <a:ext cx="12001500" cy="6807200"/>
          </a:xfrm>
          <a:prstGeom xmlns:a="http://schemas.openxmlformats.org/drawingml/2006/main" prst="rect">
            <a:avLst/>
          </a:prstGeom>
          <a:ln xmlns:a="http://schemas.openxmlformats.org/drawingml/2006/main" w="25400" cap="flat" cmpd="sng">
            <a:noFill/>
            <a:prstDash val="solid"/>
            <a:round/>
          </a:ln>
        </p:spPr>
      </p:pic>
      <p:sp>
        <p:nvSpPr>
          <p:cNvPr id="4" name="AutoShape 4">
            <a:extLst xmlns:a="http://schemas.openxmlformats.org/drawingml/2006/main">
              <a:ext uri="{FF2B5EF4-FFF2-40B4-BE49-F238E27FC236}">
                <a16:creationId xmlns:a16="http://schemas.microsoft.com/office/drawing/2014/main" id="{8314A251-7A48-43E4-BA74-9CF32932A728}"/>
              </a:ext>
            </a:extLst>
          </p:cNvPr>
          <p:cNvSpPr>
            <a:spLocks xmlns:a="http://schemas.openxmlformats.org/drawingml/2006/main" noGrp="1"/>
          </p:cNvSpPr>
          <p:nvPr/>
        </p:nvSpPr>
        <p:spPr>
          <a:xfrm xmlns:a="http://schemas.openxmlformats.org/drawingml/2006/main">
            <a:off x="631825" y="688340"/>
            <a:ext cx="10985500" cy="762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algn="ctr">
              <a:lnSpc>
                <a:spcPct val="125000"/>
              </a:lnSpc>
              <a:buNone/>
            </a:pPr>
            <a:r>
              <a:rPr sz="3200" b="1" i="0" u="none">
                <a:solidFill>
                  <a:srgbClr val="104862"/>
                </a:solidFill>
                <a:latin typeface="Noto Sans SC"/>
                <a:ea typeface="Noto Sans SC"/>
                <a:cs typeface="Noto Sans SC"/>
              </a:rPr>
              <a:t> 01 研究背景与意义</a:t>
            </a:r>
          </a:p>
        </p:txBody>
      </p:sp>
      <p:sp>
        <p:nvSpPr>
          <p:cNvPr id="5" name="AutoShape 5">
            <a:extLst xmlns:a="http://schemas.openxmlformats.org/drawingml/2006/main">
              <a:ext uri="{FF2B5EF4-FFF2-40B4-BE49-F238E27FC236}">
                <a16:creationId xmlns:a16="http://schemas.microsoft.com/office/drawing/2014/main" id="{BFDF0F61-7A8C-47FA-9DD0-2A6CB60BAB73}"/>
              </a:ext>
            </a:extLst>
          </p:cNvPr>
          <p:cNvSpPr>
            <a:spLocks xmlns:a="http://schemas.openxmlformats.org/drawingml/2006/main" noGrp="1"/>
          </p:cNvSpPr>
          <p:nvPr/>
        </p:nvSpPr>
        <p:spPr>
          <a:xfrm xmlns:a="http://schemas.openxmlformats.org/drawingml/2006/main">
            <a:off x="508000" y="1397000"/>
            <a:ext cx="5461000" cy="2413000"/>
          </a:xfrm>
          <a:prstGeom xmlns:a="http://schemas.openxmlformats.org/drawingml/2006/main" prst="roundRect">
            <a:avLst>
              <a:gd name="adj" fmla="val 6315"/>
            </a:avLst>
          </a:prstGeom>
          <a:solidFill xmlns:a="http://schemas.openxmlformats.org/drawingml/2006/main">
            <a:srgbClr val="FFFFFF">
              <a:alpha val="95000"/>
            </a:srgbClr>
          </a:solidFill>
          <a:ln xmlns:a="http://schemas.openxmlformats.org/drawingml/2006/main" w="12700" cmpd="sng">
            <a:solidFill>
              <a:srgbClr val="E5E7EB">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6" name="Picture 6"/>
          <p:cNvPicPr>
            <a:picLocks xmlns:a="http://schemas.openxmlformats.org/drawingml/2006/main" noChangeAspect="1"/>
          </p:cNvPicPr>
          <p:nvPr/>
        </p:nvPicPr>
        <p:blipFill>
          <a:blip xmlns:r="http://schemas.openxmlformats.org/officeDocument/2006/relationships" xmlns:a="http://schemas.openxmlformats.org/drawingml/2006/main" r:embed="Rbac71ac56927403d"/>
          <a:stretch xmlns:a="http://schemas.openxmlformats.org/drawingml/2006/main">
            <a:fillRect l="0" t="0" r="0" b="0"/>
          </a:stretch>
        </p:blipFill>
        <p:spPr>
          <a:xfrm xmlns:a="http://schemas.openxmlformats.org/drawingml/2006/main">
            <a:off x="762000" y="1651000"/>
            <a:ext cx="355600" cy="355600"/>
          </a:xfrm>
          <a:prstGeom xmlns:a="http://schemas.openxmlformats.org/drawingml/2006/main" prst="rect">
            <a:avLst/>
          </a:prstGeom>
        </p:spPr>
      </p:pic>
      <p:sp>
        <p:nvSpPr>
          <p:cNvPr id="7" name="AutoShape 7">
            <a:extLst xmlns:a="http://schemas.openxmlformats.org/drawingml/2006/main">
              <a:ext uri="{FF2B5EF4-FFF2-40B4-BE49-F238E27FC236}">
                <a16:creationId xmlns:a16="http://schemas.microsoft.com/office/drawing/2014/main" id="{764232BD-5041-47A6-9572-02C500E8578E}"/>
              </a:ext>
            </a:extLst>
          </p:cNvPr>
          <p:cNvSpPr>
            <a:spLocks xmlns:a="http://schemas.openxmlformats.org/drawingml/2006/main" noGrp="1"/>
          </p:cNvSpPr>
          <p:nvPr/>
        </p:nvSpPr>
        <p:spPr>
          <a:xfrm xmlns:a="http://schemas.openxmlformats.org/drawingml/2006/main">
            <a:off x="1270000" y="1625600"/>
            <a:ext cx="4318000" cy="4064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1900" b="1" i="0" u="none">
                <a:solidFill>
                  <a:srgbClr val="2563EB"/>
                </a:solidFill>
                <a:latin typeface="Noto Sans SC"/>
                <a:ea typeface="Noto Sans SC"/>
                <a:cs typeface="Noto Sans SC"/>
              </a:rPr>
              <a:t>核心价值</a:t>
            </a:r>
          </a:p>
        </p:txBody>
      </p:sp>
      <p:sp>
        <p:nvSpPr>
          <p:cNvPr id="8" name="AutoShape 8">
            <a:extLst xmlns:a="http://schemas.openxmlformats.org/drawingml/2006/main">
              <a:ext uri="{FF2B5EF4-FFF2-40B4-BE49-F238E27FC236}">
                <a16:creationId xmlns:a16="http://schemas.microsoft.com/office/drawing/2014/main" id="{BA265E2E-F4FB-42F8-8FD9-E6A2A17FBF56}"/>
              </a:ext>
            </a:extLst>
          </p:cNvPr>
          <p:cNvSpPr>
            <a:spLocks xmlns:a="http://schemas.openxmlformats.org/drawingml/2006/main" noGrp="1"/>
          </p:cNvSpPr>
          <p:nvPr/>
        </p:nvSpPr>
        <p:spPr>
          <a:xfrm xmlns:a="http://schemas.openxmlformats.org/drawingml/2006/main">
            <a:off x="762000" y="2286000"/>
            <a:ext cx="4953000" cy="1270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17000"/>
              </a:lnSpc>
              <a:buNone/>
            </a:pPr>
            <a:r>
              <a:rPr sz="1300" b="0" i="0" u="none">
                <a:solidFill>
                  <a:srgbClr val="374151"/>
                </a:solidFill>
                <a:latin typeface="Noto Sans SC"/>
                <a:ea typeface="Noto Sans SC"/>
                <a:cs typeface="Noto Sans SC"/>
              </a:rPr>
              <a:t>随着脑机接口(BCI)、情绪健康监测和边缘智能设备的发展，基于脑电(EEG)信号的情绪识别，能够突破传统接触式与非接触式识别的局限，具备重要的科研价值与广泛的现实应用前景。</a:t>
            </a:r>
          </a:p>
        </p:txBody>
      </p:sp>
      <p:sp>
        <p:nvSpPr>
          <p:cNvPr id="9" name="AutoShape 9">
            <a:extLst xmlns:a="http://schemas.openxmlformats.org/drawingml/2006/main">
              <a:ext uri="{FF2B5EF4-FFF2-40B4-BE49-F238E27FC236}">
                <a16:creationId xmlns:a16="http://schemas.microsoft.com/office/drawing/2014/main" id="{2802A589-0E03-4AC0-A070-F71014415834}"/>
              </a:ext>
            </a:extLst>
          </p:cNvPr>
          <p:cNvSpPr>
            <a:spLocks xmlns:a="http://schemas.openxmlformats.org/drawingml/2006/main" noGrp="1"/>
          </p:cNvSpPr>
          <p:nvPr/>
        </p:nvSpPr>
        <p:spPr>
          <a:xfrm xmlns:a="http://schemas.openxmlformats.org/drawingml/2006/main">
            <a:off x="6223000" y="1397000"/>
            <a:ext cx="5461000" cy="2413000"/>
          </a:xfrm>
          <a:prstGeom xmlns:a="http://schemas.openxmlformats.org/drawingml/2006/main" prst="roundRect">
            <a:avLst>
              <a:gd name="adj" fmla="val 6315"/>
            </a:avLst>
          </a:prstGeom>
          <a:solidFill xmlns:a="http://schemas.openxmlformats.org/drawingml/2006/main">
            <a:srgbClr val="FFFFFF">
              <a:alpha val="95000"/>
            </a:srgbClr>
          </a:solidFill>
          <a:ln xmlns:a="http://schemas.openxmlformats.org/drawingml/2006/main" w="12700" cmpd="sng">
            <a:solidFill>
              <a:srgbClr val="E5E7EB">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10" name="Picture 10"/>
          <p:cNvPicPr>
            <a:picLocks xmlns:a="http://schemas.openxmlformats.org/drawingml/2006/main" noChangeAspect="1"/>
          </p:cNvPicPr>
          <p:nvPr/>
        </p:nvPicPr>
        <p:blipFill>
          <a:blip xmlns:r="http://schemas.openxmlformats.org/officeDocument/2006/relationships" xmlns:a="http://schemas.openxmlformats.org/drawingml/2006/main" r:embed="Rdae5c06da6f64a9a"/>
          <a:stretch xmlns:a="http://schemas.openxmlformats.org/drawingml/2006/main">
            <a:fillRect l="0" t="0" r="0" b="0"/>
          </a:stretch>
        </p:blipFill>
        <p:spPr>
          <a:xfrm xmlns:a="http://schemas.openxmlformats.org/drawingml/2006/main">
            <a:off x="6477000" y="1651000"/>
            <a:ext cx="355600" cy="355600"/>
          </a:xfrm>
          <a:prstGeom xmlns:a="http://schemas.openxmlformats.org/drawingml/2006/main" prst="rect">
            <a:avLst/>
          </a:prstGeom>
        </p:spPr>
      </p:pic>
      <p:sp>
        <p:nvSpPr>
          <p:cNvPr id="11" name="AutoShape 11">
            <a:extLst xmlns:a="http://schemas.openxmlformats.org/drawingml/2006/main">
              <a:ext uri="{FF2B5EF4-FFF2-40B4-BE49-F238E27FC236}">
                <a16:creationId xmlns:a16="http://schemas.microsoft.com/office/drawing/2014/main" id="{21F2FDFC-481F-4636-A3C9-307B2DAE50BA}"/>
              </a:ext>
            </a:extLst>
          </p:cNvPr>
          <p:cNvSpPr>
            <a:spLocks xmlns:a="http://schemas.openxmlformats.org/drawingml/2006/main" noGrp="1"/>
          </p:cNvSpPr>
          <p:nvPr/>
        </p:nvSpPr>
        <p:spPr>
          <a:xfrm xmlns:a="http://schemas.openxmlformats.org/drawingml/2006/main">
            <a:off x="6985000" y="1625600"/>
            <a:ext cx="4318000" cy="4064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1900" b="1" i="0" u="none">
                <a:solidFill>
                  <a:srgbClr val="10B981"/>
                </a:solidFill>
                <a:latin typeface="Noto Sans SC"/>
                <a:ea typeface="Noto Sans SC"/>
                <a:cs typeface="Noto Sans SC"/>
              </a:rPr>
              <a:t>EEG 信号优势</a:t>
            </a:r>
          </a:p>
        </p:txBody>
      </p:sp>
      <p:sp>
        <p:nvSpPr>
          <p:cNvPr id="12" name="AutoShape 12">
            <a:extLst xmlns:a="http://schemas.openxmlformats.org/drawingml/2006/main">
              <a:ext uri="{FF2B5EF4-FFF2-40B4-BE49-F238E27FC236}">
                <a16:creationId xmlns:a16="http://schemas.microsoft.com/office/drawing/2014/main" id="{42073E9D-0F39-4829-A52B-8B869D62A1EC}"/>
              </a:ext>
            </a:extLst>
          </p:cNvPr>
          <p:cNvSpPr>
            <a:spLocks xmlns:a="http://schemas.openxmlformats.org/drawingml/2006/main" noGrp="1"/>
          </p:cNvSpPr>
          <p:nvPr/>
        </p:nvSpPr>
        <p:spPr>
          <a:xfrm xmlns:a="http://schemas.openxmlformats.org/drawingml/2006/main">
            <a:off x="6477000" y="2286000"/>
            <a:ext cx="4953000" cy="1270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17000"/>
              </a:lnSpc>
              <a:buNone/>
            </a:pPr>
            <a:r>
              <a:rPr sz="1300" b="1" i="0" u="none">
                <a:solidFill>
                  <a:srgbClr val="374151"/>
                </a:solidFill>
                <a:latin typeface="Noto Sans SC"/>
                <a:ea typeface="Noto Sans SC"/>
                <a:cs typeface="Noto Sans SC"/>
              </a:rPr>
              <a:t>• 直接性：</a:t>
            </a:r>
            <a:r>
              <a:rPr sz="1300" b="0" i="0" u="none">
                <a:solidFill>
                  <a:srgbClr val="374151"/>
                </a:solidFill>
                <a:latin typeface="Noto Sans SC"/>
                <a:ea typeface="Noto Sans SC"/>
                <a:cs typeface="Noto Sans SC"/>
              </a:rPr>
              <a:t>绕过人的主观意识表达，直接反映大脑皮层神经电生理活动，是情绪状态最底层的生理信号之一。</a:t>
            </a:r>
          </a:p>
          <a:p xmlns:a="http://schemas.openxmlformats.org/drawingml/2006/main">
            <a:pPr indent="0" algn="l">
              <a:lnSpc>
                <a:spcPct val="117000"/>
              </a:lnSpc>
              <a:buNone/>
            </a:pPr>
            <a:r>
              <a:rPr sz="1300" b="1" i="0" u="none">
                <a:solidFill>
                  <a:srgbClr val="374151"/>
                </a:solidFill>
                <a:latin typeface="Noto Sans SC"/>
                <a:ea typeface="Noto Sans SC"/>
                <a:cs typeface="Noto Sans SC"/>
              </a:rPr>
              <a:t>• 抗伪装性：</a:t>
            </a:r>
            <a:r>
              <a:rPr sz="1300" b="0" i="0" u="none">
                <a:solidFill>
                  <a:srgbClr val="374151"/>
                </a:solidFill>
                <a:latin typeface="Noto Sans SC"/>
                <a:ea typeface="Noto Sans SC"/>
                <a:cs typeface="Noto Sans SC"/>
              </a:rPr>
              <a:t>相比面部表情、语音语调等外部行为信号，极难被主观伪装或刻意掩饰。</a:t>
            </a:r>
          </a:p>
        </p:txBody>
      </p:sp>
      <p:sp>
        <p:nvSpPr>
          <p:cNvPr id="13" name="AutoShape 13">
            <a:extLst xmlns:a="http://schemas.openxmlformats.org/drawingml/2006/main">
              <a:ext uri="{FF2B5EF4-FFF2-40B4-BE49-F238E27FC236}">
                <a16:creationId xmlns:a16="http://schemas.microsoft.com/office/drawing/2014/main" id="{7F8A1C49-DE4B-46CC-AA35-506FB0A223C4}"/>
              </a:ext>
            </a:extLst>
          </p:cNvPr>
          <p:cNvSpPr>
            <a:spLocks xmlns:a="http://schemas.openxmlformats.org/drawingml/2006/main" noGrp="1"/>
          </p:cNvSpPr>
          <p:nvPr/>
        </p:nvSpPr>
        <p:spPr>
          <a:xfrm xmlns:a="http://schemas.openxmlformats.org/drawingml/2006/main">
            <a:off x="508000" y="4064000"/>
            <a:ext cx="5461000" cy="2413000"/>
          </a:xfrm>
          <a:prstGeom xmlns:a="http://schemas.openxmlformats.org/drawingml/2006/main" prst="roundRect">
            <a:avLst>
              <a:gd name="adj" fmla="val 6315"/>
            </a:avLst>
          </a:prstGeom>
          <a:solidFill xmlns:a="http://schemas.openxmlformats.org/drawingml/2006/main">
            <a:srgbClr val="FFFFFF">
              <a:alpha val="95000"/>
            </a:srgbClr>
          </a:solidFill>
          <a:ln xmlns:a="http://schemas.openxmlformats.org/drawingml/2006/main" w="12700" cmpd="sng">
            <a:solidFill>
              <a:srgbClr val="E5E7EB">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14" name="Picture 14"/>
          <p:cNvPicPr>
            <a:picLocks xmlns:a="http://schemas.openxmlformats.org/drawingml/2006/main" noChangeAspect="1"/>
          </p:cNvPicPr>
          <p:nvPr/>
        </p:nvPicPr>
        <p:blipFill>
          <a:blip xmlns:r="http://schemas.openxmlformats.org/officeDocument/2006/relationships" xmlns:a="http://schemas.openxmlformats.org/drawingml/2006/main" r:embed="R6cf6757f88a44699"/>
          <a:stretch xmlns:a="http://schemas.openxmlformats.org/drawingml/2006/main">
            <a:fillRect l="0" t="0" r="0" b="0"/>
          </a:stretch>
        </p:blipFill>
        <p:spPr>
          <a:xfrm xmlns:a="http://schemas.openxmlformats.org/drawingml/2006/main">
            <a:off x="762000" y="4318000"/>
            <a:ext cx="355600" cy="355600"/>
          </a:xfrm>
          <a:prstGeom xmlns:a="http://schemas.openxmlformats.org/drawingml/2006/main" prst="rect">
            <a:avLst/>
          </a:prstGeom>
        </p:spPr>
      </p:pic>
      <p:sp>
        <p:nvSpPr>
          <p:cNvPr id="15" name="AutoShape 15">
            <a:extLst xmlns:a="http://schemas.openxmlformats.org/drawingml/2006/main">
              <a:ext uri="{FF2B5EF4-FFF2-40B4-BE49-F238E27FC236}">
                <a16:creationId xmlns:a16="http://schemas.microsoft.com/office/drawing/2014/main" id="{DCE2DF23-3127-4014-95A7-6F4364156209}"/>
              </a:ext>
            </a:extLst>
          </p:cNvPr>
          <p:cNvSpPr>
            <a:spLocks xmlns:a="http://schemas.openxmlformats.org/drawingml/2006/main" noGrp="1"/>
          </p:cNvSpPr>
          <p:nvPr/>
        </p:nvSpPr>
        <p:spPr>
          <a:xfrm xmlns:a="http://schemas.openxmlformats.org/drawingml/2006/main">
            <a:off x="1270000" y="4292600"/>
            <a:ext cx="4318000" cy="4064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1900" b="1" i="0" u="none">
                <a:solidFill>
                  <a:srgbClr val="F59E0B"/>
                </a:solidFill>
                <a:latin typeface="Noto Sans SC"/>
                <a:ea typeface="Noto Sans SC"/>
                <a:cs typeface="Noto Sans SC"/>
              </a:rPr>
              <a:t>面临的技术挑战</a:t>
            </a:r>
          </a:p>
        </p:txBody>
      </p:sp>
      <p:sp>
        <p:nvSpPr>
          <p:cNvPr id="16" name="AutoShape 16">
            <a:extLst xmlns:a="http://schemas.openxmlformats.org/drawingml/2006/main">
              <a:ext uri="{FF2B5EF4-FFF2-40B4-BE49-F238E27FC236}">
                <a16:creationId xmlns:a16="http://schemas.microsoft.com/office/drawing/2014/main" id="{415580D4-2C84-418E-9F80-BE4EF585F954}"/>
              </a:ext>
            </a:extLst>
          </p:cNvPr>
          <p:cNvSpPr>
            <a:spLocks xmlns:a="http://schemas.openxmlformats.org/drawingml/2006/main" noGrp="1"/>
          </p:cNvSpPr>
          <p:nvPr/>
        </p:nvSpPr>
        <p:spPr>
          <a:xfrm xmlns:a="http://schemas.openxmlformats.org/drawingml/2006/main">
            <a:off x="762000" y="4953000"/>
            <a:ext cx="4953000" cy="1270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17000"/>
              </a:lnSpc>
              <a:buNone/>
            </a:pPr>
            <a:r>
              <a:rPr sz="1300" b="0" i="0" u="none">
                <a:solidFill>
                  <a:srgbClr val="374151"/>
                </a:solidFill>
                <a:latin typeface="Noto Sans SC"/>
                <a:ea typeface="Noto Sans SC"/>
                <a:cs typeface="Noto Sans SC"/>
              </a:rPr>
              <a:t>• 信号特征复杂：高维度、多通道且极易受眼电、肌电等生理噪声干扰。</a:t>
            </a:r>
          </a:p>
          <a:p xmlns:a="http://schemas.openxmlformats.org/drawingml/2006/main">
            <a:pPr indent="0" algn="l">
              <a:lnSpc>
                <a:spcPct val="117000"/>
              </a:lnSpc>
              <a:buNone/>
            </a:pPr>
            <a:r>
              <a:rPr sz="1300" b="0" i="0" u="none">
                <a:solidFill>
                  <a:srgbClr val="374151"/>
                </a:solidFill>
                <a:latin typeface="Noto Sans SC"/>
                <a:ea typeface="Noto Sans SC"/>
                <a:cs typeface="Noto Sans SC"/>
              </a:rPr>
              <a:t>• 泛化性瓶颈：个体间生理差异与跨时段状态变化，导致“域偏移”问题，严重影响模型跨被试识别效果。</a:t>
            </a:r>
          </a:p>
        </p:txBody>
      </p:sp>
      <p:sp>
        <p:nvSpPr>
          <p:cNvPr id="17" name="AutoShape 17">
            <a:extLst xmlns:a="http://schemas.openxmlformats.org/drawingml/2006/main">
              <a:ext uri="{FF2B5EF4-FFF2-40B4-BE49-F238E27FC236}">
                <a16:creationId xmlns:a16="http://schemas.microsoft.com/office/drawing/2014/main" id="{EAB85529-645D-4C0E-8B65-EA8560A94DF8}"/>
              </a:ext>
            </a:extLst>
          </p:cNvPr>
          <p:cNvSpPr>
            <a:spLocks xmlns:a="http://schemas.openxmlformats.org/drawingml/2006/main" noGrp="1"/>
          </p:cNvSpPr>
          <p:nvPr/>
        </p:nvSpPr>
        <p:spPr>
          <a:xfrm xmlns:a="http://schemas.openxmlformats.org/drawingml/2006/main">
            <a:off x="6223000" y="4064000"/>
            <a:ext cx="5461000" cy="2413000"/>
          </a:xfrm>
          <a:prstGeom xmlns:a="http://schemas.openxmlformats.org/drawingml/2006/main" prst="roundRect">
            <a:avLst>
              <a:gd name="adj" fmla="val 6315"/>
            </a:avLst>
          </a:prstGeom>
          <a:solidFill xmlns:a="http://schemas.openxmlformats.org/drawingml/2006/main">
            <a:srgbClr val="FFFFFF">
              <a:alpha val="95000"/>
            </a:srgbClr>
          </a:solidFill>
          <a:ln xmlns:a="http://schemas.openxmlformats.org/drawingml/2006/main" w="12700" cmpd="sng">
            <a:solidFill>
              <a:srgbClr val="E5E7EB">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18" name="Picture 18"/>
          <p:cNvPicPr>
            <a:picLocks xmlns:a="http://schemas.openxmlformats.org/drawingml/2006/main" noChangeAspect="1"/>
          </p:cNvPicPr>
          <p:nvPr/>
        </p:nvPicPr>
        <p:blipFill>
          <a:blip xmlns:r="http://schemas.openxmlformats.org/officeDocument/2006/relationships" xmlns:a="http://schemas.openxmlformats.org/drawingml/2006/main" r:embed="R12b49c8e13d44dc7"/>
          <a:stretch xmlns:a="http://schemas.openxmlformats.org/drawingml/2006/main">
            <a:fillRect l="0" t="0" r="0" b="0"/>
          </a:stretch>
        </p:blipFill>
        <p:spPr>
          <a:xfrm xmlns:a="http://schemas.openxmlformats.org/drawingml/2006/main">
            <a:off x="6477000" y="4318000"/>
            <a:ext cx="355600" cy="355600"/>
          </a:xfrm>
          <a:prstGeom xmlns:a="http://schemas.openxmlformats.org/drawingml/2006/main" prst="rect">
            <a:avLst/>
          </a:prstGeom>
        </p:spPr>
      </p:pic>
      <p:sp>
        <p:nvSpPr>
          <p:cNvPr id="19" name="AutoShape 19">
            <a:extLst xmlns:a="http://schemas.openxmlformats.org/drawingml/2006/main">
              <a:ext uri="{FF2B5EF4-FFF2-40B4-BE49-F238E27FC236}">
                <a16:creationId xmlns:a16="http://schemas.microsoft.com/office/drawing/2014/main" id="{3C26601D-E292-4F78-B398-84783681231D}"/>
              </a:ext>
            </a:extLst>
          </p:cNvPr>
          <p:cNvSpPr>
            <a:spLocks xmlns:a="http://schemas.openxmlformats.org/drawingml/2006/main" noGrp="1"/>
          </p:cNvSpPr>
          <p:nvPr/>
        </p:nvSpPr>
        <p:spPr>
          <a:xfrm xmlns:a="http://schemas.openxmlformats.org/drawingml/2006/main">
            <a:off x="6985000" y="4292600"/>
            <a:ext cx="4318000" cy="4064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1900" b="1" i="0" u="none">
                <a:solidFill>
                  <a:srgbClr val="DC2626"/>
                </a:solidFill>
                <a:latin typeface="Noto Sans SC"/>
                <a:ea typeface="Noto Sans SC"/>
                <a:cs typeface="Noto Sans SC"/>
              </a:rPr>
              <a:t>本项目核心目标</a:t>
            </a:r>
          </a:p>
        </p:txBody>
      </p:sp>
      <p:sp>
        <p:nvSpPr>
          <p:cNvPr id="20" name="AutoShape 20">
            <a:extLst xmlns:a="http://schemas.openxmlformats.org/drawingml/2006/main">
              <a:ext uri="{FF2B5EF4-FFF2-40B4-BE49-F238E27FC236}">
                <a16:creationId xmlns:a16="http://schemas.microsoft.com/office/drawing/2014/main" id="{3C4EFF49-60AF-48B9-96AE-BD13D3BA5E44}"/>
              </a:ext>
            </a:extLst>
          </p:cNvPr>
          <p:cNvSpPr>
            <a:spLocks xmlns:a="http://schemas.openxmlformats.org/drawingml/2006/main" noGrp="1"/>
          </p:cNvSpPr>
          <p:nvPr/>
        </p:nvSpPr>
        <p:spPr>
          <a:xfrm xmlns:a="http://schemas.openxmlformats.org/drawingml/2006/main">
            <a:off x="6477000" y="4953000"/>
            <a:ext cx="4953000" cy="1270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17000"/>
              </a:lnSpc>
              <a:buNone/>
            </a:pPr>
            <a:r>
              <a:rPr sz="1300" b="0" i="0" u="none">
                <a:solidFill>
                  <a:srgbClr val="374151"/>
                </a:solidFill>
                <a:latin typeface="Noto Sans SC"/>
                <a:ea typeface="Noto Sans SC"/>
                <a:cs typeface="Noto Sans SC"/>
              </a:rPr>
              <a:t>面向 CPU/ARM64 边缘计算平台，构建“数据处理→特征增强→泛化优化→端侧推理”的全链路技术方案，攻克跨被试识别难题，实现一套高效、高精度、低功耗且可落地的 EEG 情绪识别系统。</a:t>
            </a:r>
          </a:p>
        </p:txBody>
      </p:sp>
    </p:spTree>
    <p:extLst>
      <p:ext uri="{BB962C8B-B14F-4D97-AF65-F5344CB8AC3E}">
        <p14:creationId xmlns:p14="http://schemas.microsoft.com/office/powerpoint/2010/main" val="472514064"/>
      </p:ext>
    </p:extLst>
  </p:cSld>
</p:sld>
</file>

<file path=ppt/slides/slide5.xml><?xml version="1.0" encoding="utf-8"?>
<p:sld xmlns:p="http://schemas.openxmlformats.org/presentationml/2006/main">
  <p:cSld>
    <p:bg>
      <p:bgPr>
        <a:blipFill xmlns:a="http://schemas.openxmlformats.org/drawingml/2006/main">
          <a:blip xmlns:r="http://schemas.openxmlformats.org/officeDocument/2006/relationships" r:embed="Rf589ea75d744419e"/>
          <a:srcRect l="0" t="0" r="0" b="0"/>
          <a:stretch>
            <a:fillRect l="-61" t="0" r="-61" b="0"/>
          </a:stretch>
        </a:blipFill>
      </p:bgPr>
    </p:bg>
    <p:spTree>
      <p:nvGrpSpPr>
        <p:cNvPr id="1" name=""/>
        <p:cNvGrpSpPr/>
        <p:nvPr/>
      </p:nvGrpSpPr>
      <p:grpSpPr>
        <a:xfrm xmlns:a="http://schemas.openxmlformats.org/drawingml/2006/main"/>
      </p:grpSpPr>
      <p:sp>
        <p:nvSpPr>
          <p:cNvPr id="3" name="AutoShape 3">
            <a:extLst xmlns:a="http://schemas.openxmlformats.org/drawingml/2006/main">
              <a:ext uri="{FF2B5EF4-FFF2-40B4-BE49-F238E27FC236}">
                <a16:creationId xmlns:a16="http://schemas.microsoft.com/office/drawing/2014/main" id="{13C449BE-7DDF-4883-96DA-6CE2B853D255}"/>
              </a:ext>
            </a:extLst>
          </p:cNvPr>
          <p:cNvSpPr>
            <a:spLocks xmlns:a="http://schemas.openxmlformats.org/drawingml/2006/main" noGrp="1"/>
          </p:cNvSpPr>
          <p:nvPr/>
        </p:nvSpPr>
        <p:spPr>
          <a:xfrm xmlns:a="http://schemas.openxmlformats.org/drawingml/2006/main">
            <a:off x="-2695575" y="810260"/>
            <a:ext cx="10985500" cy="762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3200" b="1" i="0" u="none">
                <a:solidFill>
                  <a:srgbClr val="104862"/>
                </a:solidFill>
                <a:latin typeface="Noto Sans SC"/>
                <a:ea typeface="Noto Sans SC"/>
                <a:cs typeface="Noto Sans SC"/>
              </a:rPr>
              <a:t>                                                                          02 技术难点与主要创新</a:t>
            </a:r>
          </a:p>
        </p:txBody>
      </p:sp>
      <p:sp>
        <p:nvSpPr>
          <p:cNvPr id="4" name="AutoShape 4">
            <a:extLst xmlns:a="http://schemas.openxmlformats.org/drawingml/2006/main">
              <a:ext uri="{FF2B5EF4-FFF2-40B4-BE49-F238E27FC236}">
                <a16:creationId xmlns:a16="http://schemas.microsoft.com/office/drawing/2014/main" id="{786D2C28-7E61-4617-9265-04FB84330BEA}"/>
              </a:ext>
            </a:extLst>
          </p:cNvPr>
          <p:cNvSpPr>
            <a:spLocks xmlns:a="http://schemas.openxmlformats.org/drawingml/2006/main" noGrp="1"/>
          </p:cNvSpPr>
          <p:nvPr/>
        </p:nvSpPr>
        <p:spPr>
          <a:xfrm xmlns:a="http://schemas.openxmlformats.org/drawingml/2006/main">
            <a:off x="508000" y="1572260"/>
            <a:ext cx="5461000" cy="4953000"/>
          </a:xfrm>
          <a:prstGeom xmlns:a="http://schemas.openxmlformats.org/drawingml/2006/main" prst="roundRect">
            <a:avLst>
              <a:gd name="adj" fmla="val 3076"/>
            </a:avLst>
          </a:prstGeom>
          <a:solidFill xmlns:a="http://schemas.openxmlformats.org/drawingml/2006/main">
            <a:srgbClr val="FFFFFF">
              <a:alpha val="100000"/>
            </a:srgbClr>
          </a:solidFill>
          <a:ln xmlns:a="http://schemas.openxmlformats.org/drawingml/2006/main" w="12700" cmpd="sng">
            <a:solidFill>
              <a:srgbClr val="E5E7EB">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5" name="AutoShape 5">
            <a:extLst xmlns:a="http://schemas.openxmlformats.org/drawingml/2006/main">
              <a:ext uri="{FF2B5EF4-FFF2-40B4-BE49-F238E27FC236}">
                <a16:creationId xmlns:a16="http://schemas.microsoft.com/office/drawing/2014/main" id="{57E14B2B-4598-409E-8494-45BFBDF22DA4}"/>
              </a:ext>
            </a:extLst>
          </p:cNvPr>
          <p:cNvSpPr>
            <a:spLocks xmlns:a="http://schemas.openxmlformats.org/drawingml/2006/main" noGrp="1"/>
          </p:cNvSpPr>
          <p:nvPr/>
        </p:nvSpPr>
        <p:spPr>
          <a:xfrm xmlns:a="http://schemas.openxmlformats.org/drawingml/2006/main">
            <a:off x="762000" y="1651000"/>
            <a:ext cx="4953000" cy="508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2200" b="1" i="0" u="none">
                <a:solidFill>
                  <a:srgbClr val="DC2626"/>
                </a:solidFill>
                <a:latin typeface="Noto Sans SC"/>
                <a:ea typeface="Noto Sans SC"/>
                <a:cs typeface="Noto Sans SC"/>
              </a:rPr>
              <a:t>▌ 三大技术难点</a:t>
            </a:r>
          </a:p>
        </p:txBody>
      </p:sp>
      <p:sp>
        <p:nvSpPr>
          <p:cNvPr id="6" name="AutoShape 6">
            <a:extLst xmlns:a="http://schemas.openxmlformats.org/drawingml/2006/main">
              <a:ext uri="{FF2B5EF4-FFF2-40B4-BE49-F238E27FC236}">
                <a16:creationId xmlns:a16="http://schemas.microsoft.com/office/drawing/2014/main" id="{10F1672B-0712-4C0E-9DE0-6732D31BF63F}"/>
              </a:ext>
            </a:extLst>
          </p:cNvPr>
          <p:cNvSpPr>
            <a:spLocks xmlns:a="http://schemas.openxmlformats.org/drawingml/2006/main" noGrp="1"/>
          </p:cNvSpPr>
          <p:nvPr/>
        </p:nvSpPr>
        <p:spPr>
          <a:xfrm xmlns:a="http://schemas.openxmlformats.org/drawingml/2006/main">
            <a:off x="762000" y="2413000"/>
            <a:ext cx="4953000" cy="1143000"/>
          </a:xfrm>
          <a:prstGeom xmlns:a="http://schemas.openxmlformats.org/drawingml/2006/main" prst="roundRect">
            <a:avLst>
              <a:gd name="adj" fmla="val 8888"/>
            </a:avLst>
          </a:prstGeom>
          <a:solidFill xmlns:a="http://schemas.openxmlformats.org/drawingml/2006/main">
            <a:srgbClr val="FEF2F2">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7" name="Picture 7"/>
          <p:cNvPicPr>
            <a:picLocks xmlns:a="http://schemas.openxmlformats.org/drawingml/2006/main" noChangeAspect="1"/>
          </p:cNvPicPr>
          <p:nvPr/>
        </p:nvPicPr>
        <p:blipFill>
          <a:blip xmlns:r="http://schemas.openxmlformats.org/officeDocument/2006/relationships" xmlns:a="http://schemas.openxmlformats.org/drawingml/2006/main" r:embed="R98cde4dc4afc4c30"/>
          <a:stretch xmlns:a="http://schemas.openxmlformats.org/drawingml/2006/main">
            <a:fillRect l="0" t="0" r="0" b="0"/>
          </a:stretch>
        </p:blipFill>
        <p:spPr>
          <a:xfrm xmlns:a="http://schemas.openxmlformats.org/drawingml/2006/main">
            <a:off x="952500" y="2667000"/>
            <a:ext cx="355600" cy="355600"/>
          </a:xfrm>
          <a:prstGeom xmlns:a="http://schemas.openxmlformats.org/drawingml/2006/main" prst="rect">
            <a:avLst/>
          </a:prstGeom>
        </p:spPr>
      </p:pic>
      <p:sp>
        <p:nvSpPr>
          <p:cNvPr id="8" name="AutoShape 8">
            <a:extLst xmlns:a="http://schemas.openxmlformats.org/drawingml/2006/main">
              <a:ext uri="{FF2B5EF4-FFF2-40B4-BE49-F238E27FC236}">
                <a16:creationId xmlns:a16="http://schemas.microsoft.com/office/drawing/2014/main" id="{7D70782F-34AB-415A-9406-01ABDA4828F5}"/>
              </a:ext>
            </a:extLst>
          </p:cNvPr>
          <p:cNvSpPr>
            <a:spLocks xmlns:a="http://schemas.openxmlformats.org/drawingml/2006/main" noGrp="1"/>
          </p:cNvSpPr>
          <p:nvPr/>
        </p:nvSpPr>
        <p:spPr>
          <a:xfrm xmlns:a="http://schemas.openxmlformats.org/drawingml/2006/main">
            <a:off x="1524000" y="2540000"/>
            <a:ext cx="3937000" cy="889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0000"/>
              </a:lnSpc>
              <a:buNone/>
            </a:pPr>
            <a:r>
              <a:rPr sz="1500" b="1" i="0" u="none">
                <a:solidFill>
                  <a:srgbClr val="1F2937"/>
                </a:solidFill>
                <a:latin typeface="Noto Sans SC"/>
                <a:ea typeface="Noto Sans SC"/>
                <a:cs typeface="Noto Sans SC"/>
              </a:rPr>
              <a:t>图结构与推理效率的矛盾</a:t>
            </a:r>
          </a:p>
          <a:p xmlns:a="http://schemas.openxmlformats.org/drawingml/2006/main">
            <a:pPr indent="0" algn="l">
              <a:lnSpc>
                <a:spcPct val="108000"/>
              </a:lnSpc>
              <a:spcBef>
                <a:spcPts val="600"/>
              </a:spcBef>
              <a:buNone/>
            </a:pPr>
            <a:r>
              <a:rPr sz="1200" b="0" i="0" u="none">
                <a:solidFill>
                  <a:srgbClr val="4B5563"/>
                </a:solidFill>
                <a:latin typeface="Noto Sans SC"/>
                <a:ea typeface="Noto Sans SC"/>
                <a:cs typeface="Noto Sans SC"/>
              </a:rPr>
              <a:t>MRGCN模型表达能力强，但计算复杂度高，在端侧CPU上推理效率是巨大挑战。</a:t>
            </a:r>
          </a:p>
        </p:txBody>
      </p:sp>
      <p:sp>
        <p:nvSpPr>
          <p:cNvPr id="9" name="AutoShape 9">
            <a:extLst xmlns:a="http://schemas.openxmlformats.org/drawingml/2006/main">
              <a:ext uri="{FF2B5EF4-FFF2-40B4-BE49-F238E27FC236}">
                <a16:creationId xmlns:a16="http://schemas.microsoft.com/office/drawing/2014/main" id="{9EB0179C-B78F-4951-83AD-9BBF56E7DF70}"/>
              </a:ext>
            </a:extLst>
          </p:cNvPr>
          <p:cNvSpPr>
            <a:spLocks xmlns:a="http://schemas.openxmlformats.org/drawingml/2006/main" noGrp="1"/>
          </p:cNvSpPr>
          <p:nvPr/>
        </p:nvSpPr>
        <p:spPr>
          <a:xfrm xmlns:a="http://schemas.openxmlformats.org/drawingml/2006/main">
            <a:off x="762000" y="3746500"/>
            <a:ext cx="4953000" cy="1143000"/>
          </a:xfrm>
          <a:prstGeom xmlns:a="http://schemas.openxmlformats.org/drawingml/2006/main" prst="roundRect">
            <a:avLst>
              <a:gd name="adj" fmla="val 8888"/>
            </a:avLst>
          </a:prstGeom>
          <a:solidFill xmlns:a="http://schemas.openxmlformats.org/drawingml/2006/main">
            <a:srgbClr val="FEF2F2">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10" name="Picture 10"/>
          <p:cNvPicPr>
            <a:picLocks xmlns:a="http://schemas.openxmlformats.org/drawingml/2006/main" noChangeAspect="1"/>
          </p:cNvPicPr>
          <p:nvPr/>
        </p:nvPicPr>
        <p:blipFill>
          <a:blip xmlns:r="http://schemas.openxmlformats.org/officeDocument/2006/relationships" xmlns:a="http://schemas.openxmlformats.org/drawingml/2006/main" r:embed="R5fba5c0b641749a8"/>
          <a:stretch xmlns:a="http://schemas.openxmlformats.org/drawingml/2006/main">
            <a:fillRect l="0" t="0" r="0" b="0"/>
          </a:stretch>
        </p:blipFill>
        <p:spPr>
          <a:xfrm xmlns:a="http://schemas.openxmlformats.org/drawingml/2006/main">
            <a:off x="952500" y="4000500"/>
            <a:ext cx="355600" cy="355600"/>
          </a:xfrm>
          <a:prstGeom xmlns:a="http://schemas.openxmlformats.org/drawingml/2006/main" prst="rect">
            <a:avLst/>
          </a:prstGeom>
        </p:spPr>
      </p:pic>
      <p:sp>
        <p:nvSpPr>
          <p:cNvPr id="11" name="AutoShape 11">
            <a:extLst xmlns:a="http://schemas.openxmlformats.org/drawingml/2006/main">
              <a:ext uri="{FF2B5EF4-FFF2-40B4-BE49-F238E27FC236}">
                <a16:creationId xmlns:a16="http://schemas.microsoft.com/office/drawing/2014/main" id="{4DC4925F-38F6-4EAD-9A3C-C1E5AC87D9CD}"/>
              </a:ext>
            </a:extLst>
          </p:cNvPr>
          <p:cNvSpPr>
            <a:spLocks xmlns:a="http://schemas.openxmlformats.org/drawingml/2006/main" noGrp="1"/>
          </p:cNvSpPr>
          <p:nvPr/>
        </p:nvSpPr>
        <p:spPr>
          <a:xfrm xmlns:a="http://schemas.openxmlformats.org/drawingml/2006/main">
            <a:off x="1524000" y="3873500"/>
            <a:ext cx="3937000" cy="889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0000"/>
              </a:lnSpc>
              <a:buNone/>
            </a:pPr>
            <a:r>
              <a:rPr sz="1500" b="1" i="0" u="none">
                <a:solidFill>
                  <a:srgbClr val="1F2937"/>
                </a:solidFill>
                <a:latin typeface="Noto Sans SC"/>
                <a:ea typeface="Noto Sans SC"/>
                <a:cs typeface="Noto Sans SC"/>
              </a:rPr>
              <a:t>跨</a:t>
            </a:r>
            <a:r>
              <a:rPr sz="1500" b="1" i="0" u="none">
                <a:solidFill>
                  <a:srgbClr val="1F2937"/>
                </a:solidFill>
                <a:latin typeface="Noto Sans SC"/>
                <a:ea typeface="Noto Sans SC"/>
                <a:cs typeface="Noto Sans SC"/>
              </a:rPr>
              <a:t>实验</a:t>
            </a:r>
            <a:r>
              <a:rPr sz="1500" b="1" i="0" u="none">
                <a:solidFill>
                  <a:srgbClr val="1F2937"/>
                </a:solidFill>
                <a:latin typeface="Noto Sans SC"/>
                <a:ea typeface="Noto Sans SC"/>
                <a:cs typeface="Noto Sans SC"/>
              </a:rPr>
              <a:t>泛化与域偏移</a:t>
            </a:r>
          </a:p>
          <a:p xmlns:a="http://schemas.openxmlformats.org/drawingml/2006/main">
            <a:pPr indent="0" algn="l">
              <a:lnSpc>
                <a:spcPct val="108000"/>
              </a:lnSpc>
              <a:spcBef>
                <a:spcPts val="600"/>
              </a:spcBef>
              <a:buNone/>
            </a:pPr>
            <a:r>
              <a:rPr sz="1200" b="0" i="0" u="none">
                <a:solidFill>
                  <a:srgbClr val="4B5563"/>
                </a:solidFill>
                <a:latin typeface="Noto Sans SC"/>
                <a:ea typeface="Noto Sans SC"/>
                <a:cs typeface="Noto Sans SC"/>
              </a:rPr>
              <a:t>EEG信号受个体状态影响大，模型易学习到与情绪无关的“域特征”，导致测试准确率下降。</a:t>
            </a:r>
          </a:p>
        </p:txBody>
      </p:sp>
      <p:sp>
        <p:nvSpPr>
          <p:cNvPr id="12" name="AutoShape 12">
            <a:extLst xmlns:a="http://schemas.openxmlformats.org/drawingml/2006/main">
              <a:ext uri="{FF2B5EF4-FFF2-40B4-BE49-F238E27FC236}">
                <a16:creationId xmlns:a16="http://schemas.microsoft.com/office/drawing/2014/main" id="{17660C9F-9177-4DED-97DE-05F05D6A3D3E}"/>
              </a:ext>
            </a:extLst>
          </p:cNvPr>
          <p:cNvSpPr>
            <a:spLocks xmlns:a="http://schemas.openxmlformats.org/drawingml/2006/main" noGrp="1"/>
          </p:cNvSpPr>
          <p:nvPr/>
        </p:nvSpPr>
        <p:spPr>
          <a:xfrm xmlns:a="http://schemas.openxmlformats.org/drawingml/2006/main">
            <a:off x="762000" y="5080000"/>
            <a:ext cx="4953000" cy="1143000"/>
          </a:xfrm>
          <a:prstGeom xmlns:a="http://schemas.openxmlformats.org/drawingml/2006/main" prst="roundRect">
            <a:avLst>
              <a:gd name="adj" fmla="val 8888"/>
            </a:avLst>
          </a:prstGeom>
          <a:solidFill xmlns:a="http://schemas.openxmlformats.org/drawingml/2006/main">
            <a:srgbClr val="FEF2F2">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13" name="Picture 13"/>
          <p:cNvPicPr>
            <a:picLocks xmlns:a="http://schemas.openxmlformats.org/drawingml/2006/main" noChangeAspect="1"/>
          </p:cNvPicPr>
          <p:nvPr/>
        </p:nvPicPr>
        <p:blipFill>
          <a:blip xmlns:r="http://schemas.openxmlformats.org/officeDocument/2006/relationships" xmlns:a="http://schemas.openxmlformats.org/drawingml/2006/main" r:embed="R4860672a53fa4a5f"/>
          <a:stretch xmlns:a="http://schemas.openxmlformats.org/drawingml/2006/main">
            <a:fillRect l="0" t="0" r="0" b="0"/>
          </a:stretch>
        </p:blipFill>
        <p:spPr>
          <a:xfrm xmlns:a="http://schemas.openxmlformats.org/drawingml/2006/main">
            <a:off x="952500" y="5334000"/>
            <a:ext cx="355600" cy="355600"/>
          </a:xfrm>
          <a:prstGeom xmlns:a="http://schemas.openxmlformats.org/drawingml/2006/main" prst="rect">
            <a:avLst/>
          </a:prstGeom>
        </p:spPr>
      </p:pic>
      <p:sp>
        <p:nvSpPr>
          <p:cNvPr id="14" name="AutoShape 14">
            <a:extLst xmlns:a="http://schemas.openxmlformats.org/drawingml/2006/main">
              <a:ext uri="{FF2B5EF4-FFF2-40B4-BE49-F238E27FC236}">
                <a16:creationId xmlns:a16="http://schemas.microsoft.com/office/drawing/2014/main" id="{E4ECFC40-472D-48A8-AFD7-BBB96A7DDCCB}"/>
              </a:ext>
            </a:extLst>
          </p:cNvPr>
          <p:cNvSpPr>
            <a:spLocks xmlns:a="http://schemas.openxmlformats.org/drawingml/2006/main" noGrp="1"/>
          </p:cNvSpPr>
          <p:nvPr/>
        </p:nvSpPr>
        <p:spPr>
          <a:xfrm xmlns:a="http://schemas.openxmlformats.org/drawingml/2006/main">
            <a:off x="1524000" y="5207000"/>
            <a:ext cx="3937000" cy="889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0000"/>
              </a:lnSpc>
              <a:buNone/>
            </a:pPr>
            <a:r>
              <a:rPr sz="1500" b="1" i="0" u="none">
                <a:solidFill>
                  <a:srgbClr val="1F2937"/>
                </a:solidFill>
                <a:latin typeface="Noto Sans SC"/>
                <a:ea typeface="Noto Sans SC"/>
                <a:cs typeface="Noto Sans SC"/>
              </a:rPr>
              <a:t>端侧部署链路复杂</a:t>
            </a:r>
          </a:p>
          <a:p xmlns:a="http://schemas.openxmlformats.org/drawingml/2006/main">
            <a:pPr indent="0" algn="l">
              <a:lnSpc>
                <a:spcPct val="108000"/>
              </a:lnSpc>
              <a:spcBef>
                <a:spcPts val="600"/>
              </a:spcBef>
              <a:buNone/>
            </a:pPr>
            <a:r>
              <a:rPr sz="1200" b="0" i="0" u="none">
                <a:solidFill>
                  <a:srgbClr val="4B5563"/>
                </a:solidFill>
                <a:latin typeface="Noto Sans SC"/>
                <a:ea typeface="Noto Sans SC"/>
                <a:cs typeface="Noto Sans SC"/>
              </a:rPr>
              <a:t>从Python训练环境到ARM64 CPU的C++推理环境，涉及模型转换、量化、算子兼容性等复杂问题。</a:t>
            </a:r>
          </a:p>
        </p:txBody>
      </p:sp>
      <p:sp>
        <p:nvSpPr>
          <p:cNvPr id="15" name="AutoShape 15">
            <a:extLst xmlns:a="http://schemas.openxmlformats.org/drawingml/2006/main">
              <a:ext uri="{FF2B5EF4-FFF2-40B4-BE49-F238E27FC236}">
                <a16:creationId xmlns:a16="http://schemas.microsoft.com/office/drawing/2014/main" id="{20C1DA0F-D40D-451A-A5CB-0BE0607DDA37}"/>
              </a:ext>
            </a:extLst>
          </p:cNvPr>
          <p:cNvSpPr>
            <a:spLocks xmlns:a="http://schemas.openxmlformats.org/drawingml/2006/main" noGrp="1"/>
          </p:cNvSpPr>
          <p:nvPr/>
        </p:nvSpPr>
        <p:spPr>
          <a:xfrm xmlns:a="http://schemas.openxmlformats.org/drawingml/2006/main">
            <a:off x="6223000" y="1572260"/>
            <a:ext cx="5461000" cy="4953000"/>
          </a:xfrm>
          <a:prstGeom xmlns:a="http://schemas.openxmlformats.org/drawingml/2006/main" prst="roundRect">
            <a:avLst>
              <a:gd name="adj" fmla="val 3076"/>
            </a:avLst>
          </a:prstGeom>
          <a:solidFill xmlns:a="http://schemas.openxmlformats.org/drawingml/2006/main">
            <a:srgbClr val="FFFFFF">
              <a:alpha val="100000"/>
            </a:srgbClr>
          </a:solidFill>
          <a:ln xmlns:a="http://schemas.openxmlformats.org/drawingml/2006/main" w="12700" cmpd="sng">
            <a:solidFill>
              <a:srgbClr val="E5E7EB">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6" name="AutoShape 16">
            <a:extLst xmlns:a="http://schemas.openxmlformats.org/drawingml/2006/main">
              <a:ext uri="{FF2B5EF4-FFF2-40B4-BE49-F238E27FC236}">
                <a16:creationId xmlns:a16="http://schemas.microsoft.com/office/drawing/2014/main" id="{4B401B7B-8A56-4257-B901-027BB9BF9AD0}"/>
              </a:ext>
            </a:extLst>
          </p:cNvPr>
          <p:cNvSpPr>
            <a:spLocks xmlns:a="http://schemas.openxmlformats.org/drawingml/2006/main" noGrp="1"/>
          </p:cNvSpPr>
          <p:nvPr/>
        </p:nvSpPr>
        <p:spPr>
          <a:xfrm xmlns:a="http://schemas.openxmlformats.org/drawingml/2006/main">
            <a:off x="6477000" y="1651000"/>
            <a:ext cx="4953000" cy="508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2200" b="1" i="0" u="none">
                <a:solidFill>
                  <a:srgbClr val="2563EB"/>
                </a:solidFill>
                <a:latin typeface="Noto Sans SC"/>
                <a:ea typeface="Noto Sans SC"/>
                <a:cs typeface="Noto Sans SC"/>
              </a:rPr>
              <a:t>▌ 四大核心创新</a:t>
            </a:r>
          </a:p>
        </p:txBody>
      </p:sp>
      <p:sp>
        <p:nvSpPr>
          <p:cNvPr id="17" name="AutoShape 17">
            <a:extLst xmlns:a="http://schemas.openxmlformats.org/drawingml/2006/main">
              <a:ext uri="{FF2B5EF4-FFF2-40B4-BE49-F238E27FC236}">
                <a16:creationId xmlns:a16="http://schemas.microsoft.com/office/drawing/2014/main" id="{1B14114F-878E-4D74-AA59-58C5A49383ED}"/>
              </a:ext>
            </a:extLst>
          </p:cNvPr>
          <p:cNvSpPr>
            <a:spLocks xmlns:a="http://schemas.openxmlformats.org/drawingml/2006/main" noGrp="1"/>
          </p:cNvSpPr>
          <p:nvPr/>
        </p:nvSpPr>
        <p:spPr>
          <a:xfrm xmlns:a="http://schemas.openxmlformats.org/drawingml/2006/main">
            <a:off x="6477000" y="2413000"/>
            <a:ext cx="2413000" cy="1778000"/>
          </a:xfrm>
          <a:prstGeom xmlns:a="http://schemas.openxmlformats.org/drawingml/2006/main" prst="roundRect">
            <a:avLst>
              <a:gd name="adj" fmla="val 5714"/>
            </a:avLst>
          </a:prstGeom>
          <a:solidFill xmlns:a="http://schemas.openxmlformats.org/drawingml/2006/main">
            <a:srgbClr val="EFF6FF">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18" name="Picture 18"/>
          <p:cNvPicPr>
            <a:picLocks xmlns:a="http://schemas.openxmlformats.org/drawingml/2006/main" noChangeAspect="1"/>
          </p:cNvPicPr>
          <p:nvPr/>
        </p:nvPicPr>
        <p:blipFill>
          <a:blip xmlns:r="http://schemas.openxmlformats.org/officeDocument/2006/relationships" xmlns:a="http://schemas.openxmlformats.org/drawingml/2006/main" r:embed="R972fb3d62f744c70"/>
          <a:stretch xmlns:a="http://schemas.openxmlformats.org/drawingml/2006/main">
            <a:fillRect l="0" t="0" r="0" b="0"/>
          </a:stretch>
        </p:blipFill>
        <p:spPr>
          <a:xfrm xmlns:a="http://schemas.openxmlformats.org/drawingml/2006/main">
            <a:off x="6629400" y="2603500"/>
            <a:ext cx="304800" cy="304800"/>
          </a:xfrm>
          <a:prstGeom xmlns:a="http://schemas.openxmlformats.org/drawingml/2006/main" prst="rect">
            <a:avLst/>
          </a:prstGeom>
        </p:spPr>
      </p:pic>
      <p:sp>
        <p:nvSpPr>
          <p:cNvPr id="19" name="AutoShape 19">
            <a:extLst xmlns:a="http://schemas.openxmlformats.org/drawingml/2006/main">
              <a:ext uri="{FF2B5EF4-FFF2-40B4-BE49-F238E27FC236}">
                <a16:creationId xmlns:a16="http://schemas.microsoft.com/office/drawing/2014/main" id="{6D4C64D1-FC45-4E4D-A33A-FD3957464921}"/>
              </a:ext>
            </a:extLst>
          </p:cNvPr>
          <p:cNvSpPr>
            <a:spLocks xmlns:a="http://schemas.openxmlformats.org/drawingml/2006/main" noGrp="1"/>
          </p:cNvSpPr>
          <p:nvPr/>
        </p:nvSpPr>
        <p:spPr>
          <a:xfrm xmlns:a="http://schemas.openxmlformats.org/drawingml/2006/main">
            <a:off x="7048500" y="2565400"/>
            <a:ext cx="1714500" cy="1397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0000"/>
              </a:lnSpc>
              <a:buNone/>
            </a:pPr>
            <a:r>
              <a:rPr sz="1400" b="1" i="0" u="none">
                <a:solidFill>
                  <a:srgbClr val="1F2937"/>
                </a:solidFill>
                <a:latin typeface="Noto Sans SC"/>
                <a:ea typeface="Noto Sans SC"/>
                <a:cs typeface="Noto Sans SC"/>
              </a:rPr>
              <a:t>增强动态信息表达</a:t>
            </a:r>
          </a:p>
          <a:p xmlns:a="http://schemas.openxmlformats.org/drawingml/2006/main">
            <a:pPr indent="0" algn="l">
              <a:lnSpc>
                <a:spcPct val="117000"/>
              </a:lnSpc>
              <a:spcBef>
                <a:spcPts val="800"/>
              </a:spcBef>
              <a:buNone/>
            </a:pPr>
            <a:r>
              <a:rPr sz="1100" b="0" i="0" u="none">
                <a:solidFill>
                  <a:srgbClr val="4B5563"/>
                </a:solidFill>
                <a:latin typeface="Noto Sans SC"/>
                <a:ea typeface="Noto Sans SC"/>
                <a:cs typeface="Noto Sans SC"/>
              </a:rPr>
              <a:t>结合滑动窗口多频带特征与图结构建模，让模型感知短时动态信息。</a:t>
            </a:r>
          </a:p>
        </p:txBody>
      </p:sp>
      <p:sp>
        <p:nvSpPr>
          <p:cNvPr id="20" name="AutoShape 20">
            <a:extLst xmlns:a="http://schemas.openxmlformats.org/drawingml/2006/main">
              <a:ext uri="{FF2B5EF4-FFF2-40B4-BE49-F238E27FC236}">
                <a16:creationId xmlns:a16="http://schemas.microsoft.com/office/drawing/2014/main" id="{484B77B8-D168-4EF2-9B93-F924F9000D41}"/>
              </a:ext>
            </a:extLst>
          </p:cNvPr>
          <p:cNvSpPr>
            <a:spLocks xmlns:a="http://schemas.openxmlformats.org/drawingml/2006/main" noGrp="1"/>
          </p:cNvSpPr>
          <p:nvPr/>
        </p:nvSpPr>
        <p:spPr>
          <a:xfrm xmlns:a="http://schemas.openxmlformats.org/drawingml/2006/main">
            <a:off x="9017000" y="2413000"/>
            <a:ext cx="2413000" cy="1778000"/>
          </a:xfrm>
          <a:prstGeom xmlns:a="http://schemas.openxmlformats.org/drawingml/2006/main" prst="roundRect">
            <a:avLst>
              <a:gd name="adj" fmla="val 5714"/>
            </a:avLst>
          </a:prstGeom>
          <a:solidFill xmlns:a="http://schemas.openxmlformats.org/drawingml/2006/main">
            <a:srgbClr val="EFF6FF">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21" name="Picture 21"/>
          <p:cNvPicPr>
            <a:picLocks xmlns:a="http://schemas.openxmlformats.org/drawingml/2006/main" noChangeAspect="1"/>
          </p:cNvPicPr>
          <p:nvPr/>
        </p:nvPicPr>
        <p:blipFill>
          <a:blip xmlns:r="http://schemas.openxmlformats.org/officeDocument/2006/relationships" xmlns:a="http://schemas.openxmlformats.org/drawingml/2006/main" r:embed="Rdff33252790a4617"/>
          <a:stretch xmlns:a="http://schemas.openxmlformats.org/drawingml/2006/main">
            <a:fillRect l="0" t="0" r="0" b="0"/>
          </a:stretch>
        </p:blipFill>
        <p:spPr>
          <a:xfrm xmlns:a="http://schemas.openxmlformats.org/drawingml/2006/main">
            <a:off x="9169400" y="2603500"/>
            <a:ext cx="304800" cy="304800"/>
          </a:xfrm>
          <a:prstGeom xmlns:a="http://schemas.openxmlformats.org/drawingml/2006/main" prst="rect">
            <a:avLst/>
          </a:prstGeom>
        </p:spPr>
      </p:pic>
      <p:sp>
        <p:nvSpPr>
          <p:cNvPr id="22" name="AutoShape 22">
            <a:extLst xmlns:a="http://schemas.openxmlformats.org/drawingml/2006/main">
              <a:ext uri="{FF2B5EF4-FFF2-40B4-BE49-F238E27FC236}">
                <a16:creationId xmlns:a16="http://schemas.microsoft.com/office/drawing/2014/main" id="{F0C5808F-44AC-4587-9D91-764E7324F1F3}"/>
              </a:ext>
            </a:extLst>
          </p:cNvPr>
          <p:cNvSpPr>
            <a:spLocks xmlns:a="http://schemas.openxmlformats.org/drawingml/2006/main" noGrp="1"/>
          </p:cNvSpPr>
          <p:nvPr/>
        </p:nvSpPr>
        <p:spPr>
          <a:xfrm xmlns:a="http://schemas.openxmlformats.org/drawingml/2006/main">
            <a:off x="9588500" y="2565400"/>
            <a:ext cx="1714500" cy="1397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0000"/>
              </a:lnSpc>
              <a:buNone/>
            </a:pPr>
            <a:r>
              <a:rPr sz="1400" b="1" i="0" u="none">
                <a:solidFill>
                  <a:srgbClr val="1F2937"/>
                </a:solidFill>
                <a:latin typeface="Noto Sans SC"/>
                <a:ea typeface="Noto Sans SC"/>
                <a:cs typeface="Noto Sans SC"/>
              </a:rPr>
              <a:t>融合脑网络构建</a:t>
            </a:r>
          </a:p>
          <a:p xmlns:a="http://schemas.openxmlformats.org/drawingml/2006/main">
            <a:pPr indent="0" algn="l">
              <a:lnSpc>
                <a:spcPct val="117000"/>
              </a:lnSpc>
              <a:spcBef>
                <a:spcPts val="800"/>
              </a:spcBef>
              <a:buNone/>
            </a:pPr>
            <a:r>
              <a:rPr sz="1100" b="0" i="0" u="none">
                <a:solidFill>
                  <a:srgbClr val="4B5563"/>
                </a:solidFill>
                <a:latin typeface="Noto Sans SC"/>
                <a:ea typeface="Noto Sans SC"/>
                <a:cs typeface="Noto Sans SC"/>
              </a:rPr>
              <a:t>融合短距离空间连接、功能连接和可学习邻接矩阵，更精准刻画脑区协同关系。</a:t>
            </a:r>
          </a:p>
        </p:txBody>
      </p:sp>
      <p:sp>
        <p:nvSpPr>
          <p:cNvPr id="23" name="AutoShape 23">
            <a:extLst xmlns:a="http://schemas.openxmlformats.org/drawingml/2006/main">
              <a:ext uri="{FF2B5EF4-FFF2-40B4-BE49-F238E27FC236}">
                <a16:creationId xmlns:a16="http://schemas.microsoft.com/office/drawing/2014/main" id="{04F33965-87C5-49F5-A86F-2F7850EC529C}"/>
              </a:ext>
            </a:extLst>
          </p:cNvPr>
          <p:cNvSpPr>
            <a:spLocks xmlns:a="http://schemas.openxmlformats.org/drawingml/2006/main" noGrp="1"/>
          </p:cNvSpPr>
          <p:nvPr/>
        </p:nvSpPr>
        <p:spPr>
          <a:xfrm xmlns:a="http://schemas.openxmlformats.org/drawingml/2006/main">
            <a:off x="6477000" y="4381500"/>
            <a:ext cx="2413000" cy="1778000"/>
          </a:xfrm>
          <a:prstGeom xmlns:a="http://schemas.openxmlformats.org/drawingml/2006/main" prst="roundRect">
            <a:avLst>
              <a:gd name="adj" fmla="val 5714"/>
            </a:avLst>
          </a:prstGeom>
          <a:solidFill xmlns:a="http://schemas.openxmlformats.org/drawingml/2006/main">
            <a:srgbClr val="EFF6FF">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24" name="Picture 24"/>
          <p:cNvPicPr>
            <a:picLocks xmlns:a="http://schemas.openxmlformats.org/drawingml/2006/main" noChangeAspect="1"/>
          </p:cNvPicPr>
          <p:nvPr/>
        </p:nvPicPr>
        <p:blipFill>
          <a:blip xmlns:r="http://schemas.openxmlformats.org/officeDocument/2006/relationships" xmlns:a="http://schemas.openxmlformats.org/drawingml/2006/main" r:embed="R01ddd4d0c2b34e46"/>
          <a:stretch xmlns:a="http://schemas.openxmlformats.org/drawingml/2006/main">
            <a:fillRect l="0" t="0" r="0" b="0"/>
          </a:stretch>
        </p:blipFill>
        <p:spPr>
          <a:xfrm xmlns:a="http://schemas.openxmlformats.org/drawingml/2006/main">
            <a:off x="6629400" y="4572000"/>
            <a:ext cx="304800" cy="304800"/>
          </a:xfrm>
          <a:prstGeom xmlns:a="http://schemas.openxmlformats.org/drawingml/2006/main" prst="rect">
            <a:avLst/>
          </a:prstGeom>
        </p:spPr>
      </p:pic>
      <p:sp>
        <p:nvSpPr>
          <p:cNvPr id="25" name="AutoShape 25">
            <a:extLst xmlns:a="http://schemas.openxmlformats.org/drawingml/2006/main">
              <a:ext uri="{FF2B5EF4-FFF2-40B4-BE49-F238E27FC236}">
                <a16:creationId xmlns:a16="http://schemas.microsoft.com/office/drawing/2014/main" id="{CE92AD90-CE59-46F2-8D56-B39B79EB0E8F}"/>
              </a:ext>
            </a:extLst>
          </p:cNvPr>
          <p:cNvSpPr>
            <a:spLocks xmlns:a="http://schemas.openxmlformats.org/drawingml/2006/main" noGrp="1"/>
          </p:cNvSpPr>
          <p:nvPr/>
        </p:nvSpPr>
        <p:spPr>
          <a:xfrm xmlns:a="http://schemas.openxmlformats.org/drawingml/2006/main">
            <a:off x="7048500" y="4533900"/>
            <a:ext cx="1714500" cy="1397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0000"/>
              </a:lnSpc>
              <a:buNone/>
            </a:pPr>
            <a:r>
              <a:rPr sz="1400" b="1" i="0" u="none">
                <a:solidFill>
                  <a:srgbClr val="1F2937"/>
                </a:solidFill>
                <a:latin typeface="Noto Sans SC"/>
                <a:ea typeface="Noto Sans SC"/>
                <a:cs typeface="Noto Sans SC"/>
              </a:rPr>
              <a:t>提升泛化稳定性</a:t>
            </a:r>
          </a:p>
          <a:p xmlns:a="http://schemas.openxmlformats.org/drawingml/2006/main">
            <a:pPr indent="0" algn="l">
              <a:lnSpc>
                <a:spcPct val="117000"/>
              </a:lnSpc>
              <a:spcBef>
                <a:spcPts val="800"/>
              </a:spcBef>
              <a:buNone/>
            </a:pPr>
            <a:r>
              <a:rPr sz="1100" b="0" i="0" u="none">
                <a:solidFill>
                  <a:srgbClr val="4B5563"/>
                </a:solidFill>
                <a:latin typeface="Noto Sans SC"/>
                <a:ea typeface="Noto Sans SC"/>
                <a:cs typeface="Noto Sans SC"/>
              </a:rPr>
              <a:t>引入领域自适应(DANN)与自适应调参策略，提升模型在不同数据分布下的鲁棒性。</a:t>
            </a:r>
          </a:p>
        </p:txBody>
      </p:sp>
      <p:sp>
        <p:nvSpPr>
          <p:cNvPr id="26" name="AutoShape 26">
            <a:extLst xmlns:a="http://schemas.openxmlformats.org/drawingml/2006/main">
              <a:ext uri="{FF2B5EF4-FFF2-40B4-BE49-F238E27FC236}">
                <a16:creationId xmlns:a16="http://schemas.microsoft.com/office/drawing/2014/main" id="{2418360F-60AB-4E5F-8337-0AF68E941C54}"/>
              </a:ext>
            </a:extLst>
          </p:cNvPr>
          <p:cNvSpPr>
            <a:spLocks xmlns:a="http://schemas.openxmlformats.org/drawingml/2006/main" noGrp="1"/>
          </p:cNvSpPr>
          <p:nvPr/>
        </p:nvSpPr>
        <p:spPr>
          <a:xfrm xmlns:a="http://schemas.openxmlformats.org/drawingml/2006/main">
            <a:off x="9017000" y="4381500"/>
            <a:ext cx="2413000" cy="1778000"/>
          </a:xfrm>
          <a:prstGeom xmlns:a="http://schemas.openxmlformats.org/drawingml/2006/main" prst="roundRect">
            <a:avLst>
              <a:gd name="adj" fmla="val 5714"/>
            </a:avLst>
          </a:prstGeom>
          <a:solidFill xmlns:a="http://schemas.openxmlformats.org/drawingml/2006/main">
            <a:srgbClr val="EFF6FF">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27" name="Picture 27"/>
          <p:cNvPicPr>
            <a:picLocks xmlns:a="http://schemas.openxmlformats.org/drawingml/2006/main" noChangeAspect="1"/>
          </p:cNvPicPr>
          <p:nvPr/>
        </p:nvPicPr>
        <p:blipFill>
          <a:blip xmlns:r="http://schemas.openxmlformats.org/officeDocument/2006/relationships" xmlns:a="http://schemas.openxmlformats.org/drawingml/2006/main" r:embed="R2a0b9127f11f42fb"/>
          <a:stretch xmlns:a="http://schemas.openxmlformats.org/drawingml/2006/main">
            <a:fillRect l="0" t="0" r="0" b="0"/>
          </a:stretch>
        </p:blipFill>
        <p:spPr>
          <a:xfrm xmlns:a="http://schemas.openxmlformats.org/drawingml/2006/main">
            <a:off x="9169400" y="4572000"/>
            <a:ext cx="304800" cy="304800"/>
          </a:xfrm>
          <a:prstGeom xmlns:a="http://schemas.openxmlformats.org/drawingml/2006/main" prst="rect">
            <a:avLst/>
          </a:prstGeom>
        </p:spPr>
      </p:pic>
      <p:sp>
        <p:nvSpPr>
          <p:cNvPr id="28" name="AutoShape 28">
            <a:extLst xmlns:a="http://schemas.openxmlformats.org/drawingml/2006/main">
              <a:ext uri="{FF2B5EF4-FFF2-40B4-BE49-F238E27FC236}">
                <a16:creationId xmlns:a16="http://schemas.microsoft.com/office/drawing/2014/main" id="{E4197C94-2453-426D-8AB7-CDC3ADB0E053}"/>
              </a:ext>
            </a:extLst>
          </p:cNvPr>
          <p:cNvSpPr>
            <a:spLocks xmlns:a="http://schemas.openxmlformats.org/drawingml/2006/main" noGrp="1"/>
          </p:cNvSpPr>
          <p:nvPr/>
        </p:nvSpPr>
        <p:spPr>
          <a:xfrm xmlns:a="http://schemas.openxmlformats.org/drawingml/2006/main">
            <a:off x="9588500" y="4533900"/>
            <a:ext cx="1714500" cy="1397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0000"/>
              </a:lnSpc>
              <a:buNone/>
            </a:pPr>
            <a:r>
              <a:rPr sz="1400" b="1" i="0" u="none">
                <a:solidFill>
                  <a:srgbClr val="1F2937"/>
                </a:solidFill>
                <a:latin typeface="Noto Sans SC"/>
                <a:ea typeface="Noto Sans SC"/>
                <a:cs typeface="Noto Sans SC"/>
              </a:rPr>
              <a:t>构建完整工程闭环</a:t>
            </a:r>
          </a:p>
          <a:p xmlns:a="http://schemas.openxmlformats.org/drawingml/2006/main">
            <a:pPr indent="0" algn="l">
              <a:lnSpc>
                <a:spcPct val="117000"/>
              </a:lnSpc>
              <a:spcBef>
                <a:spcPts val="800"/>
              </a:spcBef>
              <a:buNone/>
            </a:pPr>
            <a:r>
              <a:rPr sz="1100" b="0" i="0" u="none">
                <a:solidFill>
                  <a:srgbClr val="4B5563"/>
                </a:solidFill>
                <a:latin typeface="Noto Sans SC"/>
                <a:ea typeface="Noto Sans SC"/>
                <a:cs typeface="Noto Sans SC"/>
              </a:rPr>
              <a:t>建立从模型训练到端侧部署的完整流程，实现算法到产品的落地验证。</a:t>
            </a:r>
          </a:p>
        </p:txBody>
      </p:sp>
    </p:spTree>
    <p:extLst>
      <p:ext uri="{BB962C8B-B14F-4D97-AF65-F5344CB8AC3E}">
        <p14:creationId xmlns:p14="http://schemas.microsoft.com/office/powerpoint/2010/main" val="491587697"/>
      </p:ext>
    </p:extLst>
  </p:cSld>
</p:sld>
</file>

<file path=ppt/slides/slide6.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29f23e9e5a8243aa"/>
          <a:srcRect xmlns:a="http://schemas.openxmlformats.org/drawingml/2006/main" l="33" t="0" r="33" b="0"/>
          <a:stretch xmlns:a="http://schemas.openxmlformats.org/drawingml/2006/main">
            <a:fillRect l="0" t="0" r="0" b="0"/>
          </a:stretch>
        </p:blipFill>
        <p:spPr>
          <a:xfrm xmlns:a="http://schemas.openxmlformats.org/drawingml/2006/main">
            <a:off x="0" y="0"/>
            <a:ext cx="12001500" cy="6807200"/>
          </a:xfrm>
          <a:prstGeom xmlns:a="http://schemas.openxmlformats.org/drawingml/2006/main" prst="rect">
            <a:avLst/>
          </a:prstGeom>
          <a:ln xmlns:a="http://schemas.openxmlformats.org/drawingml/2006/main" w="25400" cap="flat" cmpd="sng">
            <a:noFill/>
            <a:prstDash val="solid"/>
            <a:round/>
          </a:ln>
        </p:spPr>
      </p:pic>
      <p:sp>
        <p:nvSpPr>
          <p:cNvPr id="3" name="AutoShape 3">
            <a:extLst xmlns:a="http://schemas.openxmlformats.org/drawingml/2006/main">
              <a:ext uri="{FF2B5EF4-FFF2-40B4-BE49-F238E27FC236}">
                <a16:creationId xmlns:a16="http://schemas.microsoft.com/office/drawing/2014/main" id="{FBB6E4B3-00C0-4A25-97E0-9EC31B0270CC}"/>
              </a:ext>
            </a:extLst>
          </p:cNvPr>
          <p:cNvSpPr>
            <a:spLocks xmlns:a="http://schemas.openxmlformats.org/drawingml/2006/main" noGrp="1"/>
          </p:cNvSpPr>
          <p:nvPr/>
        </p:nvSpPr>
        <p:spPr>
          <a:xfrm xmlns:a="http://schemas.openxmlformats.org/drawingml/2006/main">
            <a:off x="0" y="1778000"/>
            <a:ext cx="12001500" cy="1524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9600" b="1" i="0" u="none">
                <a:solidFill>
                  <a:srgbClr val="1E3A8A"/>
                </a:solidFill>
                <a:latin typeface="微软雅黑"/>
                <a:ea typeface="微软雅黑"/>
                <a:cs typeface="微软雅黑"/>
              </a:rPr>
              <a:t>02</a:t>
            </a:r>
          </a:p>
        </p:txBody>
      </p:sp>
      <p:sp>
        <p:nvSpPr>
          <p:cNvPr id="4" name="AutoShape 4">
            <a:extLst xmlns:a="http://schemas.openxmlformats.org/drawingml/2006/main">
              <a:ext uri="{FF2B5EF4-FFF2-40B4-BE49-F238E27FC236}">
                <a16:creationId xmlns:a16="http://schemas.microsoft.com/office/drawing/2014/main" id="{9BEE188C-4FB8-44CF-BA6C-0096B9412922}"/>
              </a:ext>
            </a:extLst>
          </p:cNvPr>
          <p:cNvSpPr>
            <a:spLocks xmlns:a="http://schemas.openxmlformats.org/drawingml/2006/main" noGrp="1"/>
          </p:cNvSpPr>
          <p:nvPr/>
        </p:nvSpPr>
        <p:spPr>
          <a:xfrm xmlns:a="http://schemas.openxmlformats.org/drawingml/2006/main">
            <a:off x="0" y="3556000"/>
            <a:ext cx="12001500" cy="1016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4000" b="1" i="0" u="none">
                <a:solidFill>
                  <a:srgbClr val="111827"/>
                </a:solidFill>
                <a:latin typeface="Noto Sans SC"/>
                <a:ea typeface="Noto Sans SC"/>
                <a:cs typeface="Noto Sans SC"/>
              </a:rPr>
              <a:t>方案设计与技术原理</a:t>
            </a:r>
          </a:p>
        </p:txBody>
      </p:sp>
      <p:sp>
        <p:nvSpPr>
          <p:cNvPr id="5" name="AutoShape 5">
            <a:extLst xmlns:a="http://schemas.openxmlformats.org/drawingml/2006/main">
              <a:ext uri="{FF2B5EF4-FFF2-40B4-BE49-F238E27FC236}">
                <a16:creationId xmlns:a16="http://schemas.microsoft.com/office/drawing/2014/main" id="{9F8682E0-B030-46D2-A9AD-876D9E7AB453}"/>
              </a:ext>
            </a:extLst>
          </p:cNvPr>
          <p:cNvSpPr>
            <a:spLocks xmlns:a="http://schemas.openxmlformats.org/drawingml/2006/main" noGrp="1"/>
          </p:cNvSpPr>
          <p:nvPr/>
        </p:nvSpPr>
        <p:spPr>
          <a:xfrm xmlns:a="http://schemas.openxmlformats.org/drawingml/2006/main">
            <a:off x="0" y="5080000"/>
            <a:ext cx="12001500" cy="762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1800" b="0" i="0" u="none">
                <a:solidFill>
                  <a:srgbClr val="4B5563"/>
                </a:solidFill>
                <a:latin typeface="Noto Sans SC"/>
                <a:ea typeface="Noto Sans SC"/>
                <a:cs typeface="Noto Sans SC"/>
              </a:rPr>
              <a:t>总体技术路线 | 基线模型选择 | MRGCN · DANN · </a:t>
            </a:r>
            <a:r>
              <a:rPr sz="1800" b="0" i="0" u="none">
                <a:solidFill>
                  <a:srgbClr val="4B5563"/>
                </a:solidFill>
                <a:latin typeface="Noto Sans SC"/>
                <a:ea typeface="Noto Sans SC"/>
                <a:cs typeface="Noto Sans SC"/>
              </a:rPr>
              <a:t>知识蒸馏</a:t>
            </a:r>
            <a:r>
              <a:rPr>
                <a:solidFill>
                  <a:srgbClr val="4B5563"/>
                </a:solidFill>
                <a:latin typeface="Noto Sans SC"/>
                <a:ea typeface="Noto Sans SC"/>
                <a:cs typeface="Noto Sans SC"/>
              </a:rPr>
              <a:t>·</a:t>
            </a:r>
            <a:r>
              <a:rPr sz="1800" b="0" i="0" u="none">
                <a:solidFill>
                  <a:srgbClr val="4B5563"/>
                </a:solidFill>
                <a:latin typeface="Noto Sans SC"/>
                <a:ea typeface="Noto Sans SC"/>
                <a:cs typeface="Noto Sans SC"/>
              </a:rPr>
              <a:t>模型量化核心算法</a:t>
            </a:r>
          </a:p>
        </p:txBody>
      </p:sp>
    </p:spTree>
    <p:extLst>
      <p:ext uri="{BB962C8B-B14F-4D97-AF65-F5344CB8AC3E}">
        <p14:creationId xmlns:p14="http://schemas.microsoft.com/office/powerpoint/2010/main" val="984794999"/>
      </p:ext>
    </p:extLst>
  </p:cSld>
</p:sld>
</file>

<file path=ppt/slides/slide7.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3b152177fc024911"/>
          <a:srcRect xmlns:a="http://schemas.openxmlformats.org/drawingml/2006/main" l="33" t="0" r="33" b="0"/>
          <a:stretch xmlns:a="http://schemas.openxmlformats.org/drawingml/2006/main">
            <a:fillRect l="0" t="0" r="0" b="0"/>
          </a:stretch>
        </p:blipFill>
        <p:spPr>
          <a:xfrm xmlns:a="http://schemas.openxmlformats.org/drawingml/2006/main">
            <a:off x="0" y="0"/>
            <a:ext cx="12001500" cy="6807200"/>
          </a:xfrm>
          <a:prstGeom xmlns:a="http://schemas.openxmlformats.org/drawingml/2006/main" prst="rect">
            <a:avLst/>
          </a:prstGeom>
          <a:ln xmlns:a="http://schemas.openxmlformats.org/drawingml/2006/main" w="25400" cap="flat" cmpd="sng">
            <a:noFill/>
            <a:prstDash val="solid"/>
            <a:round/>
          </a:ln>
        </p:spPr>
      </p:pic>
      <p:sp>
        <p:nvSpPr>
          <p:cNvPr id="3" name="AutoShape 3">
            <a:extLst xmlns:a="http://schemas.openxmlformats.org/drawingml/2006/main">
              <a:ext uri="{FF2B5EF4-FFF2-40B4-BE49-F238E27FC236}">
                <a16:creationId xmlns:a16="http://schemas.microsoft.com/office/drawing/2014/main" id="{9E557BF2-4F9E-4884-BF62-D61217A8FBC9}"/>
              </a:ext>
            </a:extLst>
          </p:cNvPr>
          <p:cNvSpPr>
            <a:spLocks xmlns:a="http://schemas.openxmlformats.org/drawingml/2006/main" noGrp="1"/>
          </p:cNvSpPr>
          <p:nvPr/>
        </p:nvSpPr>
        <p:spPr>
          <a:xfrm xmlns:a="http://schemas.openxmlformats.org/drawingml/2006/main">
            <a:off x="0" y="508000"/>
            <a:ext cx="12001500" cy="762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algn="ctr">
              <a:lnSpc>
                <a:spcPct val="125000"/>
              </a:lnSpc>
              <a:buNone/>
            </a:pPr>
            <a:r>
              <a:rPr sz="3200" b="1" i="0" u="none">
                <a:solidFill>
                  <a:srgbClr val="104862"/>
                </a:solidFill>
                <a:latin typeface="Noto Sans SC"/>
                <a:ea typeface="Noto Sans SC"/>
                <a:cs typeface="Noto Sans SC"/>
              </a:rPr>
              <a:t>01 总体技术路线</a:t>
            </a:r>
          </a:p>
        </p:txBody>
      </p:sp>
      <p:sp>
        <p:nvSpPr>
          <p:cNvPr id="4" name="AutoShape 4">
            <a:extLst xmlns:a="http://schemas.openxmlformats.org/drawingml/2006/main">
              <a:ext uri="{FF2B5EF4-FFF2-40B4-BE49-F238E27FC236}">
                <a16:creationId xmlns:a16="http://schemas.microsoft.com/office/drawing/2014/main" id="{787A86AA-7243-4CE1-80A1-1C334D5A67A5}"/>
              </a:ext>
            </a:extLst>
          </p:cNvPr>
          <p:cNvSpPr>
            <a:spLocks xmlns:a="http://schemas.openxmlformats.org/drawingml/2006/main" noGrp="1"/>
          </p:cNvSpPr>
          <p:nvPr/>
        </p:nvSpPr>
        <p:spPr>
          <a:xfrm xmlns:a="http://schemas.openxmlformats.org/drawingml/2006/main">
            <a:off x="533400" y="1524000"/>
            <a:ext cx="10934700" cy="889000"/>
          </a:xfrm>
          <a:prstGeom xmlns:a="http://schemas.openxmlformats.org/drawingml/2006/main" prst="roundRect">
            <a:avLst>
              <a:gd name="adj" fmla="val 14285"/>
            </a:avLst>
          </a:prstGeom>
          <a:solidFill xmlns:a="http://schemas.openxmlformats.org/drawingml/2006/main">
            <a:srgbClr val="FFFFFF">
              <a:alpha val="85000"/>
            </a:srgbClr>
          </a:solidFill>
          <a:ln xmlns:a="http://schemas.openxmlformats.org/drawingml/2006/main" w="12700" cmpd="sng">
            <a:solidFill>
              <a:srgbClr val="10368D">
                <a:alpha val="4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5" name="AutoShape 5">
            <a:extLst xmlns:a="http://schemas.openxmlformats.org/drawingml/2006/main">
              <a:ext uri="{FF2B5EF4-FFF2-40B4-BE49-F238E27FC236}">
                <a16:creationId xmlns:a16="http://schemas.microsoft.com/office/drawing/2014/main" id="{3478B8BE-4C04-44F1-85DE-A1503339B064}"/>
              </a:ext>
            </a:extLst>
          </p:cNvPr>
          <p:cNvSpPr>
            <a:spLocks xmlns:a="http://schemas.openxmlformats.org/drawingml/2006/main" noGrp="1"/>
          </p:cNvSpPr>
          <p:nvPr/>
        </p:nvSpPr>
        <p:spPr>
          <a:xfrm xmlns:a="http://schemas.openxmlformats.org/drawingml/2006/main">
            <a:off x="660400" y="1651000"/>
            <a:ext cx="10680700" cy="635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1600" b="1" i="0" u="none">
                <a:solidFill>
                  <a:srgbClr val="1F2329"/>
                </a:solidFill>
                <a:latin typeface="Noto Sans SC"/>
                <a:ea typeface="Noto Sans SC"/>
                <a:cs typeface="Noto Sans SC"/>
              </a:rPr>
              <a:t>核心思想：</a:t>
            </a:r>
            <a:r>
              <a:rPr sz="1600" b="0" i="0" u="none">
                <a:solidFill>
                  <a:srgbClr val="374151"/>
                </a:solidFill>
                <a:latin typeface="Noto Sans SC"/>
                <a:ea typeface="Noto Sans SC"/>
                <a:cs typeface="Noto Sans SC"/>
              </a:rPr>
              <a:t>围绕“算法建模 → 泛化优化 → 量化压缩 → 端侧推理”的全链路展开</a:t>
            </a:r>
          </a:p>
        </p:txBody>
      </p:sp>
      <p:sp>
        <p:nvSpPr>
          <p:cNvPr id="6" name="AutoShape 6">
            <a:extLst xmlns:a="http://schemas.openxmlformats.org/drawingml/2006/main">
              <a:ext uri="{FF2B5EF4-FFF2-40B4-BE49-F238E27FC236}">
                <a16:creationId xmlns:a16="http://schemas.microsoft.com/office/drawing/2014/main" id="{FB89432A-4789-47FA-A5B5-9729765EFBBF}"/>
              </a:ext>
            </a:extLst>
          </p:cNvPr>
          <p:cNvSpPr>
            <a:spLocks xmlns:a="http://schemas.openxmlformats.org/drawingml/2006/main" noGrp="1"/>
          </p:cNvSpPr>
          <p:nvPr/>
        </p:nvSpPr>
        <p:spPr>
          <a:xfrm xmlns:a="http://schemas.openxmlformats.org/drawingml/2006/main">
            <a:off x="444500" y="2794000"/>
            <a:ext cx="2095500" cy="3429000"/>
          </a:xfrm>
          <a:prstGeom xmlns:a="http://schemas.openxmlformats.org/drawingml/2006/main" prst="roundRect">
            <a:avLst>
              <a:gd name="adj" fmla="val 6060"/>
            </a:avLst>
          </a:prstGeom>
          <a:solidFill xmlns:a="http://schemas.openxmlformats.org/drawingml/2006/main">
            <a:srgbClr val="FFFFFF">
              <a:alpha val="95000"/>
            </a:srgbClr>
          </a:solidFill>
          <a:ln xmlns:a="http://schemas.openxmlformats.org/drawingml/2006/main" w="25400" cmpd="sng">
            <a:no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7" name="AutoShape 7">
            <a:extLst xmlns:a="http://schemas.openxmlformats.org/drawingml/2006/main">
              <a:ext uri="{FF2B5EF4-FFF2-40B4-BE49-F238E27FC236}">
                <a16:creationId xmlns:a16="http://schemas.microsoft.com/office/drawing/2014/main" id="{D620B1A7-07F6-47B3-8FD5-D39CBE8007C3}"/>
              </a:ext>
            </a:extLst>
          </p:cNvPr>
          <p:cNvSpPr>
            <a:spLocks xmlns:a="http://schemas.openxmlformats.org/drawingml/2006/main" noGrp="1"/>
          </p:cNvSpPr>
          <p:nvPr/>
        </p:nvSpPr>
        <p:spPr>
          <a:xfrm xmlns:a="http://schemas.openxmlformats.org/drawingml/2006/main">
            <a:off x="571500" y="3048000"/>
            <a:ext cx="1841500" cy="2921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92000"/>
              </a:lnSpc>
              <a:buNone/>
            </a:pPr>
            <a:r>
              <a:rPr sz="3200" b="1" i="0" u="none">
                <a:solidFill>
                  <a:srgbClr val="D97706"/>
                </a:solidFill>
                <a:latin typeface="Noto Sans SC"/>
                <a:ea typeface="Noto Sans SC"/>
                <a:cs typeface="Noto Sans SC"/>
              </a:rPr>
              <a:t>01</a:t>
            </a:r>
          </a:p>
          <a:p xmlns:a="http://schemas.openxmlformats.org/drawingml/2006/main">
            <a:pPr indent="0" algn="ctr">
              <a:lnSpc>
                <a:spcPct val="100000"/>
              </a:lnSpc>
              <a:spcBef>
                <a:spcPts val="1000"/>
              </a:spcBef>
              <a:buNone/>
            </a:pPr>
            <a:r>
              <a:rPr sz="1800" b="1" i="0" u="none">
                <a:solidFill>
                  <a:srgbClr val="111827"/>
                </a:solidFill>
                <a:latin typeface="Noto Sans SC"/>
                <a:ea typeface="Noto Sans SC"/>
                <a:cs typeface="Noto Sans SC"/>
              </a:rPr>
              <a:t>数据处理</a:t>
            </a:r>
          </a:p>
          <a:p xmlns:a="http://schemas.openxmlformats.org/drawingml/2006/main">
            <a:pPr indent="0" algn="ctr">
              <a:lnSpc>
                <a:spcPct val="117000"/>
              </a:lnSpc>
              <a:spcBef>
                <a:spcPts val="1200"/>
              </a:spcBef>
              <a:buNone/>
            </a:pPr>
            <a:r>
              <a:rPr sz="1200" b="0" i="0" u="none">
                <a:solidFill>
                  <a:srgbClr val="4B5563"/>
                </a:solidFill>
                <a:latin typeface="Noto Sans SC"/>
                <a:ea typeface="Noto Sans SC"/>
                <a:cs typeface="Noto Sans SC"/>
              </a:rPr>
              <a:t>读取多频带EEG特征，通过滑动窗口算法构建统一维度的输入样本，确保数据输入一致性。</a:t>
            </a:r>
          </a:p>
        </p:txBody>
      </p:sp>
      <p:sp>
        <p:nvSpPr>
          <p:cNvPr id="8" name="AutoShape 8">
            <a:extLst xmlns:a="http://schemas.openxmlformats.org/drawingml/2006/main">
              <a:ext uri="{FF2B5EF4-FFF2-40B4-BE49-F238E27FC236}">
                <a16:creationId xmlns:a16="http://schemas.microsoft.com/office/drawing/2014/main" id="{F4F1E8CE-4F4B-463A-875F-585E954C208C}"/>
              </a:ext>
            </a:extLst>
          </p:cNvPr>
          <p:cNvSpPr>
            <a:spLocks xmlns:a="http://schemas.openxmlformats.org/drawingml/2006/main" noGrp="1"/>
          </p:cNvSpPr>
          <p:nvPr/>
        </p:nvSpPr>
        <p:spPr>
          <a:xfrm xmlns:a="http://schemas.openxmlformats.org/drawingml/2006/main">
            <a:off x="2794000" y="2794000"/>
            <a:ext cx="2095500" cy="3429000"/>
          </a:xfrm>
          <a:prstGeom xmlns:a="http://schemas.openxmlformats.org/drawingml/2006/main" prst="roundRect">
            <a:avLst>
              <a:gd name="adj" fmla="val 6060"/>
            </a:avLst>
          </a:prstGeom>
          <a:solidFill xmlns:a="http://schemas.openxmlformats.org/drawingml/2006/main">
            <a:srgbClr val="FFFFFF">
              <a:alpha val="95000"/>
            </a:srgbClr>
          </a:solidFill>
          <a:ln xmlns:a="http://schemas.openxmlformats.org/drawingml/2006/main" w="25400" cmpd="sng">
            <a:no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9" name="AutoShape 9">
            <a:extLst xmlns:a="http://schemas.openxmlformats.org/drawingml/2006/main">
              <a:ext uri="{FF2B5EF4-FFF2-40B4-BE49-F238E27FC236}">
                <a16:creationId xmlns:a16="http://schemas.microsoft.com/office/drawing/2014/main" id="{930EE548-8D57-4D66-B176-7FE15AACAA62}"/>
              </a:ext>
            </a:extLst>
          </p:cNvPr>
          <p:cNvSpPr>
            <a:spLocks xmlns:a="http://schemas.openxmlformats.org/drawingml/2006/main" noGrp="1"/>
          </p:cNvSpPr>
          <p:nvPr/>
        </p:nvSpPr>
        <p:spPr>
          <a:xfrm xmlns:a="http://schemas.openxmlformats.org/drawingml/2006/main">
            <a:off x="2921000" y="3048000"/>
            <a:ext cx="1841500" cy="2921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92000"/>
              </a:lnSpc>
              <a:buNone/>
            </a:pPr>
            <a:r>
              <a:rPr sz="3200" b="1" i="0" u="none">
                <a:solidFill>
                  <a:srgbClr val="10B981"/>
                </a:solidFill>
                <a:latin typeface="Noto Sans SC"/>
                <a:ea typeface="Noto Sans SC"/>
                <a:cs typeface="Noto Sans SC"/>
              </a:rPr>
              <a:t>02</a:t>
            </a:r>
          </a:p>
          <a:p xmlns:a="http://schemas.openxmlformats.org/drawingml/2006/main">
            <a:pPr indent="0" algn="ctr">
              <a:lnSpc>
                <a:spcPct val="100000"/>
              </a:lnSpc>
              <a:spcBef>
                <a:spcPts val="1000"/>
              </a:spcBef>
              <a:buNone/>
            </a:pPr>
            <a:r>
              <a:rPr sz="1800" b="1" i="0" u="none">
                <a:solidFill>
                  <a:srgbClr val="111827"/>
                </a:solidFill>
                <a:latin typeface="Noto Sans SC"/>
                <a:ea typeface="Noto Sans SC"/>
                <a:cs typeface="Noto Sans SC"/>
              </a:rPr>
              <a:t>核心建模</a:t>
            </a:r>
          </a:p>
          <a:p xmlns:a="http://schemas.openxmlformats.org/drawingml/2006/main">
            <a:pPr indent="0" algn="ctr">
              <a:lnSpc>
                <a:spcPct val="117000"/>
              </a:lnSpc>
              <a:spcBef>
                <a:spcPts val="1200"/>
              </a:spcBef>
              <a:buNone/>
            </a:pPr>
            <a:r>
              <a:rPr sz="1200" b="0" i="0" u="none">
                <a:solidFill>
                  <a:srgbClr val="4B5563"/>
                </a:solidFill>
                <a:latin typeface="Noto Sans SC"/>
                <a:ea typeface="Noto Sans SC"/>
                <a:cs typeface="Noto Sans SC"/>
              </a:rPr>
              <a:t>以MRGCN为核心算法，将电极视为图神经网络节点，构建脑功能网络，精准提取脑区拓扑特征。</a:t>
            </a:r>
          </a:p>
        </p:txBody>
      </p:sp>
      <p:sp>
        <p:nvSpPr>
          <p:cNvPr id="10" name="AutoShape 10">
            <a:extLst xmlns:a="http://schemas.openxmlformats.org/drawingml/2006/main">
              <a:ext uri="{FF2B5EF4-FFF2-40B4-BE49-F238E27FC236}">
                <a16:creationId xmlns:a16="http://schemas.microsoft.com/office/drawing/2014/main" id="{AFA2B949-F77B-4CC5-AA6E-B15734FFBB8C}"/>
              </a:ext>
            </a:extLst>
          </p:cNvPr>
          <p:cNvSpPr>
            <a:spLocks xmlns:a="http://schemas.openxmlformats.org/drawingml/2006/main" noGrp="1"/>
          </p:cNvSpPr>
          <p:nvPr/>
        </p:nvSpPr>
        <p:spPr>
          <a:xfrm xmlns:a="http://schemas.openxmlformats.org/drawingml/2006/main">
            <a:off x="5143500" y="2794000"/>
            <a:ext cx="2095500" cy="3429000"/>
          </a:xfrm>
          <a:prstGeom xmlns:a="http://schemas.openxmlformats.org/drawingml/2006/main" prst="roundRect">
            <a:avLst>
              <a:gd name="adj" fmla="val 6060"/>
            </a:avLst>
          </a:prstGeom>
          <a:solidFill xmlns:a="http://schemas.openxmlformats.org/drawingml/2006/main">
            <a:srgbClr val="FFFFFF">
              <a:alpha val="95000"/>
            </a:srgbClr>
          </a:solidFill>
          <a:ln xmlns:a="http://schemas.openxmlformats.org/drawingml/2006/main" w="25400" cmpd="sng">
            <a:no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1" name="AutoShape 11">
            <a:extLst xmlns:a="http://schemas.openxmlformats.org/drawingml/2006/main">
              <a:ext uri="{FF2B5EF4-FFF2-40B4-BE49-F238E27FC236}">
                <a16:creationId xmlns:a16="http://schemas.microsoft.com/office/drawing/2014/main" id="{4794678C-B08C-48C9-BCA3-826366F097C0}"/>
              </a:ext>
            </a:extLst>
          </p:cNvPr>
          <p:cNvSpPr>
            <a:spLocks xmlns:a="http://schemas.openxmlformats.org/drawingml/2006/main" noGrp="1"/>
          </p:cNvSpPr>
          <p:nvPr/>
        </p:nvSpPr>
        <p:spPr>
          <a:xfrm xmlns:a="http://schemas.openxmlformats.org/drawingml/2006/main">
            <a:off x="5270500" y="3048000"/>
            <a:ext cx="1841500" cy="2921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92000"/>
              </a:lnSpc>
              <a:buNone/>
            </a:pPr>
            <a:r>
              <a:rPr sz="3200" b="1" i="0" u="none">
                <a:solidFill>
                  <a:srgbClr val="3B82F6"/>
                </a:solidFill>
                <a:latin typeface="Noto Sans SC"/>
                <a:ea typeface="Noto Sans SC"/>
                <a:cs typeface="Noto Sans SC"/>
              </a:rPr>
              <a:t>03</a:t>
            </a:r>
          </a:p>
          <a:p xmlns:a="http://schemas.openxmlformats.org/drawingml/2006/main">
            <a:pPr indent="0" algn="ctr">
              <a:lnSpc>
                <a:spcPct val="100000"/>
              </a:lnSpc>
              <a:spcBef>
                <a:spcPts val="1000"/>
              </a:spcBef>
              <a:buNone/>
            </a:pPr>
            <a:r>
              <a:rPr sz="1800" b="1" i="0" u="none">
                <a:solidFill>
                  <a:srgbClr val="111827"/>
                </a:solidFill>
                <a:latin typeface="Noto Sans SC"/>
                <a:ea typeface="Noto Sans SC"/>
                <a:cs typeface="Noto Sans SC"/>
              </a:rPr>
              <a:t>模型优化</a:t>
            </a:r>
          </a:p>
          <a:p xmlns:a="http://schemas.openxmlformats.org/drawingml/2006/main">
            <a:pPr indent="0" algn="ctr">
              <a:lnSpc>
                <a:spcPct val="117000"/>
              </a:lnSpc>
              <a:spcBef>
                <a:spcPts val="1200"/>
              </a:spcBef>
              <a:buNone/>
            </a:pPr>
            <a:r>
              <a:rPr sz="1200" b="0" i="0" u="none">
                <a:solidFill>
                  <a:srgbClr val="4B5563"/>
                </a:solidFill>
                <a:latin typeface="Noto Sans SC"/>
                <a:ea typeface="Noto Sans SC"/>
                <a:cs typeface="Noto Sans SC"/>
              </a:rPr>
              <a:t>融合多种异构脑网络特征，并引入DANN领域对抗训练机制，有效降低个体差异影响，增强模型泛化能力。</a:t>
            </a:r>
          </a:p>
        </p:txBody>
      </p:sp>
      <p:sp>
        <p:nvSpPr>
          <p:cNvPr id="12" name="AutoShape 12">
            <a:extLst xmlns:a="http://schemas.openxmlformats.org/drawingml/2006/main">
              <a:ext uri="{FF2B5EF4-FFF2-40B4-BE49-F238E27FC236}">
                <a16:creationId xmlns:a16="http://schemas.microsoft.com/office/drawing/2014/main" id="{B9597AD8-6448-4D53-9AB1-6B5338CAB443}"/>
              </a:ext>
            </a:extLst>
          </p:cNvPr>
          <p:cNvSpPr>
            <a:spLocks xmlns:a="http://schemas.openxmlformats.org/drawingml/2006/main" noGrp="1"/>
          </p:cNvSpPr>
          <p:nvPr/>
        </p:nvSpPr>
        <p:spPr>
          <a:xfrm xmlns:a="http://schemas.openxmlformats.org/drawingml/2006/main">
            <a:off x="7493000" y="2794000"/>
            <a:ext cx="2095500" cy="3429000"/>
          </a:xfrm>
          <a:prstGeom xmlns:a="http://schemas.openxmlformats.org/drawingml/2006/main" prst="roundRect">
            <a:avLst>
              <a:gd name="adj" fmla="val 6060"/>
            </a:avLst>
          </a:prstGeom>
          <a:solidFill xmlns:a="http://schemas.openxmlformats.org/drawingml/2006/main">
            <a:srgbClr val="FFFFFF">
              <a:alpha val="95000"/>
            </a:srgbClr>
          </a:solidFill>
          <a:ln xmlns:a="http://schemas.openxmlformats.org/drawingml/2006/main" w="25400" cmpd="sng">
            <a:no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3" name="AutoShape 13">
            <a:extLst xmlns:a="http://schemas.openxmlformats.org/drawingml/2006/main">
              <a:ext uri="{FF2B5EF4-FFF2-40B4-BE49-F238E27FC236}">
                <a16:creationId xmlns:a16="http://schemas.microsoft.com/office/drawing/2014/main" id="{E4261BEB-538F-4172-B367-F90A750DC530}"/>
              </a:ext>
            </a:extLst>
          </p:cNvPr>
          <p:cNvSpPr>
            <a:spLocks xmlns:a="http://schemas.openxmlformats.org/drawingml/2006/main" noGrp="1"/>
          </p:cNvSpPr>
          <p:nvPr/>
        </p:nvSpPr>
        <p:spPr>
          <a:xfrm xmlns:a="http://schemas.openxmlformats.org/drawingml/2006/main">
            <a:off x="7620000" y="3048000"/>
            <a:ext cx="1841500" cy="2921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92000"/>
              </a:lnSpc>
              <a:buNone/>
            </a:pPr>
            <a:r>
              <a:rPr sz="3200" b="1" i="0" u="none">
                <a:solidFill>
                  <a:srgbClr val="8B5CF6"/>
                </a:solidFill>
                <a:latin typeface="Noto Sans SC"/>
                <a:ea typeface="Noto Sans SC"/>
                <a:cs typeface="Noto Sans SC"/>
              </a:rPr>
              <a:t>04</a:t>
            </a:r>
          </a:p>
          <a:p xmlns:a="http://schemas.openxmlformats.org/drawingml/2006/main">
            <a:pPr indent="0" algn="ctr">
              <a:lnSpc>
                <a:spcPct val="100000"/>
              </a:lnSpc>
              <a:spcBef>
                <a:spcPts val="1000"/>
              </a:spcBef>
              <a:buNone/>
            </a:pPr>
            <a:r>
              <a:rPr sz="1800" b="1" i="0" u="none">
                <a:solidFill>
                  <a:srgbClr val="111827"/>
                </a:solidFill>
                <a:latin typeface="Noto Sans SC"/>
                <a:ea typeface="Noto Sans SC"/>
                <a:cs typeface="Noto Sans SC"/>
              </a:rPr>
              <a:t>工程部署</a:t>
            </a:r>
          </a:p>
          <a:p xmlns:a="http://schemas.openxmlformats.org/drawingml/2006/main">
            <a:pPr indent="0" algn="ctr">
              <a:lnSpc>
                <a:spcPct val="117000"/>
              </a:lnSpc>
              <a:spcBef>
                <a:spcPts val="1200"/>
              </a:spcBef>
              <a:buNone/>
            </a:pPr>
            <a:r>
              <a:rPr sz="1200" b="0" i="0" u="none">
                <a:solidFill>
                  <a:srgbClr val="4B5563"/>
                </a:solidFill>
                <a:latin typeface="Noto Sans SC"/>
                <a:ea typeface="Noto Sans SC"/>
                <a:cs typeface="Noto Sans SC"/>
              </a:rPr>
              <a:t>对训练好的模型进行ONNX与NCNN格式转换，并实施INT8量化压缩，大幅降低模型体积与算力需求。</a:t>
            </a:r>
          </a:p>
        </p:txBody>
      </p:sp>
      <p:sp>
        <p:nvSpPr>
          <p:cNvPr id="14" name="AutoShape 14">
            <a:extLst xmlns:a="http://schemas.openxmlformats.org/drawingml/2006/main">
              <a:ext uri="{FF2B5EF4-FFF2-40B4-BE49-F238E27FC236}">
                <a16:creationId xmlns:a16="http://schemas.microsoft.com/office/drawing/2014/main" id="{993A69F5-79D5-47E2-BD3D-6511A270C6CE}"/>
              </a:ext>
            </a:extLst>
          </p:cNvPr>
          <p:cNvSpPr>
            <a:spLocks xmlns:a="http://schemas.openxmlformats.org/drawingml/2006/main" noGrp="1"/>
          </p:cNvSpPr>
          <p:nvPr/>
        </p:nvSpPr>
        <p:spPr>
          <a:xfrm xmlns:a="http://schemas.openxmlformats.org/drawingml/2006/main">
            <a:off x="9842500" y="2794000"/>
            <a:ext cx="2095500" cy="3429000"/>
          </a:xfrm>
          <a:prstGeom xmlns:a="http://schemas.openxmlformats.org/drawingml/2006/main" prst="roundRect">
            <a:avLst>
              <a:gd name="adj" fmla="val 6060"/>
            </a:avLst>
          </a:prstGeom>
          <a:solidFill xmlns:a="http://schemas.openxmlformats.org/drawingml/2006/main">
            <a:srgbClr val="FFFFFF">
              <a:alpha val="95000"/>
            </a:srgbClr>
          </a:solidFill>
          <a:ln xmlns:a="http://schemas.openxmlformats.org/drawingml/2006/main" w="25400" cmpd="sng">
            <a:no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5" name="AutoShape 15">
            <a:extLst xmlns:a="http://schemas.openxmlformats.org/drawingml/2006/main">
              <a:ext uri="{FF2B5EF4-FFF2-40B4-BE49-F238E27FC236}">
                <a16:creationId xmlns:a16="http://schemas.microsoft.com/office/drawing/2014/main" id="{1A63F9CC-66AA-4EAF-B1B6-F03746FA8766}"/>
              </a:ext>
            </a:extLst>
          </p:cNvPr>
          <p:cNvSpPr>
            <a:spLocks xmlns:a="http://schemas.openxmlformats.org/drawingml/2006/main" noGrp="1"/>
          </p:cNvSpPr>
          <p:nvPr/>
        </p:nvSpPr>
        <p:spPr>
          <a:xfrm xmlns:a="http://schemas.openxmlformats.org/drawingml/2006/main">
            <a:off x="9969500" y="3048000"/>
            <a:ext cx="1841500" cy="2921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92000"/>
              </a:lnSpc>
              <a:buNone/>
            </a:pPr>
            <a:r>
              <a:rPr sz="3200" b="1" i="0" u="none">
                <a:solidFill>
                  <a:srgbClr val="EC4899"/>
                </a:solidFill>
                <a:latin typeface="Noto Sans SC"/>
                <a:ea typeface="Noto Sans SC"/>
                <a:cs typeface="Noto Sans SC"/>
              </a:rPr>
              <a:t>05</a:t>
            </a:r>
          </a:p>
          <a:p xmlns:a="http://schemas.openxmlformats.org/drawingml/2006/main">
            <a:pPr indent="0" algn="ctr">
              <a:lnSpc>
                <a:spcPct val="100000"/>
              </a:lnSpc>
              <a:spcBef>
                <a:spcPts val="1000"/>
              </a:spcBef>
              <a:buNone/>
            </a:pPr>
            <a:r>
              <a:rPr sz="1800" b="1" i="0" u="none">
                <a:solidFill>
                  <a:srgbClr val="111827"/>
                </a:solidFill>
                <a:latin typeface="Noto Sans SC"/>
                <a:ea typeface="Noto Sans SC"/>
                <a:cs typeface="Noto Sans SC"/>
              </a:rPr>
              <a:t>端侧验证</a:t>
            </a:r>
          </a:p>
          <a:p xmlns:a="http://schemas.openxmlformats.org/drawingml/2006/main">
            <a:pPr indent="0" algn="ctr">
              <a:lnSpc>
                <a:spcPct val="117000"/>
              </a:lnSpc>
              <a:spcBef>
                <a:spcPts val="1200"/>
              </a:spcBef>
              <a:buNone/>
            </a:pPr>
            <a:r>
              <a:rPr sz="1200" b="0" i="0" u="none">
                <a:solidFill>
                  <a:srgbClr val="4B5563"/>
                </a:solidFill>
                <a:latin typeface="Noto Sans SC"/>
                <a:ea typeface="Noto Sans SC"/>
                <a:cs typeface="Noto Sans SC"/>
              </a:rPr>
              <a:t>在ARM64架构的嵌入式CPU平台上，通过C++程序进行推理性能与准确率双重评测，形成完整闭环。</a:t>
            </a:r>
          </a:p>
        </p:txBody>
      </p:sp>
    </p:spTree>
    <p:extLst>
      <p:ext uri="{BB962C8B-B14F-4D97-AF65-F5344CB8AC3E}">
        <p14:creationId xmlns:p14="http://schemas.microsoft.com/office/powerpoint/2010/main" val="263247952"/>
      </p:ext>
    </p:extLst>
  </p:cSld>
</p:sld>
</file>

<file path=ppt/slides/slide8.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116a61a2eead473a"/>
          <a:srcRect xmlns:a="http://schemas.openxmlformats.org/drawingml/2006/main" l="33" t="0" r="33" b="0"/>
          <a:stretch xmlns:a="http://schemas.openxmlformats.org/drawingml/2006/main">
            <a:fillRect l="0" t="0" r="0" b="0"/>
          </a:stretch>
        </p:blipFill>
        <p:spPr>
          <a:xfrm xmlns:a="http://schemas.openxmlformats.org/drawingml/2006/main">
            <a:off x="0" y="0"/>
            <a:ext cx="12001500" cy="6807200"/>
          </a:xfrm>
          <a:prstGeom xmlns:a="http://schemas.openxmlformats.org/drawingml/2006/main" prst="rect">
            <a:avLst/>
          </a:prstGeom>
          <a:ln xmlns:a="http://schemas.openxmlformats.org/drawingml/2006/main" w="25400" cap="flat" cmpd="sng">
            <a:noFill/>
            <a:prstDash val="solid"/>
            <a:round/>
          </a:ln>
        </p:spPr>
      </p:pic>
      <p:sp>
        <p:nvSpPr>
          <p:cNvPr id="3" name="AutoShape 3">
            <a:extLst xmlns:a="http://schemas.openxmlformats.org/drawingml/2006/main">
              <a:ext uri="{FF2B5EF4-FFF2-40B4-BE49-F238E27FC236}">
                <a16:creationId xmlns:a16="http://schemas.microsoft.com/office/drawing/2014/main" id="{9E557BF2-4F9E-4884-BF62-D61217A8FBC9}"/>
              </a:ext>
            </a:extLst>
          </p:cNvPr>
          <p:cNvSpPr>
            <a:spLocks xmlns:a="http://schemas.openxmlformats.org/drawingml/2006/main" noGrp="1"/>
          </p:cNvSpPr>
          <p:nvPr/>
        </p:nvSpPr>
        <p:spPr>
          <a:xfrm xmlns:a="http://schemas.openxmlformats.org/drawingml/2006/main">
            <a:off x="0" y="508000"/>
            <a:ext cx="12001500" cy="762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algn="ctr">
              <a:lnSpc>
                <a:spcPct val="125000"/>
              </a:lnSpc>
              <a:buNone/>
            </a:pPr>
            <a:r>
              <a:rPr sz="3200" b="1" i="0" u="none">
                <a:solidFill>
                  <a:srgbClr val="104862"/>
                </a:solidFill>
                <a:latin typeface="Noto Sans SC"/>
                <a:ea typeface="Noto Sans SC"/>
                <a:cs typeface="Noto Sans SC"/>
              </a:rPr>
              <a:t>01 总体技术路线</a:t>
            </a:r>
          </a:p>
        </p:txBody>
      </p:sp>
      <p:sp>
        <p:nvSpPr>
          <p:cNvPr id="4" name="AutoShape 4">
            <a:extLst xmlns:a="http://schemas.openxmlformats.org/drawingml/2006/main">
              <a:ext uri="{FF2B5EF4-FFF2-40B4-BE49-F238E27FC236}">
                <a16:creationId xmlns:a16="http://schemas.microsoft.com/office/drawing/2014/main" id="{787A86AA-7243-4CE1-80A1-1C334D5A67A5}"/>
              </a:ext>
            </a:extLst>
          </p:cNvPr>
          <p:cNvSpPr>
            <a:spLocks xmlns:a="http://schemas.openxmlformats.org/drawingml/2006/main" noGrp="1"/>
          </p:cNvSpPr>
          <p:nvPr/>
        </p:nvSpPr>
        <p:spPr>
          <a:xfrm xmlns:a="http://schemas.openxmlformats.org/drawingml/2006/main">
            <a:off x="533400" y="1524000"/>
            <a:ext cx="10934700" cy="889000"/>
          </a:xfrm>
          <a:prstGeom xmlns:a="http://schemas.openxmlformats.org/drawingml/2006/main" prst="roundRect">
            <a:avLst>
              <a:gd name="adj" fmla="val 14285"/>
            </a:avLst>
          </a:prstGeom>
          <a:solidFill xmlns:a="http://schemas.openxmlformats.org/drawingml/2006/main">
            <a:srgbClr val="FFFFFF">
              <a:alpha val="85000"/>
            </a:srgbClr>
          </a:solidFill>
          <a:ln xmlns:a="http://schemas.openxmlformats.org/drawingml/2006/main" w="12700" cmpd="sng">
            <a:solidFill>
              <a:srgbClr val="10368D">
                <a:alpha val="4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5" name="AutoShape 5">
            <a:extLst xmlns:a="http://schemas.openxmlformats.org/drawingml/2006/main">
              <a:ext uri="{FF2B5EF4-FFF2-40B4-BE49-F238E27FC236}">
                <a16:creationId xmlns:a16="http://schemas.microsoft.com/office/drawing/2014/main" id="{3478B8BE-4C04-44F1-85DE-A1503339B064}"/>
              </a:ext>
            </a:extLst>
          </p:cNvPr>
          <p:cNvSpPr>
            <a:spLocks xmlns:a="http://schemas.openxmlformats.org/drawingml/2006/main" noGrp="1"/>
          </p:cNvSpPr>
          <p:nvPr/>
        </p:nvSpPr>
        <p:spPr>
          <a:xfrm xmlns:a="http://schemas.openxmlformats.org/drawingml/2006/main">
            <a:off x="660400" y="1651000"/>
            <a:ext cx="10680700" cy="635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1600" b="1" i="0" u="none">
                <a:solidFill>
                  <a:srgbClr val="1F2329"/>
                </a:solidFill>
                <a:latin typeface="Noto Sans SC"/>
                <a:ea typeface="Noto Sans SC"/>
                <a:cs typeface="Noto Sans SC"/>
              </a:rPr>
              <a:t>核心思想：</a:t>
            </a:r>
            <a:r>
              <a:rPr sz="1600" b="0" i="0" u="none">
                <a:solidFill>
                  <a:srgbClr val="374151"/>
                </a:solidFill>
                <a:latin typeface="Noto Sans SC"/>
                <a:ea typeface="Noto Sans SC"/>
                <a:cs typeface="Noto Sans SC"/>
              </a:rPr>
              <a:t>围绕“算法建模 → 泛化优化 → 量化压缩 → 端侧推理”的全链路展开</a:t>
            </a:r>
          </a:p>
        </p:txBody>
      </p:sp>
      <p:sp>
        <p:nvSpPr>
          <p:cNvPr id="6" name="AutoShape 6">
            <a:extLst xmlns:a="http://schemas.openxmlformats.org/drawingml/2006/main">
              <a:ext uri="{FF2B5EF4-FFF2-40B4-BE49-F238E27FC236}">
                <a16:creationId xmlns:a16="http://schemas.microsoft.com/office/drawing/2014/main" id="{FB89432A-4789-47FA-A5B5-9729765EFBBF}"/>
              </a:ext>
            </a:extLst>
          </p:cNvPr>
          <p:cNvSpPr>
            <a:spLocks xmlns:a="http://schemas.openxmlformats.org/drawingml/2006/main" noGrp="1"/>
          </p:cNvSpPr>
          <p:nvPr/>
        </p:nvSpPr>
        <p:spPr>
          <a:xfrm xmlns:a="http://schemas.openxmlformats.org/drawingml/2006/main">
            <a:off x="444500" y="2794000"/>
            <a:ext cx="2095500" cy="3429000"/>
          </a:xfrm>
          <a:prstGeom xmlns:a="http://schemas.openxmlformats.org/drawingml/2006/main" prst="roundRect">
            <a:avLst>
              <a:gd name="adj" fmla="val 6060"/>
            </a:avLst>
          </a:prstGeom>
          <a:solidFill xmlns:a="http://schemas.openxmlformats.org/drawingml/2006/main">
            <a:srgbClr val="FFFFFF">
              <a:alpha val="95000"/>
            </a:srgbClr>
          </a:solidFill>
          <a:ln xmlns:a="http://schemas.openxmlformats.org/drawingml/2006/main" w="25400" cmpd="sng">
            <a:no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7" name="AutoShape 7">
            <a:extLst xmlns:a="http://schemas.openxmlformats.org/drawingml/2006/main">
              <a:ext uri="{FF2B5EF4-FFF2-40B4-BE49-F238E27FC236}">
                <a16:creationId xmlns:a16="http://schemas.microsoft.com/office/drawing/2014/main" id="{D620B1A7-07F6-47B3-8FD5-D39CBE8007C3}"/>
              </a:ext>
            </a:extLst>
          </p:cNvPr>
          <p:cNvSpPr>
            <a:spLocks xmlns:a="http://schemas.openxmlformats.org/drawingml/2006/main" noGrp="1"/>
          </p:cNvSpPr>
          <p:nvPr/>
        </p:nvSpPr>
        <p:spPr>
          <a:xfrm xmlns:a="http://schemas.openxmlformats.org/drawingml/2006/main">
            <a:off x="571500" y="3048000"/>
            <a:ext cx="1841500" cy="2921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92000"/>
              </a:lnSpc>
              <a:buNone/>
            </a:pPr>
            <a:r>
              <a:rPr sz="3200" b="1" i="0" u="none">
                <a:solidFill>
                  <a:srgbClr val="D97706"/>
                </a:solidFill>
                <a:latin typeface="Noto Sans SC"/>
                <a:ea typeface="Noto Sans SC"/>
                <a:cs typeface="Noto Sans SC"/>
              </a:rPr>
              <a:t>01</a:t>
            </a:r>
          </a:p>
          <a:p xmlns:a="http://schemas.openxmlformats.org/drawingml/2006/main">
            <a:pPr indent="0" algn="ctr">
              <a:lnSpc>
                <a:spcPct val="100000"/>
              </a:lnSpc>
              <a:spcBef>
                <a:spcPts val="1000"/>
              </a:spcBef>
              <a:buNone/>
            </a:pPr>
            <a:r>
              <a:rPr sz="1800" b="1" i="0" u="none">
                <a:solidFill>
                  <a:srgbClr val="111827"/>
                </a:solidFill>
                <a:latin typeface="Noto Sans SC"/>
                <a:ea typeface="Noto Sans SC"/>
                <a:cs typeface="Noto Sans SC"/>
              </a:rPr>
              <a:t>数据处理</a:t>
            </a:r>
          </a:p>
          <a:p xmlns:a="http://schemas.openxmlformats.org/drawingml/2006/main">
            <a:pPr indent="0" algn="ctr">
              <a:lnSpc>
                <a:spcPct val="117000"/>
              </a:lnSpc>
              <a:spcBef>
                <a:spcPts val="1200"/>
              </a:spcBef>
              <a:buNone/>
            </a:pPr>
            <a:r>
              <a:rPr sz="1200" b="0" i="0" u="none">
                <a:solidFill>
                  <a:srgbClr val="4B5563"/>
                </a:solidFill>
                <a:latin typeface="Noto Sans SC"/>
                <a:ea typeface="Noto Sans SC"/>
                <a:cs typeface="Noto Sans SC"/>
              </a:rPr>
              <a:t>读取多频带EEG特征，通过滑动窗口算法构建统一维度的输入样本，确保数据输入一致性。</a:t>
            </a:r>
          </a:p>
        </p:txBody>
      </p:sp>
      <p:sp>
        <p:nvSpPr>
          <p:cNvPr id="8" name="AutoShape 8">
            <a:extLst xmlns:a="http://schemas.openxmlformats.org/drawingml/2006/main">
              <a:ext uri="{FF2B5EF4-FFF2-40B4-BE49-F238E27FC236}">
                <a16:creationId xmlns:a16="http://schemas.microsoft.com/office/drawing/2014/main" id="{F4F1E8CE-4F4B-463A-875F-585E954C208C}"/>
              </a:ext>
            </a:extLst>
          </p:cNvPr>
          <p:cNvSpPr>
            <a:spLocks xmlns:a="http://schemas.openxmlformats.org/drawingml/2006/main" noGrp="1"/>
          </p:cNvSpPr>
          <p:nvPr/>
        </p:nvSpPr>
        <p:spPr>
          <a:xfrm xmlns:a="http://schemas.openxmlformats.org/drawingml/2006/main">
            <a:off x="2794000" y="2794000"/>
            <a:ext cx="2095500" cy="3429000"/>
          </a:xfrm>
          <a:prstGeom xmlns:a="http://schemas.openxmlformats.org/drawingml/2006/main" prst="roundRect">
            <a:avLst>
              <a:gd name="adj" fmla="val 6060"/>
            </a:avLst>
          </a:prstGeom>
          <a:solidFill xmlns:a="http://schemas.openxmlformats.org/drawingml/2006/main">
            <a:srgbClr val="FFFFFF">
              <a:alpha val="95000"/>
            </a:srgbClr>
          </a:solidFill>
          <a:ln xmlns:a="http://schemas.openxmlformats.org/drawingml/2006/main" w="25400" cmpd="sng">
            <a:no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9" name="AutoShape 9">
            <a:extLst xmlns:a="http://schemas.openxmlformats.org/drawingml/2006/main">
              <a:ext uri="{FF2B5EF4-FFF2-40B4-BE49-F238E27FC236}">
                <a16:creationId xmlns:a16="http://schemas.microsoft.com/office/drawing/2014/main" id="{930EE548-8D57-4D66-B176-7FE15AACAA62}"/>
              </a:ext>
            </a:extLst>
          </p:cNvPr>
          <p:cNvSpPr>
            <a:spLocks xmlns:a="http://schemas.openxmlformats.org/drawingml/2006/main" noGrp="1"/>
          </p:cNvSpPr>
          <p:nvPr/>
        </p:nvSpPr>
        <p:spPr>
          <a:xfrm xmlns:a="http://schemas.openxmlformats.org/drawingml/2006/main">
            <a:off x="2921000" y="3048000"/>
            <a:ext cx="1841500" cy="2921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92000"/>
              </a:lnSpc>
              <a:buNone/>
            </a:pPr>
            <a:r>
              <a:rPr sz="3200" b="1" i="0" u="none">
                <a:solidFill>
                  <a:srgbClr val="10B981"/>
                </a:solidFill>
                <a:latin typeface="Noto Sans SC"/>
                <a:ea typeface="Noto Sans SC"/>
                <a:cs typeface="Noto Sans SC"/>
              </a:rPr>
              <a:t>02</a:t>
            </a:r>
          </a:p>
          <a:p xmlns:a="http://schemas.openxmlformats.org/drawingml/2006/main">
            <a:pPr indent="0" algn="ctr">
              <a:lnSpc>
                <a:spcPct val="100000"/>
              </a:lnSpc>
              <a:spcBef>
                <a:spcPts val="1000"/>
              </a:spcBef>
              <a:buNone/>
            </a:pPr>
            <a:r>
              <a:rPr sz="1800" b="1" i="0" u="none">
                <a:solidFill>
                  <a:srgbClr val="111827"/>
                </a:solidFill>
                <a:latin typeface="Noto Sans SC"/>
                <a:ea typeface="Noto Sans SC"/>
                <a:cs typeface="Noto Sans SC"/>
              </a:rPr>
              <a:t>核心建模</a:t>
            </a:r>
          </a:p>
          <a:p xmlns:a="http://schemas.openxmlformats.org/drawingml/2006/main">
            <a:pPr indent="0" algn="ctr">
              <a:lnSpc>
                <a:spcPct val="117000"/>
              </a:lnSpc>
              <a:spcBef>
                <a:spcPts val="1200"/>
              </a:spcBef>
              <a:buNone/>
            </a:pPr>
            <a:r>
              <a:rPr sz="1200" b="0" i="0" u="none">
                <a:solidFill>
                  <a:srgbClr val="4B5563"/>
                </a:solidFill>
                <a:latin typeface="Noto Sans SC"/>
                <a:ea typeface="Noto Sans SC"/>
                <a:cs typeface="Noto Sans SC"/>
              </a:rPr>
              <a:t>以MRGCN为核心算法，将电极视为图神经网络节点，构建脑功能网络，精准提取脑区拓扑特征。</a:t>
            </a:r>
          </a:p>
        </p:txBody>
      </p:sp>
      <p:sp>
        <p:nvSpPr>
          <p:cNvPr id="10" name="AutoShape 10">
            <a:extLst xmlns:a="http://schemas.openxmlformats.org/drawingml/2006/main">
              <a:ext uri="{FF2B5EF4-FFF2-40B4-BE49-F238E27FC236}">
                <a16:creationId xmlns:a16="http://schemas.microsoft.com/office/drawing/2014/main" id="{AFA2B949-F77B-4CC5-AA6E-B15734FFBB8C}"/>
              </a:ext>
            </a:extLst>
          </p:cNvPr>
          <p:cNvSpPr>
            <a:spLocks xmlns:a="http://schemas.openxmlformats.org/drawingml/2006/main" noGrp="1"/>
          </p:cNvSpPr>
          <p:nvPr/>
        </p:nvSpPr>
        <p:spPr>
          <a:xfrm xmlns:a="http://schemas.openxmlformats.org/drawingml/2006/main">
            <a:off x="5143500" y="2794000"/>
            <a:ext cx="2095500" cy="3429000"/>
          </a:xfrm>
          <a:prstGeom xmlns:a="http://schemas.openxmlformats.org/drawingml/2006/main" prst="roundRect">
            <a:avLst>
              <a:gd name="adj" fmla="val 6060"/>
            </a:avLst>
          </a:prstGeom>
          <a:solidFill xmlns:a="http://schemas.openxmlformats.org/drawingml/2006/main">
            <a:srgbClr val="FFFFFF">
              <a:alpha val="95000"/>
            </a:srgbClr>
          </a:solidFill>
          <a:ln xmlns:a="http://schemas.openxmlformats.org/drawingml/2006/main" w="25400" cmpd="sng">
            <a:no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1" name="AutoShape 11">
            <a:extLst xmlns:a="http://schemas.openxmlformats.org/drawingml/2006/main">
              <a:ext uri="{FF2B5EF4-FFF2-40B4-BE49-F238E27FC236}">
                <a16:creationId xmlns:a16="http://schemas.microsoft.com/office/drawing/2014/main" id="{4794678C-B08C-48C9-BCA3-826366F097C0}"/>
              </a:ext>
            </a:extLst>
          </p:cNvPr>
          <p:cNvSpPr>
            <a:spLocks xmlns:a="http://schemas.openxmlformats.org/drawingml/2006/main" noGrp="1"/>
          </p:cNvSpPr>
          <p:nvPr/>
        </p:nvSpPr>
        <p:spPr>
          <a:xfrm xmlns:a="http://schemas.openxmlformats.org/drawingml/2006/main">
            <a:off x="5270500" y="3048000"/>
            <a:ext cx="1841500" cy="2921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92000"/>
              </a:lnSpc>
              <a:buNone/>
            </a:pPr>
            <a:r>
              <a:rPr sz="3200" b="1" i="0" u="none">
                <a:solidFill>
                  <a:srgbClr val="3B82F6"/>
                </a:solidFill>
                <a:latin typeface="Noto Sans SC"/>
                <a:ea typeface="Noto Sans SC"/>
                <a:cs typeface="Noto Sans SC"/>
              </a:rPr>
              <a:t>03</a:t>
            </a:r>
          </a:p>
          <a:p xmlns:a="http://schemas.openxmlformats.org/drawingml/2006/main">
            <a:pPr indent="0" algn="ctr">
              <a:lnSpc>
                <a:spcPct val="100000"/>
              </a:lnSpc>
              <a:spcBef>
                <a:spcPts val="1000"/>
              </a:spcBef>
              <a:buNone/>
            </a:pPr>
            <a:r>
              <a:rPr sz="1800" b="1" i="0" u="none">
                <a:solidFill>
                  <a:srgbClr val="111827"/>
                </a:solidFill>
                <a:latin typeface="Noto Sans SC"/>
                <a:ea typeface="Noto Sans SC"/>
                <a:cs typeface="Noto Sans SC"/>
              </a:rPr>
              <a:t>模型优化</a:t>
            </a:r>
          </a:p>
          <a:p xmlns:a="http://schemas.openxmlformats.org/drawingml/2006/main">
            <a:pPr indent="0" algn="ctr">
              <a:lnSpc>
                <a:spcPct val="117000"/>
              </a:lnSpc>
              <a:spcBef>
                <a:spcPts val="1200"/>
              </a:spcBef>
              <a:buNone/>
            </a:pPr>
            <a:r>
              <a:rPr sz="1200" b="0" i="0" u="none">
                <a:solidFill>
                  <a:srgbClr val="4B5563"/>
                </a:solidFill>
                <a:latin typeface="Noto Sans SC"/>
                <a:ea typeface="Noto Sans SC"/>
                <a:cs typeface="Noto Sans SC"/>
              </a:rPr>
              <a:t>融合多种异构脑网络特征，并引入DANN领域对抗训练机制，有效降低个体差异影响，增强模型泛化能力。</a:t>
            </a:r>
          </a:p>
        </p:txBody>
      </p:sp>
      <p:sp>
        <p:nvSpPr>
          <p:cNvPr id="12" name="AutoShape 12">
            <a:extLst xmlns:a="http://schemas.openxmlformats.org/drawingml/2006/main">
              <a:ext uri="{FF2B5EF4-FFF2-40B4-BE49-F238E27FC236}">
                <a16:creationId xmlns:a16="http://schemas.microsoft.com/office/drawing/2014/main" id="{B9597AD8-6448-4D53-9AB1-6B5338CAB443}"/>
              </a:ext>
            </a:extLst>
          </p:cNvPr>
          <p:cNvSpPr>
            <a:spLocks xmlns:a="http://schemas.openxmlformats.org/drawingml/2006/main" noGrp="1"/>
          </p:cNvSpPr>
          <p:nvPr/>
        </p:nvSpPr>
        <p:spPr>
          <a:xfrm xmlns:a="http://schemas.openxmlformats.org/drawingml/2006/main">
            <a:off x="7493000" y="2794000"/>
            <a:ext cx="2095500" cy="3429000"/>
          </a:xfrm>
          <a:prstGeom xmlns:a="http://schemas.openxmlformats.org/drawingml/2006/main" prst="roundRect">
            <a:avLst>
              <a:gd name="adj" fmla="val 6060"/>
            </a:avLst>
          </a:prstGeom>
          <a:solidFill xmlns:a="http://schemas.openxmlformats.org/drawingml/2006/main">
            <a:srgbClr val="FFFFFF">
              <a:alpha val="95000"/>
            </a:srgbClr>
          </a:solidFill>
          <a:ln xmlns:a="http://schemas.openxmlformats.org/drawingml/2006/main" w="25400" cmpd="sng">
            <a:no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3" name="AutoShape 13">
            <a:extLst xmlns:a="http://schemas.openxmlformats.org/drawingml/2006/main">
              <a:ext uri="{FF2B5EF4-FFF2-40B4-BE49-F238E27FC236}">
                <a16:creationId xmlns:a16="http://schemas.microsoft.com/office/drawing/2014/main" id="{E4261BEB-538F-4172-B367-F90A750DC530}"/>
              </a:ext>
            </a:extLst>
          </p:cNvPr>
          <p:cNvSpPr>
            <a:spLocks xmlns:a="http://schemas.openxmlformats.org/drawingml/2006/main" noGrp="1"/>
          </p:cNvSpPr>
          <p:nvPr/>
        </p:nvSpPr>
        <p:spPr>
          <a:xfrm xmlns:a="http://schemas.openxmlformats.org/drawingml/2006/main">
            <a:off x="7620000" y="3048000"/>
            <a:ext cx="1841500" cy="2921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92000"/>
              </a:lnSpc>
              <a:buNone/>
            </a:pPr>
            <a:r>
              <a:rPr sz="3200" b="1" i="0" u="none">
                <a:solidFill>
                  <a:srgbClr val="8B5CF6"/>
                </a:solidFill>
                <a:latin typeface="Noto Sans SC"/>
                <a:ea typeface="Noto Sans SC"/>
                <a:cs typeface="Noto Sans SC"/>
              </a:rPr>
              <a:t>04</a:t>
            </a:r>
          </a:p>
          <a:p xmlns:a="http://schemas.openxmlformats.org/drawingml/2006/main">
            <a:pPr indent="0" algn="ctr">
              <a:lnSpc>
                <a:spcPct val="100000"/>
              </a:lnSpc>
              <a:spcBef>
                <a:spcPts val="1000"/>
              </a:spcBef>
              <a:buNone/>
            </a:pPr>
            <a:r>
              <a:rPr sz="1800" b="1" i="0" u="none">
                <a:solidFill>
                  <a:srgbClr val="111827"/>
                </a:solidFill>
                <a:latin typeface="Noto Sans SC"/>
                <a:ea typeface="Noto Sans SC"/>
                <a:cs typeface="Noto Sans SC"/>
              </a:rPr>
              <a:t>工程部署</a:t>
            </a:r>
          </a:p>
          <a:p xmlns:a="http://schemas.openxmlformats.org/drawingml/2006/main">
            <a:pPr indent="0" algn="ctr">
              <a:lnSpc>
                <a:spcPct val="117000"/>
              </a:lnSpc>
              <a:spcBef>
                <a:spcPts val="1200"/>
              </a:spcBef>
              <a:buNone/>
            </a:pPr>
            <a:r>
              <a:rPr sz="1200" b="0" i="0" u="none">
                <a:solidFill>
                  <a:srgbClr val="4B5563"/>
                </a:solidFill>
                <a:latin typeface="Noto Sans SC"/>
                <a:ea typeface="Noto Sans SC"/>
                <a:cs typeface="Noto Sans SC"/>
              </a:rPr>
              <a:t>对训练好的模型进行ONNX与NCNN格式转换，并实施INT8量化压缩，大幅降低模型体积与算力需求。</a:t>
            </a:r>
          </a:p>
        </p:txBody>
      </p:sp>
      <p:sp>
        <p:nvSpPr>
          <p:cNvPr id="14" name="AutoShape 14">
            <a:extLst xmlns:a="http://schemas.openxmlformats.org/drawingml/2006/main">
              <a:ext uri="{FF2B5EF4-FFF2-40B4-BE49-F238E27FC236}">
                <a16:creationId xmlns:a16="http://schemas.microsoft.com/office/drawing/2014/main" id="{993A69F5-79D5-47E2-BD3D-6511A270C6CE}"/>
              </a:ext>
            </a:extLst>
          </p:cNvPr>
          <p:cNvSpPr>
            <a:spLocks xmlns:a="http://schemas.openxmlformats.org/drawingml/2006/main" noGrp="1"/>
          </p:cNvSpPr>
          <p:nvPr/>
        </p:nvSpPr>
        <p:spPr>
          <a:xfrm xmlns:a="http://schemas.openxmlformats.org/drawingml/2006/main">
            <a:off x="9842500" y="2794000"/>
            <a:ext cx="2095500" cy="3429000"/>
          </a:xfrm>
          <a:prstGeom xmlns:a="http://schemas.openxmlformats.org/drawingml/2006/main" prst="roundRect">
            <a:avLst>
              <a:gd name="adj" fmla="val 6060"/>
            </a:avLst>
          </a:prstGeom>
          <a:solidFill xmlns:a="http://schemas.openxmlformats.org/drawingml/2006/main">
            <a:srgbClr val="FFFFFF">
              <a:alpha val="95000"/>
            </a:srgbClr>
          </a:solidFill>
          <a:ln xmlns:a="http://schemas.openxmlformats.org/drawingml/2006/main" w="25400" cmpd="sng">
            <a:no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5" name="AutoShape 15">
            <a:extLst xmlns:a="http://schemas.openxmlformats.org/drawingml/2006/main">
              <a:ext uri="{FF2B5EF4-FFF2-40B4-BE49-F238E27FC236}">
                <a16:creationId xmlns:a16="http://schemas.microsoft.com/office/drawing/2014/main" id="{1A63F9CC-66AA-4EAF-B1B6-F03746FA8766}"/>
              </a:ext>
            </a:extLst>
          </p:cNvPr>
          <p:cNvSpPr>
            <a:spLocks xmlns:a="http://schemas.openxmlformats.org/drawingml/2006/main" noGrp="1"/>
          </p:cNvSpPr>
          <p:nvPr/>
        </p:nvSpPr>
        <p:spPr>
          <a:xfrm xmlns:a="http://schemas.openxmlformats.org/drawingml/2006/main">
            <a:off x="9969500" y="3048000"/>
            <a:ext cx="1841500" cy="2921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92000"/>
              </a:lnSpc>
              <a:buNone/>
            </a:pPr>
            <a:r>
              <a:rPr sz="3200" b="1" i="0" u="none">
                <a:solidFill>
                  <a:srgbClr val="EC4899"/>
                </a:solidFill>
                <a:latin typeface="Noto Sans SC"/>
                <a:ea typeface="Noto Sans SC"/>
                <a:cs typeface="Noto Sans SC"/>
              </a:rPr>
              <a:t>05</a:t>
            </a:r>
          </a:p>
          <a:p xmlns:a="http://schemas.openxmlformats.org/drawingml/2006/main">
            <a:pPr indent="0" algn="ctr">
              <a:lnSpc>
                <a:spcPct val="100000"/>
              </a:lnSpc>
              <a:spcBef>
                <a:spcPts val="1000"/>
              </a:spcBef>
              <a:buNone/>
            </a:pPr>
            <a:r>
              <a:rPr sz="1800" b="1" i="0" u="none">
                <a:solidFill>
                  <a:srgbClr val="111827"/>
                </a:solidFill>
                <a:latin typeface="Noto Sans SC"/>
                <a:ea typeface="Noto Sans SC"/>
                <a:cs typeface="Noto Sans SC"/>
              </a:rPr>
              <a:t>端侧验证</a:t>
            </a:r>
          </a:p>
          <a:p xmlns:a="http://schemas.openxmlformats.org/drawingml/2006/main">
            <a:pPr indent="0" algn="ctr">
              <a:lnSpc>
                <a:spcPct val="117000"/>
              </a:lnSpc>
              <a:spcBef>
                <a:spcPts val="1200"/>
              </a:spcBef>
              <a:buNone/>
            </a:pPr>
            <a:r>
              <a:rPr sz="1200" b="0" i="0" u="none">
                <a:solidFill>
                  <a:srgbClr val="4B5563"/>
                </a:solidFill>
                <a:latin typeface="Noto Sans SC"/>
                <a:ea typeface="Noto Sans SC"/>
                <a:cs typeface="Noto Sans SC"/>
              </a:rPr>
              <a:t>在ARM64架构的嵌入式CPU平台上，通过C++程序进行推理性能与准确率双重评测，形成完整闭环。</a:t>
            </a:r>
          </a:p>
        </p:txBody>
      </p:sp>
    </p:spTree>
    <p:extLst>
      <p:ext uri="{BB962C8B-B14F-4D97-AF65-F5344CB8AC3E}">
        <p14:creationId xmlns:p14="http://schemas.microsoft.com/office/powerpoint/2010/main" val="263247952"/>
      </p:ext>
    </p:extLst>
  </p:cSld>
</p:sld>
</file>

<file path=ppt/slides/slide9.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dc1989b352d043ea"/>
          <a:srcRect xmlns:a="http://schemas.openxmlformats.org/drawingml/2006/main" l="33" t="0" r="33" b="0"/>
          <a:stretch xmlns:a="http://schemas.openxmlformats.org/drawingml/2006/main">
            <a:fillRect l="0" t="0" r="0" b="0"/>
          </a:stretch>
        </p:blipFill>
        <p:spPr>
          <a:xfrm xmlns:a="http://schemas.openxmlformats.org/drawingml/2006/main">
            <a:off x="0" y="0"/>
            <a:ext cx="12001500" cy="6807200"/>
          </a:xfrm>
          <a:prstGeom xmlns:a="http://schemas.openxmlformats.org/drawingml/2006/main" prst="rect">
            <a:avLst/>
          </a:prstGeom>
          <a:ln xmlns:a="http://schemas.openxmlformats.org/drawingml/2006/main" w="25400" cap="flat" cmpd="sng">
            <a:noFill/>
            <a:prstDash val="solid"/>
            <a:round/>
          </a:ln>
        </p:spPr>
      </p:pic>
      <p:sp>
        <p:nvSpPr>
          <p:cNvPr id="3" name="AutoShape 3">
            <a:extLst xmlns:a="http://schemas.openxmlformats.org/drawingml/2006/main">
              <a:ext uri="{FF2B5EF4-FFF2-40B4-BE49-F238E27FC236}">
                <a16:creationId xmlns:a16="http://schemas.microsoft.com/office/drawing/2014/main" id="{D818D2A2-094A-4244-84E6-6F3DDBFE9CDF}"/>
              </a:ext>
            </a:extLst>
          </p:cNvPr>
          <p:cNvSpPr>
            <a:spLocks xmlns:a="http://schemas.openxmlformats.org/drawingml/2006/main" noGrp="1"/>
          </p:cNvSpPr>
          <p:nvPr/>
        </p:nvSpPr>
        <p:spPr>
          <a:xfrm xmlns:a="http://schemas.openxmlformats.org/drawingml/2006/main">
            <a:off x="508000" y="508000"/>
            <a:ext cx="10985500" cy="762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algn="ctr">
              <a:lnSpc>
                <a:spcPct val="125000"/>
              </a:lnSpc>
              <a:buNone/>
            </a:pPr>
            <a:r>
              <a:rPr sz="3200" b="1" i="0" u="none">
                <a:solidFill>
                  <a:srgbClr val="0C3671"/>
                </a:solidFill>
                <a:latin typeface="微软雅黑"/>
                <a:ea typeface="微软雅黑"/>
                <a:cs typeface="微软雅黑"/>
              </a:rPr>
              <a:t>02 数据读取与样本构建流程</a:t>
            </a:r>
          </a:p>
        </p:txBody>
      </p:sp>
      <p:sp>
        <p:nvSpPr>
          <p:cNvPr id="4" name="文本框 3">
            <a:extLst xmlns:a="http://schemas.openxmlformats.org/drawingml/2006/main">
              <a:ext uri="{FF2B5EF4-FFF2-40B4-BE49-F238E27FC236}">
                <a16:creationId xmlns:a16="http://schemas.microsoft.com/office/drawing/2014/main" id="{E69ACDD2-8D8B-468D-B6E4-37C63D894E26}"/>
              </a:ext>
            </a:extLst>
          </p:cNvPr>
          <p:cNvSpPr>
            <a:spLocks xmlns:a="http://schemas.openxmlformats.org/drawingml/2006/main" noGrp="1"/>
          </p:cNvSpPr>
          <p:nvPr/>
        </p:nvSpPr>
        <p:spPr>
          <a:xfrm xmlns:a="http://schemas.openxmlformats.org/drawingml/2006/main">
            <a:off x="817880" y="1270000"/>
            <a:ext cx="7661910" cy="5835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rgbClr val="5D6B7F"/>
                </a:solidFill>
                <a:latin typeface="微软雅黑"/>
                <a:ea typeface="微软雅黑"/>
                <a:cs typeface="微软雅黑"/>
              </a:rPr>
              <a:t>从 SEED 数据集 de_LDS 特征出发，构造可用于 MRGCN-DANN 训练的统一样本</a:t>
            </a:r>
          </a:p>
          <a:p xmlns:a="http://schemas.openxmlformats.org/drawingml/2006/main"/>
        </p:txBody>
      </p:sp>
      <p:sp>
        <p:nvSpPr>
          <p:cNvPr id="6" name="Shape 4">
            <a:extLst xmlns:a="http://schemas.openxmlformats.org/drawingml/2006/main">
              <a:ext uri="{FF2B5EF4-FFF2-40B4-BE49-F238E27FC236}">
                <a16:creationId xmlns:a16="http://schemas.microsoft.com/office/drawing/2014/main" id="{BB3344FD-2EAE-4A2F-8385-20DE6DC81FA1}"/>
              </a:ext>
            </a:extLst>
          </p:cNvPr>
          <p:cNvSpPr>
            <a:spLocks xmlns:a="http://schemas.openxmlformats.org/drawingml/2006/main" noGrp="1"/>
          </p:cNvSpPr>
          <p:nvPr/>
        </p:nvSpPr>
        <p:spPr>
          <a:xfrm xmlns:a="http://schemas.openxmlformats.org/drawingml/2006/main">
            <a:off x="594360" y="1828800"/>
            <a:ext cx="1444752" cy="438912"/>
          </a:xfrm>
          <a:prstGeom xmlns:a="http://schemas.openxmlformats.org/drawingml/2006/main" prst="roundRect">
            <a:avLst>
              <a:gd name="adj" fmla="val 25000"/>
            </a:avLst>
          </a:prstGeom>
          <a:solidFill xmlns:a="http://schemas.openxmlformats.org/drawingml/2006/main">
            <a:srgbClr val="1E5AA8"/>
          </a:solidFill>
          <a:ln xmlns:a="http://schemas.openxmlformats.org/drawingml/2006/main" w="12700">
            <a:solidFill>
              <a:srgbClr val="1E5AA8"/>
            </a:solidFill>
            <a:prstDash val="solid"/>
          </a:ln>
        </p:spPr>
      </p:sp>
      <p:sp>
        <p:nvSpPr>
          <p:cNvPr id="7" name="Text 5">
            <a:extLst xmlns:a="http://schemas.openxmlformats.org/drawingml/2006/main">
              <a:ext uri="{FF2B5EF4-FFF2-40B4-BE49-F238E27FC236}">
                <a16:creationId xmlns:a16="http://schemas.microsoft.com/office/drawing/2014/main" id="{FD742A28-345A-4D86-95D6-0C7C50501980}"/>
              </a:ext>
            </a:extLst>
          </p:cNvPr>
          <p:cNvSpPr>
            <a:spLocks xmlns:a="http://schemas.openxmlformats.org/drawingml/2006/main" noGrp="1"/>
          </p:cNvSpPr>
          <p:nvPr/>
        </p:nvSpPr>
        <p:spPr>
          <a:xfrm xmlns:a="http://schemas.openxmlformats.org/drawingml/2006/main">
            <a:off x="667512" y="1856232"/>
            <a:ext cx="1298448" cy="384048"/>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0" indent="0" algn="ctr">
              <a:buNone/>
            </a:pPr>
            <a:r>
              <a:rPr sz="1600" b="1">
                <a:solidFill>
                  <a:srgbClr val="FFFFFF"/>
                </a:solidFill>
                <a:latin typeface="Noto Sans CJK SC"/>
                <a:ea typeface="Noto Sans CJK SC"/>
                <a:cs typeface="Noto Sans CJK SC"/>
              </a:rPr>
              <a:t>读取 .mat</a:t>
            </a:r>
          </a:p>
          <a:p xmlns:a="http://schemas.openxmlformats.org/drawingml/2006/main">
            <a:pPr marL="0" indent="0" algn="ctr">
              <a:buNone/>
            </a:pPr>
            <a:r>
              <a:rPr sz="1600" b="1">
                <a:solidFill>
                  <a:srgbClr val="FFFFFF"/>
                </a:solidFill>
                <a:latin typeface="Noto Sans CJK SC"/>
                <a:ea typeface="Noto Sans CJK SC"/>
                <a:cs typeface="Noto Sans CJK SC"/>
              </a:rPr>
              <a:t>特征文件</a:t>
            </a:r>
          </a:p>
        </p:txBody>
      </p:sp>
      <p:sp>
        <p:nvSpPr>
          <p:cNvPr id="8" name="Shape 6">
            <a:extLst xmlns:a="http://schemas.openxmlformats.org/drawingml/2006/main">
              <a:ext uri="{FF2B5EF4-FFF2-40B4-BE49-F238E27FC236}">
                <a16:creationId xmlns:a16="http://schemas.microsoft.com/office/drawing/2014/main" id="{FC026633-3F74-4DDE-9188-D03B86CAAFAB}"/>
              </a:ext>
            </a:extLst>
          </p:cNvPr>
          <p:cNvSpPr>
            <a:spLocks xmlns:a="http://schemas.openxmlformats.org/drawingml/2006/main" noGrp="1"/>
          </p:cNvSpPr>
          <p:nvPr/>
        </p:nvSpPr>
        <p:spPr>
          <a:xfrm xmlns:a="http://schemas.openxmlformats.org/drawingml/2006/main">
            <a:off x="594360" y="2423160"/>
            <a:ext cx="1444752" cy="969264"/>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12700">
            <a:solidFill>
              <a:srgbClr val="1E5AA8"/>
            </a:solidFill>
            <a:prstDash val="solid"/>
          </a:ln>
        </p:spPr>
      </p:sp>
      <p:sp>
        <p:nvSpPr>
          <p:cNvPr id="9" name="Text 7">
            <a:extLst xmlns:a="http://schemas.openxmlformats.org/drawingml/2006/main">
              <a:ext uri="{FF2B5EF4-FFF2-40B4-BE49-F238E27FC236}">
                <a16:creationId xmlns:a16="http://schemas.microsoft.com/office/drawing/2014/main" id="{1F89A958-703C-444C-AD6C-21929559DD46}"/>
              </a:ext>
            </a:extLst>
          </p:cNvPr>
          <p:cNvSpPr>
            <a:spLocks xmlns:a="http://schemas.openxmlformats.org/drawingml/2006/main" noGrp="1"/>
          </p:cNvSpPr>
          <p:nvPr/>
        </p:nvSpPr>
        <p:spPr>
          <a:xfrm xmlns:a="http://schemas.openxmlformats.org/drawingml/2006/main">
            <a:off x="649224" y="2459736"/>
            <a:ext cx="1335024" cy="896112"/>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1280">
                <a:solidFill>
                  <a:srgbClr val="1D2A3A"/>
                </a:solidFill>
                <a:latin typeface="Noto Sans CJK SC"/>
                <a:ea typeface="Noto Sans CJK SC"/>
                <a:cs typeface="Noto Sans CJK SC"/>
              </a:rPr>
              <a:t>SEED/ExtractedFeatures_1s</a:t>
            </a:r>
          </a:p>
        </p:txBody>
      </p:sp>
      <p:sp>
        <p:nvSpPr>
          <p:cNvPr id="10" name="Shape 8">
            <a:extLst xmlns:a="http://schemas.openxmlformats.org/drawingml/2006/main">
              <a:ext uri="{FF2B5EF4-FFF2-40B4-BE49-F238E27FC236}">
                <a16:creationId xmlns:a16="http://schemas.microsoft.com/office/drawing/2014/main" id="{523040A9-E86E-4C89-9D84-02A84C51D948}"/>
              </a:ext>
            </a:extLst>
          </p:cNvPr>
          <p:cNvSpPr>
            <a:spLocks xmlns:a="http://schemas.openxmlformats.org/drawingml/2006/main" noGrp="1"/>
          </p:cNvSpPr>
          <p:nvPr/>
        </p:nvSpPr>
        <p:spPr>
          <a:xfrm xmlns:a="http://schemas.openxmlformats.org/drawingml/2006/main">
            <a:off x="2084832" y="2834640"/>
            <a:ext cx="283464" cy="0"/>
          </a:xfrm>
          <a:prstGeom xmlns:a="http://schemas.openxmlformats.org/drawingml/2006/main" prst="line">
            <a:avLst/>
          </a:prstGeom>
          <a:noFill xmlns:a="http://schemas.openxmlformats.org/drawingml/2006/main"/>
          <a:ln xmlns:a="http://schemas.openxmlformats.org/drawingml/2006/main" w="13970">
            <a:solidFill>
              <a:srgbClr val="9BB3CF"/>
            </a:solidFill>
            <a:prstDash val="solid"/>
          </a:ln>
        </p:spPr>
      </p:sp>
      <p:sp>
        <p:nvSpPr>
          <p:cNvPr id="11" name="Shape 9">
            <a:extLst xmlns:a="http://schemas.openxmlformats.org/drawingml/2006/main">
              <a:ext uri="{FF2B5EF4-FFF2-40B4-BE49-F238E27FC236}">
                <a16:creationId xmlns:a16="http://schemas.microsoft.com/office/drawing/2014/main" id="{A6E38ED8-8097-4208-B485-6C7C3439EB48}"/>
              </a:ext>
            </a:extLst>
          </p:cNvPr>
          <p:cNvSpPr>
            <a:spLocks xmlns:a="http://schemas.openxmlformats.org/drawingml/2006/main" noGrp="1"/>
          </p:cNvSpPr>
          <p:nvPr/>
        </p:nvSpPr>
        <p:spPr>
          <a:xfrm xmlns:a="http://schemas.openxmlformats.org/drawingml/2006/main">
            <a:off x="2441448" y="1828800"/>
            <a:ext cx="1444752" cy="438912"/>
          </a:xfrm>
          <a:prstGeom xmlns:a="http://schemas.openxmlformats.org/drawingml/2006/main" prst="roundRect">
            <a:avLst>
              <a:gd name="adj" fmla="val 25000"/>
            </a:avLst>
          </a:prstGeom>
          <a:solidFill xmlns:a="http://schemas.openxmlformats.org/drawingml/2006/main">
            <a:srgbClr val="1E5AA8"/>
          </a:solidFill>
          <a:ln xmlns:a="http://schemas.openxmlformats.org/drawingml/2006/main" w="12700">
            <a:solidFill>
              <a:srgbClr val="1E5AA8"/>
            </a:solidFill>
            <a:prstDash val="solid"/>
          </a:ln>
        </p:spPr>
      </p:sp>
      <p:sp>
        <p:nvSpPr>
          <p:cNvPr id="12" name="Text 10">
            <a:extLst xmlns:a="http://schemas.openxmlformats.org/drawingml/2006/main">
              <a:ext uri="{FF2B5EF4-FFF2-40B4-BE49-F238E27FC236}">
                <a16:creationId xmlns:a16="http://schemas.microsoft.com/office/drawing/2014/main" id="{2BEB5352-5009-45DB-8906-B370D6C448AD}"/>
              </a:ext>
            </a:extLst>
          </p:cNvPr>
          <p:cNvSpPr>
            <a:spLocks xmlns:a="http://schemas.openxmlformats.org/drawingml/2006/main" noGrp="1"/>
          </p:cNvSpPr>
          <p:nvPr/>
        </p:nvSpPr>
        <p:spPr>
          <a:xfrm xmlns:a="http://schemas.openxmlformats.org/drawingml/2006/main">
            <a:off x="2514600" y="1856232"/>
            <a:ext cx="1298448" cy="384048"/>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0" indent="0" algn="ctr">
              <a:buNone/>
            </a:pPr>
            <a:r>
              <a:rPr sz="1600" b="1">
                <a:solidFill>
                  <a:srgbClr val="FFFFFF"/>
                </a:solidFill>
                <a:latin typeface="Noto Sans CJK SC"/>
                <a:ea typeface="Noto Sans CJK SC"/>
                <a:cs typeface="Noto Sans CJK SC"/>
              </a:rPr>
              <a:t>提取 de_LDS</a:t>
            </a:r>
          </a:p>
        </p:txBody>
      </p:sp>
      <p:sp>
        <p:nvSpPr>
          <p:cNvPr id="13" name="Shape 11">
            <a:extLst xmlns:a="http://schemas.openxmlformats.org/drawingml/2006/main">
              <a:ext uri="{FF2B5EF4-FFF2-40B4-BE49-F238E27FC236}">
                <a16:creationId xmlns:a16="http://schemas.microsoft.com/office/drawing/2014/main" id="{73D444C5-B09A-48E9-BFB6-31D7C0AF6981}"/>
              </a:ext>
            </a:extLst>
          </p:cNvPr>
          <p:cNvSpPr>
            <a:spLocks xmlns:a="http://schemas.openxmlformats.org/drawingml/2006/main" noGrp="1"/>
          </p:cNvSpPr>
          <p:nvPr/>
        </p:nvSpPr>
        <p:spPr>
          <a:xfrm xmlns:a="http://schemas.openxmlformats.org/drawingml/2006/main">
            <a:off x="2441448" y="2423160"/>
            <a:ext cx="1444752" cy="969264"/>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12700">
            <a:solidFill>
              <a:srgbClr val="1E5AA8"/>
            </a:solidFill>
            <a:prstDash val="solid"/>
          </a:ln>
        </p:spPr>
      </p:sp>
      <p:sp>
        <p:nvSpPr>
          <p:cNvPr id="14" name="Text 12">
            <a:extLst xmlns:a="http://schemas.openxmlformats.org/drawingml/2006/main">
              <a:ext uri="{FF2B5EF4-FFF2-40B4-BE49-F238E27FC236}">
                <a16:creationId xmlns:a16="http://schemas.microsoft.com/office/drawing/2014/main" id="{E8923CD3-E572-4599-B26A-7FF0E20BE133}"/>
              </a:ext>
            </a:extLst>
          </p:cNvPr>
          <p:cNvSpPr>
            <a:spLocks xmlns:a="http://schemas.openxmlformats.org/drawingml/2006/main" noGrp="1"/>
          </p:cNvSpPr>
          <p:nvPr/>
        </p:nvSpPr>
        <p:spPr>
          <a:xfrm xmlns:a="http://schemas.openxmlformats.org/drawingml/2006/main">
            <a:off x="2496312" y="2459736"/>
            <a:ext cx="1335024" cy="896112"/>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1280">
                <a:solidFill>
                  <a:srgbClr val="1D2A3A"/>
                </a:solidFill>
                <a:latin typeface="Noto Sans CJK SC"/>
                <a:ea typeface="Noto Sans CJK SC"/>
                <a:cs typeface="Noto Sans CJK SC"/>
              </a:rPr>
              <a:t>每个 trial 的差分熵 + LDS 平滑特征</a:t>
            </a:r>
          </a:p>
        </p:txBody>
      </p:sp>
      <p:sp>
        <p:nvSpPr>
          <p:cNvPr id="15" name="Shape 13">
            <a:extLst xmlns:a="http://schemas.openxmlformats.org/drawingml/2006/main">
              <a:ext uri="{FF2B5EF4-FFF2-40B4-BE49-F238E27FC236}">
                <a16:creationId xmlns:a16="http://schemas.microsoft.com/office/drawing/2014/main" id="{BD86E709-269E-491F-8889-9DE8E6D6FC14}"/>
              </a:ext>
            </a:extLst>
          </p:cNvPr>
          <p:cNvSpPr>
            <a:spLocks xmlns:a="http://schemas.openxmlformats.org/drawingml/2006/main" noGrp="1"/>
          </p:cNvSpPr>
          <p:nvPr/>
        </p:nvSpPr>
        <p:spPr>
          <a:xfrm xmlns:a="http://schemas.openxmlformats.org/drawingml/2006/main">
            <a:off x="3931920" y="2834640"/>
            <a:ext cx="283464" cy="0"/>
          </a:xfrm>
          <a:prstGeom xmlns:a="http://schemas.openxmlformats.org/drawingml/2006/main" prst="line">
            <a:avLst/>
          </a:prstGeom>
          <a:noFill xmlns:a="http://schemas.openxmlformats.org/drawingml/2006/main"/>
          <a:ln xmlns:a="http://schemas.openxmlformats.org/drawingml/2006/main" w="13970">
            <a:solidFill>
              <a:srgbClr val="9BB3CF"/>
            </a:solidFill>
            <a:prstDash val="solid"/>
          </a:ln>
        </p:spPr>
      </p:sp>
      <p:sp>
        <p:nvSpPr>
          <p:cNvPr id="16" name="Shape 14">
            <a:extLst xmlns:a="http://schemas.openxmlformats.org/drawingml/2006/main">
              <a:ext uri="{FF2B5EF4-FFF2-40B4-BE49-F238E27FC236}">
                <a16:creationId xmlns:a16="http://schemas.microsoft.com/office/drawing/2014/main" id="{9CE93AF2-D2CD-446D-A5FF-53B6D360E2C8}"/>
              </a:ext>
            </a:extLst>
          </p:cNvPr>
          <p:cNvSpPr>
            <a:spLocks xmlns:a="http://schemas.openxmlformats.org/drawingml/2006/main" noGrp="1"/>
          </p:cNvSpPr>
          <p:nvPr/>
        </p:nvSpPr>
        <p:spPr>
          <a:xfrm xmlns:a="http://schemas.openxmlformats.org/drawingml/2006/main">
            <a:off x="4288536" y="1828800"/>
            <a:ext cx="1444752" cy="438912"/>
          </a:xfrm>
          <a:prstGeom xmlns:a="http://schemas.openxmlformats.org/drawingml/2006/main" prst="roundRect">
            <a:avLst>
              <a:gd name="adj" fmla="val 25000"/>
            </a:avLst>
          </a:prstGeom>
          <a:solidFill xmlns:a="http://schemas.openxmlformats.org/drawingml/2006/main">
            <a:srgbClr val="27C7CF"/>
          </a:solidFill>
          <a:ln xmlns:a="http://schemas.openxmlformats.org/drawingml/2006/main" w="12700">
            <a:solidFill>
              <a:srgbClr val="27C7CF"/>
            </a:solidFill>
            <a:prstDash val="solid"/>
          </a:ln>
        </p:spPr>
      </p:sp>
      <p:sp>
        <p:nvSpPr>
          <p:cNvPr id="17" name="Text 15">
            <a:extLst xmlns:a="http://schemas.openxmlformats.org/drawingml/2006/main">
              <a:ext uri="{FF2B5EF4-FFF2-40B4-BE49-F238E27FC236}">
                <a16:creationId xmlns:a16="http://schemas.microsoft.com/office/drawing/2014/main" id="{7FE1F244-A802-45A3-A1A0-D743A5AB7A05}"/>
              </a:ext>
            </a:extLst>
          </p:cNvPr>
          <p:cNvSpPr>
            <a:spLocks xmlns:a="http://schemas.openxmlformats.org/drawingml/2006/main" noGrp="1"/>
          </p:cNvSpPr>
          <p:nvPr/>
        </p:nvSpPr>
        <p:spPr>
          <a:xfrm xmlns:a="http://schemas.openxmlformats.org/drawingml/2006/main">
            <a:off x="4361688" y="1856232"/>
            <a:ext cx="1298448" cy="384048"/>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0" indent="0" algn="ctr">
              <a:buNone/>
            </a:pPr>
            <a:r>
              <a:rPr sz="1600" b="1">
                <a:solidFill>
                  <a:srgbClr val="FFFFFF"/>
                </a:solidFill>
                <a:latin typeface="Noto Sans CJK SC"/>
                <a:ea typeface="Noto Sans CJK SC"/>
                <a:cs typeface="Noto Sans CJK SC"/>
              </a:rPr>
              <a:t>滑动窗口</a:t>
            </a:r>
          </a:p>
        </p:txBody>
      </p:sp>
      <p:sp>
        <p:nvSpPr>
          <p:cNvPr id="5" name="Shape 16">
            <a:extLst xmlns:a="http://schemas.openxmlformats.org/drawingml/2006/main">
              <a:ext uri="{FF2B5EF4-FFF2-40B4-BE49-F238E27FC236}">
                <a16:creationId xmlns:a16="http://schemas.microsoft.com/office/drawing/2014/main" id="{C83F7C66-9931-48B7-A6E5-526FEB21F1AE}"/>
              </a:ext>
            </a:extLst>
          </p:cNvPr>
          <p:cNvSpPr>
            <a:spLocks xmlns:a="http://schemas.openxmlformats.org/drawingml/2006/main" noGrp="1"/>
          </p:cNvSpPr>
          <p:nvPr/>
        </p:nvSpPr>
        <p:spPr>
          <a:xfrm xmlns:a="http://schemas.openxmlformats.org/drawingml/2006/main">
            <a:off x="4288536" y="2423160"/>
            <a:ext cx="1444752" cy="969264"/>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12700">
            <a:solidFill>
              <a:srgbClr val="27C7CF"/>
            </a:solidFill>
            <a:prstDash val="solid"/>
          </a:ln>
        </p:spPr>
      </p:sp>
      <p:sp>
        <p:nvSpPr>
          <p:cNvPr id="19" name="Text 17">
            <a:extLst xmlns:a="http://schemas.openxmlformats.org/drawingml/2006/main">
              <a:ext uri="{FF2B5EF4-FFF2-40B4-BE49-F238E27FC236}">
                <a16:creationId xmlns:a16="http://schemas.microsoft.com/office/drawing/2014/main" id="{817D9BA8-A882-4915-B944-0F1231A18AFE}"/>
              </a:ext>
            </a:extLst>
          </p:cNvPr>
          <p:cNvSpPr>
            <a:spLocks xmlns:a="http://schemas.openxmlformats.org/drawingml/2006/main" noGrp="1"/>
          </p:cNvSpPr>
          <p:nvPr/>
        </p:nvSpPr>
        <p:spPr>
          <a:xfrm xmlns:a="http://schemas.openxmlformats.org/drawingml/2006/main">
            <a:off x="4343400" y="2459736"/>
            <a:ext cx="1335024" cy="896112"/>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1280">
                <a:solidFill>
                  <a:srgbClr val="1D2A3A"/>
                </a:solidFill>
                <a:latin typeface="Noto Sans CJK SC"/>
                <a:ea typeface="Noto Sans CJK SC"/>
                <a:cs typeface="Noto Sans CJK SC"/>
              </a:rPr>
              <a:t>W=4，S=4</a:t>
            </a:r>
          </a:p>
          <a:p xmlns:a="http://schemas.openxmlformats.org/drawingml/2006/main">
            <a:pPr marL="0" indent="0" algn="ctr">
              <a:buNone/>
            </a:pPr>
            <a:r>
              <a:rPr sz="1280">
                <a:solidFill>
                  <a:srgbClr val="1D2A3A"/>
                </a:solidFill>
                <a:latin typeface="Noto Sans CJK SC"/>
                <a:ea typeface="Noto Sans CJK SC"/>
                <a:cs typeface="Noto Sans CJK SC"/>
              </a:rPr>
              <a:t>连续 4 秒拼接</a:t>
            </a:r>
          </a:p>
        </p:txBody>
      </p:sp>
      <p:sp>
        <p:nvSpPr>
          <p:cNvPr id="20" name="Shape 18">
            <a:extLst xmlns:a="http://schemas.openxmlformats.org/drawingml/2006/main">
              <a:ext uri="{FF2B5EF4-FFF2-40B4-BE49-F238E27FC236}">
                <a16:creationId xmlns:a16="http://schemas.microsoft.com/office/drawing/2014/main" id="{8140CEFA-5D20-4446-82D7-35E7FF6505B1}"/>
              </a:ext>
            </a:extLst>
          </p:cNvPr>
          <p:cNvSpPr>
            <a:spLocks xmlns:a="http://schemas.openxmlformats.org/drawingml/2006/main" noGrp="1"/>
          </p:cNvSpPr>
          <p:nvPr/>
        </p:nvSpPr>
        <p:spPr>
          <a:xfrm xmlns:a="http://schemas.openxmlformats.org/drawingml/2006/main">
            <a:off x="5779008" y="2834640"/>
            <a:ext cx="283464" cy="0"/>
          </a:xfrm>
          <a:prstGeom xmlns:a="http://schemas.openxmlformats.org/drawingml/2006/main" prst="line">
            <a:avLst/>
          </a:prstGeom>
          <a:noFill xmlns:a="http://schemas.openxmlformats.org/drawingml/2006/main"/>
          <a:ln xmlns:a="http://schemas.openxmlformats.org/drawingml/2006/main" w="13970">
            <a:solidFill>
              <a:srgbClr val="9BB3CF"/>
            </a:solidFill>
            <a:prstDash val="solid"/>
          </a:ln>
        </p:spPr>
      </p:sp>
      <p:sp>
        <p:nvSpPr>
          <p:cNvPr id="21" name="Shape 19">
            <a:extLst xmlns:a="http://schemas.openxmlformats.org/drawingml/2006/main">
              <a:ext uri="{FF2B5EF4-FFF2-40B4-BE49-F238E27FC236}">
                <a16:creationId xmlns:a16="http://schemas.microsoft.com/office/drawing/2014/main" id="{9E9A332E-2CC5-4028-8984-436EE4AA7401}"/>
              </a:ext>
            </a:extLst>
          </p:cNvPr>
          <p:cNvSpPr>
            <a:spLocks xmlns:a="http://schemas.openxmlformats.org/drawingml/2006/main" noGrp="1"/>
          </p:cNvSpPr>
          <p:nvPr/>
        </p:nvSpPr>
        <p:spPr>
          <a:xfrm xmlns:a="http://schemas.openxmlformats.org/drawingml/2006/main">
            <a:off x="6135624" y="1828800"/>
            <a:ext cx="1444752" cy="438912"/>
          </a:xfrm>
          <a:prstGeom xmlns:a="http://schemas.openxmlformats.org/drawingml/2006/main" prst="roundRect">
            <a:avLst>
              <a:gd name="adj" fmla="val 25000"/>
            </a:avLst>
          </a:prstGeom>
          <a:solidFill xmlns:a="http://schemas.openxmlformats.org/drawingml/2006/main">
            <a:srgbClr val="27C7CF"/>
          </a:solidFill>
          <a:ln xmlns:a="http://schemas.openxmlformats.org/drawingml/2006/main" w="12700">
            <a:solidFill>
              <a:srgbClr val="27C7CF"/>
            </a:solidFill>
            <a:prstDash val="solid"/>
          </a:ln>
        </p:spPr>
      </p:sp>
      <p:sp>
        <p:nvSpPr>
          <p:cNvPr id="22" name="Text 20">
            <a:extLst xmlns:a="http://schemas.openxmlformats.org/drawingml/2006/main">
              <a:ext uri="{FF2B5EF4-FFF2-40B4-BE49-F238E27FC236}">
                <a16:creationId xmlns:a16="http://schemas.microsoft.com/office/drawing/2014/main" id="{88A29C00-BDB5-46CC-8C90-44F988A6A597}"/>
              </a:ext>
            </a:extLst>
          </p:cNvPr>
          <p:cNvSpPr>
            <a:spLocks xmlns:a="http://schemas.openxmlformats.org/drawingml/2006/main" noGrp="1"/>
          </p:cNvSpPr>
          <p:nvPr/>
        </p:nvSpPr>
        <p:spPr>
          <a:xfrm xmlns:a="http://schemas.openxmlformats.org/drawingml/2006/main">
            <a:off x="6208776" y="1856232"/>
            <a:ext cx="1298448" cy="384048"/>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0" indent="0" algn="ctr">
              <a:buNone/>
            </a:pPr>
            <a:r>
              <a:rPr sz="1600" b="1">
                <a:solidFill>
                  <a:srgbClr val="FFFFFF"/>
                </a:solidFill>
                <a:latin typeface="Noto Sans CJK SC"/>
                <a:ea typeface="Noto Sans CJK SC"/>
                <a:cs typeface="Noto Sans CJK SC"/>
              </a:rPr>
              <a:t>样本形状</a:t>
            </a:r>
          </a:p>
        </p:txBody>
      </p:sp>
      <p:sp>
        <p:nvSpPr>
          <p:cNvPr id="23" name="Shape 21">
            <a:extLst xmlns:a="http://schemas.openxmlformats.org/drawingml/2006/main">
              <a:ext uri="{FF2B5EF4-FFF2-40B4-BE49-F238E27FC236}">
                <a16:creationId xmlns:a16="http://schemas.microsoft.com/office/drawing/2014/main" id="{2B55F619-EA25-4379-9DAD-7D1BD0BE614D}"/>
              </a:ext>
            </a:extLst>
          </p:cNvPr>
          <p:cNvSpPr>
            <a:spLocks xmlns:a="http://schemas.openxmlformats.org/drawingml/2006/main" noGrp="1"/>
          </p:cNvSpPr>
          <p:nvPr/>
        </p:nvSpPr>
        <p:spPr>
          <a:xfrm xmlns:a="http://schemas.openxmlformats.org/drawingml/2006/main">
            <a:off x="6135624" y="2423160"/>
            <a:ext cx="1444752" cy="969264"/>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12700">
            <a:solidFill>
              <a:srgbClr val="27C7CF"/>
            </a:solidFill>
            <a:prstDash val="solid"/>
          </a:ln>
        </p:spPr>
      </p:sp>
      <p:sp>
        <p:nvSpPr>
          <p:cNvPr id="24" name="Text 22">
            <a:extLst xmlns:a="http://schemas.openxmlformats.org/drawingml/2006/main">
              <a:ext uri="{FF2B5EF4-FFF2-40B4-BE49-F238E27FC236}">
                <a16:creationId xmlns:a16="http://schemas.microsoft.com/office/drawing/2014/main" id="{5BBE0262-C36D-421A-AADB-DE753DF65C6D}"/>
              </a:ext>
            </a:extLst>
          </p:cNvPr>
          <p:cNvSpPr>
            <a:spLocks xmlns:a="http://schemas.openxmlformats.org/drawingml/2006/main" noGrp="1"/>
          </p:cNvSpPr>
          <p:nvPr/>
        </p:nvSpPr>
        <p:spPr>
          <a:xfrm xmlns:a="http://schemas.openxmlformats.org/drawingml/2006/main">
            <a:off x="6190488" y="2459736"/>
            <a:ext cx="1335024" cy="896112"/>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1280">
                <a:solidFill>
                  <a:srgbClr val="1D2A3A"/>
                </a:solidFill>
                <a:latin typeface="Noto Sans CJK SC"/>
                <a:ea typeface="Noto Sans CJK SC"/>
                <a:cs typeface="Noto Sans CJK SC"/>
              </a:rPr>
              <a:t>62 × 20</a:t>
            </a:r>
          </a:p>
          <a:p xmlns:a="http://schemas.openxmlformats.org/drawingml/2006/main">
            <a:pPr marL="0" indent="0" algn="ctr">
              <a:buNone/>
            </a:pPr>
            <a:r>
              <a:rPr sz="1280">
                <a:solidFill>
                  <a:srgbClr val="1D2A3A"/>
                </a:solidFill>
                <a:latin typeface="Noto Sans CJK SC"/>
                <a:ea typeface="Noto Sans CJK SC"/>
                <a:cs typeface="Noto Sans CJK SC"/>
              </a:rPr>
              <a:t>62 通道 × 4s × 5 频带</a:t>
            </a:r>
          </a:p>
        </p:txBody>
      </p:sp>
      <p:sp>
        <p:nvSpPr>
          <p:cNvPr id="25" name="Shape 23">
            <a:extLst xmlns:a="http://schemas.openxmlformats.org/drawingml/2006/main">
              <a:ext uri="{FF2B5EF4-FFF2-40B4-BE49-F238E27FC236}">
                <a16:creationId xmlns:a16="http://schemas.microsoft.com/office/drawing/2014/main" id="{73BB9A66-7DD1-4EA4-8C28-7F80E98837B0}"/>
              </a:ext>
            </a:extLst>
          </p:cNvPr>
          <p:cNvSpPr>
            <a:spLocks xmlns:a="http://schemas.openxmlformats.org/drawingml/2006/main" noGrp="1"/>
          </p:cNvSpPr>
          <p:nvPr/>
        </p:nvSpPr>
        <p:spPr>
          <a:xfrm xmlns:a="http://schemas.openxmlformats.org/drawingml/2006/main">
            <a:off x="7626096" y="2834640"/>
            <a:ext cx="283464" cy="0"/>
          </a:xfrm>
          <a:prstGeom xmlns:a="http://schemas.openxmlformats.org/drawingml/2006/main" prst="line">
            <a:avLst/>
          </a:prstGeom>
          <a:noFill xmlns:a="http://schemas.openxmlformats.org/drawingml/2006/main"/>
          <a:ln xmlns:a="http://schemas.openxmlformats.org/drawingml/2006/main" w="13970">
            <a:solidFill>
              <a:srgbClr val="9BB3CF"/>
            </a:solidFill>
            <a:prstDash val="solid"/>
          </a:ln>
        </p:spPr>
      </p:sp>
      <p:sp>
        <p:nvSpPr>
          <p:cNvPr id="26" name="Shape 24">
            <a:extLst xmlns:a="http://schemas.openxmlformats.org/drawingml/2006/main">
              <a:ext uri="{FF2B5EF4-FFF2-40B4-BE49-F238E27FC236}">
                <a16:creationId xmlns:a16="http://schemas.microsoft.com/office/drawing/2014/main" id="{FEDC8CE9-8CA8-435E-A9F8-507910901DF6}"/>
              </a:ext>
            </a:extLst>
          </p:cNvPr>
          <p:cNvSpPr>
            <a:spLocks xmlns:a="http://schemas.openxmlformats.org/drawingml/2006/main" noGrp="1"/>
          </p:cNvSpPr>
          <p:nvPr/>
        </p:nvSpPr>
        <p:spPr>
          <a:xfrm xmlns:a="http://schemas.openxmlformats.org/drawingml/2006/main">
            <a:off x="7982712" y="1828800"/>
            <a:ext cx="1444752" cy="438912"/>
          </a:xfrm>
          <a:prstGeom xmlns:a="http://schemas.openxmlformats.org/drawingml/2006/main" prst="roundRect">
            <a:avLst>
              <a:gd name="adj" fmla="val 25000"/>
            </a:avLst>
          </a:prstGeom>
          <a:solidFill xmlns:a="http://schemas.openxmlformats.org/drawingml/2006/main">
            <a:srgbClr val="47B881"/>
          </a:solidFill>
          <a:ln xmlns:a="http://schemas.openxmlformats.org/drawingml/2006/main" w="12700">
            <a:solidFill>
              <a:srgbClr val="47B881"/>
            </a:solidFill>
            <a:prstDash val="solid"/>
          </a:ln>
        </p:spPr>
      </p:sp>
      <p:sp>
        <p:nvSpPr>
          <p:cNvPr id="27" name="Text 25">
            <a:extLst xmlns:a="http://schemas.openxmlformats.org/drawingml/2006/main">
              <a:ext uri="{FF2B5EF4-FFF2-40B4-BE49-F238E27FC236}">
                <a16:creationId xmlns:a16="http://schemas.microsoft.com/office/drawing/2014/main" id="{39B9C639-2919-4AF0-BDE6-E9BA09FBFBA5}"/>
              </a:ext>
            </a:extLst>
          </p:cNvPr>
          <p:cNvSpPr>
            <a:spLocks xmlns:a="http://schemas.openxmlformats.org/drawingml/2006/main" noGrp="1"/>
          </p:cNvSpPr>
          <p:nvPr/>
        </p:nvSpPr>
        <p:spPr>
          <a:xfrm xmlns:a="http://schemas.openxmlformats.org/drawingml/2006/main">
            <a:off x="8055864" y="1856232"/>
            <a:ext cx="1298448" cy="384048"/>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0" indent="0" algn="ctr">
              <a:buNone/>
            </a:pPr>
            <a:r>
              <a:rPr sz="1600" b="1">
                <a:solidFill>
                  <a:srgbClr val="FFFFFF"/>
                </a:solidFill>
                <a:latin typeface="Noto Sans CJK SC"/>
                <a:ea typeface="Noto Sans CJK SC"/>
                <a:cs typeface="Noto Sans CJK SC"/>
              </a:rPr>
              <a:t>标签映射</a:t>
            </a:r>
          </a:p>
        </p:txBody>
      </p:sp>
      <p:sp>
        <p:nvSpPr>
          <p:cNvPr id="28" name="Shape 26">
            <a:extLst xmlns:a="http://schemas.openxmlformats.org/drawingml/2006/main">
              <a:ext uri="{FF2B5EF4-FFF2-40B4-BE49-F238E27FC236}">
                <a16:creationId xmlns:a16="http://schemas.microsoft.com/office/drawing/2014/main" id="{1935BADF-A237-4EDD-AD7F-DCC27F72CD2F}"/>
              </a:ext>
            </a:extLst>
          </p:cNvPr>
          <p:cNvSpPr>
            <a:spLocks xmlns:a="http://schemas.openxmlformats.org/drawingml/2006/main" noGrp="1"/>
          </p:cNvSpPr>
          <p:nvPr/>
        </p:nvSpPr>
        <p:spPr>
          <a:xfrm xmlns:a="http://schemas.openxmlformats.org/drawingml/2006/main">
            <a:off x="7982712" y="2423160"/>
            <a:ext cx="1444752" cy="969264"/>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12700">
            <a:solidFill>
              <a:srgbClr val="47B881"/>
            </a:solidFill>
            <a:prstDash val="solid"/>
          </a:ln>
        </p:spPr>
      </p:sp>
      <p:sp>
        <p:nvSpPr>
          <p:cNvPr id="29" name="Text 27">
            <a:extLst xmlns:a="http://schemas.openxmlformats.org/drawingml/2006/main">
              <a:ext uri="{FF2B5EF4-FFF2-40B4-BE49-F238E27FC236}">
                <a16:creationId xmlns:a16="http://schemas.microsoft.com/office/drawing/2014/main" id="{347A0478-5F91-4F88-B591-467115996D26}"/>
              </a:ext>
            </a:extLst>
          </p:cNvPr>
          <p:cNvSpPr>
            <a:spLocks xmlns:a="http://schemas.openxmlformats.org/drawingml/2006/main" noGrp="1"/>
          </p:cNvSpPr>
          <p:nvPr/>
        </p:nvSpPr>
        <p:spPr>
          <a:xfrm xmlns:a="http://schemas.openxmlformats.org/drawingml/2006/main">
            <a:off x="8037576" y="2459736"/>
            <a:ext cx="1335024" cy="896112"/>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1280">
                <a:solidFill>
                  <a:srgbClr val="1D2A3A"/>
                </a:solidFill>
                <a:latin typeface="Noto Sans CJK SC"/>
                <a:ea typeface="Noto Sans CJK SC"/>
                <a:cs typeface="Noto Sans CJK SC"/>
              </a:rPr>
              <a:t>-1 / 0 / 1</a:t>
            </a:r>
          </a:p>
          <a:p xmlns:a="http://schemas.openxmlformats.org/drawingml/2006/main">
            <a:pPr marL="0" indent="0" algn="ctr">
              <a:buNone/>
            </a:pPr>
            <a:r>
              <a:rPr sz="1280">
                <a:solidFill>
                  <a:srgbClr val="1D2A3A"/>
                </a:solidFill>
                <a:latin typeface="Noto Sans CJK SC"/>
                <a:ea typeface="Noto Sans CJK SC"/>
                <a:cs typeface="Noto Sans CJK SC"/>
              </a:rPr>
              <a:t>映射为 0 / 1 / 2</a:t>
            </a:r>
          </a:p>
        </p:txBody>
      </p:sp>
      <p:sp>
        <p:nvSpPr>
          <p:cNvPr id="30" name="Shape 28">
            <a:extLst xmlns:a="http://schemas.openxmlformats.org/drawingml/2006/main">
              <a:ext uri="{FF2B5EF4-FFF2-40B4-BE49-F238E27FC236}">
                <a16:creationId xmlns:a16="http://schemas.microsoft.com/office/drawing/2014/main" id="{48FE6723-2E83-4CE8-AEB9-2AFAC7AE8A99}"/>
              </a:ext>
            </a:extLst>
          </p:cNvPr>
          <p:cNvSpPr>
            <a:spLocks xmlns:a="http://schemas.openxmlformats.org/drawingml/2006/main" noGrp="1"/>
          </p:cNvSpPr>
          <p:nvPr/>
        </p:nvSpPr>
        <p:spPr>
          <a:xfrm xmlns:a="http://schemas.openxmlformats.org/drawingml/2006/main">
            <a:off x="9473184" y="2834640"/>
            <a:ext cx="283464" cy="0"/>
          </a:xfrm>
          <a:prstGeom xmlns:a="http://schemas.openxmlformats.org/drawingml/2006/main" prst="line">
            <a:avLst/>
          </a:prstGeom>
          <a:noFill xmlns:a="http://schemas.openxmlformats.org/drawingml/2006/main"/>
          <a:ln xmlns:a="http://schemas.openxmlformats.org/drawingml/2006/main" w="13970">
            <a:solidFill>
              <a:srgbClr val="9BB3CF"/>
            </a:solidFill>
            <a:prstDash val="solid"/>
          </a:ln>
        </p:spPr>
      </p:sp>
      <p:sp>
        <p:nvSpPr>
          <p:cNvPr id="31" name="Shape 29">
            <a:extLst xmlns:a="http://schemas.openxmlformats.org/drawingml/2006/main">
              <a:ext uri="{FF2B5EF4-FFF2-40B4-BE49-F238E27FC236}">
                <a16:creationId xmlns:a16="http://schemas.microsoft.com/office/drawing/2014/main" id="{2787716B-212F-4885-A109-306A0528AB0A}"/>
              </a:ext>
            </a:extLst>
          </p:cNvPr>
          <p:cNvSpPr>
            <a:spLocks xmlns:a="http://schemas.openxmlformats.org/drawingml/2006/main" noGrp="1"/>
          </p:cNvSpPr>
          <p:nvPr/>
        </p:nvSpPr>
        <p:spPr>
          <a:xfrm xmlns:a="http://schemas.openxmlformats.org/drawingml/2006/main">
            <a:off x="9829800" y="1828800"/>
            <a:ext cx="1444752" cy="438912"/>
          </a:xfrm>
          <a:prstGeom xmlns:a="http://schemas.openxmlformats.org/drawingml/2006/main" prst="roundRect">
            <a:avLst>
              <a:gd name="adj" fmla="val 25000"/>
            </a:avLst>
          </a:prstGeom>
          <a:solidFill xmlns:a="http://schemas.openxmlformats.org/drawingml/2006/main">
            <a:srgbClr val="47B881"/>
          </a:solidFill>
          <a:ln xmlns:a="http://schemas.openxmlformats.org/drawingml/2006/main" w="12700">
            <a:solidFill>
              <a:srgbClr val="47B881"/>
            </a:solidFill>
            <a:prstDash val="solid"/>
          </a:ln>
        </p:spPr>
      </p:sp>
      <p:sp>
        <p:nvSpPr>
          <p:cNvPr id="32" name="Text 30">
            <a:extLst xmlns:a="http://schemas.openxmlformats.org/drawingml/2006/main">
              <a:ext uri="{FF2B5EF4-FFF2-40B4-BE49-F238E27FC236}">
                <a16:creationId xmlns:a16="http://schemas.microsoft.com/office/drawing/2014/main" id="{4B9E7E91-3B33-4AC5-8EBF-F1CC6305F672}"/>
              </a:ext>
            </a:extLst>
          </p:cNvPr>
          <p:cNvSpPr>
            <a:spLocks xmlns:a="http://schemas.openxmlformats.org/drawingml/2006/main" noGrp="1"/>
          </p:cNvSpPr>
          <p:nvPr/>
        </p:nvSpPr>
        <p:spPr>
          <a:xfrm xmlns:a="http://schemas.openxmlformats.org/drawingml/2006/main">
            <a:off x="9902952" y="1856232"/>
            <a:ext cx="1298448" cy="384048"/>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0" indent="0" algn="ctr">
              <a:buNone/>
            </a:pPr>
            <a:r>
              <a:rPr sz="1600" b="1">
                <a:solidFill>
                  <a:srgbClr val="FFFFFF"/>
                </a:solidFill>
                <a:latin typeface="Noto Sans CJK SC"/>
                <a:ea typeface="Noto Sans CJK SC"/>
                <a:cs typeface="Noto Sans CJK SC"/>
              </a:rPr>
              <a:t>Trial 划分</a:t>
            </a:r>
          </a:p>
        </p:txBody>
      </p:sp>
      <p:sp>
        <p:nvSpPr>
          <p:cNvPr id="33" name="Shape 31">
            <a:extLst xmlns:a="http://schemas.openxmlformats.org/drawingml/2006/main">
              <a:ext uri="{FF2B5EF4-FFF2-40B4-BE49-F238E27FC236}">
                <a16:creationId xmlns:a16="http://schemas.microsoft.com/office/drawing/2014/main" id="{EFC4B289-53D5-4155-B7FA-387ED0CFA08D}"/>
              </a:ext>
            </a:extLst>
          </p:cNvPr>
          <p:cNvSpPr>
            <a:spLocks xmlns:a="http://schemas.openxmlformats.org/drawingml/2006/main" noGrp="1"/>
          </p:cNvSpPr>
          <p:nvPr/>
        </p:nvSpPr>
        <p:spPr>
          <a:xfrm xmlns:a="http://schemas.openxmlformats.org/drawingml/2006/main">
            <a:off x="9829800" y="2423160"/>
            <a:ext cx="1444752" cy="969264"/>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12700">
            <a:solidFill>
              <a:srgbClr val="47B881"/>
            </a:solidFill>
            <a:prstDash val="solid"/>
          </a:ln>
        </p:spPr>
      </p:sp>
      <p:sp>
        <p:nvSpPr>
          <p:cNvPr id="34" name="Text 32">
            <a:extLst xmlns:a="http://schemas.openxmlformats.org/drawingml/2006/main">
              <a:ext uri="{FF2B5EF4-FFF2-40B4-BE49-F238E27FC236}">
                <a16:creationId xmlns:a16="http://schemas.microsoft.com/office/drawing/2014/main" id="{49B9D79D-2F82-43C5-8DC5-48B344D9E026}"/>
              </a:ext>
            </a:extLst>
          </p:cNvPr>
          <p:cNvSpPr>
            <a:spLocks xmlns:a="http://schemas.openxmlformats.org/drawingml/2006/main" noGrp="1"/>
          </p:cNvSpPr>
          <p:nvPr/>
        </p:nvSpPr>
        <p:spPr>
          <a:xfrm xmlns:a="http://schemas.openxmlformats.org/drawingml/2006/main">
            <a:off x="9884664" y="2459736"/>
            <a:ext cx="1335024" cy="896112"/>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1280">
                <a:solidFill>
                  <a:srgbClr val="1D2A3A"/>
                </a:solidFill>
                <a:latin typeface="Noto Sans CJK SC"/>
                <a:ea typeface="Noto Sans CJK SC"/>
                <a:cs typeface="Noto Sans CJK SC"/>
              </a:rPr>
              <a:t>1–9 训练</a:t>
            </a:r>
          </a:p>
          <a:p xmlns:a="http://schemas.openxmlformats.org/drawingml/2006/main">
            <a:pPr marL="0" indent="0" algn="ctr">
              <a:buNone/>
            </a:pPr>
            <a:r>
              <a:rPr sz="1280">
                <a:solidFill>
                  <a:srgbClr val="1D2A3A"/>
                </a:solidFill>
                <a:latin typeface="Noto Sans CJK SC"/>
                <a:ea typeface="Noto Sans CJK SC"/>
                <a:cs typeface="Noto Sans CJK SC"/>
              </a:rPr>
              <a:t>10–15 测试</a:t>
            </a:r>
          </a:p>
        </p:txBody>
      </p:sp>
      <p:sp>
        <p:nvSpPr>
          <p:cNvPr id="35" name="Shape 33">
            <a:extLst xmlns:a="http://schemas.openxmlformats.org/drawingml/2006/main">
              <a:ext uri="{FF2B5EF4-FFF2-40B4-BE49-F238E27FC236}">
                <a16:creationId xmlns:a16="http://schemas.microsoft.com/office/drawing/2014/main" id="{7232C241-1AFF-4695-940A-53116F6B6B5C}"/>
              </a:ext>
            </a:extLst>
          </p:cNvPr>
          <p:cNvSpPr>
            <a:spLocks xmlns:a="http://schemas.openxmlformats.org/drawingml/2006/main" noGrp="1"/>
          </p:cNvSpPr>
          <p:nvPr/>
        </p:nvSpPr>
        <p:spPr>
          <a:xfrm xmlns:a="http://schemas.openxmlformats.org/drawingml/2006/main">
            <a:off x="648970" y="3886200"/>
            <a:ext cx="5303520" cy="173736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12700">
            <a:solidFill>
              <a:srgbClr val="D1DDEC"/>
            </a:solidFill>
            <a:prstDash val="solid"/>
          </a:ln>
        </p:spPr>
      </p:sp>
      <p:sp>
        <p:nvSpPr>
          <p:cNvPr id="36" name="Text 34">
            <a:extLst xmlns:a="http://schemas.openxmlformats.org/drawingml/2006/main">
              <a:ext uri="{FF2B5EF4-FFF2-40B4-BE49-F238E27FC236}">
                <a16:creationId xmlns:a16="http://schemas.microsoft.com/office/drawing/2014/main" id="{251C5E74-F237-4C08-AA04-3EFB63B337EF}"/>
              </a:ext>
            </a:extLst>
          </p:cNvPr>
          <p:cNvSpPr>
            <a:spLocks xmlns:a="http://schemas.openxmlformats.org/drawingml/2006/main" noGrp="1"/>
          </p:cNvSpPr>
          <p:nvPr/>
        </p:nvSpPr>
        <p:spPr>
          <a:xfrm xmlns:a="http://schemas.openxmlformats.org/drawingml/2006/main">
            <a:off x="914400" y="4069080"/>
            <a:ext cx="23774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13B7A"/>
                </a:solidFill>
                <a:latin typeface="Noto Sans CJK SC"/>
                <a:ea typeface="Noto Sans CJK SC"/>
                <a:cs typeface="Noto Sans CJK SC"/>
              </a:rPr>
              <a:t>样本张量组织</a:t>
            </a:r>
          </a:p>
        </p:txBody>
      </p:sp>
      <p:sp>
        <p:nvSpPr>
          <p:cNvPr id="37" name="Shape 35">
            <a:extLst xmlns:a="http://schemas.openxmlformats.org/drawingml/2006/main">
              <a:ext uri="{FF2B5EF4-FFF2-40B4-BE49-F238E27FC236}">
                <a16:creationId xmlns:a16="http://schemas.microsoft.com/office/drawing/2014/main" id="{0FA1B57D-C7B2-4A51-82F1-9B5B49AE1FC8}"/>
              </a:ext>
            </a:extLst>
          </p:cNvPr>
          <p:cNvSpPr>
            <a:spLocks xmlns:a="http://schemas.openxmlformats.org/drawingml/2006/main" noGrp="1"/>
          </p:cNvSpPr>
          <p:nvPr/>
        </p:nvSpPr>
        <p:spPr>
          <a:xfrm xmlns:a="http://schemas.openxmlformats.org/drawingml/2006/main">
            <a:off x="960120" y="4526280"/>
            <a:ext cx="987552" cy="713232"/>
          </a:xfrm>
          <a:prstGeom xmlns:a="http://schemas.openxmlformats.org/drawingml/2006/main" prst="roundRect">
            <a:avLst>
              <a:gd name="adj" fmla="val 10256"/>
            </a:avLst>
          </a:prstGeom>
          <a:solidFill xmlns:a="http://schemas.openxmlformats.org/drawingml/2006/main">
            <a:srgbClr val="F6F9FC"/>
          </a:solidFill>
          <a:ln xmlns:a="http://schemas.openxmlformats.org/drawingml/2006/main" w="12700">
            <a:solidFill>
              <a:srgbClr val="D1DDEC"/>
            </a:solidFill>
            <a:prstDash val="solid"/>
          </a:ln>
        </p:spPr>
      </p:sp>
      <p:sp>
        <p:nvSpPr>
          <p:cNvPr id="38" name="Text 36">
            <a:extLst xmlns:a="http://schemas.openxmlformats.org/drawingml/2006/main">
              <a:ext uri="{FF2B5EF4-FFF2-40B4-BE49-F238E27FC236}">
                <a16:creationId xmlns:a16="http://schemas.microsoft.com/office/drawing/2014/main" id="{6241471D-5C50-49E1-A5E7-28D4CA2A4B79}"/>
              </a:ext>
            </a:extLst>
          </p:cNvPr>
          <p:cNvSpPr>
            <a:spLocks xmlns:a="http://schemas.openxmlformats.org/drawingml/2006/main" noGrp="1"/>
          </p:cNvSpPr>
          <p:nvPr/>
        </p:nvSpPr>
        <p:spPr>
          <a:xfrm xmlns:a="http://schemas.openxmlformats.org/drawingml/2006/main">
            <a:off x="1014984" y="4562856"/>
            <a:ext cx="877824" cy="64008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1230">
                <a:solidFill>
                  <a:srgbClr val="1D2A3A"/>
                </a:solidFill>
                <a:latin typeface="Noto Sans CJK SC"/>
                <a:ea typeface="Noto Sans CJK SC"/>
                <a:cs typeface="Noto Sans CJK SC"/>
              </a:rPr>
              <a:t>时间窗口</a:t>
            </a:r>
          </a:p>
          <a:p xmlns:a="http://schemas.openxmlformats.org/drawingml/2006/main">
            <a:pPr marL="0" indent="0" algn="ctr">
              <a:buNone/>
            </a:pPr>
            <a:r>
              <a:rPr sz="1230">
                <a:solidFill>
                  <a:srgbClr val="1D2A3A"/>
                </a:solidFill>
                <a:latin typeface="Noto Sans CJK SC"/>
                <a:ea typeface="Noto Sans CJK SC"/>
                <a:cs typeface="Noto Sans CJK SC"/>
              </a:rPr>
              <a:t>4 秒</a:t>
            </a:r>
          </a:p>
        </p:txBody>
      </p:sp>
      <p:sp>
        <p:nvSpPr>
          <p:cNvPr id="39" name="Shape 37">
            <a:extLst xmlns:a="http://schemas.openxmlformats.org/drawingml/2006/main">
              <a:ext uri="{FF2B5EF4-FFF2-40B4-BE49-F238E27FC236}">
                <a16:creationId xmlns:a16="http://schemas.microsoft.com/office/drawing/2014/main" id="{3738182C-8F49-4224-A165-6CC6E3FA0D02}"/>
              </a:ext>
            </a:extLst>
          </p:cNvPr>
          <p:cNvSpPr>
            <a:spLocks xmlns:a="http://schemas.openxmlformats.org/drawingml/2006/main" noGrp="1"/>
          </p:cNvSpPr>
          <p:nvPr/>
        </p:nvSpPr>
        <p:spPr>
          <a:xfrm xmlns:a="http://schemas.openxmlformats.org/drawingml/2006/main">
            <a:off x="1947672" y="4882896"/>
            <a:ext cx="201168" cy="0"/>
          </a:xfrm>
          <a:prstGeom xmlns:a="http://schemas.openxmlformats.org/drawingml/2006/main" prst="line">
            <a:avLst/>
          </a:prstGeom>
          <a:noFill xmlns:a="http://schemas.openxmlformats.org/drawingml/2006/main"/>
          <a:ln xmlns:a="http://schemas.openxmlformats.org/drawingml/2006/main" w="10160">
            <a:solidFill>
              <a:srgbClr val="C2D2E6"/>
            </a:solidFill>
            <a:prstDash val="solid"/>
          </a:ln>
        </p:spPr>
      </p:sp>
      <p:sp>
        <p:nvSpPr>
          <p:cNvPr id="40" name="Shape 38">
            <a:extLst xmlns:a="http://schemas.openxmlformats.org/drawingml/2006/main">
              <a:ext uri="{FF2B5EF4-FFF2-40B4-BE49-F238E27FC236}">
                <a16:creationId xmlns:a16="http://schemas.microsoft.com/office/drawing/2014/main" id="{1CBD05FA-1A70-457C-BB15-1D40E9039999}"/>
              </a:ext>
            </a:extLst>
          </p:cNvPr>
          <p:cNvSpPr>
            <a:spLocks xmlns:a="http://schemas.openxmlformats.org/drawingml/2006/main" noGrp="1"/>
          </p:cNvSpPr>
          <p:nvPr/>
        </p:nvSpPr>
        <p:spPr>
          <a:xfrm xmlns:a="http://schemas.openxmlformats.org/drawingml/2006/main">
            <a:off x="2176272" y="4526280"/>
            <a:ext cx="987552" cy="713232"/>
          </a:xfrm>
          <a:prstGeom xmlns:a="http://schemas.openxmlformats.org/drawingml/2006/main" prst="roundRect">
            <a:avLst>
              <a:gd name="adj" fmla="val 10256"/>
            </a:avLst>
          </a:prstGeom>
          <a:solidFill xmlns:a="http://schemas.openxmlformats.org/drawingml/2006/main">
            <a:srgbClr val="F6F9FC"/>
          </a:solidFill>
          <a:ln xmlns:a="http://schemas.openxmlformats.org/drawingml/2006/main" w="12700">
            <a:solidFill>
              <a:srgbClr val="D1DDEC"/>
            </a:solidFill>
            <a:prstDash val="solid"/>
          </a:ln>
        </p:spPr>
      </p:sp>
      <p:sp>
        <p:nvSpPr>
          <p:cNvPr id="41" name="Text 39">
            <a:extLst xmlns:a="http://schemas.openxmlformats.org/drawingml/2006/main">
              <a:ext uri="{FF2B5EF4-FFF2-40B4-BE49-F238E27FC236}">
                <a16:creationId xmlns:a16="http://schemas.microsoft.com/office/drawing/2014/main" id="{5277E478-306F-4A7E-96C6-3FB2E8DD070A}"/>
              </a:ext>
            </a:extLst>
          </p:cNvPr>
          <p:cNvSpPr>
            <a:spLocks xmlns:a="http://schemas.openxmlformats.org/drawingml/2006/main" noGrp="1"/>
          </p:cNvSpPr>
          <p:nvPr/>
        </p:nvSpPr>
        <p:spPr>
          <a:xfrm xmlns:a="http://schemas.openxmlformats.org/drawingml/2006/main">
            <a:off x="2231136" y="4562856"/>
            <a:ext cx="877824" cy="64008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1230">
                <a:solidFill>
                  <a:srgbClr val="1D2A3A"/>
                </a:solidFill>
                <a:latin typeface="Noto Sans CJK SC"/>
                <a:ea typeface="Noto Sans CJK SC"/>
                <a:cs typeface="Noto Sans CJK SC"/>
              </a:rPr>
              <a:t>电极通道</a:t>
            </a:r>
          </a:p>
          <a:p xmlns:a="http://schemas.openxmlformats.org/drawingml/2006/main">
            <a:pPr marL="0" indent="0" algn="ctr">
              <a:buNone/>
            </a:pPr>
            <a:r>
              <a:rPr sz="1230">
                <a:solidFill>
                  <a:srgbClr val="1D2A3A"/>
                </a:solidFill>
                <a:latin typeface="Noto Sans CJK SC"/>
                <a:ea typeface="Noto Sans CJK SC"/>
                <a:cs typeface="Noto Sans CJK SC"/>
              </a:rPr>
              <a:t>62 个</a:t>
            </a:r>
          </a:p>
        </p:txBody>
      </p:sp>
      <p:sp>
        <p:nvSpPr>
          <p:cNvPr id="42" name="Shape 40">
            <a:extLst xmlns:a="http://schemas.openxmlformats.org/drawingml/2006/main">
              <a:ext uri="{FF2B5EF4-FFF2-40B4-BE49-F238E27FC236}">
                <a16:creationId xmlns:a16="http://schemas.microsoft.com/office/drawing/2014/main" id="{D7ED0C04-B8AB-4761-A6EB-CFF9A5E74268}"/>
              </a:ext>
            </a:extLst>
          </p:cNvPr>
          <p:cNvSpPr>
            <a:spLocks xmlns:a="http://schemas.openxmlformats.org/drawingml/2006/main" noGrp="1"/>
          </p:cNvSpPr>
          <p:nvPr/>
        </p:nvSpPr>
        <p:spPr>
          <a:xfrm xmlns:a="http://schemas.openxmlformats.org/drawingml/2006/main">
            <a:off x="3163824" y="4882896"/>
            <a:ext cx="201168" cy="0"/>
          </a:xfrm>
          <a:prstGeom xmlns:a="http://schemas.openxmlformats.org/drawingml/2006/main" prst="line">
            <a:avLst/>
          </a:prstGeom>
          <a:noFill xmlns:a="http://schemas.openxmlformats.org/drawingml/2006/main"/>
          <a:ln xmlns:a="http://schemas.openxmlformats.org/drawingml/2006/main" w="10160">
            <a:solidFill>
              <a:srgbClr val="C2D2E6"/>
            </a:solidFill>
            <a:prstDash val="solid"/>
          </a:ln>
        </p:spPr>
      </p:sp>
      <p:sp>
        <p:nvSpPr>
          <p:cNvPr id="43" name="Shape 41">
            <a:extLst xmlns:a="http://schemas.openxmlformats.org/drawingml/2006/main">
              <a:ext uri="{FF2B5EF4-FFF2-40B4-BE49-F238E27FC236}">
                <a16:creationId xmlns:a16="http://schemas.microsoft.com/office/drawing/2014/main" id="{6966471E-FC8E-473B-B854-4AD919B49CDD}"/>
              </a:ext>
            </a:extLst>
          </p:cNvPr>
          <p:cNvSpPr>
            <a:spLocks xmlns:a="http://schemas.openxmlformats.org/drawingml/2006/main" noGrp="1"/>
          </p:cNvSpPr>
          <p:nvPr/>
        </p:nvSpPr>
        <p:spPr>
          <a:xfrm xmlns:a="http://schemas.openxmlformats.org/drawingml/2006/main">
            <a:off x="3392424" y="4526280"/>
            <a:ext cx="987552" cy="713232"/>
          </a:xfrm>
          <a:prstGeom xmlns:a="http://schemas.openxmlformats.org/drawingml/2006/main" prst="roundRect">
            <a:avLst>
              <a:gd name="adj" fmla="val 10256"/>
            </a:avLst>
          </a:prstGeom>
          <a:solidFill xmlns:a="http://schemas.openxmlformats.org/drawingml/2006/main">
            <a:srgbClr val="F6F9FC"/>
          </a:solidFill>
          <a:ln xmlns:a="http://schemas.openxmlformats.org/drawingml/2006/main" w="12700">
            <a:solidFill>
              <a:srgbClr val="D1DDEC"/>
            </a:solidFill>
            <a:prstDash val="solid"/>
          </a:ln>
        </p:spPr>
      </p:sp>
      <p:sp>
        <p:nvSpPr>
          <p:cNvPr id="44" name="Text 42">
            <a:extLst xmlns:a="http://schemas.openxmlformats.org/drawingml/2006/main">
              <a:ext uri="{FF2B5EF4-FFF2-40B4-BE49-F238E27FC236}">
                <a16:creationId xmlns:a16="http://schemas.microsoft.com/office/drawing/2014/main" id="{137BBBBC-4D96-455E-812A-A473E6B75518}"/>
              </a:ext>
            </a:extLst>
          </p:cNvPr>
          <p:cNvSpPr>
            <a:spLocks xmlns:a="http://schemas.openxmlformats.org/drawingml/2006/main" noGrp="1"/>
          </p:cNvSpPr>
          <p:nvPr/>
        </p:nvSpPr>
        <p:spPr>
          <a:xfrm xmlns:a="http://schemas.openxmlformats.org/drawingml/2006/main">
            <a:off x="3447288" y="4562856"/>
            <a:ext cx="877824" cy="64008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1230">
                <a:solidFill>
                  <a:srgbClr val="1D2A3A"/>
                </a:solidFill>
                <a:latin typeface="Noto Sans CJK SC"/>
                <a:ea typeface="Noto Sans CJK SC"/>
                <a:cs typeface="Noto Sans CJK SC"/>
              </a:rPr>
              <a:t>频带特征</a:t>
            </a:r>
          </a:p>
          <a:p xmlns:a="http://schemas.openxmlformats.org/drawingml/2006/main">
            <a:pPr marL="0" indent="0" algn="ctr">
              <a:buNone/>
            </a:pPr>
            <a:r>
              <a:rPr sz="1230">
                <a:solidFill>
                  <a:srgbClr val="1D2A3A"/>
                </a:solidFill>
                <a:latin typeface="Noto Sans CJK SC"/>
                <a:ea typeface="Noto Sans CJK SC"/>
                <a:cs typeface="Noto Sans CJK SC"/>
              </a:rPr>
              <a:t>5 个</a:t>
            </a:r>
          </a:p>
        </p:txBody>
      </p:sp>
      <p:sp>
        <p:nvSpPr>
          <p:cNvPr id="45" name="Shape 43">
            <a:extLst xmlns:a="http://schemas.openxmlformats.org/drawingml/2006/main">
              <a:ext uri="{FF2B5EF4-FFF2-40B4-BE49-F238E27FC236}">
                <a16:creationId xmlns:a16="http://schemas.microsoft.com/office/drawing/2014/main" id="{F291A8EE-29E6-421C-947F-27F8F2B23BB2}"/>
              </a:ext>
            </a:extLst>
          </p:cNvPr>
          <p:cNvSpPr>
            <a:spLocks xmlns:a="http://schemas.openxmlformats.org/drawingml/2006/main" noGrp="1"/>
          </p:cNvSpPr>
          <p:nvPr/>
        </p:nvSpPr>
        <p:spPr>
          <a:xfrm xmlns:a="http://schemas.openxmlformats.org/drawingml/2006/main">
            <a:off x="4379976" y="4882896"/>
            <a:ext cx="201168" cy="0"/>
          </a:xfrm>
          <a:prstGeom xmlns:a="http://schemas.openxmlformats.org/drawingml/2006/main" prst="line">
            <a:avLst/>
          </a:prstGeom>
          <a:noFill xmlns:a="http://schemas.openxmlformats.org/drawingml/2006/main"/>
          <a:ln xmlns:a="http://schemas.openxmlformats.org/drawingml/2006/main" w="10160">
            <a:solidFill>
              <a:srgbClr val="C2D2E6"/>
            </a:solidFill>
            <a:prstDash val="solid"/>
          </a:ln>
        </p:spPr>
      </p:sp>
      <p:sp>
        <p:nvSpPr>
          <p:cNvPr id="46" name="Shape 44">
            <a:extLst xmlns:a="http://schemas.openxmlformats.org/drawingml/2006/main">
              <a:ext uri="{FF2B5EF4-FFF2-40B4-BE49-F238E27FC236}">
                <a16:creationId xmlns:a16="http://schemas.microsoft.com/office/drawing/2014/main" id="{72420D5A-AF71-44C5-8F45-154FF5BDB87A}"/>
              </a:ext>
            </a:extLst>
          </p:cNvPr>
          <p:cNvSpPr>
            <a:spLocks xmlns:a="http://schemas.openxmlformats.org/drawingml/2006/main" noGrp="1"/>
          </p:cNvSpPr>
          <p:nvPr/>
        </p:nvSpPr>
        <p:spPr>
          <a:xfrm xmlns:a="http://schemas.openxmlformats.org/drawingml/2006/main">
            <a:off x="4608576" y="4526280"/>
            <a:ext cx="987552" cy="713232"/>
          </a:xfrm>
          <a:prstGeom xmlns:a="http://schemas.openxmlformats.org/drawingml/2006/main" prst="roundRect">
            <a:avLst>
              <a:gd name="adj" fmla="val 10256"/>
            </a:avLst>
          </a:prstGeom>
          <a:solidFill xmlns:a="http://schemas.openxmlformats.org/drawingml/2006/main">
            <a:srgbClr val="DDF9F5"/>
          </a:solidFill>
          <a:ln xmlns:a="http://schemas.openxmlformats.org/drawingml/2006/main" w="12700">
            <a:solidFill>
              <a:srgbClr val="27C7CF"/>
            </a:solidFill>
            <a:prstDash val="solid"/>
          </a:ln>
        </p:spPr>
      </p:sp>
      <p:sp>
        <p:nvSpPr>
          <p:cNvPr id="47" name="Text 45">
            <a:extLst xmlns:a="http://schemas.openxmlformats.org/drawingml/2006/main">
              <a:ext uri="{FF2B5EF4-FFF2-40B4-BE49-F238E27FC236}">
                <a16:creationId xmlns:a16="http://schemas.microsoft.com/office/drawing/2014/main" id="{0B355D0D-BC14-4FFC-BB4D-70E498B3784D}"/>
              </a:ext>
            </a:extLst>
          </p:cNvPr>
          <p:cNvSpPr>
            <a:spLocks xmlns:a="http://schemas.openxmlformats.org/drawingml/2006/main" noGrp="1"/>
          </p:cNvSpPr>
          <p:nvPr/>
        </p:nvSpPr>
        <p:spPr>
          <a:xfrm xmlns:a="http://schemas.openxmlformats.org/drawingml/2006/main">
            <a:off x="4663440" y="4562856"/>
            <a:ext cx="877824" cy="64008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1230" b="1">
                <a:solidFill>
                  <a:srgbClr val="1D2A3A"/>
                </a:solidFill>
                <a:latin typeface="Noto Sans CJK SC"/>
                <a:ea typeface="Noto Sans CJK SC"/>
                <a:cs typeface="Noto Sans CJK SC"/>
              </a:rPr>
              <a:t>输入样本</a:t>
            </a:r>
          </a:p>
          <a:p xmlns:a="http://schemas.openxmlformats.org/drawingml/2006/main">
            <a:pPr marL="0" indent="0" algn="ctr">
              <a:buNone/>
            </a:pPr>
            <a:r>
              <a:rPr sz="1230" b="1">
                <a:solidFill>
                  <a:srgbClr val="1D2A3A"/>
                </a:solidFill>
                <a:latin typeface="Noto Sans CJK SC"/>
                <a:ea typeface="Noto Sans CJK SC"/>
                <a:cs typeface="Noto Sans CJK SC"/>
              </a:rPr>
              <a:t>62 × 20</a:t>
            </a:r>
          </a:p>
        </p:txBody>
      </p:sp>
      <p:sp>
        <p:nvSpPr>
          <p:cNvPr id="48" name="Shape 46">
            <a:extLst xmlns:a="http://schemas.openxmlformats.org/drawingml/2006/main">
              <a:ext uri="{FF2B5EF4-FFF2-40B4-BE49-F238E27FC236}">
                <a16:creationId xmlns:a16="http://schemas.microsoft.com/office/drawing/2014/main" id="{F8CF2C81-37F2-4F42-96CA-860624D24B84}"/>
              </a:ext>
            </a:extLst>
          </p:cNvPr>
          <p:cNvSpPr>
            <a:spLocks xmlns:a="http://schemas.openxmlformats.org/drawingml/2006/main" noGrp="1"/>
          </p:cNvSpPr>
          <p:nvPr/>
        </p:nvSpPr>
        <p:spPr>
          <a:xfrm xmlns:a="http://schemas.openxmlformats.org/drawingml/2006/main">
            <a:off x="6446520" y="3886200"/>
            <a:ext cx="4800600" cy="804672"/>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5240">
            <a:solidFill>
              <a:srgbClr val="47B881"/>
            </a:solidFill>
            <a:prstDash val="solid"/>
          </a:ln>
        </p:spPr>
      </p:sp>
      <p:sp>
        <p:nvSpPr>
          <p:cNvPr id="49" name="Text 47">
            <a:extLst xmlns:a="http://schemas.openxmlformats.org/drawingml/2006/main">
              <a:ext uri="{FF2B5EF4-FFF2-40B4-BE49-F238E27FC236}">
                <a16:creationId xmlns:a16="http://schemas.microsoft.com/office/drawing/2014/main" id="{74CE1633-D207-424F-B42A-8006EA8F2D1F}"/>
              </a:ext>
            </a:extLst>
          </p:cNvPr>
          <p:cNvSpPr>
            <a:spLocks xmlns:a="http://schemas.openxmlformats.org/drawingml/2006/main" noGrp="1"/>
          </p:cNvSpPr>
          <p:nvPr/>
        </p:nvSpPr>
        <p:spPr>
          <a:xfrm xmlns:a="http://schemas.openxmlformats.org/drawingml/2006/main">
            <a:off x="6611112" y="4005072"/>
            <a:ext cx="44714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47B881"/>
                </a:solidFill>
                <a:latin typeface="Noto Sans CJK SC"/>
                <a:ea typeface="Noto Sans CJK SC"/>
                <a:cs typeface="Noto Sans CJK SC"/>
              </a:rPr>
              <a:t>域标签生成</a:t>
            </a:r>
          </a:p>
        </p:txBody>
      </p:sp>
      <p:sp>
        <p:nvSpPr>
          <p:cNvPr id="50" name="Text 48">
            <a:extLst xmlns:a="http://schemas.openxmlformats.org/drawingml/2006/main">
              <a:ext uri="{FF2B5EF4-FFF2-40B4-BE49-F238E27FC236}">
                <a16:creationId xmlns:a16="http://schemas.microsoft.com/office/drawing/2014/main" id="{415421C3-9196-49CC-BEF4-1B99103EBBB1}"/>
              </a:ext>
            </a:extLst>
          </p:cNvPr>
          <p:cNvSpPr>
            <a:spLocks xmlns:a="http://schemas.openxmlformats.org/drawingml/2006/main" noGrp="1"/>
          </p:cNvSpPr>
          <p:nvPr/>
        </p:nvSpPr>
        <p:spPr>
          <a:xfrm xmlns:a="http://schemas.openxmlformats.org/drawingml/2006/main">
            <a:off x="6611112" y="4325112"/>
            <a:ext cx="4471416" cy="25603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fontScale="25000"/>
          </a:bodyPr>
          <a:lstStyle xmlns:a="http://schemas.openxmlformats.org/drawingml/2006/main"/>
          <a:p xmlns:a="http://schemas.openxmlformats.org/drawingml/2006/main">
            <a:pPr marL="0" indent="0">
              <a:buNone/>
            </a:pPr>
            <a:r>
              <a:rPr sz="4665">
                <a:solidFill>
                  <a:srgbClr val="1D2A3A"/>
                </a:solidFill>
                <a:latin typeface="微软雅黑"/>
                <a:ea typeface="微软雅黑"/>
                <a:cs typeface="微软雅黑"/>
              </a:rPr>
              <a:t>训练 trial 记为源域，测试 trial 记为目标域；该标签用于后续 DANN 分支学习域不变特征</a:t>
            </a:r>
            <a:r>
              <a:rPr sz="1280">
                <a:solidFill>
                  <a:srgbClr val="1D2A3A"/>
                </a:solidFill>
                <a:latin typeface="Noto Sans CJK SC"/>
                <a:ea typeface="Noto Sans CJK SC"/>
                <a:cs typeface="Noto Sans CJK SC"/>
              </a:rPr>
              <a:t>。</a:t>
            </a:r>
          </a:p>
        </p:txBody>
      </p:sp>
      <p:sp>
        <p:nvSpPr>
          <p:cNvPr id="51" name="Shape 49">
            <a:extLst xmlns:a="http://schemas.openxmlformats.org/drawingml/2006/main">
              <a:ext uri="{FF2B5EF4-FFF2-40B4-BE49-F238E27FC236}">
                <a16:creationId xmlns:a16="http://schemas.microsoft.com/office/drawing/2014/main" id="{890A199A-4631-4C12-9378-11DC632392F4}"/>
              </a:ext>
            </a:extLst>
          </p:cNvPr>
          <p:cNvSpPr>
            <a:spLocks xmlns:a="http://schemas.openxmlformats.org/drawingml/2006/main" noGrp="1"/>
          </p:cNvSpPr>
          <p:nvPr/>
        </p:nvSpPr>
        <p:spPr>
          <a:xfrm xmlns:a="http://schemas.openxmlformats.org/drawingml/2006/main">
            <a:off x="6446520" y="4892040"/>
            <a:ext cx="4800600" cy="804672"/>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5240">
            <a:solidFill>
              <a:srgbClr val="27C7CF"/>
            </a:solidFill>
            <a:prstDash val="solid"/>
          </a:ln>
        </p:spPr>
      </p:sp>
      <p:sp>
        <p:nvSpPr>
          <p:cNvPr id="52" name="Text 50">
            <a:extLst xmlns:a="http://schemas.openxmlformats.org/drawingml/2006/main">
              <a:ext uri="{FF2B5EF4-FFF2-40B4-BE49-F238E27FC236}">
                <a16:creationId xmlns:a16="http://schemas.microsoft.com/office/drawing/2014/main" id="{23EA6227-DB85-4B67-B77A-7BBD1381CACC}"/>
              </a:ext>
            </a:extLst>
          </p:cNvPr>
          <p:cNvSpPr>
            <a:spLocks xmlns:a="http://schemas.openxmlformats.org/drawingml/2006/main" noGrp="1"/>
          </p:cNvSpPr>
          <p:nvPr/>
        </p:nvSpPr>
        <p:spPr>
          <a:xfrm xmlns:a="http://schemas.openxmlformats.org/drawingml/2006/main">
            <a:off x="6611112" y="5010912"/>
            <a:ext cx="44714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7C7CF"/>
                </a:solidFill>
                <a:latin typeface="Noto Sans CJK SC"/>
                <a:ea typeface="Noto Sans CJK SC"/>
                <a:cs typeface="Noto Sans CJK SC"/>
              </a:rPr>
              <a:t>数据划分作用</a:t>
            </a:r>
          </a:p>
        </p:txBody>
      </p:sp>
      <p:sp>
        <p:nvSpPr>
          <p:cNvPr id="53" name="Text 51">
            <a:extLst xmlns:a="http://schemas.openxmlformats.org/drawingml/2006/main">
              <a:ext uri="{FF2B5EF4-FFF2-40B4-BE49-F238E27FC236}">
                <a16:creationId xmlns:a16="http://schemas.microsoft.com/office/drawing/2014/main" id="{174248B4-C213-42DA-9D79-221C360377E3}"/>
              </a:ext>
            </a:extLst>
          </p:cNvPr>
          <p:cNvSpPr>
            <a:spLocks xmlns:a="http://schemas.openxmlformats.org/drawingml/2006/main" noGrp="1"/>
          </p:cNvSpPr>
          <p:nvPr/>
        </p:nvSpPr>
        <p:spPr>
          <a:xfrm xmlns:a="http://schemas.openxmlformats.org/drawingml/2006/main">
            <a:off x="6611112" y="5330952"/>
            <a:ext cx="4471416" cy="25603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fontScale="25000"/>
          </a:bodyPr>
          <a:lstStyle xmlns:a="http://schemas.openxmlformats.org/drawingml/2006/main"/>
          <a:p xmlns:a="http://schemas.openxmlformats.org/drawingml/2006/main">
            <a:pPr marL="0" indent="0">
              <a:buNone/>
            </a:pPr>
            <a:r>
              <a:rPr sz="4665">
                <a:solidFill>
                  <a:srgbClr val="1D2A3A"/>
                </a:solidFill>
                <a:latin typeface="微软雅黑"/>
                <a:ea typeface="微软雅黑"/>
                <a:cs typeface="微软雅黑"/>
              </a:rPr>
              <a:t>按 trial 划分可以模拟不同时段/试次分布差异，为后续领域对抗训练提供应用背景。</a:t>
            </a:r>
          </a:p>
        </p:txBody>
      </p:sp>
    </p:spTree>
    <p:extLst>
      <p:ext uri="{BB962C8B-B14F-4D97-AF65-F5344CB8AC3E}">
        <p14:creationId xmlns:p14="http://schemas.microsoft.com/office/powerpoint/2010/main" val="1392975319"/>
      </p:ext>
    </p:extLst>
  </p:cSld>
</p:sld>
</file>

<file path=ppt/slides/slide10.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6f4726822b1f447a"/>
          <a:srcRect xmlns:a="http://schemas.openxmlformats.org/drawingml/2006/main" l="33" t="0" r="33" b="0"/>
          <a:stretch xmlns:a="http://schemas.openxmlformats.org/drawingml/2006/main">
            <a:fillRect l="0" t="0" r="0" b="0"/>
          </a:stretch>
        </p:blipFill>
        <p:spPr>
          <a:xfrm xmlns:a="http://schemas.openxmlformats.org/drawingml/2006/main">
            <a:off x="0" y="0"/>
            <a:ext cx="12001500" cy="6807200"/>
          </a:xfrm>
          <a:prstGeom xmlns:a="http://schemas.openxmlformats.org/drawingml/2006/main" prst="rect">
            <a:avLst/>
          </a:prstGeom>
          <a:ln xmlns:a="http://schemas.openxmlformats.org/drawingml/2006/main" w="25400" cap="flat" cmpd="sng">
            <a:noFill/>
            <a:prstDash val="solid"/>
            <a:round/>
          </a:ln>
        </p:spPr>
      </p:pic>
      <p:sp>
        <p:nvSpPr>
          <p:cNvPr id="4" name="AutoShape 4">
            <a:extLst xmlns:a="http://schemas.openxmlformats.org/drawingml/2006/main">
              <a:ext uri="{FF2B5EF4-FFF2-40B4-BE49-F238E27FC236}">
                <a16:creationId xmlns:a16="http://schemas.microsoft.com/office/drawing/2014/main" id="{D3C99DB1-B00D-4DBC-B138-CCF1369662F7}"/>
              </a:ext>
            </a:extLst>
          </p:cNvPr>
          <p:cNvSpPr>
            <a:spLocks xmlns:a="http://schemas.openxmlformats.org/drawingml/2006/main" noGrp="1"/>
          </p:cNvSpPr>
          <p:nvPr/>
        </p:nvSpPr>
        <p:spPr>
          <a:xfrm xmlns:a="http://schemas.openxmlformats.org/drawingml/2006/main">
            <a:off x="508000" y="469265"/>
            <a:ext cx="10985500" cy="762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3200" b="1" i="0" u="none">
                <a:solidFill>
                  <a:srgbClr val="104862"/>
                </a:solidFill>
                <a:latin typeface="Noto Sans SC"/>
                <a:ea typeface="Noto Sans SC"/>
                <a:cs typeface="Noto Sans SC"/>
              </a:rPr>
              <a:t>02 基线模型选择与论证</a:t>
            </a:r>
          </a:p>
        </p:txBody>
      </p:sp>
      <p:sp>
        <p:nvSpPr>
          <p:cNvPr id="5" name="AutoShape 5">
            <a:extLst xmlns:a="http://schemas.openxmlformats.org/drawingml/2006/main">
              <a:ext uri="{FF2B5EF4-FFF2-40B4-BE49-F238E27FC236}">
                <a16:creationId xmlns:a16="http://schemas.microsoft.com/office/drawing/2014/main" id="{DD3B9BEF-39D2-4429-A6EA-E0EEA3446D37}"/>
              </a:ext>
            </a:extLst>
          </p:cNvPr>
          <p:cNvSpPr>
            <a:spLocks xmlns:a="http://schemas.openxmlformats.org/drawingml/2006/main" noGrp="1"/>
          </p:cNvSpPr>
          <p:nvPr/>
        </p:nvSpPr>
        <p:spPr>
          <a:xfrm xmlns:a="http://schemas.openxmlformats.org/drawingml/2006/main">
            <a:off x="508000" y="1397000"/>
            <a:ext cx="5461000" cy="2032000"/>
          </a:xfrm>
          <a:prstGeom xmlns:a="http://schemas.openxmlformats.org/drawingml/2006/main" prst="roundRect">
            <a:avLst>
              <a:gd name="adj" fmla="val 7500"/>
            </a:avLst>
          </a:prstGeom>
          <a:solidFill xmlns:a="http://schemas.openxmlformats.org/drawingml/2006/main">
            <a:srgbClr val="FFFFFF">
              <a:alpha val="95000"/>
            </a:srgbClr>
          </a:solidFill>
          <a:ln xmlns:a="http://schemas.openxmlformats.org/drawingml/2006/main" w="12700" cmpd="sng">
            <a:solidFill>
              <a:srgbClr val="DEE0E3">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6" name="AutoShape 6">
            <a:extLst xmlns:a="http://schemas.openxmlformats.org/drawingml/2006/main">
              <a:ext uri="{FF2B5EF4-FFF2-40B4-BE49-F238E27FC236}">
                <a16:creationId xmlns:a16="http://schemas.microsoft.com/office/drawing/2014/main" id="{0BD26DFE-58FC-4211-9505-CB80F121A04A}"/>
              </a:ext>
            </a:extLst>
          </p:cNvPr>
          <p:cNvSpPr>
            <a:spLocks xmlns:a="http://schemas.openxmlformats.org/drawingml/2006/main" noGrp="1"/>
          </p:cNvSpPr>
          <p:nvPr/>
        </p:nvSpPr>
        <p:spPr>
          <a:xfrm xmlns:a="http://schemas.openxmlformats.org/drawingml/2006/main">
            <a:off x="508000" y="1397000"/>
            <a:ext cx="76200" cy="2032000"/>
          </a:xfrm>
          <a:prstGeom xmlns:a="http://schemas.openxmlformats.org/drawingml/2006/main" prst="roundRect">
            <a:avLst>
              <a:gd name="adj" fmla="val 0"/>
            </a:avLst>
          </a:prstGeom>
          <a:solidFill xmlns:a="http://schemas.openxmlformats.org/drawingml/2006/main">
            <a:srgbClr val="3B82F6">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7" name="AutoShape 7">
            <a:extLst xmlns:a="http://schemas.openxmlformats.org/drawingml/2006/main">
              <a:ext uri="{FF2B5EF4-FFF2-40B4-BE49-F238E27FC236}">
                <a16:creationId xmlns:a16="http://schemas.microsoft.com/office/drawing/2014/main" id="{A07E0464-46BF-4ED5-B9D4-E26A4259E289}"/>
              </a:ext>
            </a:extLst>
          </p:cNvPr>
          <p:cNvSpPr>
            <a:spLocks xmlns:a="http://schemas.openxmlformats.org/drawingml/2006/main" noGrp="1"/>
          </p:cNvSpPr>
          <p:nvPr/>
        </p:nvSpPr>
        <p:spPr>
          <a:xfrm xmlns:a="http://schemas.openxmlformats.org/drawingml/2006/main">
            <a:off x="762000" y="1524000"/>
            <a:ext cx="4953000" cy="1778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0000"/>
              </a:lnSpc>
              <a:buNone/>
            </a:pPr>
            <a:r>
              <a:rPr sz="1800" b="1" i="0" u="none">
                <a:solidFill>
                  <a:srgbClr val="1F2329"/>
                </a:solidFill>
                <a:latin typeface="Noto Sans SC"/>
                <a:ea typeface="Noto Sans SC"/>
                <a:cs typeface="Noto Sans SC"/>
              </a:rPr>
              <a:t>DNN (全连接网络)</a:t>
            </a:r>
          </a:p>
          <a:p xmlns:a="http://schemas.openxmlformats.org/drawingml/2006/main">
            <a:pPr indent="0" algn="l">
              <a:lnSpc>
                <a:spcPct val="108000"/>
              </a:lnSpc>
              <a:spcBef>
                <a:spcPts val="800"/>
              </a:spcBef>
              <a:buNone/>
            </a:pPr>
            <a:r>
              <a:rPr sz="1200" b="1" i="0" u="none">
                <a:solidFill>
                  <a:srgbClr val="646A73"/>
                </a:solidFill>
                <a:latin typeface="Noto Sans SC"/>
                <a:ea typeface="Noto Sans SC"/>
                <a:cs typeface="Noto Sans SC"/>
              </a:rPr>
              <a:t>特点：</a:t>
            </a:r>
            <a:r>
              <a:rPr sz="1200" b="0" i="0" u="none">
                <a:solidFill>
                  <a:srgbClr val="434343"/>
                </a:solidFill>
                <a:latin typeface="Noto Sans SC"/>
                <a:ea typeface="Noto Sans SC"/>
                <a:cs typeface="Noto Sans SC"/>
              </a:rPr>
              <a:t>特征展平后输入全连接网络，结构简单直接。</a:t>
            </a:r>
          </a:p>
          <a:p xmlns:a="http://schemas.openxmlformats.org/drawingml/2006/main">
            <a:pPr indent="0" algn="l">
              <a:lnSpc>
                <a:spcPct val="108000"/>
              </a:lnSpc>
              <a:buNone/>
            </a:pPr>
            <a:r>
              <a:rPr sz="1200" b="1" i="0" u="none">
                <a:solidFill>
                  <a:srgbClr val="10B981"/>
                </a:solidFill>
                <a:latin typeface="Noto Sans SC"/>
                <a:ea typeface="Noto Sans SC"/>
                <a:cs typeface="Noto Sans SC"/>
              </a:rPr>
              <a:t>优势：</a:t>
            </a:r>
            <a:r>
              <a:rPr sz="1200" b="0" i="0" u="none">
                <a:solidFill>
                  <a:srgbClr val="434343"/>
                </a:solidFill>
                <a:latin typeface="Noto Sans SC"/>
                <a:ea typeface="Noto Sans SC"/>
                <a:cs typeface="Noto Sans SC"/>
              </a:rPr>
              <a:t>结构简单，计算速度快，易于实现与部署。</a:t>
            </a:r>
          </a:p>
          <a:p xmlns:a="http://schemas.openxmlformats.org/drawingml/2006/main">
            <a:pPr indent="0" algn="l">
              <a:lnSpc>
                <a:spcPct val="108000"/>
              </a:lnSpc>
              <a:buNone/>
            </a:pPr>
            <a:r>
              <a:rPr sz="1200" b="1" i="0" u="none">
                <a:solidFill>
                  <a:srgbClr val="EF4444"/>
                </a:solidFill>
                <a:latin typeface="Noto Sans SC"/>
                <a:ea typeface="Noto Sans SC"/>
                <a:cs typeface="Noto Sans SC"/>
              </a:rPr>
              <a:t>局限：</a:t>
            </a:r>
            <a:r>
              <a:rPr sz="1200" b="0" i="0" u="none">
                <a:solidFill>
                  <a:srgbClr val="434343"/>
                </a:solidFill>
                <a:latin typeface="Noto Sans SC"/>
                <a:ea typeface="Noto Sans SC"/>
                <a:cs typeface="Noto Sans SC"/>
              </a:rPr>
              <a:t>无法建模电极间的空间拓扑关系，丢失关键信息。</a:t>
            </a:r>
          </a:p>
          <a:p xmlns:a="http://schemas.openxmlformats.org/drawingml/2006/main">
            <a:pPr indent="0" algn="l">
              <a:lnSpc>
                <a:spcPct val="108000"/>
              </a:lnSpc>
              <a:buNone/>
            </a:pPr>
            <a:r>
              <a:rPr sz="1200" b="1" i="0" u="none">
                <a:solidFill>
                  <a:srgbClr val="3B82F6"/>
                </a:solidFill>
                <a:latin typeface="Noto Sans SC"/>
                <a:ea typeface="Noto Sans SC"/>
                <a:cs typeface="Noto Sans SC"/>
              </a:rPr>
              <a:t>作用：</a:t>
            </a:r>
            <a:r>
              <a:rPr sz="1200" b="0" i="0" u="none">
                <a:solidFill>
                  <a:srgbClr val="434343"/>
                </a:solidFill>
                <a:latin typeface="Noto Sans SC"/>
                <a:ea typeface="Noto Sans SC"/>
                <a:cs typeface="Noto Sans SC"/>
              </a:rPr>
              <a:t>作为最基础的传统模型进行对照分析。</a:t>
            </a:r>
          </a:p>
        </p:txBody>
      </p:sp>
      <p:sp>
        <p:nvSpPr>
          <p:cNvPr id="8" name="AutoShape 8">
            <a:extLst xmlns:a="http://schemas.openxmlformats.org/drawingml/2006/main">
              <a:ext uri="{FF2B5EF4-FFF2-40B4-BE49-F238E27FC236}">
                <a16:creationId xmlns:a16="http://schemas.microsoft.com/office/drawing/2014/main" id="{8AD8AF92-3165-4641-B038-8B43CCB774BA}"/>
              </a:ext>
            </a:extLst>
          </p:cNvPr>
          <p:cNvSpPr>
            <a:spLocks xmlns:a="http://schemas.openxmlformats.org/drawingml/2006/main" noGrp="1"/>
          </p:cNvSpPr>
          <p:nvPr/>
        </p:nvSpPr>
        <p:spPr>
          <a:xfrm xmlns:a="http://schemas.openxmlformats.org/drawingml/2006/main">
            <a:off x="6223000" y="1397000"/>
            <a:ext cx="5461000" cy="2032000"/>
          </a:xfrm>
          <a:prstGeom xmlns:a="http://schemas.openxmlformats.org/drawingml/2006/main" prst="roundRect">
            <a:avLst>
              <a:gd name="adj" fmla="val 7500"/>
            </a:avLst>
          </a:prstGeom>
          <a:solidFill xmlns:a="http://schemas.openxmlformats.org/drawingml/2006/main">
            <a:srgbClr val="FFFFFF">
              <a:alpha val="95000"/>
            </a:srgbClr>
          </a:solidFill>
          <a:ln xmlns:a="http://schemas.openxmlformats.org/drawingml/2006/main" w="12700" cmpd="sng">
            <a:solidFill>
              <a:srgbClr val="DEE0E3">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9" name="AutoShape 9">
            <a:extLst xmlns:a="http://schemas.openxmlformats.org/drawingml/2006/main">
              <a:ext uri="{FF2B5EF4-FFF2-40B4-BE49-F238E27FC236}">
                <a16:creationId xmlns:a16="http://schemas.microsoft.com/office/drawing/2014/main" id="{F99A97AE-50E9-4C4B-AA39-9EE77A6CE0E1}"/>
              </a:ext>
            </a:extLst>
          </p:cNvPr>
          <p:cNvSpPr>
            <a:spLocks xmlns:a="http://schemas.openxmlformats.org/drawingml/2006/main" noGrp="1"/>
          </p:cNvSpPr>
          <p:nvPr/>
        </p:nvSpPr>
        <p:spPr>
          <a:xfrm xmlns:a="http://schemas.openxmlformats.org/drawingml/2006/main">
            <a:off x="6223000" y="1397000"/>
            <a:ext cx="76200" cy="2032000"/>
          </a:xfrm>
          <a:prstGeom xmlns:a="http://schemas.openxmlformats.org/drawingml/2006/main" prst="roundRect">
            <a:avLst>
              <a:gd name="adj" fmla="val 0"/>
            </a:avLst>
          </a:prstGeom>
          <a:solidFill xmlns:a="http://schemas.openxmlformats.org/drawingml/2006/main">
            <a:srgbClr val="10B981">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0" name="AutoShape 10">
            <a:extLst xmlns:a="http://schemas.openxmlformats.org/drawingml/2006/main">
              <a:ext uri="{FF2B5EF4-FFF2-40B4-BE49-F238E27FC236}">
                <a16:creationId xmlns:a16="http://schemas.microsoft.com/office/drawing/2014/main" id="{130A6FE9-6F45-4AFF-B126-A64C59C9BD09}"/>
              </a:ext>
            </a:extLst>
          </p:cNvPr>
          <p:cNvSpPr>
            <a:spLocks xmlns:a="http://schemas.openxmlformats.org/drawingml/2006/main" noGrp="1"/>
          </p:cNvSpPr>
          <p:nvPr/>
        </p:nvSpPr>
        <p:spPr>
          <a:xfrm xmlns:a="http://schemas.openxmlformats.org/drawingml/2006/main">
            <a:off x="6477000" y="1524000"/>
            <a:ext cx="4953000" cy="1778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0000"/>
              </a:lnSpc>
              <a:buNone/>
            </a:pPr>
            <a:r>
              <a:rPr sz="1800" b="1" i="0" u="none">
                <a:solidFill>
                  <a:srgbClr val="1F2329"/>
                </a:solidFill>
                <a:latin typeface="Noto Sans SC"/>
                <a:ea typeface="Noto Sans SC"/>
                <a:cs typeface="Noto Sans SC"/>
              </a:rPr>
              <a:t>CNN-LSTM (混合时序模型)</a:t>
            </a:r>
          </a:p>
          <a:p xmlns:a="http://schemas.openxmlformats.org/drawingml/2006/main">
            <a:pPr indent="0" algn="l">
              <a:lnSpc>
                <a:spcPct val="108000"/>
              </a:lnSpc>
              <a:spcBef>
                <a:spcPts val="800"/>
              </a:spcBef>
              <a:buNone/>
            </a:pPr>
            <a:r>
              <a:rPr sz="1200" b="1" i="0" u="none">
                <a:solidFill>
                  <a:srgbClr val="646A73"/>
                </a:solidFill>
                <a:latin typeface="Noto Sans SC"/>
                <a:ea typeface="Noto Sans SC"/>
                <a:cs typeface="Noto Sans SC"/>
              </a:rPr>
              <a:t>特点：</a:t>
            </a:r>
            <a:r>
              <a:rPr sz="1200" b="0" i="0" u="none">
                <a:solidFill>
                  <a:srgbClr val="434343"/>
                </a:solidFill>
                <a:latin typeface="Noto Sans SC"/>
                <a:ea typeface="Noto Sans SC"/>
                <a:cs typeface="Noto Sans SC"/>
              </a:rPr>
              <a:t>结合卷积特征提取与LSTM时序建模能力。</a:t>
            </a:r>
          </a:p>
          <a:p xmlns:a="http://schemas.openxmlformats.org/drawingml/2006/main">
            <a:pPr indent="0" algn="l">
              <a:lnSpc>
                <a:spcPct val="108000"/>
              </a:lnSpc>
              <a:buNone/>
            </a:pPr>
            <a:r>
              <a:rPr sz="1200" b="1" i="0" u="none">
                <a:solidFill>
                  <a:srgbClr val="10B981"/>
                </a:solidFill>
                <a:latin typeface="Noto Sans SC"/>
                <a:ea typeface="Noto Sans SC"/>
                <a:cs typeface="Noto Sans SC"/>
              </a:rPr>
              <a:t>优势：</a:t>
            </a:r>
            <a:r>
              <a:rPr sz="1200" b="0" i="0" u="none">
                <a:solidFill>
                  <a:srgbClr val="434343"/>
                </a:solidFill>
                <a:latin typeface="Noto Sans SC"/>
                <a:ea typeface="Noto Sans SC"/>
                <a:cs typeface="Noto Sans SC"/>
              </a:rPr>
              <a:t>能有效利用脑电信号的时间动态信息。</a:t>
            </a:r>
          </a:p>
          <a:p xmlns:a="http://schemas.openxmlformats.org/drawingml/2006/main">
            <a:pPr indent="0" algn="l">
              <a:lnSpc>
                <a:spcPct val="108000"/>
              </a:lnSpc>
              <a:buNone/>
            </a:pPr>
            <a:r>
              <a:rPr sz="1200" b="1" i="0" u="none">
                <a:solidFill>
                  <a:srgbClr val="EF4444"/>
                </a:solidFill>
                <a:latin typeface="Noto Sans SC"/>
                <a:ea typeface="Noto Sans SC"/>
                <a:cs typeface="Noto Sans SC"/>
              </a:rPr>
              <a:t>局限：</a:t>
            </a:r>
            <a:r>
              <a:rPr sz="1200" b="0" i="0" u="none">
                <a:solidFill>
                  <a:srgbClr val="434343"/>
                </a:solidFill>
                <a:latin typeface="Noto Sans SC"/>
                <a:ea typeface="Noto Sans SC"/>
                <a:cs typeface="Noto Sans SC"/>
              </a:rPr>
              <a:t>对非规则排列的电极空间拓扑结构表达不足。</a:t>
            </a:r>
          </a:p>
          <a:p xmlns:a="http://schemas.openxmlformats.org/drawingml/2006/main">
            <a:pPr indent="0" algn="l">
              <a:lnSpc>
                <a:spcPct val="108000"/>
              </a:lnSpc>
              <a:buNone/>
            </a:pPr>
            <a:r>
              <a:rPr sz="1200" b="1" i="0" u="none">
                <a:solidFill>
                  <a:srgbClr val="3B82F6"/>
                </a:solidFill>
                <a:latin typeface="Noto Sans SC"/>
                <a:ea typeface="Noto Sans SC"/>
                <a:cs typeface="Noto Sans SC"/>
              </a:rPr>
              <a:t>作用：</a:t>
            </a:r>
            <a:r>
              <a:rPr sz="1200" b="0" i="0" u="none">
                <a:solidFill>
                  <a:srgbClr val="434343"/>
                </a:solidFill>
                <a:latin typeface="Noto Sans SC"/>
                <a:ea typeface="Noto Sans SC"/>
                <a:cs typeface="Noto Sans SC"/>
              </a:rPr>
              <a:t>用于验证时序建模在任务中的有效性对比。</a:t>
            </a:r>
          </a:p>
        </p:txBody>
      </p:sp>
      <p:sp>
        <p:nvSpPr>
          <p:cNvPr id="11" name="AutoShape 11">
            <a:extLst xmlns:a="http://schemas.openxmlformats.org/drawingml/2006/main">
              <a:ext uri="{FF2B5EF4-FFF2-40B4-BE49-F238E27FC236}">
                <a16:creationId xmlns:a16="http://schemas.microsoft.com/office/drawing/2014/main" id="{63A9BD71-3C18-459C-B05B-34FA6CB3C5D1}"/>
              </a:ext>
            </a:extLst>
          </p:cNvPr>
          <p:cNvSpPr>
            <a:spLocks xmlns:a="http://schemas.openxmlformats.org/drawingml/2006/main" noGrp="1"/>
          </p:cNvSpPr>
          <p:nvPr/>
        </p:nvSpPr>
        <p:spPr>
          <a:xfrm xmlns:a="http://schemas.openxmlformats.org/drawingml/2006/main">
            <a:off x="508000" y="3683000"/>
            <a:ext cx="5461000" cy="2032000"/>
          </a:xfrm>
          <a:prstGeom xmlns:a="http://schemas.openxmlformats.org/drawingml/2006/main" prst="roundRect">
            <a:avLst>
              <a:gd name="adj" fmla="val 7500"/>
            </a:avLst>
          </a:prstGeom>
          <a:solidFill xmlns:a="http://schemas.openxmlformats.org/drawingml/2006/main">
            <a:srgbClr val="FFFFFF">
              <a:alpha val="95000"/>
            </a:srgbClr>
          </a:solidFill>
          <a:ln xmlns:a="http://schemas.openxmlformats.org/drawingml/2006/main" w="12700" cmpd="sng">
            <a:solidFill>
              <a:srgbClr val="DEE0E3">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2" name="AutoShape 12">
            <a:extLst xmlns:a="http://schemas.openxmlformats.org/drawingml/2006/main">
              <a:ext uri="{FF2B5EF4-FFF2-40B4-BE49-F238E27FC236}">
                <a16:creationId xmlns:a16="http://schemas.microsoft.com/office/drawing/2014/main" id="{BD89A119-0C86-47A7-954D-D8499DE14851}"/>
              </a:ext>
            </a:extLst>
          </p:cNvPr>
          <p:cNvSpPr>
            <a:spLocks xmlns:a="http://schemas.openxmlformats.org/drawingml/2006/main" noGrp="1"/>
          </p:cNvSpPr>
          <p:nvPr/>
        </p:nvSpPr>
        <p:spPr>
          <a:xfrm xmlns:a="http://schemas.openxmlformats.org/drawingml/2006/main">
            <a:off x="508000" y="3683000"/>
            <a:ext cx="76200" cy="2032000"/>
          </a:xfrm>
          <a:prstGeom xmlns:a="http://schemas.openxmlformats.org/drawingml/2006/main" prst="roundRect">
            <a:avLst>
              <a:gd name="adj" fmla="val 0"/>
            </a:avLst>
          </a:prstGeom>
          <a:solidFill xmlns:a="http://schemas.openxmlformats.org/drawingml/2006/main">
            <a:srgbClr val="F59E0B">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3" name="AutoShape 13">
            <a:extLst xmlns:a="http://schemas.openxmlformats.org/drawingml/2006/main">
              <a:ext uri="{FF2B5EF4-FFF2-40B4-BE49-F238E27FC236}">
                <a16:creationId xmlns:a16="http://schemas.microsoft.com/office/drawing/2014/main" id="{DCF46226-5E83-4B3A-B650-0E7359C9149F}"/>
              </a:ext>
            </a:extLst>
          </p:cNvPr>
          <p:cNvSpPr>
            <a:spLocks xmlns:a="http://schemas.openxmlformats.org/drawingml/2006/main" noGrp="1"/>
          </p:cNvSpPr>
          <p:nvPr/>
        </p:nvSpPr>
        <p:spPr>
          <a:xfrm xmlns:a="http://schemas.openxmlformats.org/drawingml/2006/main">
            <a:off x="762000" y="3810000"/>
            <a:ext cx="4953000" cy="1778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0000"/>
              </a:lnSpc>
              <a:buNone/>
            </a:pPr>
            <a:r>
              <a:rPr sz="1800" b="1" i="0" u="none">
                <a:solidFill>
                  <a:srgbClr val="1F2329"/>
                </a:solidFill>
                <a:latin typeface="Noto Sans SC"/>
                <a:ea typeface="Noto Sans SC"/>
                <a:cs typeface="Noto Sans SC"/>
              </a:rPr>
              <a:t>普通 GCN (图卷积网络)</a:t>
            </a:r>
          </a:p>
          <a:p xmlns:a="http://schemas.openxmlformats.org/drawingml/2006/main">
            <a:pPr indent="0" algn="l">
              <a:lnSpc>
                <a:spcPct val="108000"/>
              </a:lnSpc>
              <a:spcBef>
                <a:spcPts val="800"/>
              </a:spcBef>
              <a:buNone/>
            </a:pPr>
            <a:r>
              <a:rPr sz="1200" b="1" i="0" u="none">
                <a:solidFill>
                  <a:srgbClr val="646A73"/>
                </a:solidFill>
                <a:latin typeface="Noto Sans SC"/>
                <a:ea typeface="Noto Sans SC"/>
                <a:cs typeface="Noto Sans SC"/>
              </a:rPr>
              <a:t>特点：</a:t>
            </a:r>
            <a:r>
              <a:rPr sz="1200" b="0" i="0" u="none">
                <a:solidFill>
                  <a:srgbClr val="434343"/>
                </a:solidFill>
                <a:latin typeface="Noto Sans SC"/>
                <a:ea typeface="Noto Sans SC"/>
                <a:cs typeface="Noto Sans SC"/>
              </a:rPr>
              <a:t>将电极建模为图节点，引入基础图结构。</a:t>
            </a:r>
          </a:p>
          <a:p xmlns:a="http://schemas.openxmlformats.org/drawingml/2006/main">
            <a:pPr indent="0" algn="l">
              <a:lnSpc>
                <a:spcPct val="108000"/>
              </a:lnSpc>
              <a:buNone/>
            </a:pPr>
            <a:r>
              <a:rPr sz="1200" b="1" i="0" u="none">
                <a:solidFill>
                  <a:srgbClr val="10B981"/>
                </a:solidFill>
                <a:latin typeface="Noto Sans SC"/>
                <a:ea typeface="Noto Sans SC"/>
                <a:cs typeface="Noto Sans SC"/>
              </a:rPr>
              <a:t>优势：</a:t>
            </a:r>
            <a:r>
              <a:rPr sz="1200" b="0" i="0" u="none">
                <a:solidFill>
                  <a:srgbClr val="434343"/>
                </a:solidFill>
                <a:latin typeface="Noto Sans SC"/>
                <a:ea typeface="Noto Sans SC"/>
                <a:cs typeface="Noto Sans SC"/>
              </a:rPr>
              <a:t>能够表达不同通道间的简单空间关系。</a:t>
            </a:r>
          </a:p>
          <a:p xmlns:a="http://schemas.openxmlformats.org/drawingml/2006/main">
            <a:pPr indent="0" algn="l">
              <a:lnSpc>
                <a:spcPct val="108000"/>
              </a:lnSpc>
              <a:buNone/>
            </a:pPr>
            <a:r>
              <a:rPr sz="1200" b="1" i="0" u="none">
                <a:solidFill>
                  <a:srgbClr val="EF4444"/>
                </a:solidFill>
                <a:latin typeface="Noto Sans SC"/>
                <a:ea typeface="Noto Sans SC"/>
                <a:cs typeface="Noto Sans SC"/>
              </a:rPr>
              <a:t>局限：</a:t>
            </a:r>
            <a:r>
              <a:rPr sz="1200" b="0" i="0" u="none">
                <a:solidFill>
                  <a:srgbClr val="434343"/>
                </a:solidFill>
                <a:latin typeface="Noto Sans SC"/>
                <a:ea typeface="Noto Sans SC"/>
                <a:cs typeface="Noto Sans SC"/>
              </a:rPr>
              <a:t>图结构单一，特征提取与表达能力受限。</a:t>
            </a:r>
          </a:p>
          <a:p xmlns:a="http://schemas.openxmlformats.org/drawingml/2006/main">
            <a:pPr indent="0" algn="l">
              <a:lnSpc>
                <a:spcPct val="108000"/>
              </a:lnSpc>
              <a:buNone/>
            </a:pPr>
            <a:r>
              <a:rPr sz="1200" b="1" i="0" u="none">
                <a:solidFill>
                  <a:srgbClr val="3B82F6"/>
                </a:solidFill>
                <a:latin typeface="Noto Sans SC"/>
                <a:ea typeface="Noto Sans SC"/>
                <a:cs typeface="Noto Sans SC"/>
              </a:rPr>
              <a:t>作用：</a:t>
            </a:r>
            <a:r>
              <a:rPr sz="1200" b="0" i="0" u="none">
                <a:solidFill>
                  <a:srgbClr val="434343"/>
                </a:solidFill>
                <a:latin typeface="Noto Sans SC"/>
                <a:ea typeface="Noto Sans SC"/>
                <a:cs typeface="Noto Sans SC"/>
              </a:rPr>
              <a:t>作为图神经网络的基础对照组。</a:t>
            </a:r>
          </a:p>
        </p:txBody>
      </p:sp>
      <p:sp>
        <p:nvSpPr>
          <p:cNvPr id="14" name="AutoShape 14">
            <a:extLst xmlns:a="http://schemas.openxmlformats.org/drawingml/2006/main">
              <a:ext uri="{FF2B5EF4-FFF2-40B4-BE49-F238E27FC236}">
                <a16:creationId xmlns:a16="http://schemas.microsoft.com/office/drawing/2014/main" id="{857BEC61-59AC-45D1-A28C-8828E796E9CF}"/>
              </a:ext>
            </a:extLst>
          </p:cNvPr>
          <p:cNvSpPr>
            <a:spLocks xmlns:a="http://schemas.openxmlformats.org/drawingml/2006/main" noGrp="1"/>
          </p:cNvSpPr>
          <p:nvPr/>
        </p:nvSpPr>
        <p:spPr>
          <a:xfrm xmlns:a="http://schemas.openxmlformats.org/drawingml/2006/main">
            <a:off x="6223000" y="3683000"/>
            <a:ext cx="5461000" cy="2032000"/>
          </a:xfrm>
          <a:prstGeom xmlns:a="http://schemas.openxmlformats.org/drawingml/2006/main" prst="roundRect">
            <a:avLst>
              <a:gd name="adj" fmla="val 7500"/>
            </a:avLst>
          </a:prstGeom>
          <a:solidFill xmlns:a="http://schemas.openxmlformats.org/drawingml/2006/main">
            <a:srgbClr val="EFF6FF">
              <a:alpha val="100000"/>
            </a:srgbClr>
          </a:solidFill>
          <a:ln xmlns:a="http://schemas.openxmlformats.org/drawingml/2006/main" w="25400" cmpd="sng">
            <a:solidFill>
              <a:srgbClr val="3B82F6">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5" name="AutoShape 15">
            <a:extLst xmlns:a="http://schemas.openxmlformats.org/drawingml/2006/main">
              <a:ext uri="{FF2B5EF4-FFF2-40B4-BE49-F238E27FC236}">
                <a16:creationId xmlns:a16="http://schemas.microsoft.com/office/drawing/2014/main" id="{4CC5FB31-9F32-4D54-84FB-6CF10B9E871F}"/>
              </a:ext>
            </a:extLst>
          </p:cNvPr>
          <p:cNvSpPr>
            <a:spLocks xmlns:a="http://schemas.openxmlformats.org/drawingml/2006/main" noGrp="1"/>
          </p:cNvSpPr>
          <p:nvPr/>
        </p:nvSpPr>
        <p:spPr>
          <a:xfrm xmlns:a="http://schemas.openxmlformats.org/drawingml/2006/main">
            <a:off x="6477000" y="3810000"/>
            <a:ext cx="4953000" cy="1778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0000"/>
              </a:lnSpc>
              <a:buNone/>
            </a:pPr>
            <a:r>
              <a:rPr sz="1800" b="1" i="0" u="none">
                <a:solidFill>
                  <a:srgbClr val="103A7E"/>
                </a:solidFill>
                <a:latin typeface="Noto Sans SC"/>
                <a:ea typeface="Noto Sans SC"/>
                <a:cs typeface="Noto Sans SC"/>
              </a:rPr>
              <a:t>MRGCN (多头残差图卷积网络)</a:t>
            </a:r>
          </a:p>
          <a:p xmlns:a="http://schemas.openxmlformats.org/drawingml/2006/main">
            <a:pPr indent="0" algn="l">
              <a:lnSpc>
                <a:spcPct val="108000"/>
              </a:lnSpc>
              <a:spcBef>
                <a:spcPts val="800"/>
              </a:spcBef>
              <a:buNone/>
            </a:pPr>
            <a:r>
              <a:rPr sz="1200" b="1" i="0" u="none">
                <a:solidFill>
                  <a:srgbClr val="646A73"/>
                </a:solidFill>
                <a:latin typeface="Noto Sans SC"/>
                <a:ea typeface="Noto Sans SC"/>
                <a:cs typeface="Noto Sans SC"/>
              </a:rPr>
              <a:t>特点：</a:t>
            </a:r>
            <a:r>
              <a:rPr sz="1200" b="0" i="0" u="none">
                <a:solidFill>
                  <a:srgbClr val="1F2329"/>
                </a:solidFill>
                <a:latin typeface="Noto Sans SC"/>
                <a:ea typeface="Noto Sans SC"/>
                <a:cs typeface="Noto Sans SC"/>
              </a:rPr>
              <a:t>融合多头图卷积与残差连接机制，结构更先进。</a:t>
            </a:r>
          </a:p>
          <a:p xmlns:a="http://schemas.openxmlformats.org/drawingml/2006/main">
            <a:pPr indent="0" algn="l">
              <a:lnSpc>
                <a:spcPct val="108000"/>
              </a:lnSpc>
              <a:buNone/>
            </a:pPr>
            <a:r>
              <a:rPr sz="1200" b="1" i="0" u="none">
                <a:solidFill>
                  <a:srgbClr val="10B981"/>
                </a:solidFill>
                <a:latin typeface="Noto Sans SC"/>
                <a:ea typeface="Noto Sans SC"/>
                <a:cs typeface="Noto Sans SC"/>
              </a:rPr>
              <a:t>优势：</a:t>
            </a:r>
            <a:r>
              <a:rPr sz="1200" b="0" i="0" u="none">
                <a:solidFill>
                  <a:srgbClr val="1F2329"/>
                </a:solidFill>
                <a:latin typeface="Noto Sans SC"/>
                <a:ea typeface="Noto Sans SC"/>
                <a:cs typeface="Noto Sans SC"/>
              </a:rPr>
              <a:t>兼顾复杂拓扑关系建模、训练稳定性与强表达能力。</a:t>
            </a:r>
          </a:p>
          <a:p xmlns:a="http://schemas.openxmlformats.org/drawingml/2006/main">
            <a:pPr indent="0" algn="l">
              <a:lnSpc>
                <a:spcPct val="108000"/>
              </a:lnSpc>
              <a:buNone/>
            </a:pPr>
            <a:r>
              <a:rPr sz="1200" b="1" i="0" u="none">
                <a:solidFill>
                  <a:srgbClr val="EF4444"/>
                </a:solidFill>
                <a:latin typeface="Noto Sans SC"/>
                <a:ea typeface="Noto Sans SC"/>
                <a:cs typeface="Noto Sans SC"/>
              </a:rPr>
              <a:t>局限：</a:t>
            </a:r>
            <a:r>
              <a:rPr sz="1200" b="0" i="0" u="none">
                <a:solidFill>
                  <a:srgbClr val="1F2329"/>
                </a:solidFill>
                <a:latin typeface="Noto Sans SC"/>
                <a:ea typeface="Noto Sans SC"/>
                <a:cs typeface="Noto Sans SC"/>
              </a:rPr>
              <a:t>网络结构相对复杂，端侧部署需优化。</a:t>
            </a:r>
          </a:p>
          <a:p xmlns:a="http://schemas.openxmlformats.org/drawingml/2006/main">
            <a:pPr indent="0" algn="l">
              <a:lnSpc>
                <a:spcPct val="108000"/>
              </a:lnSpc>
              <a:buNone/>
            </a:pPr>
            <a:r>
              <a:rPr sz="1200" b="1" i="0" u="none">
                <a:solidFill>
                  <a:srgbClr val="D97706"/>
                </a:solidFill>
                <a:latin typeface="Noto Sans SC"/>
                <a:ea typeface="Noto Sans SC"/>
                <a:cs typeface="Noto Sans SC"/>
              </a:rPr>
              <a:t>作用：</a:t>
            </a:r>
            <a:r>
              <a:rPr sz="1200" b="1" i="0" u="none">
                <a:solidFill>
                  <a:srgbClr val="1F2329"/>
                </a:solidFill>
                <a:latin typeface="Noto Sans SC"/>
                <a:ea typeface="Noto Sans SC"/>
                <a:cs typeface="Noto Sans SC"/>
              </a:rPr>
              <a:t>本作品的核心基线模型。</a:t>
            </a:r>
          </a:p>
        </p:txBody>
      </p:sp>
      <p:sp>
        <p:nvSpPr>
          <p:cNvPr id="16" name="AutoShape 16">
            <a:extLst xmlns:a="http://schemas.openxmlformats.org/drawingml/2006/main">
              <a:ext uri="{FF2B5EF4-FFF2-40B4-BE49-F238E27FC236}">
                <a16:creationId xmlns:a16="http://schemas.microsoft.com/office/drawing/2014/main" id="{04777B96-A8F5-433E-A11E-CECCDF5FF1BB}"/>
              </a:ext>
            </a:extLst>
          </p:cNvPr>
          <p:cNvSpPr>
            <a:spLocks xmlns:a="http://schemas.openxmlformats.org/drawingml/2006/main" noGrp="1"/>
          </p:cNvSpPr>
          <p:nvPr/>
        </p:nvSpPr>
        <p:spPr>
          <a:xfrm xmlns:a="http://schemas.openxmlformats.org/drawingml/2006/main">
            <a:off x="584200" y="5796915"/>
            <a:ext cx="11045190" cy="634365"/>
          </a:xfrm>
          <a:prstGeom xmlns:a="http://schemas.openxmlformats.org/drawingml/2006/main" prst="roundRect">
            <a:avLst>
              <a:gd name="adj" fmla="val 13333"/>
            </a:avLst>
          </a:prstGeom>
          <a:solidFill xmlns:a="http://schemas.openxmlformats.org/drawingml/2006/main">
            <a:srgbClr val="103A7E">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17" name="Picture 17"/>
          <p:cNvPicPr>
            <a:picLocks xmlns:a="http://schemas.openxmlformats.org/drawingml/2006/main" noChangeAspect="1"/>
          </p:cNvPicPr>
          <p:nvPr/>
        </p:nvPicPr>
        <p:blipFill>
          <a:blip xmlns:r="http://schemas.openxmlformats.org/officeDocument/2006/relationships" xmlns:a="http://schemas.openxmlformats.org/drawingml/2006/main" r:embed="R73488404e42c42d4"/>
          <a:stretch xmlns:a="http://schemas.openxmlformats.org/drawingml/2006/main">
            <a:fillRect l="0" t="0" r="0" b="0"/>
          </a:stretch>
        </p:blipFill>
        <p:spPr>
          <a:xfrm xmlns:a="http://schemas.openxmlformats.org/drawingml/2006/main">
            <a:off x="762000" y="5923280"/>
            <a:ext cx="508000" cy="508000"/>
          </a:xfrm>
          <a:prstGeom xmlns:a="http://schemas.openxmlformats.org/drawingml/2006/main" prst="rect">
            <a:avLst/>
          </a:prstGeom>
        </p:spPr>
      </p:pic>
      <p:sp>
        <p:nvSpPr>
          <p:cNvPr id="18" name="AutoShape 18">
            <a:extLst xmlns:a="http://schemas.openxmlformats.org/drawingml/2006/main">
              <a:ext uri="{FF2B5EF4-FFF2-40B4-BE49-F238E27FC236}">
                <a16:creationId xmlns:a16="http://schemas.microsoft.com/office/drawing/2014/main" id="{890CDA20-E954-4D10-AAE4-5CF0BA3C9F8F}"/>
              </a:ext>
            </a:extLst>
          </p:cNvPr>
          <p:cNvSpPr>
            <a:spLocks xmlns:a="http://schemas.openxmlformats.org/drawingml/2006/main" noGrp="1"/>
          </p:cNvSpPr>
          <p:nvPr/>
        </p:nvSpPr>
        <p:spPr>
          <a:xfrm xmlns:a="http://schemas.openxmlformats.org/drawingml/2006/main">
            <a:off x="1401445" y="5796915"/>
            <a:ext cx="9906000" cy="635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1600" b="1" i="0" u="none">
                <a:solidFill>
                  <a:srgbClr val="FFFFFF"/>
                </a:solidFill>
                <a:latin typeface="Noto Sans SC"/>
                <a:ea typeface="Noto Sans SC"/>
                <a:cs typeface="Noto Sans SC"/>
              </a:rPr>
              <a:t>最终决策：选择 MRGCN 作为基线模型，因其在脑区拓扑建模、训练稳定性与特征表达能力上取得了最佳平衡。</a:t>
            </a:r>
          </a:p>
        </p:txBody>
      </p:sp>
    </p:spTree>
    <p:extLst>
      <p:ext uri="{BB962C8B-B14F-4D97-AF65-F5344CB8AC3E}">
        <p14:creationId xmlns:p14="http://schemas.microsoft.com/office/powerpoint/2010/main" val="1532732123"/>
      </p:ext>
    </p:extLst>
  </p:cSld>
</p:sld>
</file>

<file path=ppt/slides/slide11.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fd599af7cbf44f15"/>
          <a:srcRect xmlns:a="http://schemas.openxmlformats.org/drawingml/2006/main" l="33" t="0" r="33" b="0"/>
          <a:stretch xmlns:a="http://schemas.openxmlformats.org/drawingml/2006/main">
            <a:fillRect l="0" t="0" r="0" b="0"/>
          </a:stretch>
        </p:blipFill>
        <p:spPr>
          <a:xfrm xmlns:a="http://schemas.openxmlformats.org/drawingml/2006/main">
            <a:off x="0" y="0"/>
            <a:ext cx="12001500" cy="6807200"/>
          </a:xfrm>
          <a:prstGeom xmlns:a="http://schemas.openxmlformats.org/drawingml/2006/main" prst="rect">
            <a:avLst/>
          </a:prstGeom>
          <a:ln xmlns:a="http://schemas.openxmlformats.org/drawingml/2006/main" w="25400" cap="flat" cmpd="sng">
            <a:noFill/>
            <a:prstDash val="solid"/>
            <a:round/>
          </a:ln>
        </p:spPr>
      </p:pic>
      <p:sp>
        <p:nvSpPr>
          <p:cNvPr id="4" name="AutoShape 4">
            <a:extLst xmlns:a="http://schemas.openxmlformats.org/drawingml/2006/main">
              <a:ext uri="{FF2B5EF4-FFF2-40B4-BE49-F238E27FC236}">
                <a16:creationId xmlns:a16="http://schemas.microsoft.com/office/drawing/2014/main" id="{044ED10B-DA06-414E-A944-A8DD05ED4444}"/>
              </a:ext>
            </a:extLst>
          </p:cNvPr>
          <p:cNvSpPr>
            <a:spLocks xmlns:a="http://schemas.openxmlformats.org/drawingml/2006/main" noGrp="1"/>
          </p:cNvSpPr>
          <p:nvPr/>
        </p:nvSpPr>
        <p:spPr>
          <a:xfrm xmlns:a="http://schemas.openxmlformats.org/drawingml/2006/main">
            <a:off x="508000" y="508000"/>
            <a:ext cx="10985500" cy="762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algn="ctr">
              <a:lnSpc>
                <a:spcPct val="125000"/>
              </a:lnSpc>
              <a:buNone/>
            </a:pPr>
            <a:r>
              <a:rPr sz="3200" b="1" i="0" u="none">
                <a:solidFill>
                  <a:srgbClr val="104862"/>
                </a:solidFill>
                <a:latin typeface="Noto Sans SC"/>
                <a:ea typeface="Noto Sans SC"/>
                <a:cs typeface="Noto Sans SC"/>
              </a:rPr>
              <a:t>03 核心技术原理 (2) - DANN领域对抗</a:t>
            </a:r>
          </a:p>
        </p:txBody>
      </p:sp>
      <p:sp>
        <p:nvSpPr>
          <p:cNvPr id="5" name="AutoShape 5">
            <a:extLst xmlns:a="http://schemas.openxmlformats.org/drawingml/2006/main">
              <a:ext uri="{FF2B5EF4-FFF2-40B4-BE49-F238E27FC236}">
                <a16:creationId xmlns:a16="http://schemas.microsoft.com/office/drawing/2014/main" id="{2D05FD6E-AFA7-4E3B-B17D-CB9C4F05194E}"/>
              </a:ext>
            </a:extLst>
          </p:cNvPr>
          <p:cNvSpPr>
            <a:spLocks xmlns:a="http://schemas.openxmlformats.org/drawingml/2006/main" noGrp="1"/>
          </p:cNvSpPr>
          <p:nvPr/>
        </p:nvSpPr>
        <p:spPr>
          <a:xfrm xmlns:a="http://schemas.openxmlformats.org/drawingml/2006/main">
            <a:off x="508000" y="1651000"/>
            <a:ext cx="2667000" cy="4572000"/>
          </a:xfrm>
          <a:prstGeom xmlns:a="http://schemas.openxmlformats.org/drawingml/2006/main" prst="roundRect">
            <a:avLst>
              <a:gd name="adj" fmla="val 5714"/>
            </a:avLst>
          </a:prstGeom>
          <a:solidFill xmlns:a="http://schemas.openxmlformats.org/drawingml/2006/main">
            <a:srgbClr val="EFF6FF">
              <a:alpha val="100000"/>
            </a:srgbClr>
          </a:solidFill>
          <a:ln xmlns:a="http://schemas.openxmlformats.org/drawingml/2006/main" w="12700" cmpd="sng">
            <a:solidFill>
              <a:srgbClr val="BFDBFE">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6" name="Picture 6"/>
          <p:cNvPicPr>
            <a:picLocks xmlns:a="http://schemas.openxmlformats.org/drawingml/2006/main" noChangeAspect="1"/>
          </p:cNvPicPr>
          <p:nvPr/>
        </p:nvPicPr>
        <p:blipFill>
          <a:blip xmlns:r="http://schemas.openxmlformats.org/officeDocument/2006/relationships" xmlns:a="http://schemas.openxmlformats.org/drawingml/2006/main" r:embed="R2146d822f45c4ae9"/>
          <a:stretch xmlns:a="http://schemas.openxmlformats.org/drawingml/2006/main">
            <a:fillRect l="0" t="0" r="0" b="0"/>
          </a:stretch>
        </p:blipFill>
        <p:spPr>
          <a:xfrm xmlns:a="http://schemas.openxmlformats.org/drawingml/2006/main">
            <a:off x="698500" y="1905000"/>
            <a:ext cx="355600" cy="355600"/>
          </a:xfrm>
          <a:prstGeom xmlns:a="http://schemas.openxmlformats.org/drawingml/2006/main" prst="rect">
            <a:avLst/>
          </a:prstGeom>
        </p:spPr>
      </p:pic>
      <p:sp>
        <p:nvSpPr>
          <p:cNvPr id="7" name="AutoShape 7">
            <a:extLst xmlns:a="http://schemas.openxmlformats.org/drawingml/2006/main">
              <a:ext uri="{FF2B5EF4-FFF2-40B4-BE49-F238E27FC236}">
                <a16:creationId xmlns:a16="http://schemas.microsoft.com/office/drawing/2014/main" id="{62B83116-DB7B-4034-ADFC-6EB9A5BA5DC1}"/>
              </a:ext>
            </a:extLst>
          </p:cNvPr>
          <p:cNvSpPr>
            <a:spLocks xmlns:a="http://schemas.openxmlformats.org/drawingml/2006/main" noGrp="1"/>
          </p:cNvSpPr>
          <p:nvPr/>
        </p:nvSpPr>
        <p:spPr>
          <a:xfrm xmlns:a="http://schemas.openxmlformats.org/drawingml/2006/main">
            <a:off x="1143000" y="1879600"/>
            <a:ext cx="1841500" cy="4064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2000" b="1" i="0" u="none">
                <a:solidFill>
                  <a:srgbClr val="1E40AF"/>
                </a:solidFill>
                <a:latin typeface="Noto Sans SC"/>
                <a:ea typeface="Noto Sans SC"/>
                <a:cs typeface="Noto Sans SC"/>
              </a:rPr>
              <a:t>核心问题</a:t>
            </a:r>
          </a:p>
        </p:txBody>
      </p:sp>
      <p:sp>
        <p:nvSpPr>
          <p:cNvPr id="8" name="AutoShape 8">
            <a:extLst xmlns:a="http://schemas.openxmlformats.org/drawingml/2006/main">
              <a:ext uri="{FF2B5EF4-FFF2-40B4-BE49-F238E27FC236}">
                <a16:creationId xmlns:a16="http://schemas.microsoft.com/office/drawing/2014/main" id="{89778761-EB9C-4FC4-BE13-DECF66007E74}"/>
              </a:ext>
            </a:extLst>
          </p:cNvPr>
          <p:cNvSpPr>
            <a:spLocks xmlns:a="http://schemas.openxmlformats.org/drawingml/2006/main" noGrp="1"/>
          </p:cNvSpPr>
          <p:nvPr/>
        </p:nvSpPr>
        <p:spPr>
          <a:xfrm xmlns:a="http://schemas.openxmlformats.org/drawingml/2006/main">
            <a:off x="698500" y="2667000"/>
            <a:ext cx="2286000" cy="3048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1300" b="0" i="0" u="none">
                <a:solidFill>
                  <a:srgbClr val="374151"/>
                </a:solidFill>
                <a:latin typeface="Noto Sans SC"/>
                <a:ea typeface="Noto Sans SC"/>
                <a:cs typeface="Noto Sans SC"/>
              </a:rPr>
              <a:t>EEG数据中普遍存在</a:t>
            </a:r>
            <a:r>
              <a:rPr sz="1300" b="1" i="0" u="none">
                <a:solidFill>
                  <a:srgbClr val="374151"/>
                </a:solidFill>
                <a:latin typeface="Noto Sans SC"/>
                <a:ea typeface="Noto Sans SC"/>
                <a:cs typeface="Noto Sans SC"/>
              </a:rPr>
              <a:t>“域偏移”</a:t>
            </a:r>
            <a:r>
              <a:rPr sz="1300" b="0" i="0" u="none">
                <a:solidFill>
                  <a:srgbClr val="374151"/>
                </a:solidFill>
                <a:latin typeface="Noto Sans SC"/>
                <a:ea typeface="Noto Sans SC"/>
                <a:cs typeface="Noto Sans SC"/>
              </a:rPr>
              <a:t>挑战：不同试次、不同时间段的采集环境差异，会导致数据分布产生显著不同。</a:t>
            </a:r>
          </a:p>
          <a:p xmlns:a="http://schemas.openxmlformats.org/drawingml/2006/main">
            <a:pPr indent="0" algn="l">
              <a:lnSpc>
                <a:spcPct val="125000"/>
              </a:lnSpc>
              <a:spcBef>
                <a:spcPts val="1200"/>
              </a:spcBef>
              <a:buNone/>
            </a:pPr>
            <a:r>
              <a:rPr sz="1300" b="0" i="0" u="none">
                <a:solidFill>
                  <a:srgbClr val="374151"/>
                </a:solidFill>
                <a:latin typeface="Noto Sans SC"/>
                <a:ea typeface="Noto Sans SC"/>
                <a:cs typeface="Noto Sans SC"/>
              </a:rPr>
              <a:t>如果不解决该问题，模型在训练集表现优异，但在测试集上泛化能力会大幅下降。</a:t>
            </a:r>
          </a:p>
        </p:txBody>
      </p:sp>
      <p:sp>
        <p:nvSpPr>
          <p:cNvPr id="9" name="AutoShape 9">
            <a:extLst xmlns:a="http://schemas.openxmlformats.org/drawingml/2006/main">
              <a:ext uri="{FF2B5EF4-FFF2-40B4-BE49-F238E27FC236}">
                <a16:creationId xmlns:a16="http://schemas.microsoft.com/office/drawing/2014/main" id="{7630D132-1A82-4289-9B88-6876EEECCD65}"/>
              </a:ext>
            </a:extLst>
          </p:cNvPr>
          <p:cNvSpPr>
            <a:spLocks xmlns:a="http://schemas.openxmlformats.org/drawingml/2006/main" noGrp="1"/>
          </p:cNvSpPr>
          <p:nvPr/>
        </p:nvSpPr>
        <p:spPr>
          <a:xfrm xmlns:a="http://schemas.openxmlformats.org/drawingml/2006/main">
            <a:off x="3429000" y="1651000"/>
            <a:ext cx="2667000" cy="4572000"/>
          </a:xfrm>
          <a:prstGeom xmlns:a="http://schemas.openxmlformats.org/drawingml/2006/main" prst="roundRect">
            <a:avLst>
              <a:gd name="adj" fmla="val 5714"/>
            </a:avLst>
          </a:prstGeom>
          <a:solidFill xmlns:a="http://schemas.openxmlformats.org/drawingml/2006/main">
            <a:srgbClr val="F0FDF4">
              <a:alpha val="100000"/>
            </a:srgbClr>
          </a:solidFill>
          <a:ln xmlns:a="http://schemas.openxmlformats.org/drawingml/2006/main" w="12700" cmpd="sng">
            <a:solidFill>
              <a:srgbClr val="BBF7D0">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10" name="Picture 10"/>
          <p:cNvPicPr>
            <a:picLocks xmlns:a="http://schemas.openxmlformats.org/drawingml/2006/main" noChangeAspect="1"/>
          </p:cNvPicPr>
          <p:nvPr/>
        </p:nvPicPr>
        <p:blipFill>
          <a:blip xmlns:r="http://schemas.openxmlformats.org/officeDocument/2006/relationships" xmlns:a="http://schemas.openxmlformats.org/drawingml/2006/main" r:embed="Redaa2dc394744cbd"/>
          <a:stretch xmlns:a="http://schemas.openxmlformats.org/drawingml/2006/main">
            <a:fillRect l="0" t="0" r="0" b="0"/>
          </a:stretch>
        </p:blipFill>
        <p:spPr>
          <a:xfrm xmlns:a="http://schemas.openxmlformats.org/drawingml/2006/main">
            <a:off x="3619500" y="1905000"/>
            <a:ext cx="355600" cy="355600"/>
          </a:xfrm>
          <a:prstGeom xmlns:a="http://schemas.openxmlformats.org/drawingml/2006/main" prst="rect">
            <a:avLst/>
          </a:prstGeom>
        </p:spPr>
      </p:pic>
      <p:sp>
        <p:nvSpPr>
          <p:cNvPr id="11" name="AutoShape 11">
            <a:extLst xmlns:a="http://schemas.openxmlformats.org/drawingml/2006/main">
              <a:ext uri="{FF2B5EF4-FFF2-40B4-BE49-F238E27FC236}">
                <a16:creationId xmlns:a16="http://schemas.microsoft.com/office/drawing/2014/main" id="{5BDB7DC5-70CD-4FBB-82BF-73A2B4561154}"/>
              </a:ext>
            </a:extLst>
          </p:cNvPr>
          <p:cNvSpPr>
            <a:spLocks xmlns:a="http://schemas.openxmlformats.org/drawingml/2006/main" noGrp="1"/>
          </p:cNvSpPr>
          <p:nvPr/>
        </p:nvSpPr>
        <p:spPr>
          <a:xfrm xmlns:a="http://schemas.openxmlformats.org/drawingml/2006/main">
            <a:off x="4064000" y="1879600"/>
            <a:ext cx="1841500" cy="4064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2000" b="1" i="0" u="none">
                <a:solidFill>
                  <a:srgbClr val="14532D"/>
                </a:solidFill>
                <a:latin typeface="Noto Sans SC"/>
                <a:ea typeface="Noto Sans SC"/>
                <a:cs typeface="Noto Sans SC"/>
              </a:rPr>
              <a:t>核心结构</a:t>
            </a:r>
          </a:p>
        </p:txBody>
      </p:sp>
      <p:sp>
        <p:nvSpPr>
          <p:cNvPr id="12" name="AutoShape 12">
            <a:extLst xmlns:a="http://schemas.openxmlformats.org/drawingml/2006/main">
              <a:ext uri="{FF2B5EF4-FFF2-40B4-BE49-F238E27FC236}">
                <a16:creationId xmlns:a16="http://schemas.microsoft.com/office/drawing/2014/main" id="{78E0F4DC-8B9D-456B-9C15-4B5418F480F9}"/>
              </a:ext>
            </a:extLst>
          </p:cNvPr>
          <p:cNvSpPr>
            <a:spLocks xmlns:a="http://schemas.openxmlformats.org/drawingml/2006/main" noGrp="1"/>
          </p:cNvSpPr>
          <p:nvPr/>
        </p:nvSpPr>
        <p:spPr>
          <a:xfrm xmlns:a="http://schemas.openxmlformats.org/drawingml/2006/main">
            <a:off x="3619500" y="2667000"/>
            <a:ext cx="2286000" cy="3048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1300" b="0" i="0" u="none">
                <a:solidFill>
                  <a:srgbClr val="374151"/>
                </a:solidFill>
                <a:latin typeface="Noto Sans SC"/>
                <a:ea typeface="Noto Sans SC"/>
                <a:cs typeface="Noto Sans SC"/>
              </a:rPr>
              <a:t>在MRGCN特征提取器后，并联两个分支：</a:t>
            </a:r>
          </a:p>
          <a:p xmlns:a="http://schemas.openxmlformats.org/drawingml/2006/main">
            <a:pPr indent="0" algn="l">
              <a:lnSpc>
                <a:spcPct val="117000"/>
              </a:lnSpc>
              <a:spcBef>
                <a:spcPts val="800"/>
              </a:spcBef>
              <a:buNone/>
            </a:pPr>
            <a:r>
              <a:rPr sz="1300" b="1" i="0" u="none">
                <a:solidFill>
                  <a:srgbClr val="15803D"/>
                </a:solidFill>
                <a:latin typeface="Noto Sans SC"/>
                <a:ea typeface="Noto Sans SC"/>
                <a:cs typeface="Noto Sans SC"/>
              </a:rPr>
              <a:t>1. 情绪分类器：</a:t>
            </a:r>
            <a:r>
              <a:rPr sz="1300" b="0" i="0" u="none">
                <a:solidFill>
                  <a:srgbClr val="374151"/>
                </a:solidFill>
                <a:latin typeface="Noto Sans SC"/>
                <a:ea typeface="Noto Sans SC"/>
                <a:cs typeface="Noto Sans SC"/>
              </a:rPr>
              <a:t>预测样本的情绪标签（如负性、中性、正性）。</a:t>
            </a:r>
          </a:p>
          <a:p xmlns:a="http://schemas.openxmlformats.org/drawingml/2006/main">
            <a:pPr indent="0" algn="l">
              <a:lnSpc>
                <a:spcPct val="117000"/>
              </a:lnSpc>
              <a:spcBef>
                <a:spcPts val="1200"/>
              </a:spcBef>
              <a:buNone/>
            </a:pPr>
            <a:r>
              <a:rPr sz="1300" b="1" i="0" u="none">
                <a:solidFill>
                  <a:srgbClr val="15803D"/>
                </a:solidFill>
                <a:latin typeface="Noto Sans SC"/>
                <a:ea typeface="Noto Sans SC"/>
                <a:cs typeface="Noto Sans SC"/>
              </a:rPr>
              <a:t>2. 域分类器：</a:t>
            </a:r>
            <a:r>
              <a:rPr sz="1300" b="0" i="0" u="none">
                <a:solidFill>
                  <a:srgbClr val="374151"/>
                </a:solidFill>
                <a:latin typeface="Noto Sans SC"/>
                <a:ea typeface="Noto Sans SC"/>
                <a:cs typeface="Noto Sans SC"/>
              </a:rPr>
              <a:t>判别样本来源，区分是来自“源域”(训练集)还是“目标域”(测试集)。</a:t>
            </a:r>
          </a:p>
        </p:txBody>
      </p:sp>
      <p:sp>
        <p:nvSpPr>
          <p:cNvPr id="13" name="AutoShape 13">
            <a:extLst xmlns:a="http://schemas.openxmlformats.org/drawingml/2006/main">
              <a:ext uri="{FF2B5EF4-FFF2-40B4-BE49-F238E27FC236}">
                <a16:creationId xmlns:a16="http://schemas.microsoft.com/office/drawing/2014/main" id="{DFF0C8E6-9783-4B4E-A4CE-D3F3AAB2C5A6}"/>
              </a:ext>
            </a:extLst>
          </p:cNvPr>
          <p:cNvSpPr>
            <a:spLocks xmlns:a="http://schemas.openxmlformats.org/drawingml/2006/main" noGrp="1"/>
          </p:cNvSpPr>
          <p:nvPr/>
        </p:nvSpPr>
        <p:spPr>
          <a:xfrm xmlns:a="http://schemas.openxmlformats.org/drawingml/2006/main">
            <a:off x="6350000" y="1651000"/>
            <a:ext cx="2667000" cy="4572000"/>
          </a:xfrm>
          <a:prstGeom xmlns:a="http://schemas.openxmlformats.org/drawingml/2006/main" prst="roundRect">
            <a:avLst>
              <a:gd name="adj" fmla="val 5714"/>
            </a:avLst>
          </a:prstGeom>
          <a:solidFill xmlns:a="http://schemas.openxmlformats.org/drawingml/2006/main">
            <a:srgbClr val="FFFBEB">
              <a:alpha val="100000"/>
            </a:srgbClr>
          </a:solidFill>
          <a:ln xmlns:a="http://schemas.openxmlformats.org/drawingml/2006/main" w="12700" cmpd="sng">
            <a:solidFill>
              <a:srgbClr val="FDE68A">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14" name="Picture 14"/>
          <p:cNvPicPr>
            <a:picLocks xmlns:a="http://schemas.openxmlformats.org/drawingml/2006/main" noChangeAspect="1"/>
          </p:cNvPicPr>
          <p:nvPr/>
        </p:nvPicPr>
        <p:blipFill>
          <a:blip xmlns:r="http://schemas.openxmlformats.org/officeDocument/2006/relationships" xmlns:a="http://schemas.openxmlformats.org/drawingml/2006/main" r:embed="Raf1e90f715d548c3"/>
          <a:stretch xmlns:a="http://schemas.openxmlformats.org/drawingml/2006/main">
            <a:fillRect l="0" t="0" r="0" b="0"/>
          </a:stretch>
        </p:blipFill>
        <p:spPr>
          <a:xfrm xmlns:a="http://schemas.openxmlformats.org/drawingml/2006/main">
            <a:off x="6540500" y="1905000"/>
            <a:ext cx="355600" cy="355600"/>
          </a:xfrm>
          <a:prstGeom xmlns:a="http://schemas.openxmlformats.org/drawingml/2006/main" prst="rect">
            <a:avLst/>
          </a:prstGeom>
        </p:spPr>
      </p:pic>
      <p:sp>
        <p:nvSpPr>
          <p:cNvPr id="15" name="AutoShape 15">
            <a:extLst xmlns:a="http://schemas.openxmlformats.org/drawingml/2006/main">
              <a:ext uri="{FF2B5EF4-FFF2-40B4-BE49-F238E27FC236}">
                <a16:creationId xmlns:a16="http://schemas.microsoft.com/office/drawing/2014/main" id="{43BB6E44-D982-47A4-BF41-2BF15F41F8DE}"/>
              </a:ext>
            </a:extLst>
          </p:cNvPr>
          <p:cNvSpPr>
            <a:spLocks xmlns:a="http://schemas.openxmlformats.org/drawingml/2006/main" noGrp="1"/>
          </p:cNvSpPr>
          <p:nvPr/>
        </p:nvSpPr>
        <p:spPr>
          <a:xfrm xmlns:a="http://schemas.openxmlformats.org/drawingml/2006/main">
            <a:off x="6985000" y="1879600"/>
            <a:ext cx="1841500" cy="4064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2000" b="1" i="0" u="none">
                <a:solidFill>
                  <a:srgbClr val="92400E"/>
                </a:solidFill>
                <a:latin typeface="Noto Sans SC"/>
                <a:ea typeface="Noto Sans SC"/>
                <a:cs typeface="Noto Sans SC"/>
              </a:rPr>
              <a:t>关键机制 (GRL)</a:t>
            </a:r>
          </a:p>
        </p:txBody>
      </p:sp>
      <p:sp>
        <p:nvSpPr>
          <p:cNvPr id="16" name="AutoShape 16">
            <a:extLst xmlns:a="http://schemas.openxmlformats.org/drawingml/2006/main">
              <a:ext uri="{FF2B5EF4-FFF2-40B4-BE49-F238E27FC236}">
                <a16:creationId xmlns:a16="http://schemas.microsoft.com/office/drawing/2014/main" id="{995025B0-BC12-45F5-B98A-8756DD03806F}"/>
              </a:ext>
            </a:extLst>
          </p:cNvPr>
          <p:cNvSpPr>
            <a:spLocks xmlns:a="http://schemas.openxmlformats.org/drawingml/2006/main" noGrp="1"/>
          </p:cNvSpPr>
          <p:nvPr/>
        </p:nvSpPr>
        <p:spPr>
          <a:xfrm xmlns:a="http://schemas.openxmlformats.org/drawingml/2006/main">
            <a:off x="6540500" y="2667000"/>
            <a:ext cx="2286000" cy="3048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1300" b="0" i="0" u="none">
                <a:solidFill>
                  <a:srgbClr val="374151"/>
                </a:solidFill>
                <a:latin typeface="Noto Sans SC"/>
                <a:ea typeface="Noto Sans SC"/>
                <a:cs typeface="Noto Sans SC"/>
              </a:rPr>
              <a:t>核心组件：</a:t>
            </a:r>
            <a:r>
              <a:rPr sz="1300" b="1" i="0" u="none">
                <a:solidFill>
                  <a:srgbClr val="374151"/>
                </a:solidFill>
                <a:latin typeface="Noto Sans SC"/>
                <a:ea typeface="Noto Sans SC"/>
                <a:cs typeface="Noto Sans SC"/>
              </a:rPr>
              <a:t>梯度反转层 (GRL)</a:t>
            </a:r>
            <a:r>
              <a:rPr sz="1300" b="0" i="0" u="none">
                <a:solidFill>
                  <a:srgbClr val="374151"/>
                </a:solidFill>
                <a:latin typeface="Noto Sans SC"/>
                <a:ea typeface="Noto Sans SC"/>
                <a:cs typeface="Noto Sans SC"/>
              </a:rPr>
              <a:t>，它在不同传播阶段扮演不同角色：</a:t>
            </a:r>
          </a:p>
          <a:p xmlns:a="http://schemas.openxmlformats.org/drawingml/2006/main">
            <a:pPr indent="0" algn="l">
              <a:lnSpc>
                <a:spcPct val="117000"/>
              </a:lnSpc>
              <a:spcBef>
                <a:spcPts val="800"/>
              </a:spcBef>
              <a:buNone/>
            </a:pPr>
            <a:r>
              <a:rPr sz="1300" b="1" i="0" u="none">
                <a:solidFill>
                  <a:srgbClr val="B45309"/>
                </a:solidFill>
                <a:latin typeface="Noto Sans SC"/>
                <a:ea typeface="Noto Sans SC"/>
                <a:cs typeface="Noto Sans SC"/>
              </a:rPr>
              <a:t>• 前向传播：</a:t>
            </a:r>
            <a:r>
              <a:rPr sz="1300" b="0" i="0" u="none">
                <a:solidFill>
                  <a:srgbClr val="374151"/>
                </a:solidFill>
                <a:latin typeface="Noto Sans SC"/>
                <a:ea typeface="Noto Sans SC"/>
                <a:cs typeface="Noto Sans SC"/>
              </a:rPr>
              <a:t>“透明”状态，不对特征做任何变换。</a:t>
            </a:r>
          </a:p>
          <a:p xmlns:a="http://schemas.openxmlformats.org/drawingml/2006/main">
            <a:pPr indent="0" algn="l">
              <a:lnSpc>
                <a:spcPct val="117000"/>
              </a:lnSpc>
              <a:spcBef>
                <a:spcPts val="1200"/>
              </a:spcBef>
              <a:buNone/>
            </a:pPr>
            <a:r>
              <a:rPr sz="1300" b="1" i="0" u="none">
                <a:solidFill>
                  <a:srgbClr val="B45309"/>
                </a:solidFill>
                <a:latin typeface="Noto Sans SC"/>
                <a:ea typeface="Noto Sans SC"/>
                <a:cs typeface="Noto Sans SC"/>
              </a:rPr>
              <a:t>• 反向传播：</a:t>
            </a:r>
            <a:r>
              <a:rPr sz="1300" b="0" i="0" u="none">
                <a:solidFill>
                  <a:srgbClr val="374151"/>
                </a:solidFill>
                <a:latin typeface="Noto Sans SC"/>
                <a:ea typeface="Noto Sans SC"/>
                <a:cs typeface="Noto Sans SC"/>
              </a:rPr>
              <a:t>对域分类器的反馈梯度乘上一个负系数，实现梯度方向反转。</a:t>
            </a:r>
          </a:p>
        </p:txBody>
      </p:sp>
      <p:sp>
        <p:nvSpPr>
          <p:cNvPr id="17" name="AutoShape 17">
            <a:extLst xmlns:a="http://schemas.openxmlformats.org/drawingml/2006/main">
              <a:ext uri="{FF2B5EF4-FFF2-40B4-BE49-F238E27FC236}">
                <a16:creationId xmlns:a16="http://schemas.microsoft.com/office/drawing/2014/main" id="{456BE40B-51A3-4F74-ABC9-9E855FDD32BE}"/>
              </a:ext>
            </a:extLst>
          </p:cNvPr>
          <p:cNvSpPr>
            <a:spLocks xmlns:a="http://schemas.openxmlformats.org/drawingml/2006/main" noGrp="1"/>
          </p:cNvSpPr>
          <p:nvPr/>
        </p:nvSpPr>
        <p:spPr>
          <a:xfrm xmlns:a="http://schemas.openxmlformats.org/drawingml/2006/main">
            <a:off x="9207500" y="1651000"/>
            <a:ext cx="2667000" cy="4572000"/>
          </a:xfrm>
          <a:prstGeom xmlns:a="http://schemas.openxmlformats.org/drawingml/2006/main" prst="roundRect">
            <a:avLst>
              <a:gd name="adj" fmla="val 5714"/>
            </a:avLst>
          </a:prstGeom>
          <a:solidFill xmlns:a="http://schemas.openxmlformats.org/drawingml/2006/main">
            <a:srgbClr val="FEF2F2">
              <a:alpha val="100000"/>
            </a:srgbClr>
          </a:solidFill>
          <a:ln xmlns:a="http://schemas.openxmlformats.org/drawingml/2006/main" w="12700" cmpd="sng">
            <a:solidFill>
              <a:srgbClr val="FECACA">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18" name="Picture 18"/>
          <p:cNvPicPr>
            <a:picLocks xmlns:a="http://schemas.openxmlformats.org/drawingml/2006/main" noChangeAspect="1"/>
          </p:cNvPicPr>
          <p:nvPr/>
        </p:nvPicPr>
        <p:blipFill>
          <a:blip xmlns:r="http://schemas.openxmlformats.org/officeDocument/2006/relationships" xmlns:a="http://schemas.openxmlformats.org/drawingml/2006/main" r:embed="Rf029738e31de4831"/>
          <a:stretch xmlns:a="http://schemas.openxmlformats.org/drawingml/2006/main">
            <a:fillRect l="0" t="0" r="0" b="0"/>
          </a:stretch>
        </p:blipFill>
        <p:spPr>
          <a:xfrm xmlns:a="http://schemas.openxmlformats.org/drawingml/2006/main">
            <a:off x="9398000" y="1905000"/>
            <a:ext cx="355600" cy="355600"/>
          </a:xfrm>
          <a:prstGeom xmlns:a="http://schemas.openxmlformats.org/drawingml/2006/main" prst="rect">
            <a:avLst/>
          </a:prstGeom>
        </p:spPr>
      </p:pic>
      <p:sp>
        <p:nvSpPr>
          <p:cNvPr id="19" name="AutoShape 19">
            <a:extLst xmlns:a="http://schemas.openxmlformats.org/drawingml/2006/main">
              <a:ext uri="{FF2B5EF4-FFF2-40B4-BE49-F238E27FC236}">
                <a16:creationId xmlns:a16="http://schemas.microsoft.com/office/drawing/2014/main" id="{326B17B4-B00F-47AD-9E5A-5552547851FC}"/>
              </a:ext>
            </a:extLst>
          </p:cNvPr>
          <p:cNvSpPr>
            <a:spLocks xmlns:a="http://schemas.openxmlformats.org/drawingml/2006/main" noGrp="1"/>
          </p:cNvSpPr>
          <p:nvPr/>
        </p:nvSpPr>
        <p:spPr>
          <a:xfrm xmlns:a="http://schemas.openxmlformats.org/drawingml/2006/main">
            <a:off x="9842500" y="1879600"/>
            <a:ext cx="1905000" cy="4064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2000" b="1" i="0" u="none">
                <a:solidFill>
                  <a:srgbClr val="991B1B"/>
                </a:solidFill>
                <a:latin typeface="Noto Sans SC"/>
                <a:ea typeface="Noto Sans SC"/>
                <a:cs typeface="Noto Sans SC"/>
              </a:rPr>
              <a:t>训练目标</a:t>
            </a:r>
          </a:p>
        </p:txBody>
      </p:sp>
      <p:sp>
        <p:nvSpPr>
          <p:cNvPr id="20" name="AutoShape 20">
            <a:extLst xmlns:a="http://schemas.openxmlformats.org/drawingml/2006/main">
              <a:ext uri="{FF2B5EF4-FFF2-40B4-BE49-F238E27FC236}">
                <a16:creationId xmlns:a16="http://schemas.microsoft.com/office/drawing/2014/main" id="{5BC9AF92-5B2C-4C43-92D1-203978D5E030}"/>
              </a:ext>
            </a:extLst>
          </p:cNvPr>
          <p:cNvSpPr>
            <a:spLocks xmlns:a="http://schemas.openxmlformats.org/drawingml/2006/main" noGrp="1"/>
          </p:cNvSpPr>
          <p:nvPr/>
        </p:nvSpPr>
        <p:spPr>
          <a:xfrm xmlns:a="http://schemas.openxmlformats.org/drawingml/2006/main">
            <a:off x="9398000" y="2667000"/>
            <a:ext cx="2286000" cy="3048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1300" b="0" i="0" u="none">
                <a:solidFill>
                  <a:srgbClr val="374151"/>
                </a:solidFill>
                <a:latin typeface="Noto Sans SC"/>
                <a:ea typeface="Noto Sans SC"/>
                <a:cs typeface="Noto Sans SC"/>
              </a:rPr>
              <a:t>通过构建“情绪分类”与“域分类”的对抗关系，引导特征提取器：</a:t>
            </a:r>
          </a:p>
          <a:p xmlns:a="http://schemas.openxmlformats.org/drawingml/2006/main">
            <a:pPr indent="0" algn="l">
              <a:lnSpc>
                <a:spcPct val="117000"/>
              </a:lnSpc>
              <a:spcBef>
                <a:spcPts val="1200"/>
              </a:spcBef>
              <a:buNone/>
            </a:pPr>
            <a:r>
              <a:rPr sz="1300" b="1" i="0" u="none">
                <a:solidFill>
                  <a:srgbClr val="B91C1C"/>
                </a:solidFill>
                <a:latin typeface="Noto Sans SC"/>
                <a:ea typeface="Noto Sans SC"/>
                <a:cs typeface="Noto Sans SC"/>
              </a:rPr>
              <a:t>→ 保留情绪信息：</a:t>
            </a:r>
            <a:r>
              <a:rPr sz="1300" b="0" i="0" u="none">
                <a:solidFill>
                  <a:srgbClr val="374151"/>
                </a:solidFill>
                <a:latin typeface="Noto Sans SC"/>
                <a:ea typeface="Noto Sans SC"/>
                <a:cs typeface="Noto Sans SC"/>
              </a:rPr>
              <a:t>让情绪分类器可以准确预测类别。</a:t>
            </a:r>
          </a:p>
          <a:p xmlns:a="http://schemas.openxmlformats.org/drawingml/2006/main">
            <a:pPr indent="0" algn="l">
              <a:lnSpc>
                <a:spcPct val="117000"/>
              </a:lnSpc>
              <a:spcBef>
                <a:spcPts val="1200"/>
              </a:spcBef>
              <a:buNone/>
            </a:pPr>
            <a:r>
              <a:rPr sz="1300" b="1" i="0" u="none">
                <a:solidFill>
                  <a:srgbClr val="B91C1C"/>
                </a:solidFill>
                <a:latin typeface="Noto Sans SC"/>
                <a:ea typeface="Noto Sans SC"/>
                <a:cs typeface="Noto Sans SC"/>
              </a:rPr>
              <a:t>→ 剔除域差异：</a:t>
            </a:r>
            <a:r>
              <a:rPr sz="1300" b="0" i="0" u="none">
                <a:solidFill>
                  <a:srgbClr val="374151"/>
                </a:solidFill>
                <a:latin typeface="Noto Sans SC"/>
                <a:ea typeface="Noto Sans SC"/>
                <a:cs typeface="Noto Sans SC"/>
              </a:rPr>
              <a:t>让域分类器无法分辨来源，最终学到“域不变特征”，大幅提升泛化能力。</a:t>
            </a:r>
          </a:p>
        </p:txBody>
      </p:sp>
    </p:spTree>
    <p:extLst>
      <p:ext uri="{BB962C8B-B14F-4D97-AF65-F5344CB8AC3E}">
        <p14:creationId xmlns:p14="http://schemas.microsoft.com/office/powerpoint/2010/main" val="157222581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a5e57baf011e4c32"/>
          <a:srcRect xmlns:a="http://schemas.openxmlformats.org/drawingml/2006/main" l="33" t="0" r="33" b="0"/>
          <a:stretch xmlns:a="http://schemas.openxmlformats.org/drawingml/2006/main">
            <a:fillRect l="0" t="0" r="0" b="0"/>
          </a:stretch>
        </p:blipFill>
        <p:spPr>
          <a:xfrm xmlns:a="http://schemas.openxmlformats.org/drawingml/2006/main">
            <a:off x="0" y="0"/>
            <a:ext cx="12001500" cy="6807200"/>
          </a:xfrm>
          <a:prstGeom xmlns:a="http://schemas.openxmlformats.org/drawingml/2006/main" prst="rect">
            <a:avLst/>
          </a:prstGeom>
          <a:ln xmlns:a="http://schemas.openxmlformats.org/drawingml/2006/main" w="25400" cap="flat" cmpd="sng">
            <a:noFill/>
            <a:prstDash val="solid"/>
            <a:round/>
          </a:ln>
        </p:spPr>
      </p:pic>
      <p:sp>
        <p:nvSpPr>
          <p:cNvPr id="4" name="AutoShape 4">
            <a:extLst xmlns:a="http://schemas.openxmlformats.org/drawingml/2006/main">
              <a:ext uri="{FF2B5EF4-FFF2-40B4-BE49-F238E27FC236}">
                <a16:creationId xmlns:a16="http://schemas.microsoft.com/office/drawing/2014/main" id="{2AD09B6B-4753-4749-87D0-12E95ACF386F}"/>
              </a:ext>
            </a:extLst>
          </p:cNvPr>
          <p:cNvSpPr>
            <a:spLocks xmlns:a="http://schemas.openxmlformats.org/drawingml/2006/main" noGrp="1"/>
          </p:cNvSpPr>
          <p:nvPr/>
        </p:nvSpPr>
        <p:spPr>
          <a:xfrm xmlns:a="http://schemas.openxmlformats.org/drawingml/2006/main">
            <a:off x="508000" y="508000"/>
            <a:ext cx="10985500" cy="762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algn="ctr">
              <a:lnSpc>
                <a:spcPct val="125000"/>
              </a:lnSpc>
              <a:buNone/>
            </a:pPr>
            <a:r>
              <a:rPr sz="3100" b="1">
                <a:solidFill>
                  <a:srgbClr val="093A5A"/>
                </a:solidFill>
                <a:latin typeface="微软雅黑"/>
                <a:ea typeface="微软雅黑"/>
                <a:cs typeface="微软雅黑"/>
              </a:rPr>
              <a:t>03 核心技术原理 (3) - 知识蒸馏</a:t>
            </a:r>
          </a:p>
        </p:txBody>
      </p:sp>
      <p:sp>
        <p:nvSpPr>
          <p:cNvPr id="5" name="TextBox 4">
            <a:extLst xmlns:a="http://schemas.openxmlformats.org/drawingml/2006/main">
              <a:ext uri="{FF2B5EF4-FFF2-40B4-BE49-F238E27FC236}">
                <a16:creationId xmlns:a16="http://schemas.microsoft.com/office/drawing/2014/main" id="{D133773F-27A6-4469-B2EA-44DC24F00D1C}"/>
              </a:ext>
            </a:extLst>
          </p:cNvPr>
          <p:cNvSpPr>
            <a:spLocks xmlns:a="http://schemas.openxmlformats.org/drawingml/2006/main" noGrp="1"/>
          </p:cNvSpPr>
          <p:nvPr/>
        </p:nvSpPr>
        <p:spPr>
          <a:xfrm xmlns:a="http://schemas.openxmlformats.org/drawingml/2006/main">
            <a:off x="777240" y="1207008"/>
            <a:ext cx="10515600" cy="320040"/>
          </a:xfrm>
          <a:prstGeom xmlns:a="http://schemas.openxmlformats.org/drawingml/2006/main" prst="rect">
            <a:avLst/>
          </a:prstGeom>
          <a:noFill xmlns:a="http://schemas.openxmlformats.org/drawingml/2006/main"/>
        </p:spPr>
        <p:txBody>
          <a:bodyPr xmlns:a="http://schemas.openxmlformats.org/drawingml/2006/main" wrap="none" tIns="36576" bIns="36576" anchor="ctr">
            <a:spAutoFit/>
          </a:bodyPr>
          <a:lstStyle xmlns:a="http://schemas.openxmlformats.org/drawingml/2006/main"/>
          <a:p xmlns:a="http://schemas.openxmlformats.org/drawingml/2006/main">
            <a:pPr algn="ctr">
              <a:lnSpc>
                <a:spcPct val="110000"/>
              </a:lnSpc>
              <a:buNone/>
            </a:pPr>
            <a:r>
              <a:rPr sz="1550" b="0">
                <a:solidFill>
                  <a:srgbClr val="2C3E50"/>
                </a:solidFill>
                <a:latin typeface="微软雅黑"/>
                <a:ea typeface="微软雅黑"/>
                <a:cs typeface="微软雅黑"/>
              </a:rPr>
              <a:t>核心思想：用高精度教师模型指导轻量学生模型，在保留识别能力的同时降低端侧推理开销。</a:t>
            </a:r>
          </a:p>
        </p:txBody>
      </p:sp>
      <p:sp>
        <p:nvSpPr>
          <p:cNvPr id="6" name="Rounded Rectangle 5">
            <a:extLst xmlns:a="http://schemas.openxmlformats.org/drawingml/2006/main">
              <a:ext uri="{FF2B5EF4-FFF2-40B4-BE49-F238E27FC236}">
                <a16:creationId xmlns:a16="http://schemas.microsoft.com/office/drawing/2014/main" id="{F749303C-8543-4A74-A18C-4368AD1F6501}"/>
              </a:ext>
            </a:extLst>
          </p:cNvPr>
          <p:cNvSpPr>
            <a:spLocks xmlns:a="http://schemas.openxmlformats.org/drawingml/2006/main" noGrp="1"/>
          </p:cNvSpPr>
          <p:nvPr/>
        </p:nvSpPr>
        <p:spPr>
          <a:xfrm xmlns:a="http://schemas.openxmlformats.org/drawingml/2006/main">
            <a:off x="658368" y="1664208"/>
            <a:ext cx="5349240" cy="1609344"/>
          </a:xfrm>
          <a:prstGeom xmlns:a="http://schemas.openxmlformats.org/drawingml/2006/main" prst="roundRect">
            <a:avLst/>
          </a:prstGeom>
          <a:solidFill xmlns:a="http://schemas.openxmlformats.org/drawingml/2006/main">
            <a:srgbClr val="F3F8FF"/>
          </a:solidFill>
          <a:ln xmlns:a="http://schemas.openxmlformats.org/drawingml/2006/main" w="19050">
            <a:solidFill>
              <a:srgbClr val="96C0F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164592" tIns="109728" rIns="146304" bIns="91440" anchor="t"/>
          <a:lstStyle xmlns:a="http://schemas.openxmlformats.org/drawingml/2006/main"/>
          <a:p xmlns:a="http://schemas.openxmlformats.org/drawingml/2006/main">
            <a:pPr algn="l">
              <a:buNone/>
            </a:pPr>
            <a:r>
              <a:rPr sz="2100" b="1">
                <a:solidFill>
                  <a:srgbClr val="093A5A"/>
                </a:solidFill>
                <a:latin typeface="微软雅黑"/>
                <a:ea typeface="微软雅黑"/>
                <a:cs typeface="微软雅黑"/>
              </a:rPr>
              <a:t>一、蒸馏动机</a:t>
            </a:r>
          </a:p>
          <a:p xmlns:a="http://schemas.openxmlformats.org/drawingml/2006/main">
            <a:pPr algn="l">
              <a:lnSpc>
                <a:spcPct val="102000"/>
              </a:lnSpc>
              <a:spcBef>
                <a:spcPts val="400"/>
              </a:spcBef>
              <a:buNone/>
            </a:pPr>
            <a:r>
              <a:rPr sz="1310" b="0">
                <a:solidFill>
                  <a:srgbClr val="192B3E"/>
                </a:solidFill>
                <a:latin typeface="微软雅黑"/>
                <a:ea typeface="微软雅黑"/>
                <a:cs typeface="微软雅黑"/>
              </a:rPr>
              <a:t>教师 MRGCN-DANN 图结构表达强，但端侧推理开销较高。</a:t>
            </a:r>
          </a:p>
          <a:p xmlns:a="http://schemas.openxmlformats.org/drawingml/2006/main">
            <a:pPr algn="l">
              <a:lnSpc>
                <a:spcPct val="102000"/>
              </a:lnSpc>
              <a:spcBef>
                <a:spcPts val="400"/>
              </a:spcBef>
              <a:buNone/>
            </a:pPr>
            <a:r>
              <a:rPr sz="1310" b="0">
                <a:solidFill>
                  <a:srgbClr val="192B3E"/>
                </a:solidFill>
                <a:latin typeface="微软雅黑"/>
                <a:ea typeface="微软雅黑"/>
                <a:cs typeface="微软雅黑"/>
              </a:rPr>
              <a:t>学生采用 MLP / CNN1D，去除复杂图卷积，更适合 ARM64 与 NCNN 部署。</a:t>
            </a:r>
          </a:p>
        </p:txBody>
      </p:sp>
      <p:sp>
        <p:nvSpPr>
          <p:cNvPr id="7" name="Rounded Rectangle 6">
            <a:extLst xmlns:a="http://schemas.openxmlformats.org/drawingml/2006/main">
              <a:ext uri="{FF2B5EF4-FFF2-40B4-BE49-F238E27FC236}">
                <a16:creationId xmlns:a16="http://schemas.microsoft.com/office/drawing/2014/main" id="{C3D73CCD-4EE7-442F-9A61-EA01453E3636}"/>
              </a:ext>
            </a:extLst>
          </p:cNvPr>
          <p:cNvSpPr>
            <a:spLocks xmlns:a="http://schemas.openxmlformats.org/drawingml/2006/main" noGrp="1"/>
          </p:cNvSpPr>
          <p:nvPr/>
        </p:nvSpPr>
        <p:spPr>
          <a:xfrm xmlns:a="http://schemas.openxmlformats.org/drawingml/2006/main">
            <a:off x="6199632" y="1664208"/>
            <a:ext cx="5349240" cy="1609344"/>
          </a:xfrm>
          <a:prstGeom xmlns:a="http://schemas.openxmlformats.org/drawingml/2006/main" prst="roundRect">
            <a:avLst/>
          </a:prstGeom>
          <a:solidFill xmlns:a="http://schemas.openxmlformats.org/drawingml/2006/main">
            <a:srgbClr val="F0FBFB"/>
          </a:solidFill>
          <a:ln xmlns:a="http://schemas.openxmlformats.org/drawingml/2006/main" w="19050">
            <a:solidFill>
              <a:srgbClr val="68C9C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164592" tIns="109728" rIns="146304" bIns="91440" anchor="t"/>
          <a:lstStyle xmlns:a="http://schemas.openxmlformats.org/drawingml/2006/main"/>
          <a:p xmlns:a="http://schemas.openxmlformats.org/drawingml/2006/main">
            <a:pPr algn="l">
              <a:buNone/>
            </a:pPr>
            <a:r>
              <a:rPr sz="2100" b="1">
                <a:solidFill>
                  <a:srgbClr val="007682"/>
                </a:solidFill>
                <a:latin typeface="微软雅黑"/>
                <a:ea typeface="微软雅黑"/>
                <a:cs typeface="微软雅黑"/>
              </a:rPr>
              <a:t>二、训练设计</a:t>
            </a:r>
          </a:p>
          <a:p xmlns:a="http://schemas.openxmlformats.org/drawingml/2006/main">
            <a:pPr algn="l">
              <a:lnSpc>
                <a:spcPct val="102000"/>
              </a:lnSpc>
              <a:spcBef>
                <a:spcPts val="400"/>
              </a:spcBef>
              <a:buNone/>
            </a:pPr>
            <a:r>
              <a:rPr sz="1310" b="0">
                <a:solidFill>
                  <a:srgbClr val="192B3E"/>
                </a:solidFill>
                <a:latin typeface="微软雅黑"/>
                <a:ea typeface="微软雅黑"/>
                <a:cs typeface="微软雅黑"/>
              </a:rPr>
              <a:t>冻结教师模型，以 soft logits 作为知识指导。</a:t>
            </a:r>
          </a:p>
          <a:p xmlns:a="http://schemas.openxmlformats.org/drawingml/2006/main">
            <a:pPr algn="l">
              <a:lnSpc>
                <a:spcPct val="102000"/>
              </a:lnSpc>
              <a:spcBef>
                <a:spcPts val="400"/>
              </a:spcBef>
              <a:buNone/>
            </a:pPr>
            <a:r>
              <a:rPr sz="1310" b="0">
                <a:solidFill>
                  <a:srgbClr val="192B3E"/>
                </a:solidFill>
                <a:latin typeface="微软雅黑"/>
                <a:ea typeface="微软雅黑"/>
                <a:cs typeface="微软雅黑"/>
              </a:rPr>
              <a:t>学生同时学习硬标签 CE 与软标签 KL，兼顾分类正确性和知识迁移。</a:t>
            </a:r>
          </a:p>
        </p:txBody>
      </p:sp>
      <p:sp>
        <p:nvSpPr>
          <p:cNvPr id="8" name="Rounded Rectangle 7">
            <a:extLst xmlns:a="http://schemas.openxmlformats.org/drawingml/2006/main">
              <a:ext uri="{FF2B5EF4-FFF2-40B4-BE49-F238E27FC236}">
                <a16:creationId xmlns:a16="http://schemas.microsoft.com/office/drawing/2014/main" id="{D7677F8E-B552-4734-8091-C6A3392D8B9B}"/>
              </a:ext>
            </a:extLst>
          </p:cNvPr>
          <p:cNvSpPr>
            <a:spLocks xmlns:a="http://schemas.openxmlformats.org/drawingml/2006/main" noGrp="1"/>
          </p:cNvSpPr>
          <p:nvPr/>
        </p:nvSpPr>
        <p:spPr>
          <a:xfrm xmlns:a="http://schemas.openxmlformats.org/drawingml/2006/main">
            <a:off x="658368" y="3529584"/>
            <a:ext cx="5349240" cy="1554480"/>
          </a:xfrm>
          <a:prstGeom xmlns:a="http://schemas.openxmlformats.org/drawingml/2006/main" prst="roundRect">
            <a:avLst/>
          </a:prstGeom>
          <a:solidFill xmlns:a="http://schemas.openxmlformats.org/drawingml/2006/main">
            <a:srgbClr val="FAFCFF"/>
          </a:solidFill>
          <a:ln xmlns:a="http://schemas.openxmlformats.org/drawingml/2006/main" w="19050">
            <a:solidFill>
              <a:srgbClr val="96C0F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164592" tIns="109728" rIns="146304" bIns="91440" anchor="t"/>
          <a:lstStyle xmlns:a="http://schemas.openxmlformats.org/drawingml/2006/main"/>
          <a:p xmlns:a="http://schemas.openxmlformats.org/drawingml/2006/main">
            <a:pPr algn="l">
              <a:buNone/>
            </a:pPr>
            <a:r>
              <a:rPr sz="2100" b="1">
                <a:solidFill>
                  <a:srgbClr val="093A5A"/>
                </a:solidFill>
                <a:latin typeface="微软雅黑"/>
                <a:ea typeface="微软雅黑"/>
                <a:cs typeface="微软雅黑"/>
              </a:rPr>
              <a:t>三、核心优势</a:t>
            </a:r>
          </a:p>
          <a:p xmlns:a="http://schemas.openxmlformats.org/drawingml/2006/main">
            <a:pPr algn="l">
              <a:lnSpc>
                <a:spcPct val="102000"/>
              </a:lnSpc>
              <a:spcBef>
                <a:spcPts val="400"/>
              </a:spcBef>
              <a:buNone/>
            </a:pPr>
            <a:r>
              <a:rPr sz="1310" b="0">
                <a:solidFill>
                  <a:srgbClr val="192B3E"/>
                </a:solidFill>
                <a:latin typeface="微软雅黑"/>
                <a:ea typeface="微软雅黑"/>
                <a:cs typeface="微软雅黑"/>
              </a:rPr>
              <a:t>继承教师模型的类别边界与泛化知识，降低轻量化精度损失。</a:t>
            </a:r>
          </a:p>
          <a:p xmlns:a="http://schemas.openxmlformats.org/drawingml/2006/main">
            <a:pPr algn="l">
              <a:lnSpc>
                <a:spcPct val="102000"/>
              </a:lnSpc>
              <a:spcBef>
                <a:spcPts val="400"/>
              </a:spcBef>
              <a:buNone/>
            </a:pPr>
            <a:r>
              <a:rPr sz="1310" b="0">
                <a:solidFill>
                  <a:srgbClr val="192B3E"/>
                </a:solidFill>
                <a:latin typeface="微软雅黑"/>
                <a:ea typeface="微软雅黑"/>
                <a:cs typeface="微软雅黑"/>
              </a:rPr>
              <a:t>学生模型参数更少、计算更轻，便于 ONNX / NCNN / INT8 部署。</a:t>
            </a:r>
          </a:p>
        </p:txBody>
      </p:sp>
      <p:sp>
        <p:nvSpPr>
          <p:cNvPr id="9" name="Rounded Rectangle 8">
            <a:extLst xmlns:a="http://schemas.openxmlformats.org/drawingml/2006/main">
              <a:ext uri="{FF2B5EF4-FFF2-40B4-BE49-F238E27FC236}">
                <a16:creationId xmlns:a16="http://schemas.microsoft.com/office/drawing/2014/main" id="{6F5C47EF-3960-4A79-8996-63E528201DE3}"/>
              </a:ext>
            </a:extLst>
          </p:cNvPr>
          <p:cNvSpPr>
            <a:spLocks xmlns:a="http://schemas.openxmlformats.org/drawingml/2006/main" noGrp="1"/>
          </p:cNvSpPr>
          <p:nvPr/>
        </p:nvSpPr>
        <p:spPr>
          <a:xfrm xmlns:a="http://schemas.openxmlformats.org/drawingml/2006/main">
            <a:off x="6199632" y="3529584"/>
            <a:ext cx="5349240" cy="1554480"/>
          </a:xfrm>
          <a:prstGeom xmlns:a="http://schemas.openxmlformats.org/drawingml/2006/main" prst="roundRect">
            <a:avLst/>
          </a:prstGeom>
          <a:solidFill xmlns:a="http://schemas.openxmlformats.org/drawingml/2006/main">
            <a:srgbClr val="FFF6EF"/>
          </a:solidFill>
          <a:ln xmlns:a="http://schemas.openxmlformats.org/drawingml/2006/main" w="19050">
            <a:solidFill>
              <a:srgbClr val="F29A6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164592" tIns="109728" rIns="146304" bIns="91440" anchor="t"/>
          <a:lstStyle xmlns:a="http://schemas.openxmlformats.org/drawingml/2006/main"/>
          <a:p xmlns:a="http://schemas.openxmlformats.org/drawingml/2006/main">
            <a:pPr algn="l">
              <a:buNone/>
            </a:pPr>
            <a:r>
              <a:rPr sz="2100" b="1">
                <a:solidFill>
                  <a:srgbClr val="E95D0C"/>
                </a:solidFill>
                <a:latin typeface="微软雅黑"/>
                <a:ea typeface="微软雅黑"/>
                <a:cs typeface="微软雅黑"/>
              </a:rPr>
              <a:t>四、创新点与端侧价值</a:t>
            </a:r>
          </a:p>
          <a:p xmlns:a="http://schemas.openxmlformats.org/drawingml/2006/main">
            <a:pPr algn="l">
              <a:lnSpc>
                <a:spcPct val="102000"/>
              </a:lnSpc>
              <a:spcBef>
                <a:spcPts val="400"/>
              </a:spcBef>
              <a:buNone/>
            </a:pPr>
            <a:r>
              <a:rPr sz="1310" b="0">
                <a:solidFill>
                  <a:srgbClr val="192B3E"/>
                </a:solidFill>
                <a:latin typeface="微软雅黑"/>
                <a:ea typeface="微软雅黑"/>
                <a:cs typeface="微软雅黑"/>
              </a:rPr>
              <a:t>将知识蒸馏与 DANN 域自适应结合，同时关注情绪判别与域偏移抑制。</a:t>
            </a:r>
          </a:p>
          <a:p xmlns:a="http://schemas.openxmlformats.org/drawingml/2006/main">
            <a:pPr algn="l">
              <a:lnSpc>
                <a:spcPct val="102000"/>
              </a:lnSpc>
              <a:spcBef>
                <a:spcPts val="400"/>
              </a:spcBef>
              <a:buNone/>
            </a:pPr>
            <a:r>
              <a:rPr sz="1310" b="0">
                <a:solidFill>
                  <a:srgbClr val="192B3E"/>
                </a:solidFill>
                <a:latin typeface="微软雅黑"/>
                <a:ea typeface="微软雅黑"/>
                <a:cs typeface="微软雅黑"/>
              </a:rPr>
              <a:t>在识别精度、跨 trial 泛化能力和端侧效率之间建立平衡。</a:t>
            </a:r>
          </a:p>
        </p:txBody>
      </p:sp>
      <p:sp>
        <p:nvSpPr>
          <p:cNvPr id="10" name="TextBox 9">
            <a:extLst xmlns:a="http://schemas.openxmlformats.org/drawingml/2006/main">
              <a:ext uri="{FF2B5EF4-FFF2-40B4-BE49-F238E27FC236}">
                <a16:creationId xmlns:a16="http://schemas.microsoft.com/office/drawing/2014/main" id="{29FD0D79-FC3D-4EC7-9F05-77CDB7370D03}"/>
              </a:ext>
            </a:extLst>
          </p:cNvPr>
          <p:cNvSpPr>
            <a:spLocks xmlns:a="http://schemas.openxmlformats.org/drawingml/2006/main" noGrp="1"/>
          </p:cNvSpPr>
          <p:nvPr/>
        </p:nvSpPr>
        <p:spPr>
          <a:xfrm xmlns:a="http://schemas.openxmlformats.org/drawingml/2006/main">
            <a:off x="868680" y="5157216"/>
            <a:ext cx="10424160" cy="228600"/>
          </a:xfrm>
          <a:prstGeom xmlns:a="http://schemas.openxmlformats.org/drawingml/2006/main" prst="rect">
            <a:avLst/>
          </a:prstGeom>
          <a:noFill xmlns:a="http://schemas.openxmlformats.org/drawingml/2006/main"/>
        </p:spPr>
        <p:txBody>
          <a:bodyPr xmlns:a="http://schemas.openxmlformats.org/drawingml/2006/main" wrap="none" lIns="0" rIns="0">
            <a:spAutoFit/>
          </a:bodyPr>
          <a:lstStyle xmlns:a="http://schemas.openxmlformats.org/drawingml/2006/main"/>
          <a:p xmlns:a="http://schemas.openxmlformats.org/drawingml/2006/main">
            <a:pPr algn="ctr">
              <a:buNone/>
            </a:pPr>
            <a:r>
              <a:rPr sz="1350" b="0">
                <a:solidFill>
                  <a:srgbClr val="235078"/>
                </a:solidFill>
                <a:latin typeface="微软雅黑"/>
                <a:ea typeface="微软雅黑"/>
                <a:cs typeface="微软雅黑"/>
              </a:rPr>
              <a:t>联合损失：L = CE(y, p_s) + α·KL(p_t / T, p_s / T) + λ·L_domain</a:t>
            </a:r>
          </a:p>
        </p:txBody>
      </p:sp>
      <p:sp>
        <p:nvSpPr>
          <p:cNvPr id="11" name="Rounded Rectangle 10">
            <a:extLst xmlns:a="http://schemas.openxmlformats.org/drawingml/2006/main">
              <a:ext uri="{FF2B5EF4-FFF2-40B4-BE49-F238E27FC236}">
                <a16:creationId xmlns:a16="http://schemas.microsoft.com/office/drawing/2014/main" id="{54BAE2F3-D7D9-4A00-B4D1-0F461B3ABB70}"/>
              </a:ext>
            </a:extLst>
          </p:cNvPr>
          <p:cNvSpPr>
            <a:spLocks xmlns:a="http://schemas.openxmlformats.org/drawingml/2006/main" noGrp="1"/>
          </p:cNvSpPr>
          <p:nvPr/>
        </p:nvSpPr>
        <p:spPr>
          <a:xfrm xmlns:a="http://schemas.openxmlformats.org/drawingml/2006/main">
            <a:off x="777240" y="5532120"/>
            <a:ext cx="10652760" cy="457200"/>
          </a:xfrm>
          <a:prstGeom xmlns:a="http://schemas.openxmlformats.org/drawingml/2006/main" prst="roundRect">
            <a:avLst/>
          </a:prstGeom>
          <a:solidFill xmlns:a="http://schemas.openxmlformats.org/drawingml/2006/main">
            <a:srgbClr val="EEFAFF"/>
          </a:solidFill>
          <a:ln xmlns:a="http://schemas.openxmlformats.org/drawingml/2006/main" w="15240">
            <a:solidFill>
              <a:srgbClr val="62B6D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164592" tIns="36576" rIns="164592" bIns="36576" anchor="ctr"/>
          <a:lstStyle xmlns:a="http://schemas.openxmlformats.org/drawingml/2006/main"/>
          <a:p xmlns:a="http://schemas.openxmlformats.org/drawingml/2006/main">
            <a:pPr algn="ctr">
              <a:buNone/>
            </a:pPr>
            <a:r>
              <a:rPr sz="1450" b="1">
                <a:solidFill>
                  <a:srgbClr val="002F5E"/>
                </a:solidFill>
                <a:latin typeface="微软雅黑"/>
                <a:ea typeface="微软雅黑"/>
                <a:cs typeface="微软雅黑"/>
              </a:rPr>
              <a:t>最终目标：以“高精度教师 + 轻量学生 + 域约束蒸馏”实现精度、泛化能力与端侧效率的平衡。</a:t>
            </a:r>
          </a:p>
        </p:txBody>
      </p:sp>
    </p:spTree>
    <p:extLst>
      <p:ext uri="{BB962C8B-B14F-4D97-AF65-F5344CB8AC3E}">
        <p14:creationId xmlns:p14="http://schemas.microsoft.com/office/powerpoint/2010/main" val="1742850402"/>
      </p:ext>
    </p:extLst>
  </p:cSld>
</p:sld>
</file>

<file path=ppt/slides/slide13.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7ae71f1b04174e2f"/>
          <a:srcRect xmlns:a="http://schemas.openxmlformats.org/drawingml/2006/main" l="33" t="0" r="33" b="0"/>
          <a:stretch xmlns:a="http://schemas.openxmlformats.org/drawingml/2006/main">
            <a:fillRect l="0" t="0" r="0" b="0"/>
          </a:stretch>
        </p:blipFill>
        <p:spPr>
          <a:xfrm xmlns:a="http://schemas.openxmlformats.org/drawingml/2006/main">
            <a:off x="0" y="0"/>
            <a:ext cx="12001500" cy="6807200"/>
          </a:xfrm>
          <a:prstGeom xmlns:a="http://schemas.openxmlformats.org/drawingml/2006/main" prst="rect">
            <a:avLst/>
          </a:prstGeom>
          <a:ln xmlns:a="http://schemas.openxmlformats.org/drawingml/2006/main" w="25400" cap="flat" cmpd="sng">
            <a:noFill/>
            <a:prstDash val="solid"/>
            <a:round/>
          </a:ln>
        </p:spPr>
      </p:pic>
      <p:sp>
        <p:nvSpPr>
          <p:cNvPr id="3" name="AutoShape 3">
            <a:extLst xmlns:a="http://schemas.openxmlformats.org/drawingml/2006/main">
              <a:ext uri="{FF2B5EF4-FFF2-40B4-BE49-F238E27FC236}">
                <a16:creationId xmlns:a16="http://schemas.microsoft.com/office/drawing/2014/main" id="{0B6C5735-C592-48BF-926F-49AF49D43ABE}"/>
              </a:ext>
            </a:extLst>
          </p:cNvPr>
          <p:cNvSpPr>
            <a:spLocks xmlns:a="http://schemas.openxmlformats.org/drawingml/2006/main" noGrp="1"/>
          </p:cNvSpPr>
          <p:nvPr/>
        </p:nvSpPr>
        <p:spPr>
          <a:xfrm xmlns:a="http://schemas.openxmlformats.org/drawingml/2006/main">
            <a:off x="0" y="1905000"/>
            <a:ext cx="12001500" cy="1524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9600" b="1" i="0" u="none">
                <a:solidFill>
                  <a:srgbClr val="10387B"/>
                </a:solidFill>
                <a:latin typeface="微软雅黑"/>
                <a:ea typeface="微软雅黑"/>
                <a:cs typeface="微软雅黑"/>
              </a:rPr>
              <a:t>03</a:t>
            </a:r>
          </a:p>
        </p:txBody>
      </p:sp>
      <p:sp>
        <p:nvSpPr>
          <p:cNvPr id="4" name="AutoShape 4">
            <a:extLst xmlns:a="http://schemas.openxmlformats.org/drawingml/2006/main">
              <a:ext uri="{FF2B5EF4-FFF2-40B4-BE49-F238E27FC236}">
                <a16:creationId xmlns:a16="http://schemas.microsoft.com/office/drawing/2014/main" id="{B103CDC9-90E8-4563-B45F-9FCA11C8ED8E}"/>
              </a:ext>
            </a:extLst>
          </p:cNvPr>
          <p:cNvSpPr>
            <a:spLocks xmlns:a="http://schemas.openxmlformats.org/drawingml/2006/main" noGrp="1"/>
          </p:cNvSpPr>
          <p:nvPr/>
        </p:nvSpPr>
        <p:spPr>
          <a:xfrm xmlns:a="http://schemas.openxmlformats.org/drawingml/2006/main">
            <a:off x="0" y="3683000"/>
            <a:ext cx="12001500" cy="1016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4800" b="1" i="0" u="none">
                <a:solidFill>
                  <a:srgbClr val="1F2937"/>
                </a:solidFill>
                <a:latin typeface="Noto Sans SC"/>
                <a:ea typeface="Noto Sans SC"/>
                <a:cs typeface="Noto Sans SC"/>
              </a:rPr>
              <a:t>软件设计与实现</a:t>
            </a:r>
          </a:p>
        </p:txBody>
      </p:sp>
      <p:sp>
        <p:nvSpPr>
          <p:cNvPr id="5" name="AutoShape 5">
            <a:extLst xmlns:a="http://schemas.openxmlformats.org/drawingml/2006/main">
              <a:ext uri="{FF2B5EF4-FFF2-40B4-BE49-F238E27FC236}">
                <a16:creationId xmlns:a16="http://schemas.microsoft.com/office/drawing/2014/main" id="{A07DF74B-BF51-4B91-BF8C-7BEB7F4FF11D}"/>
              </a:ext>
            </a:extLst>
          </p:cNvPr>
          <p:cNvSpPr>
            <a:spLocks xmlns:a="http://schemas.openxmlformats.org/drawingml/2006/main" noGrp="1"/>
          </p:cNvSpPr>
          <p:nvPr/>
        </p:nvSpPr>
        <p:spPr>
          <a:xfrm xmlns:a="http://schemas.openxmlformats.org/drawingml/2006/main">
            <a:off x="0" y="5207000"/>
            <a:ext cx="12001500" cy="635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a:solidFill>
                  <a:srgbClr val="4B5563"/>
                </a:solidFill>
                <a:latin typeface="Noto Sans SC"/>
                <a:ea typeface="Noto Sans SC"/>
                <a:cs typeface="Noto Sans SC"/>
              </a:rPr>
              <a:t>软件模块划分 | 数据读取与样本构建流程 | MRGCN训练流程 | DANN扩展与自适应调参 | </a:t>
            </a:r>
            <a:r>
              <a:rPr>
                <a:solidFill>
                  <a:srgbClr val="4B5563"/>
                </a:solidFill>
                <a:latin typeface="Noto Sans SC"/>
                <a:ea typeface="Noto Sans SC"/>
                <a:cs typeface="Noto Sans SC"/>
              </a:rPr>
              <a:t>知识蒸馏</a:t>
            </a:r>
            <a:r>
              <a:rPr>
                <a:solidFill>
                  <a:srgbClr val="4B5563"/>
                </a:solidFill>
                <a:latin typeface="Noto Sans SC"/>
                <a:ea typeface="Noto Sans SC"/>
                <a:cs typeface="Noto Sans SC"/>
              </a:rPr>
              <a:t> | </a:t>
            </a:r>
            <a:r>
              <a:rPr>
                <a:solidFill>
                  <a:srgbClr val="4B5563"/>
                </a:solidFill>
                <a:latin typeface="Noto Sans SC"/>
                <a:ea typeface="Noto Sans SC"/>
                <a:cs typeface="Noto Sans SC"/>
              </a:rPr>
              <a:t>量化与推理</a:t>
            </a:r>
            <a:r>
              <a:rPr>
                <a:solidFill>
                  <a:srgbClr val="4B5563"/>
                </a:solidFill>
                <a:latin typeface="Noto Sans SC"/>
                <a:ea typeface="Noto Sans SC"/>
                <a:cs typeface="Noto Sans SC"/>
              </a:rPr>
              <a:t>  </a:t>
            </a:r>
          </a:p>
          <a:p xmlns:a="http://schemas.openxmlformats.org/drawingml/2006/main">
            <a:pPr indent="0" algn="ctr">
              <a:lnSpc>
                <a:spcPct val="125000"/>
              </a:lnSpc>
              <a:buNone/>
            </a:pPr>
          </a:p>
        </p:txBody>
      </p:sp>
    </p:spTree>
    <p:extLst>
      <p:ext uri="{BB962C8B-B14F-4D97-AF65-F5344CB8AC3E}">
        <p14:creationId xmlns:p14="http://schemas.microsoft.com/office/powerpoint/2010/main" val="967040674"/>
      </p:ext>
    </p:extLst>
  </p:cSld>
</p:sld>
</file>

<file path=ppt/slides/slide14.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f39d6c63682f4cb6"/>
          <a:srcRect xmlns:a="http://schemas.openxmlformats.org/drawingml/2006/main" l="33" t="0" r="33" b="0"/>
          <a:stretch xmlns:a="http://schemas.openxmlformats.org/drawingml/2006/main">
            <a:fillRect l="0" t="0" r="0" b="0"/>
          </a:stretch>
        </p:blipFill>
        <p:spPr>
          <a:xfrm xmlns:a="http://schemas.openxmlformats.org/drawingml/2006/main">
            <a:off x="0" y="0"/>
            <a:ext cx="12001500" cy="6807200"/>
          </a:xfrm>
          <a:prstGeom xmlns:a="http://schemas.openxmlformats.org/drawingml/2006/main" prst="rect">
            <a:avLst/>
          </a:prstGeom>
          <a:ln xmlns:a="http://schemas.openxmlformats.org/drawingml/2006/main" w="25400" cap="flat" cmpd="sng">
            <a:noFill/>
            <a:prstDash val="solid"/>
            <a:round/>
          </a:ln>
        </p:spPr>
      </p:pic>
      <p:sp>
        <p:nvSpPr>
          <p:cNvPr id="3" name="AutoShape 3">
            <a:extLst xmlns:a="http://schemas.openxmlformats.org/drawingml/2006/main">
              <a:ext uri="{FF2B5EF4-FFF2-40B4-BE49-F238E27FC236}">
                <a16:creationId xmlns:a16="http://schemas.microsoft.com/office/drawing/2014/main" id="{D818D2A2-094A-4244-84E6-6F3DDBFE9CDF}"/>
              </a:ext>
            </a:extLst>
          </p:cNvPr>
          <p:cNvSpPr>
            <a:spLocks xmlns:a="http://schemas.openxmlformats.org/drawingml/2006/main" noGrp="1"/>
          </p:cNvSpPr>
          <p:nvPr/>
        </p:nvSpPr>
        <p:spPr>
          <a:xfrm xmlns:a="http://schemas.openxmlformats.org/drawingml/2006/main">
            <a:off x="508000" y="508000"/>
            <a:ext cx="10985500" cy="762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algn="ctr">
              <a:lnSpc>
                <a:spcPct val="125000"/>
              </a:lnSpc>
              <a:buNone/>
            </a:pPr>
            <a:r>
              <a:rPr sz="3200" b="1" i="0" u="none">
                <a:solidFill>
                  <a:srgbClr val="0C3671"/>
                </a:solidFill>
                <a:latin typeface="微软雅黑"/>
                <a:ea typeface="微软雅黑"/>
                <a:cs typeface="微软雅黑"/>
              </a:rPr>
              <a:t>02 数据读取与样本构建流程</a:t>
            </a:r>
          </a:p>
        </p:txBody>
      </p:sp>
      <p:sp>
        <p:nvSpPr>
          <p:cNvPr id="4" name="文本框 3">
            <a:extLst xmlns:a="http://schemas.openxmlformats.org/drawingml/2006/main">
              <a:ext uri="{FF2B5EF4-FFF2-40B4-BE49-F238E27FC236}">
                <a16:creationId xmlns:a16="http://schemas.microsoft.com/office/drawing/2014/main" id="{E69ACDD2-8D8B-468D-B6E4-37C63D894E26}"/>
              </a:ext>
            </a:extLst>
          </p:cNvPr>
          <p:cNvSpPr>
            <a:spLocks xmlns:a="http://schemas.openxmlformats.org/drawingml/2006/main" noGrp="1"/>
          </p:cNvSpPr>
          <p:nvPr/>
        </p:nvSpPr>
        <p:spPr>
          <a:xfrm xmlns:a="http://schemas.openxmlformats.org/drawingml/2006/main">
            <a:off x="817880" y="1270000"/>
            <a:ext cx="7661910" cy="5835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rgbClr val="5D6B7F"/>
                </a:solidFill>
                <a:latin typeface="微软雅黑"/>
                <a:ea typeface="微软雅黑"/>
                <a:cs typeface="微软雅黑"/>
              </a:rPr>
              <a:t>从 SEED 数据集 de_LDS 特征出发，构造可用于 MRGCN-DANN 训练的统一样本</a:t>
            </a:r>
          </a:p>
          <a:p xmlns:a="http://schemas.openxmlformats.org/drawingml/2006/main"/>
        </p:txBody>
      </p:sp>
      <p:sp>
        <p:nvSpPr>
          <p:cNvPr id="6" name="Shape 4">
            <a:extLst xmlns:a="http://schemas.openxmlformats.org/drawingml/2006/main">
              <a:ext uri="{FF2B5EF4-FFF2-40B4-BE49-F238E27FC236}">
                <a16:creationId xmlns:a16="http://schemas.microsoft.com/office/drawing/2014/main" id="{BB3344FD-2EAE-4A2F-8385-20DE6DC81FA1}"/>
              </a:ext>
            </a:extLst>
          </p:cNvPr>
          <p:cNvSpPr>
            <a:spLocks xmlns:a="http://schemas.openxmlformats.org/drawingml/2006/main" noGrp="1"/>
          </p:cNvSpPr>
          <p:nvPr/>
        </p:nvSpPr>
        <p:spPr>
          <a:xfrm xmlns:a="http://schemas.openxmlformats.org/drawingml/2006/main">
            <a:off x="594360" y="1828800"/>
            <a:ext cx="1444752" cy="438912"/>
          </a:xfrm>
          <a:prstGeom xmlns:a="http://schemas.openxmlformats.org/drawingml/2006/main" prst="roundRect">
            <a:avLst>
              <a:gd name="adj" fmla="val 25000"/>
            </a:avLst>
          </a:prstGeom>
          <a:solidFill xmlns:a="http://schemas.openxmlformats.org/drawingml/2006/main">
            <a:srgbClr val="1E5AA8"/>
          </a:solidFill>
          <a:ln xmlns:a="http://schemas.openxmlformats.org/drawingml/2006/main" w="12700">
            <a:solidFill>
              <a:srgbClr val="1E5AA8"/>
            </a:solidFill>
            <a:prstDash val="solid"/>
          </a:ln>
        </p:spPr>
      </p:sp>
      <p:sp>
        <p:nvSpPr>
          <p:cNvPr id="7" name="Text 5">
            <a:extLst xmlns:a="http://schemas.openxmlformats.org/drawingml/2006/main">
              <a:ext uri="{FF2B5EF4-FFF2-40B4-BE49-F238E27FC236}">
                <a16:creationId xmlns:a16="http://schemas.microsoft.com/office/drawing/2014/main" id="{FD742A28-345A-4D86-95D6-0C7C50501980}"/>
              </a:ext>
            </a:extLst>
          </p:cNvPr>
          <p:cNvSpPr>
            <a:spLocks xmlns:a="http://schemas.openxmlformats.org/drawingml/2006/main" noGrp="1"/>
          </p:cNvSpPr>
          <p:nvPr/>
        </p:nvSpPr>
        <p:spPr>
          <a:xfrm xmlns:a="http://schemas.openxmlformats.org/drawingml/2006/main">
            <a:off x="667512" y="1856232"/>
            <a:ext cx="1298448" cy="384048"/>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0" indent="0" algn="ctr">
              <a:buNone/>
            </a:pPr>
            <a:r>
              <a:rPr sz="1600" b="1">
                <a:solidFill>
                  <a:srgbClr val="FFFFFF"/>
                </a:solidFill>
                <a:latin typeface="Noto Sans CJK SC"/>
                <a:ea typeface="Noto Sans CJK SC"/>
                <a:cs typeface="Noto Sans CJK SC"/>
              </a:rPr>
              <a:t>读取 .mat</a:t>
            </a:r>
          </a:p>
          <a:p xmlns:a="http://schemas.openxmlformats.org/drawingml/2006/main">
            <a:pPr marL="0" indent="0" algn="ctr">
              <a:buNone/>
            </a:pPr>
            <a:r>
              <a:rPr sz="1600" b="1">
                <a:solidFill>
                  <a:srgbClr val="FFFFFF"/>
                </a:solidFill>
                <a:latin typeface="Noto Sans CJK SC"/>
                <a:ea typeface="Noto Sans CJK SC"/>
                <a:cs typeface="Noto Sans CJK SC"/>
              </a:rPr>
              <a:t>特征文件</a:t>
            </a:r>
          </a:p>
        </p:txBody>
      </p:sp>
      <p:sp>
        <p:nvSpPr>
          <p:cNvPr id="8" name="Shape 6">
            <a:extLst xmlns:a="http://schemas.openxmlformats.org/drawingml/2006/main">
              <a:ext uri="{FF2B5EF4-FFF2-40B4-BE49-F238E27FC236}">
                <a16:creationId xmlns:a16="http://schemas.microsoft.com/office/drawing/2014/main" id="{FC026633-3F74-4DDE-9188-D03B86CAAFAB}"/>
              </a:ext>
            </a:extLst>
          </p:cNvPr>
          <p:cNvSpPr>
            <a:spLocks xmlns:a="http://schemas.openxmlformats.org/drawingml/2006/main" noGrp="1"/>
          </p:cNvSpPr>
          <p:nvPr/>
        </p:nvSpPr>
        <p:spPr>
          <a:xfrm xmlns:a="http://schemas.openxmlformats.org/drawingml/2006/main">
            <a:off x="594360" y="2423160"/>
            <a:ext cx="1444752" cy="969264"/>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12700">
            <a:solidFill>
              <a:srgbClr val="1E5AA8"/>
            </a:solidFill>
            <a:prstDash val="solid"/>
          </a:ln>
        </p:spPr>
      </p:sp>
      <p:sp>
        <p:nvSpPr>
          <p:cNvPr id="9" name="Text 7">
            <a:extLst xmlns:a="http://schemas.openxmlformats.org/drawingml/2006/main">
              <a:ext uri="{FF2B5EF4-FFF2-40B4-BE49-F238E27FC236}">
                <a16:creationId xmlns:a16="http://schemas.microsoft.com/office/drawing/2014/main" id="{1F89A958-703C-444C-AD6C-21929559DD46}"/>
              </a:ext>
            </a:extLst>
          </p:cNvPr>
          <p:cNvSpPr>
            <a:spLocks xmlns:a="http://schemas.openxmlformats.org/drawingml/2006/main" noGrp="1"/>
          </p:cNvSpPr>
          <p:nvPr/>
        </p:nvSpPr>
        <p:spPr>
          <a:xfrm xmlns:a="http://schemas.openxmlformats.org/drawingml/2006/main">
            <a:off x="649224" y="2459736"/>
            <a:ext cx="1335024" cy="896112"/>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1280">
                <a:solidFill>
                  <a:srgbClr val="1D2A3A"/>
                </a:solidFill>
                <a:latin typeface="Noto Sans CJK SC"/>
                <a:ea typeface="Noto Sans CJK SC"/>
                <a:cs typeface="Noto Sans CJK SC"/>
              </a:rPr>
              <a:t>SEED/ExtractedFeatures_1s</a:t>
            </a:r>
          </a:p>
        </p:txBody>
      </p:sp>
      <p:sp>
        <p:nvSpPr>
          <p:cNvPr id="10" name="Shape 8">
            <a:extLst xmlns:a="http://schemas.openxmlformats.org/drawingml/2006/main">
              <a:ext uri="{FF2B5EF4-FFF2-40B4-BE49-F238E27FC236}">
                <a16:creationId xmlns:a16="http://schemas.microsoft.com/office/drawing/2014/main" id="{523040A9-E86E-4C89-9D84-02A84C51D948}"/>
              </a:ext>
            </a:extLst>
          </p:cNvPr>
          <p:cNvSpPr>
            <a:spLocks xmlns:a="http://schemas.openxmlformats.org/drawingml/2006/main" noGrp="1"/>
          </p:cNvSpPr>
          <p:nvPr/>
        </p:nvSpPr>
        <p:spPr>
          <a:xfrm xmlns:a="http://schemas.openxmlformats.org/drawingml/2006/main">
            <a:off x="2084832" y="2834640"/>
            <a:ext cx="283464" cy="0"/>
          </a:xfrm>
          <a:prstGeom xmlns:a="http://schemas.openxmlformats.org/drawingml/2006/main" prst="line">
            <a:avLst/>
          </a:prstGeom>
          <a:noFill xmlns:a="http://schemas.openxmlformats.org/drawingml/2006/main"/>
          <a:ln xmlns:a="http://schemas.openxmlformats.org/drawingml/2006/main" w="13970">
            <a:solidFill>
              <a:srgbClr val="9BB3CF"/>
            </a:solidFill>
            <a:prstDash val="solid"/>
          </a:ln>
        </p:spPr>
      </p:sp>
      <p:sp>
        <p:nvSpPr>
          <p:cNvPr id="11" name="Shape 9">
            <a:extLst xmlns:a="http://schemas.openxmlformats.org/drawingml/2006/main">
              <a:ext uri="{FF2B5EF4-FFF2-40B4-BE49-F238E27FC236}">
                <a16:creationId xmlns:a16="http://schemas.microsoft.com/office/drawing/2014/main" id="{A6E38ED8-8097-4208-B485-6C7C3439EB48}"/>
              </a:ext>
            </a:extLst>
          </p:cNvPr>
          <p:cNvSpPr>
            <a:spLocks xmlns:a="http://schemas.openxmlformats.org/drawingml/2006/main" noGrp="1"/>
          </p:cNvSpPr>
          <p:nvPr/>
        </p:nvSpPr>
        <p:spPr>
          <a:xfrm xmlns:a="http://schemas.openxmlformats.org/drawingml/2006/main">
            <a:off x="2441448" y="1828800"/>
            <a:ext cx="1444752" cy="438912"/>
          </a:xfrm>
          <a:prstGeom xmlns:a="http://schemas.openxmlformats.org/drawingml/2006/main" prst="roundRect">
            <a:avLst>
              <a:gd name="adj" fmla="val 25000"/>
            </a:avLst>
          </a:prstGeom>
          <a:solidFill xmlns:a="http://schemas.openxmlformats.org/drawingml/2006/main">
            <a:srgbClr val="1E5AA8"/>
          </a:solidFill>
          <a:ln xmlns:a="http://schemas.openxmlformats.org/drawingml/2006/main" w="12700">
            <a:solidFill>
              <a:srgbClr val="1E5AA8"/>
            </a:solidFill>
            <a:prstDash val="solid"/>
          </a:ln>
        </p:spPr>
      </p:sp>
      <p:sp>
        <p:nvSpPr>
          <p:cNvPr id="12" name="Text 10">
            <a:extLst xmlns:a="http://schemas.openxmlformats.org/drawingml/2006/main">
              <a:ext uri="{FF2B5EF4-FFF2-40B4-BE49-F238E27FC236}">
                <a16:creationId xmlns:a16="http://schemas.microsoft.com/office/drawing/2014/main" id="{2BEB5352-5009-45DB-8906-B370D6C448AD}"/>
              </a:ext>
            </a:extLst>
          </p:cNvPr>
          <p:cNvSpPr>
            <a:spLocks xmlns:a="http://schemas.openxmlformats.org/drawingml/2006/main" noGrp="1"/>
          </p:cNvSpPr>
          <p:nvPr/>
        </p:nvSpPr>
        <p:spPr>
          <a:xfrm xmlns:a="http://schemas.openxmlformats.org/drawingml/2006/main">
            <a:off x="2514600" y="1856232"/>
            <a:ext cx="1298448" cy="384048"/>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0" indent="0" algn="ctr">
              <a:buNone/>
            </a:pPr>
            <a:r>
              <a:rPr sz="1600" b="1">
                <a:solidFill>
                  <a:srgbClr val="FFFFFF"/>
                </a:solidFill>
                <a:latin typeface="Noto Sans CJK SC"/>
                <a:ea typeface="Noto Sans CJK SC"/>
                <a:cs typeface="Noto Sans CJK SC"/>
              </a:rPr>
              <a:t>提取 de_LDS</a:t>
            </a:r>
          </a:p>
        </p:txBody>
      </p:sp>
      <p:sp>
        <p:nvSpPr>
          <p:cNvPr id="13" name="Shape 11">
            <a:extLst xmlns:a="http://schemas.openxmlformats.org/drawingml/2006/main">
              <a:ext uri="{FF2B5EF4-FFF2-40B4-BE49-F238E27FC236}">
                <a16:creationId xmlns:a16="http://schemas.microsoft.com/office/drawing/2014/main" id="{73D444C5-B09A-48E9-BFB6-31D7C0AF6981}"/>
              </a:ext>
            </a:extLst>
          </p:cNvPr>
          <p:cNvSpPr>
            <a:spLocks xmlns:a="http://schemas.openxmlformats.org/drawingml/2006/main" noGrp="1"/>
          </p:cNvSpPr>
          <p:nvPr/>
        </p:nvSpPr>
        <p:spPr>
          <a:xfrm xmlns:a="http://schemas.openxmlformats.org/drawingml/2006/main">
            <a:off x="2441448" y="2423160"/>
            <a:ext cx="1444752" cy="969264"/>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12700">
            <a:solidFill>
              <a:srgbClr val="1E5AA8"/>
            </a:solidFill>
            <a:prstDash val="solid"/>
          </a:ln>
        </p:spPr>
      </p:sp>
      <p:sp>
        <p:nvSpPr>
          <p:cNvPr id="14" name="Text 12">
            <a:extLst xmlns:a="http://schemas.openxmlformats.org/drawingml/2006/main">
              <a:ext uri="{FF2B5EF4-FFF2-40B4-BE49-F238E27FC236}">
                <a16:creationId xmlns:a16="http://schemas.microsoft.com/office/drawing/2014/main" id="{E8923CD3-E572-4599-B26A-7FF0E20BE133}"/>
              </a:ext>
            </a:extLst>
          </p:cNvPr>
          <p:cNvSpPr>
            <a:spLocks xmlns:a="http://schemas.openxmlformats.org/drawingml/2006/main" noGrp="1"/>
          </p:cNvSpPr>
          <p:nvPr/>
        </p:nvSpPr>
        <p:spPr>
          <a:xfrm xmlns:a="http://schemas.openxmlformats.org/drawingml/2006/main">
            <a:off x="2496312" y="2459736"/>
            <a:ext cx="1335024" cy="896112"/>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1280">
                <a:solidFill>
                  <a:srgbClr val="1D2A3A"/>
                </a:solidFill>
                <a:latin typeface="Noto Sans CJK SC"/>
                <a:ea typeface="Noto Sans CJK SC"/>
                <a:cs typeface="Noto Sans CJK SC"/>
              </a:rPr>
              <a:t>每个 trial 的差分熵 + LDS 平滑特征</a:t>
            </a:r>
          </a:p>
        </p:txBody>
      </p:sp>
      <p:sp>
        <p:nvSpPr>
          <p:cNvPr id="15" name="Shape 13">
            <a:extLst xmlns:a="http://schemas.openxmlformats.org/drawingml/2006/main">
              <a:ext uri="{FF2B5EF4-FFF2-40B4-BE49-F238E27FC236}">
                <a16:creationId xmlns:a16="http://schemas.microsoft.com/office/drawing/2014/main" id="{BD86E709-269E-491F-8889-9DE8E6D6FC14}"/>
              </a:ext>
            </a:extLst>
          </p:cNvPr>
          <p:cNvSpPr>
            <a:spLocks xmlns:a="http://schemas.openxmlformats.org/drawingml/2006/main" noGrp="1"/>
          </p:cNvSpPr>
          <p:nvPr/>
        </p:nvSpPr>
        <p:spPr>
          <a:xfrm xmlns:a="http://schemas.openxmlformats.org/drawingml/2006/main">
            <a:off x="3931920" y="2834640"/>
            <a:ext cx="283464" cy="0"/>
          </a:xfrm>
          <a:prstGeom xmlns:a="http://schemas.openxmlformats.org/drawingml/2006/main" prst="line">
            <a:avLst/>
          </a:prstGeom>
          <a:noFill xmlns:a="http://schemas.openxmlformats.org/drawingml/2006/main"/>
          <a:ln xmlns:a="http://schemas.openxmlformats.org/drawingml/2006/main" w="13970">
            <a:solidFill>
              <a:srgbClr val="9BB3CF"/>
            </a:solidFill>
            <a:prstDash val="solid"/>
          </a:ln>
        </p:spPr>
      </p:sp>
      <p:sp>
        <p:nvSpPr>
          <p:cNvPr id="16" name="Shape 14">
            <a:extLst xmlns:a="http://schemas.openxmlformats.org/drawingml/2006/main">
              <a:ext uri="{FF2B5EF4-FFF2-40B4-BE49-F238E27FC236}">
                <a16:creationId xmlns:a16="http://schemas.microsoft.com/office/drawing/2014/main" id="{9CE93AF2-D2CD-446D-A5FF-53B6D360E2C8}"/>
              </a:ext>
            </a:extLst>
          </p:cNvPr>
          <p:cNvSpPr>
            <a:spLocks xmlns:a="http://schemas.openxmlformats.org/drawingml/2006/main" noGrp="1"/>
          </p:cNvSpPr>
          <p:nvPr/>
        </p:nvSpPr>
        <p:spPr>
          <a:xfrm xmlns:a="http://schemas.openxmlformats.org/drawingml/2006/main">
            <a:off x="4288536" y="1828800"/>
            <a:ext cx="1444752" cy="438912"/>
          </a:xfrm>
          <a:prstGeom xmlns:a="http://schemas.openxmlformats.org/drawingml/2006/main" prst="roundRect">
            <a:avLst>
              <a:gd name="adj" fmla="val 25000"/>
            </a:avLst>
          </a:prstGeom>
          <a:solidFill xmlns:a="http://schemas.openxmlformats.org/drawingml/2006/main">
            <a:srgbClr val="27C7CF"/>
          </a:solidFill>
          <a:ln xmlns:a="http://schemas.openxmlformats.org/drawingml/2006/main" w="12700">
            <a:solidFill>
              <a:srgbClr val="27C7CF"/>
            </a:solidFill>
            <a:prstDash val="solid"/>
          </a:ln>
        </p:spPr>
      </p:sp>
      <p:sp>
        <p:nvSpPr>
          <p:cNvPr id="17" name="Text 15">
            <a:extLst xmlns:a="http://schemas.openxmlformats.org/drawingml/2006/main">
              <a:ext uri="{FF2B5EF4-FFF2-40B4-BE49-F238E27FC236}">
                <a16:creationId xmlns:a16="http://schemas.microsoft.com/office/drawing/2014/main" id="{7FE1F244-A802-45A3-A1A0-D743A5AB7A05}"/>
              </a:ext>
            </a:extLst>
          </p:cNvPr>
          <p:cNvSpPr>
            <a:spLocks xmlns:a="http://schemas.openxmlformats.org/drawingml/2006/main" noGrp="1"/>
          </p:cNvSpPr>
          <p:nvPr/>
        </p:nvSpPr>
        <p:spPr>
          <a:xfrm xmlns:a="http://schemas.openxmlformats.org/drawingml/2006/main">
            <a:off x="4361688" y="1856232"/>
            <a:ext cx="1298448" cy="384048"/>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0" indent="0" algn="ctr">
              <a:buNone/>
            </a:pPr>
            <a:r>
              <a:rPr sz="1600" b="1">
                <a:solidFill>
                  <a:srgbClr val="FFFFFF"/>
                </a:solidFill>
                <a:latin typeface="Noto Sans CJK SC"/>
                <a:ea typeface="Noto Sans CJK SC"/>
                <a:cs typeface="Noto Sans CJK SC"/>
              </a:rPr>
              <a:t>滑动窗口</a:t>
            </a:r>
          </a:p>
        </p:txBody>
      </p:sp>
      <p:sp>
        <p:nvSpPr>
          <p:cNvPr id="5" name="Shape 16">
            <a:extLst xmlns:a="http://schemas.openxmlformats.org/drawingml/2006/main">
              <a:ext uri="{FF2B5EF4-FFF2-40B4-BE49-F238E27FC236}">
                <a16:creationId xmlns:a16="http://schemas.microsoft.com/office/drawing/2014/main" id="{C83F7C66-9931-48B7-A6E5-526FEB21F1AE}"/>
              </a:ext>
            </a:extLst>
          </p:cNvPr>
          <p:cNvSpPr>
            <a:spLocks xmlns:a="http://schemas.openxmlformats.org/drawingml/2006/main" noGrp="1"/>
          </p:cNvSpPr>
          <p:nvPr/>
        </p:nvSpPr>
        <p:spPr>
          <a:xfrm xmlns:a="http://schemas.openxmlformats.org/drawingml/2006/main">
            <a:off x="4288536" y="2423160"/>
            <a:ext cx="1444752" cy="969264"/>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12700">
            <a:solidFill>
              <a:srgbClr val="27C7CF"/>
            </a:solidFill>
            <a:prstDash val="solid"/>
          </a:ln>
        </p:spPr>
      </p:sp>
      <p:sp>
        <p:nvSpPr>
          <p:cNvPr id="19" name="Text 17">
            <a:extLst xmlns:a="http://schemas.openxmlformats.org/drawingml/2006/main">
              <a:ext uri="{FF2B5EF4-FFF2-40B4-BE49-F238E27FC236}">
                <a16:creationId xmlns:a16="http://schemas.microsoft.com/office/drawing/2014/main" id="{817D9BA8-A882-4915-B944-0F1231A18AFE}"/>
              </a:ext>
            </a:extLst>
          </p:cNvPr>
          <p:cNvSpPr>
            <a:spLocks xmlns:a="http://schemas.openxmlformats.org/drawingml/2006/main" noGrp="1"/>
          </p:cNvSpPr>
          <p:nvPr/>
        </p:nvSpPr>
        <p:spPr>
          <a:xfrm xmlns:a="http://schemas.openxmlformats.org/drawingml/2006/main">
            <a:off x="4343400" y="2459736"/>
            <a:ext cx="1335024" cy="896112"/>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1280">
                <a:solidFill>
                  <a:srgbClr val="1D2A3A"/>
                </a:solidFill>
                <a:latin typeface="Noto Sans CJK SC"/>
                <a:ea typeface="Noto Sans CJK SC"/>
                <a:cs typeface="Noto Sans CJK SC"/>
              </a:rPr>
              <a:t>W=4，S=4</a:t>
            </a:r>
          </a:p>
          <a:p xmlns:a="http://schemas.openxmlformats.org/drawingml/2006/main">
            <a:pPr marL="0" indent="0" algn="ctr">
              <a:buNone/>
            </a:pPr>
            <a:r>
              <a:rPr sz="1280">
                <a:solidFill>
                  <a:srgbClr val="1D2A3A"/>
                </a:solidFill>
                <a:latin typeface="Noto Sans CJK SC"/>
                <a:ea typeface="Noto Sans CJK SC"/>
                <a:cs typeface="Noto Sans CJK SC"/>
              </a:rPr>
              <a:t>连续 4 秒拼接</a:t>
            </a:r>
          </a:p>
        </p:txBody>
      </p:sp>
      <p:sp>
        <p:nvSpPr>
          <p:cNvPr id="20" name="Shape 18">
            <a:extLst xmlns:a="http://schemas.openxmlformats.org/drawingml/2006/main">
              <a:ext uri="{FF2B5EF4-FFF2-40B4-BE49-F238E27FC236}">
                <a16:creationId xmlns:a16="http://schemas.microsoft.com/office/drawing/2014/main" id="{8140CEFA-5D20-4446-82D7-35E7FF6505B1}"/>
              </a:ext>
            </a:extLst>
          </p:cNvPr>
          <p:cNvSpPr>
            <a:spLocks xmlns:a="http://schemas.openxmlformats.org/drawingml/2006/main" noGrp="1"/>
          </p:cNvSpPr>
          <p:nvPr/>
        </p:nvSpPr>
        <p:spPr>
          <a:xfrm xmlns:a="http://schemas.openxmlformats.org/drawingml/2006/main">
            <a:off x="5779008" y="2834640"/>
            <a:ext cx="283464" cy="0"/>
          </a:xfrm>
          <a:prstGeom xmlns:a="http://schemas.openxmlformats.org/drawingml/2006/main" prst="line">
            <a:avLst/>
          </a:prstGeom>
          <a:noFill xmlns:a="http://schemas.openxmlformats.org/drawingml/2006/main"/>
          <a:ln xmlns:a="http://schemas.openxmlformats.org/drawingml/2006/main" w="13970">
            <a:solidFill>
              <a:srgbClr val="9BB3CF"/>
            </a:solidFill>
            <a:prstDash val="solid"/>
          </a:ln>
        </p:spPr>
      </p:sp>
      <p:sp>
        <p:nvSpPr>
          <p:cNvPr id="21" name="Shape 19">
            <a:extLst xmlns:a="http://schemas.openxmlformats.org/drawingml/2006/main">
              <a:ext uri="{FF2B5EF4-FFF2-40B4-BE49-F238E27FC236}">
                <a16:creationId xmlns:a16="http://schemas.microsoft.com/office/drawing/2014/main" id="{9E9A332E-2CC5-4028-8984-436EE4AA7401}"/>
              </a:ext>
            </a:extLst>
          </p:cNvPr>
          <p:cNvSpPr>
            <a:spLocks xmlns:a="http://schemas.openxmlformats.org/drawingml/2006/main" noGrp="1"/>
          </p:cNvSpPr>
          <p:nvPr/>
        </p:nvSpPr>
        <p:spPr>
          <a:xfrm xmlns:a="http://schemas.openxmlformats.org/drawingml/2006/main">
            <a:off x="6135624" y="1828800"/>
            <a:ext cx="1444752" cy="438912"/>
          </a:xfrm>
          <a:prstGeom xmlns:a="http://schemas.openxmlformats.org/drawingml/2006/main" prst="roundRect">
            <a:avLst>
              <a:gd name="adj" fmla="val 25000"/>
            </a:avLst>
          </a:prstGeom>
          <a:solidFill xmlns:a="http://schemas.openxmlformats.org/drawingml/2006/main">
            <a:srgbClr val="27C7CF"/>
          </a:solidFill>
          <a:ln xmlns:a="http://schemas.openxmlformats.org/drawingml/2006/main" w="12700">
            <a:solidFill>
              <a:srgbClr val="27C7CF"/>
            </a:solidFill>
            <a:prstDash val="solid"/>
          </a:ln>
        </p:spPr>
      </p:sp>
      <p:sp>
        <p:nvSpPr>
          <p:cNvPr id="22" name="Text 20">
            <a:extLst xmlns:a="http://schemas.openxmlformats.org/drawingml/2006/main">
              <a:ext uri="{FF2B5EF4-FFF2-40B4-BE49-F238E27FC236}">
                <a16:creationId xmlns:a16="http://schemas.microsoft.com/office/drawing/2014/main" id="{88A29C00-BDB5-46CC-8C90-44F988A6A597}"/>
              </a:ext>
            </a:extLst>
          </p:cNvPr>
          <p:cNvSpPr>
            <a:spLocks xmlns:a="http://schemas.openxmlformats.org/drawingml/2006/main" noGrp="1"/>
          </p:cNvSpPr>
          <p:nvPr/>
        </p:nvSpPr>
        <p:spPr>
          <a:xfrm xmlns:a="http://schemas.openxmlformats.org/drawingml/2006/main">
            <a:off x="6208776" y="1856232"/>
            <a:ext cx="1298448" cy="384048"/>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0" indent="0" algn="ctr">
              <a:buNone/>
            </a:pPr>
            <a:r>
              <a:rPr sz="1600" b="1">
                <a:solidFill>
                  <a:srgbClr val="FFFFFF"/>
                </a:solidFill>
                <a:latin typeface="Noto Sans CJK SC"/>
                <a:ea typeface="Noto Sans CJK SC"/>
                <a:cs typeface="Noto Sans CJK SC"/>
              </a:rPr>
              <a:t>样本形状</a:t>
            </a:r>
          </a:p>
        </p:txBody>
      </p:sp>
      <p:sp>
        <p:nvSpPr>
          <p:cNvPr id="23" name="Shape 21">
            <a:extLst xmlns:a="http://schemas.openxmlformats.org/drawingml/2006/main">
              <a:ext uri="{FF2B5EF4-FFF2-40B4-BE49-F238E27FC236}">
                <a16:creationId xmlns:a16="http://schemas.microsoft.com/office/drawing/2014/main" id="{2B55F619-EA25-4379-9DAD-7D1BD0BE614D}"/>
              </a:ext>
            </a:extLst>
          </p:cNvPr>
          <p:cNvSpPr>
            <a:spLocks xmlns:a="http://schemas.openxmlformats.org/drawingml/2006/main" noGrp="1"/>
          </p:cNvSpPr>
          <p:nvPr/>
        </p:nvSpPr>
        <p:spPr>
          <a:xfrm xmlns:a="http://schemas.openxmlformats.org/drawingml/2006/main">
            <a:off x="6135624" y="2423160"/>
            <a:ext cx="1444752" cy="969264"/>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12700">
            <a:solidFill>
              <a:srgbClr val="27C7CF"/>
            </a:solidFill>
            <a:prstDash val="solid"/>
          </a:ln>
        </p:spPr>
      </p:sp>
      <p:sp>
        <p:nvSpPr>
          <p:cNvPr id="24" name="Text 22">
            <a:extLst xmlns:a="http://schemas.openxmlformats.org/drawingml/2006/main">
              <a:ext uri="{FF2B5EF4-FFF2-40B4-BE49-F238E27FC236}">
                <a16:creationId xmlns:a16="http://schemas.microsoft.com/office/drawing/2014/main" id="{5BBE0262-C36D-421A-AADB-DE753DF65C6D}"/>
              </a:ext>
            </a:extLst>
          </p:cNvPr>
          <p:cNvSpPr>
            <a:spLocks xmlns:a="http://schemas.openxmlformats.org/drawingml/2006/main" noGrp="1"/>
          </p:cNvSpPr>
          <p:nvPr/>
        </p:nvSpPr>
        <p:spPr>
          <a:xfrm xmlns:a="http://schemas.openxmlformats.org/drawingml/2006/main">
            <a:off x="6190488" y="2459736"/>
            <a:ext cx="1335024" cy="896112"/>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1280">
                <a:solidFill>
                  <a:srgbClr val="1D2A3A"/>
                </a:solidFill>
                <a:latin typeface="Noto Sans CJK SC"/>
                <a:ea typeface="Noto Sans CJK SC"/>
                <a:cs typeface="Noto Sans CJK SC"/>
              </a:rPr>
              <a:t>62 × 20</a:t>
            </a:r>
          </a:p>
          <a:p xmlns:a="http://schemas.openxmlformats.org/drawingml/2006/main">
            <a:pPr marL="0" indent="0" algn="ctr">
              <a:buNone/>
            </a:pPr>
            <a:r>
              <a:rPr sz="1280">
                <a:solidFill>
                  <a:srgbClr val="1D2A3A"/>
                </a:solidFill>
                <a:latin typeface="Noto Sans CJK SC"/>
                <a:ea typeface="Noto Sans CJK SC"/>
                <a:cs typeface="Noto Sans CJK SC"/>
              </a:rPr>
              <a:t>62 通道 × 4s × 5 频带</a:t>
            </a:r>
          </a:p>
        </p:txBody>
      </p:sp>
      <p:sp>
        <p:nvSpPr>
          <p:cNvPr id="25" name="Shape 23">
            <a:extLst xmlns:a="http://schemas.openxmlformats.org/drawingml/2006/main">
              <a:ext uri="{FF2B5EF4-FFF2-40B4-BE49-F238E27FC236}">
                <a16:creationId xmlns:a16="http://schemas.microsoft.com/office/drawing/2014/main" id="{73BB9A66-7DD1-4EA4-8C28-7F80E98837B0}"/>
              </a:ext>
            </a:extLst>
          </p:cNvPr>
          <p:cNvSpPr>
            <a:spLocks xmlns:a="http://schemas.openxmlformats.org/drawingml/2006/main" noGrp="1"/>
          </p:cNvSpPr>
          <p:nvPr/>
        </p:nvSpPr>
        <p:spPr>
          <a:xfrm xmlns:a="http://schemas.openxmlformats.org/drawingml/2006/main">
            <a:off x="7626096" y="2834640"/>
            <a:ext cx="283464" cy="0"/>
          </a:xfrm>
          <a:prstGeom xmlns:a="http://schemas.openxmlformats.org/drawingml/2006/main" prst="line">
            <a:avLst/>
          </a:prstGeom>
          <a:noFill xmlns:a="http://schemas.openxmlformats.org/drawingml/2006/main"/>
          <a:ln xmlns:a="http://schemas.openxmlformats.org/drawingml/2006/main" w="13970">
            <a:solidFill>
              <a:srgbClr val="9BB3CF"/>
            </a:solidFill>
            <a:prstDash val="solid"/>
          </a:ln>
        </p:spPr>
      </p:sp>
      <p:sp>
        <p:nvSpPr>
          <p:cNvPr id="26" name="Shape 24">
            <a:extLst xmlns:a="http://schemas.openxmlformats.org/drawingml/2006/main">
              <a:ext uri="{FF2B5EF4-FFF2-40B4-BE49-F238E27FC236}">
                <a16:creationId xmlns:a16="http://schemas.microsoft.com/office/drawing/2014/main" id="{FEDC8CE9-8CA8-435E-A9F8-507910901DF6}"/>
              </a:ext>
            </a:extLst>
          </p:cNvPr>
          <p:cNvSpPr>
            <a:spLocks xmlns:a="http://schemas.openxmlformats.org/drawingml/2006/main" noGrp="1"/>
          </p:cNvSpPr>
          <p:nvPr/>
        </p:nvSpPr>
        <p:spPr>
          <a:xfrm xmlns:a="http://schemas.openxmlformats.org/drawingml/2006/main">
            <a:off x="7982712" y="1828800"/>
            <a:ext cx="1444752" cy="438912"/>
          </a:xfrm>
          <a:prstGeom xmlns:a="http://schemas.openxmlformats.org/drawingml/2006/main" prst="roundRect">
            <a:avLst>
              <a:gd name="adj" fmla="val 25000"/>
            </a:avLst>
          </a:prstGeom>
          <a:solidFill xmlns:a="http://schemas.openxmlformats.org/drawingml/2006/main">
            <a:srgbClr val="47B881"/>
          </a:solidFill>
          <a:ln xmlns:a="http://schemas.openxmlformats.org/drawingml/2006/main" w="12700">
            <a:solidFill>
              <a:srgbClr val="47B881"/>
            </a:solidFill>
            <a:prstDash val="solid"/>
          </a:ln>
        </p:spPr>
      </p:sp>
      <p:sp>
        <p:nvSpPr>
          <p:cNvPr id="27" name="Text 25">
            <a:extLst xmlns:a="http://schemas.openxmlformats.org/drawingml/2006/main">
              <a:ext uri="{FF2B5EF4-FFF2-40B4-BE49-F238E27FC236}">
                <a16:creationId xmlns:a16="http://schemas.microsoft.com/office/drawing/2014/main" id="{39B9C639-2919-4AF0-BDE6-E9BA09FBFBA5}"/>
              </a:ext>
            </a:extLst>
          </p:cNvPr>
          <p:cNvSpPr>
            <a:spLocks xmlns:a="http://schemas.openxmlformats.org/drawingml/2006/main" noGrp="1"/>
          </p:cNvSpPr>
          <p:nvPr/>
        </p:nvSpPr>
        <p:spPr>
          <a:xfrm xmlns:a="http://schemas.openxmlformats.org/drawingml/2006/main">
            <a:off x="8055864" y="1856232"/>
            <a:ext cx="1298448" cy="384048"/>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0" indent="0" algn="ctr">
              <a:buNone/>
            </a:pPr>
            <a:r>
              <a:rPr sz="1600" b="1">
                <a:solidFill>
                  <a:srgbClr val="FFFFFF"/>
                </a:solidFill>
                <a:latin typeface="Noto Sans CJK SC"/>
                <a:ea typeface="Noto Sans CJK SC"/>
                <a:cs typeface="Noto Sans CJK SC"/>
              </a:rPr>
              <a:t>标签映射</a:t>
            </a:r>
          </a:p>
        </p:txBody>
      </p:sp>
      <p:sp>
        <p:nvSpPr>
          <p:cNvPr id="28" name="Shape 26">
            <a:extLst xmlns:a="http://schemas.openxmlformats.org/drawingml/2006/main">
              <a:ext uri="{FF2B5EF4-FFF2-40B4-BE49-F238E27FC236}">
                <a16:creationId xmlns:a16="http://schemas.microsoft.com/office/drawing/2014/main" id="{1935BADF-A237-4EDD-AD7F-DCC27F72CD2F}"/>
              </a:ext>
            </a:extLst>
          </p:cNvPr>
          <p:cNvSpPr>
            <a:spLocks xmlns:a="http://schemas.openxmlformats.org/drawingml/2006/main" noGrp="1"/>
          </p:cNvSpPr>
          <p:nvPr/>
        </p:nvSpPr>
        <p:spPr>
          <a:xfrm xmlns:a="http://schemas.openxmlformats.org/drawingml/2006/main">
            <a:off x="7982712" y="2423160"/>
            <a:ext cx="1444752" cy="969264"/>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12700">
            <a:solidFill>
              <a:srgbClr val="47B881"/>
            </a:solidFill>
            <a:prstDash val="solid"/>
          </a:ln>
        </p:spPr>
      </p:sp>
      <p:sp>
        <p:nvSpPr>
          <p:cNvPr id="29" name="Text 27">
            <a:extLst xmlns:a="http://schemas.openxmlformats.org/drawingml/2006/main">
              <a:ext uri="{FF2B5EF4-FFF2-40B4-BE49-F238E27FC236}">
                <a16:creationId xmlns:a16="http://schemas.microsoft.com/office/drawing/2014/main" id="{347A0478-5F91-4F88-B591-467115996D26}"/>
              </a:ext>
            </a:extLst>
          </p:cNvPr>
          <p:cNvSpPr>
            <a:spLocks xmlns:a="http://schemas.openxmlformats.org/drawingml/2006/main" noGrp="1"/>
          </p:cNvSpPr>
          <p:nvPr/>
        </p:nvSpPr>
        <p:spPr>
          <a:xfrm xmlns:a="http://schemas.openxmlformats.org/drawingml/2006/main">
            <a:off x="8037576" y="2459736"/>
            <a:ext cx="1335024" cy="896112"/>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1280">
                <a:solidFill>
                  <a:srgbClr val="1D2A3A"/>
                </a:solidFill>
                <a:latin typeface="Noto Sans CJK SC"/>
                <a:ea typeface="Noto Sans CJK SC"/>
                <a:cs typeface="Noto Sans CJK SC"/>
              </a:rPr>
              <a:t>-1 / 0 / 1</a:t>
            </a:r>
          </a:p>
          <a:p xmlns:a="http://schemas.openxmlformats.org/drawingml/2006/main">
            <a:pPr marL="0" indent="0" algn="ctr">
              <a:buNone/>
            </a:pPr>
            <a:r>
              <a:rPr sz="1280">
                <a:solidFill>
                  <a:srgbClr val="1D2A3A"/>
                </a:solidFill>
                <a:latin typeface="Noto Sans CJK SC"/>
                <a:ea typeface="Noto Sans CJK SC"/>
                <a:cs typeface="Noto Sans CJK SC"/>
              </a:rPr>
              <a:t>映射为 0 / 1 / 2</a:t>
            </a:r>
          </a:p>
        </p:txBody>
      </p:sp>
      <p:sp>
        <p:nvSpPr>
          <p:cNvPr id="30" name="Shape 28">
            <a:extLst xmlns:a="http://schemas.openxmlformats.org/drawingml/2006/main">
              <a:ext uri="{FF2B5EF4-FFF2-40B4-BE49-F238E27FC236}">
                <a16:creationId xmlns:a16="http://schemas.microsoft.com/office/drawing/2014/main" id="{48FE6723-2E83-4CE8-AEB9-2AFAC7AE8A99}"/>
              </a:ext>
            </a:extLst>
          </p:cNvPr>
          <p:cNvSpPr>
            <a:spLocks xmlns:a="http://schemas.openxmlformats.org/drawingml/2006/main" noGrp="1"/>
          </p:cNvSpPr>
          <p:nvPr/>
        </p:nvSpPr>
        <p:spPr>
          <a:xfrm xmlns:a="http://schemas.openxmlformats.org/drawingml/2006/main">
            <a:off x="9473184" y="2834640"/>
            <a:ext cx="283464" cy="0"/>
          </a:xfrm>
          <a:prstGeom xmlns:a="http://schemas.openxmlformats.org/drawingml/2006/main" prst="line">
            <a:avLst/>
          </a:prstGeom>
          <a:noFill xmlns:a="http://schemas.openxmlformats.org/drawingml/2006/main"/>
          <a:ln xmlns:a="http://schemas.openxmlformats.org/drawingml/2006/main" w="13970">
            <a:solidFill>
              <a:srgbClr val="9BB3CF"/>
            </a:solidFill>
            <a:prstDash val="solid"/>
          </a:ln>
        </p:spPr>
      </p:sp>
      <p:sp>
        <p:nvSpPr>
          <p:cNvPr id="31" name="Shape 29">
            <a:extLst xmlns:a="http://schemas.openxmlformats.org/drawingml/2006/main">
              <a:ext uri="{FF2B5EF4-FFF2-40B4-BE49-F238E27FC236}">
                <a16:creationId xmlns:a16="http://schemas.microsoft.com/office/drawing/2014/main" id="{2787716B-212F-4885-A109-306A0528AB0A}"/>
              </a:ext>
            </a:extLst>
          </p:cNvPr>
          <p:cNvSpPr>
            <a:spLocks xmlns:a="http://schemas.openxmlformats.org/drawingml/2006/main" noGrp="1"/>
          </p:cNvSpPr>
          <p:nvPr/>
        </p:nvSpPr>
        <p:spPr>
          <a:xfrm xmlns:a="http://schemas.openxmlformats.org/drawingml/2006/main">
            <a:off x="9829800" y="1828800"/>
            <a:ext cx="1444752" cy="438912"/>
          </a:xfrm>
          <a:prstGeom xmlns:a="http://schemas.openxmlformats.org/drawingml/2006/main" prst="roundRect">
            <a:avLst>
              <a:gd name="adj" fmla="val 25000"/>
            </a:avLst>
          </a:prstGeom>
          <a:solidFill xmlns:a="http://schemas.openxmlformats.org/drawingml/2006/main">
            <a:srgbClr val="47B881"/>
          </a:solidFill>
          <a:ln xmlns:a="http://schemas.openxmlformats.org/drawingml/2006/main" w="12700">
            <a:solidFill>
              <a:srgbClr val="47B881"/>
            </a:solidFill>
            <a:prstDash val="solid"/>
          </a:ln>
        </p:spPr>
      </p:sp>
      <p:sp>
        <p:nvSpPr>
          <p:cNvPr id="32" name="Text 30">
            <a:extLst xmlns:a="http://schemas.openxmlformats.org/drawingml/2006/main">
              <a:ext uri="{FF2B5EF4-FFF2-40B4-BE49-F238E27FC236}">
                <a16:creationId xmlns:a16="http://schemas.microsoft.com/office/drawing/2014/main" id="{4B9E7E91-3B33-4AC5-8EBF-F1CC6305F672}"/>
              </a:ext>
            </a:extLst>
          </p:cNvPr>
          <p:cNvSpPr>
            <a:spLocks xmlns:a="http://schemas.openxmlformats.org/drawingml/2006/main" noGrp="1"/>
          </p:cNvSpPr>
          <p:nvPr/>
        </p:nvSpPr>
        <p:spPr>
          <a:xfrm xmlns:a="http://schemas.openxmlformats.org/drawingml/2006/main">
            <a:off x="9902952" y="1856232"/>
            <a:ext cx="1298448" cy="384048"/>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0" indent="0" algn="ctr">
              <a:buNone/>
            </a:pPr>
            <a:r>
              <a:rPr sz="1600" b="1">
                <a:solidFill>
                  <a:srgbClr val="FFFFFF"/>
                </a:solidFill>
                <a:latin typeface="Noto Sans CJK SC"/>
                <a:ea typeface="Noto Sans CJK SC"/>
                <a:cs typeface="Noto Sans CJK SC"/>
              </a:rPr>
              <a:t>Trial 划分</a:t>
            </a:r>
          </a:p>
        </p:txBody>
      </p:sp>
      <p:sp>
        <p:nvSpPr>
          <p:cNvPr id="33" name="Shape 31">
            <a:extLst xmlns:a="http://schemas.openxmlformats.org/drawingml/2006/main">
              <a:ext uri="{FF2B5EF4-FFF2-40B4-BE49-F238E27FC236}">
                <a16:creationId xmlns:a16="http://schemas.microsoft.com/office/drawing/2014/main" id="{EFC4B289-53D5-4155-B7FA-387ED0CFA08D}"/>
              </a:ext>
            </a:extLst>
          </p:cNvPr>
          <p:cNvSpPr>
            <a:spLocks xmlns:a="http://schemas.openxmlformats.org/drawingml/2006/main" noGrp="1"/>
          </p:cNvSpPr>
          <p:nvPr/>
        </p:nvSpPr>
        <p:spPr>
          <a:xfrm xmlns:a="http://schemas.openxmlformats.org/drawingml/2006/main">
            <a:off x="9829800" y="2423160"/>
            <a:ext cx="1444752" cy="969264"/>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12700">
            <a:solidFill>
              <a:srgbClr val="47B881"/>
            </a:solidFill>
            <a:prstDash val="solid"/>
          </a:ln>
        </p:spPr>
      </p:sp>
      <p:sp>
        <p:nvSpPr>
          <p:cNvPr id="34" name="Text 32">
            <a:extLst xmlns:a="http://schemas.openxmlformats.org/drawingml/2006/main">
              <a:ext uri="{FF2B5EF4-FFF2-40B4-BE49-F238E27FC236}">
                <a16:creationId xmlns:a16="http://schemas.microsoft.com/office/drawing/2014/main" id="{49B9D79D-2F82-43C5-8DC5-48B344D9E026}"/>
              </a:ext>
            </a:extLst>
          </p:cNvPr>
          <p:cNvSpPr>
            <a:spLocks xmlns:a="http://schemas.openxmlformats.org/drawingml/2006/main" noGrp="1"/>
          </p:cNvSpPr>
          <p:nvPr/>
        </p:nvSpPr>
        <p:spPr>
          <a:xfrm xmlns:a="http://schemas.openxmlformats.org/drawingml/2006/main">
            <a:off x="9884664" y="2459736"/>
            <a:ext cx="1335024" cy="896112"/>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1280">
                <a:solidFill>
                  <a:srgbClr val="1D2A3A"/>
                </a:solidFill>
                <a:latin typeface="Noto Sans CJK SC"/>
                <a:ea typeface="Noto Sans CJK SC"/>
                <a:cs typeface="Noto Sans CJK SC"/>
              </a:rPr>
              <a:t>1–9 训练</a:t>
            </a:r>
          </a:p>
          <a:p xmlns:a="http://schemas.openxmlformats.org/drawingml/2006/main">
            <a:pPr marL="0" indent="0" algn="ctr">
              <a:buNone/>
            </a:pPr>
            <a:r>
              <a:rPr sz="1280">
                <a:solidFill>
                  <a:srgbClr val="1D2A3A"/>
                </a:solidFill>
                <a:latin typeface="Noto Sans CJK SC"/>
                <a:ea typeface="Noto Sans CJK SC"/>
                <a:cs typeface="Noto Sans CJK SC"/>
              </a:rPr>
              <a:t>10–15 测试</a:t>
            </a:r>
          </a:p>
        </p:txBody>
      </p:sp>
      <p:sp>
        <p:nvSpPr>
          <p:cNvPr id="35" name="Shape 33">
            <a:extLst xmlns:a="http://schemas.openxmlformats.org/drawingml/2006/main">
              <a:ext uri="{FF2B5EF4-FFF2-40B4-BE49-F238E27FC236}">
                <a16:creationId xmlns:a16="http://schemas.microsoft.com/office/drawing/2014/main" id="{7232C241-1AFF-4695-940A-53116F6B6B5C}"/>
              </a:ext>
            </a:extLst>
          </p:cNvPr>
          <p:cNvSpPr>
            <a:spLocks xmlns:a="http://schemas.openxmlformats.org/drawingml/2006/main" noGrp="1"/>
          </p:cNvSpPr>
          <p:nvPr/>
        </p:nvSpPr>
        <p:spPr>
          <a:xfrm xmlns:a="http://schemas.openxmlformats.org/drawingml/2006/main">
            <a:off x="648970" y="3886200"/>
            <a:ext cx="5303520" cy="173736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12700">
            <a:solidFill>
              <a:srgbClr val="D1DDEC"/>
            </a:solidFill>
            <a:prstDash val="solid"/>
          </a:ln>
        </p:spPr>
      </p:sp>
      <p:sp>
        <p:nvSpPr>
          <p:cNvPr id="36" name="Text 34">
            <a:extLst xmlns:a="http://schemas.openxmlformats.org/drawingml/2006/main">
              <a:ext uri="{FF2B5EF4-FFF2-40B4-BE49-F238E27FC236}">
                <a16:creationId xmlns:a16="http://schemas.microsoft.com/office/drawing/2014/main" id="{251C5E74-F237-4C08-AA04-3EFB63B337EF}"/>
              </a:ext>
            </a:extLst>
          </p:cNvPr>
          <p:cNvSpPr>
            <a:spLocks xmlns:a="http://schemas.openxmlformats.org/drawingml/2006/main" noGrp="1"/>
          </p:cNvSpPr>
          <p:nvPr/>
        </p:nvSpPr>
        <p:spPr>
          <a:xfrm xmlns:a="http://schemas.openxmlformats.org/drawingml/2006/main">
            <a:off x="914400" y="4069080"/>
            <a:ext cx="23774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13B7A"/>
                </a:solidFill>
                <a:latin typeface="Noto Sans CJK SC"/>
                <a:ea typeface="Noto Sans CJK SC"/>
                <a:cs typeface="Noto Sans CJK SC"/>
              </a:rPr>
              <a:t>样本张量组织</a:t>
            </a:r>
          </a:p>
        </p:txBody>
      </p:sp>
      <p:sp>
        <p:nvSpPr>
          <p:cNvPr id="37" name="Shape 35">
            <a:extLst xmlns:a="http://schemas.openxmlformats.org/drawingml/2006/main">
              <a:ext uri="{FF2B5EF4-FFF2-40B4-BE49-F238E27FC236}">
                <a16:creationId xmlns:a16="http://schemas.microsoft.com/office/drawing/2014/main" id="{0FA1B57D-C7B2-4A51-82F1-9B5B49AE1FC8}"/>
              </a:ext>
            </a:extLst>
          </p:cNvPr>
          <p:cNvSpPr>
            <a:spLocks xmlns:a="http://schemas.openxmlformats.org/drawingml/2006/main" noGrp="1"/>
          </p:cNvSpPr>
          <p:nvPr/>
        </p:nvSpPr>
        <p:spPr>
          <a:xfrm xmlns:a="http://schemas.openxmlformats.org/drawingml/2006/main">
            <a:off x="960120" y="4526280"/>
            <a:ext cx="987552" cy="713232"/>
          </a:xfrm>
          <a:prstGeom xmlns:a="http://schemas.openxmlformats.org/drawingml/2006/main" prst="roundRect">
            <a:avLst>
              <a:gd name="adj" fmla="val 10256"/>
            </a:avLst>
          </a:prstGeom>
          <a:solidFill xmlns:a="http://schemas.openxmlformats.org/drawingml/2006/main">
            <a:srgbClr val="F6F9FC"/>
          </a:solidFill>
          <a:ln xmlns:a="http://schemas.openxmlformats.org/drawingml/2006/main" w="12700">
            <a:solidFill>
              <a:srgbClr val="D1DDEC"/>
            </a:solidFill>
            <a:prstDash val="solid"/>
          </a:ln>
        </p:spPr>
      </p:sp>
      <p:sp>
        <p:nvSpPr>
          <p:cNvPr id="38" name="Text 36">
            <a:extLst xmlns:a="http://schemas.openxmlformats.org/drawingml/2006/main">
              <a:ext uri="{FF2B5EF4-FFF2-40B4-BE49-F238E27FC236}">
                <a16:creationId xmlns:a16="http://schemas.microsoft.com/office/drawing/2014/main" id="{6241471D-5C50-49E1-A5E7-28D4CA2A4B79}"/>
              </a:ext>
            </a:extLst>
          </p:cNvPr>
          <p:cNvSpPr>
            <a:spLocks xmlns:a="http://schemas.openxmlformats.org/drawingml/2006/main" noGrp="1"/>
          </p:cNvSpPr>
          <p:nvPr/>
        </p:nvSpPr>
        <p:spPr>
          <a:xfrm xmlns:a="http://schemas.openxmlformats.org/drawingml/2006/main">
            <a:off x="1014984" y="4562856"/>
            <a:ext cx="877824" cy="64008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1230">
                <a:solidFill>
                  <a:srgbClr val="1D2A3A"/>
                </a:solidFill>
                <a:latin typeface="Noto Sans CJK SC"/>
                <a:ea typeface="Noto Sans CJK SC"/>
                <a:cs typeface="Noto Sans CJK SC"/>
              </a:rPr>
              <a:t>时间窗口</a:t>
            </a:r>
          </a:p>
          <a:p xmlns:a="http://schemas.openxmlformats.org/drawingml/2006/main">
            <a:pPr marL="0" indent="0" algn="ctr">
              <a:buNone/>
            </a:pPr>
            <a:r>
              <a:rPr sz="1230">
                <a:solidFill>
                  <a:srgbClr val="1D2A3A"/>
                </a:solidFill>
                <a:latin typeface="Noto Sans CJK SC"/>
                <a:ea typeface="Noto Sans CJK SC"/>
                <a:cs typeface="Noto Sans CJK SC"/>
              </a:rPr>
              <a:t>4 秒</a:t>
            </a:r>
          </a:p>
        </p:txBody>
      </p:sp>
      <p:sp>
        <p:nvSpPr>
          <p:cNvPr id="39" name="Shape 37">
            <a:extLst xmlns:a="http://schemas.openxmlformats.org/drawingml/2006/main">
              <a:ext uri="{FF2B5EF4-FFF2-40B4-BE49-F238E27FC236}">
                <a16:creationId xmlns:a16="http://schemas.microsoft.com/office/drawing/2014/main" id="{3738182C-8F49-4224-A165-6CC6E3FA0D02}"/>
              </a:ext>
            </a:extLst>
          </p:cNvPr>
          <p:cNvSpPr>
            <a:spLocks xmlns:a="http://schemas.openxmlformats.org/drawingml/2006/main" noGrp="1"/>
          </p:cNvSpPr>
          <p:nvPr/>
        </p:nvSpPr>
        <p:spPr>
          <a:xfrm xmlns:a="http://schemas.openxmlformats.org/drawingml/2006/main">
            <a:off x="1947672" y="4882896"/>
            <a:ext cx="201168" cy="0"/>
          </a:xfrm>
          <a:prstGeom xmlns:a="http://schemas.openxmlformats.org/drawingml/2006/main" prst="line">
            <a:avLst/>
          </a:prstGeom>
          <a:noFill xmlns:a="http://schemas.openxmlformats.org/drawingml/2006/main"/>
          <a:ln xmlns:a="http://schemas.openxmlformats.org/drawingml/2006/main" w="10160">
            <a:solidFill>
              <a:srgbClr val="C2D2E6"/>
            </a:solidFill>
            <a:prstDash val="solid"/>
          </a:ln>
        </p:spPr>
      </p:sp>
      <p:sp>
        <p:nvSpPr>
          <p:cNvPr id="40" name="Shape 38">
            <a:extLst xmlns:a="http://schemas.openxmlformats.org/drawingml/2006/main">
              <a:ext uri="{FF2B5EF4-FFF2-40B4-BE49-F238E27FC236}">
                <a16:creationId xmlns:a16="http://schemas.microsoft.com/office/drawing/2014/main" id="{1CBD05FA-1A70-457C-BB15-1D40E9039999}"/>
              </a:ext>
            </a:extLst>
          </p:cNvPr>
          <p:cNvSpPr>
            <a:spLocks xmlns:a="http://schemas.openxmlformats.org/drawingml/2006/main" noGrp="1"/>
          </p:cNvSpPr>
          <p:nvPr/>
        </p:nvSpPr>
        <p:spPr>
          <a:xfrm xmlns:a="http://schemas.openxmlformats.org/drawingml/2006/main">
            <a:off x="2176272" y="4526280"/>
            <a:ext cx="987552" cy="713232"/>
          </a:xfrm>
          <a:prstGeom xmlns:a="http://schemas.openxmlformats.org/drawingml/2006/main" prst="roundRect">
            <a:avLst>
              <a:gd name="adj" fmla="val 10256"/>
            </a:avLst>
          </a:prstGeom>
          <a:solidFill xmlns:a="http://schemas.openxmlformats.org/drawingml/2006/main">
            <a:srgbClr val="F6F9FC"/>
          </a:solidFill>
          <a:ln xmlns:a="http://schemas.openxmlformats.org/drawingml/2006/main" w="12700">
            <a:solidFill>
              <a:srgbClr val="D1DDEC"/>
            </a:solidFill>
            <a:prstDash val="solid"/>
          </a:ln>
        </p:spPr>
      </p:sp>
      <p:sp>
        <p:nvSpPr>
          <p:cNvPr id="41" name="Text 39">
            <a:extLst xmlns:a="http://schemas.openxmlformats.org/drawingml/2006/main">
              <a:ext uri="{FF2B5EF4-FFF2-40B4-BE49-F238E27FC236}">
                <a16:creationId xmlns:a16="http://schemas.microsoft.com/office/drawing/2014/main" id="{5277E478-306F-4A7E-96C6-3FB2E8DD070A}"/>
              </a:ext>
            </a:extLst>
          </p:cNvPr>
          <p:cNvSpPr>
            <a:spLocks xmlns:a="http://schemas.openxmlformats.org/drawingml/2006/main" noGrp="1"/>
          </p:cNvSpPr>
          <p:nvPr/>
        </p:nvSpPr>
        <p:spPr>
          <a:xfrm xmlns:a="http://schemas.openxmlformats.org/drawingml/2006/main">
            <a:off x="2231136" y="4562856"/>
            <a:ext cx="877824" cy="64008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1230">
                <a:solidFill>
                  <a:srgbClr val="1D2A3A"/>
                </a:solidFill>
                <a:latin typeface="Noto Sans CJK SC"/>
                <a:ea typeface="Noto Sans CJK SC"/>
                <a:cs typeface="Noto Sans CJK SC"/>
              </a:rPr>
              <a:t>电极通道</a:t>
            </a:r>
          </a:p>
          <a:p xmlns:a="http://schemas.openxmlformats.org/drawingml/2006/main">
            <a:pPr marL="0" indent="0" algn="ctr">
              <a:buNone/>
            </a:pPr>
            <a:r>
              <a:rPr sz="1230">
                <a:solidFill>
                  <a:srgbClr val="1D2A3A"/>
                </a:solidFill>
                <a:latin typeface="Noto Sans CJK SC"/>
                <a:ea typeface="Noto Sans CJK SC"/>
                <a:cs typeface="Noto Sans CJK SC"/>
              </a:rPr>
              <a:t>62 个</a:t>
            </a:r>
          </a:p>
        </p:txBody>
      </p:sp>
      <p:sp>
        <p:nvSpPr>
          <p:cNvPr id="42" name="Shape 40">
            <a:extLst xmlns:a="http://schemas.openxmlformats.org/drawingml/2006/main">
              <a:ext uri="{FF2B5EF4-FFF2-40B4-BE49-F238E27FC236}">
                <a16:creationId xmlns:a16="http://schemas.microsoft.com/office/drawing/2014/main" id="{D7ED0C04-B8AB-4761-A6EB-CFF9A5E74268}"/>
              </a:ext>
            </a:extLst>
          </p:cNvPr>
          <p:cNvSpPr>
            <a:spLocks xmlns:a="http://schemas.openxmlformats.org/drawingml/2006/main" noGrp="1"/>
          </p:cNvSpPr>
          <p:nvPr/>
        </p:nvSpPr>
        <p:spPr>
          <a:xfrm xmlns:a="http://schemas.openxmlformats.org/drawingml/2006/main">
            <a:off x="3163824" y="4882896"/>
            <a:ext cx="201168" cy="0"/>
          </a:xfrm>
          <a:prstGeom xmlns:a="http://schemas.openxmlformats.org/drawingml/2006/main" prst="line">
            <a:avLst/>
          </a:prstGeom>
          <a:noFill xmlns:a="http://schemas.openxmlformats.org/drawingml/2006/main"/>
          <a:ln xmlns:a="http://schemas.openxmlformats.org/drawingml/2006/main" w="10160">
            <a:solidFill>
              <a:srgbClr val="C2D2E6"/>
            </a:solidFill>
            <a:prstDash val="solid"/>
          </a:ln>
        </p:spPr>
      </p:sp>
      <p:sp>
        <p:nvSpPr>
          <p:cNvPr id="43" name="Shape 41">
            <a:extLst xmlns:a="http://schemas.openxmlformats.org/drawingml/2006/main">
              <a:ext uri="{FF2B5EF4-FFF2-40B4-BE49-F238E27FC236}">
                <a16:creationId xmlns:a16="http://schemas.microsoft.com/office/drawing/2014/main" id="{6966471E-FC8E-473B-B854-4AD919B49CDD}"/>
              </a:ext>
            </a:extLst>
          </p:cNvPr>
          <p:cNvSpPr>
            <a:spLocks xmlns:a="http://schemas.openxmlformats.org/drawingml/2006/main" noGrp="1"/>
          </p:cNvSpPr>
          <p:nvPr/>
        </p:nvSpPr>
        <p:spPr>
          <a:xfrm xmlns:a="http://schemas.openxmlformats.org/drawingml/2006/main">
            <a:off x="3392424" y="4526280"/>
            <a:ext cx="987552" cy="713232"/>
          </a:xfrm>
          <a:prstGeom xmlns:a="http://schemas.openxmlformats.org/drawingml/2006/main" prst="roundRect">
            <a:avLst>
              <a:gd name="adj" fmla="val 10256"/>
            </a:avLst>
          </a:prstGeom>
          <a:solidFill xmlns:a="http://schemas.openxmlformats.org/drawingml/2006/main">
            <a:srgbClr val="F6F9FC"/>
          </a:solidFill>
          <a:ln xmlns:a="http://schemas.openxmlformats.org/drawingml/2006/main" w="12700">
            <a:solidFill>
              <a:srgbClr val="D1DDEC"/>
            </a:solidFill>
            <a:prstDash val="solid"/>
          </a:ln>
        </p:spPr>
      </p:sp>
      <p:sp>
        <p:nvSpPr>
          <p:cNvPr id="44" name="Text 42">
            <a:extLst xmlns:a="http://schemas.openxmlformats.org/drawingml/2006/main">
              <a:ext uri="{FF2B5EF4-FFF2-40B4-BE49-F238E27FC236}">
                <a16:creationId xmlns:a16="http://schemas.microsoft.com/office/drawing/2014/main" id="{137BBBBC-4D96-455E-812A-A473E6B75518}"/>
              </a:ext>
            </a:extLst>
          </p:cNvPr>
          <p:cNvSpPr>
            <a:spLocks xmlns:a="http://schemas.openxmlformats.org/drawingml/2006/main" noGrp="1"/>
          </p:cNvSpPr>
          <p:nvPr/>
        </p:nvSpPr>
        <p:spPr>
          <a:xfrm xmlns:a="http://schemas.openxmlformats.org/drawingml/2006/main">
            <a:off x="3447288" y="4562856"/>
            <a:ext cx="877824" cy="64008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1230">
                <a:solidFill>
                  <a:srgbClr val="1D2A3A"/>
                </a:solidFill>
                <a:latin typeface="Noto Sans CJK SC"/>
                <a:ea typeface="Noto Sans CJK SC"/>
                <a:cs typeface="Noto Sans CJK SC"/>
              </a:rPr>
              <a:t>频带特征</a:t>
            </a:r>
          </a:p>
          <a:p xmlns:a="http://schemas.openxmlformats.org/drawingml/2006/main">
            <a:pPr marL="0" indent="0" algn="ctr">
              <a:buNone/>
            </a:pPr>
            <a:r>
              <a:rPr sz="1230">
                <a:solidFill>
                  <a:srgbClr val="1D2A3A"/>
                </a:solidFill>
                <a:latin typeface="Noto Sans CJK SC"/>
                <a:ea typeface="Noto Sans CJK SC"/>
                <a:cs typeface="Noto Sans CJK SC"/>
              </a:rPr>
              <a:t>5 个</a:t>
            </a:r>
          </a:p>
        </p:txBody>
      </p:sp>
      <p:sp>
        <p:nvSpPr>
          <p:cNvPr id="45" name="Shape 43">
            <a:extLst xmlns:a="http://schemas.openxmlformats.org/drawingml/2006/main">
              <a:ext uri="{FF2B5EF4-FFF2-40B4-BE49-F238E27FC236}">
                <a16:creationId xmlns:a16="http://schemas.microsoft.com/office/drawing/2014/main" id="{F291A8EE-29E6-421C-947F-27F8F2B23BB2}"/>
              </a:ext>
            </a:extLst>
          </p:cNvPr>
          <p:cNvSpPr>
            <a:spLocks xmlns:a="http://schemas.openxmlformats.org/drawingml/2006/main" noGrp="1"/>
          </p:cNvSpPr>
          <p:nvPr/>
        </p:nvSpPr>
        <p:spPr>
          <a:xfrm xmlns:a="http://schemas.openxmlformats.org/drawingml/2006/main">
            <a:off x="4379976" y="4882896"/>
            <a:ext cx="201168" cy="0"/>
          </a:xfrm>
          <a:prstGeom xmlns:a="http://schemas.openxmlformats.org/drawingml/2006/main" prst="line">
            <a:avLst/>
          </a:prstGeom>
          <a:noFill xmlns:a="http://schemas.openxmlformats.org/drawingml/2006/main"/>
          <a:ln xmlns:a="http://schemas.openxmlformats.org/drawingml/2006/main" w="10160">
            <a:solidFill>
              <a:srgbClr val="C2D2E6"/>
            </a:solidFill>
            <a:prstDash val="solid"/>
          </a:ln>
        </p:spPr>
      </p:sp>
      <p:sp>
        <p:nvSpPr>
          <p:cNvPr id="46" name="Shape 44">
            <a:extLst xmlns:a="http://schemas.openxmlformats.org/drawingml/2006/main">
              <a:ext uri="{FF2B5EF4-FFF2-40B4-BE49-F238E27FC236}">
                <a16:creationId xmlns:a16="http://schemas.microsoft.com/office/drawing/2014/main" id="{72420D5A-AF71-44C5-8F45-154FF5BDB87A}"/>
              </a:ext>
            </a:extLst>
          </p:cNvPr>
          <p:cNvSpPr>
            <a:spLocks xmlns:a="http://schemas.openxmlformats.org/drawingml/2006/main" noGrp="1"/>
          </p:cNvSpPr>
          <p:nvPr/>
        </p:nvSpPr>
        <p:spPr>
          <a:xfrm xmlns:a="http://schemas.openxmlformats.org/drawingml/2006/main">
            <a:off x="4608576" y="4526280"/>
            <a:ext cx="987552" cy="713232"/>
          </a:xfrm>
          <a:prstGeom xmlns:a="http://schemas.openxmlformats.org/drawingml/2006/main" prst="roundRect">
            <a:avLst>
              <a:gd name="adj" fmla="val 10256"/>
            </a:avLst>
          </a:prstGeom>
          <a:solidFill xmlns:a="http://schemas.openxmlformats.org/drawingml/2006/main">
            <a:srgbClr val="DDF9F5"/>
          </a:solidFill>
          <a:ln xmlns:a="http://schemas.openxmlformats.org/drawingml/2006/main" w="12700">
            <a:solidFill>
              <a:srgbClr val="27C7CF"/>
            </a:solidFill>
            <a:prstDash val="solid"/>
          </a:ln>
        </p:spPr>
      </p:sp>
      <p:sp>
        <p:nvSpPr>
          <p:cNvPr id="47" name="Text 45">
            <a:extLst xmlns:a="http://schemas.openxmlformats.org/drawingml/2006/main">
              <a:ext uri="{FF2B5EF4-FFF2-40B4-BE49-F238E27FC236}">
                <a16:creationId xmlns:a16="http://schemas.microsoft.com/office/drawing/2014/main" id="{0B355D0D-BC14-4FFC-BB4D-70E498B3784D}"/>
              </a:ext>
            </a:extLst>
          </p:cNvPr>
          <p:cNvSpPr>
            <a:spLocks xmlns:a="http://schemas.openxmlformats.org/drawingml/2006/main" noGrp="1"/>
          </p:cNvSpPr>
          <p:nvPr/>
        </p:nvSpPr>
        <p:spPr>
          <a:xfrm xmlns:a="http://schemas.openxmlformats.org/drawingml/2006/main">
            <a:off x="4663440" y="4562856"/>
            <a:ext cx="877824" cy="64008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1230" b="1">
                <a:solidFill>
                  <a:srgbClr val="1D2A3A"/>
                </a:solidFill>
                <a:latin typeface="Noto Sans CJK SC"/>
                <a:ea typeface="Noto Sans CJK SC"/>
                <a:cs typeface="Noto Sans CJK SC"/>
              </a:rPr>
              <a:t>输入样本</a:t>
            </a:r>
          </a:p>
          <a:p xmlns:a="http://schemas.openxmlformats.org/drawingml/2006/main">
            <a:pPr marL="0" indent="0" algn="ctr">
              <a:buNone/>
            </a:pPr>
            <a:r>
              <a:rPr sz="1230" b="1">
                <a:solidFill>
                  <a:srgbClr val="1D2A3A"/>
                </a:solidFill>
                <a:latin typeface="Noto Sans CJK SC"/>
                <a:ea typeface="Noto Sans CJK SC"/>
                <a:cs typeface="Noto Sans CJK SC"/>
              </a:rPr>
              <a:t>62 × 20</a:t>
            </a:r>
          </a:p>
        </p:txBody>
      </p:sp>
      <p:sp>
        <p:nvSpPr>
          <p:cNvPr id="48" name="Shape 46">
            <a:extLst xmlns:a="http://schemas.openxmlformats.org/drawingml/2006/main">
              <a:ext uri="{FF2B5EF4-FFF2-40B4-BE49-F238E27FC236}">
                <a16:creationId xmlns:a16="http://schemas.microsoft.com/office/drawing/2014/main" id="{F8CF2C81-37F2-4F42-96CA-860624D24B84}"/>
              </a:ext>
            </a:extLst>
          </p:cNvPr>
          <p:cNvSpPr>
            <a:spLocks xmlns:a="http://schemas.openxmlformats.org/drawingml/2006/main" noGrp="1"/>
          </p:cNvSpPr>
          <p:nvPr/>
        </p:nvSpPr>
        <p:spPr>
          <a:xfrm xmlns:a="http://schemas.openxmlformats.org/drawingml/2006/main">
            <a:off x="6446520" y="3886200"/>
            <a:ext cx="4800600" cy="804672"/>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5240">
            <a:solidFill>
              <a:srgbClr val="47B881"/>
            </a:solidFill>
            <a:prstDash val="solid"/>
          </a:ln>
        </p:spPr>
      </p:sp>
      <p:sp>
        <p:nvSpPr>
          <p:cNvPr id="49" name="Text 47">
            <a:extLst xmlns:a="http://schemas.openxmlformats.org/drawingml/2006/main">
              <a:ext uri="{FF2B5EF4-FFF2-40B4-BE49-F238E27FC236}">
                <a16:creationId xmlns:a16="http://schemas.microsoft.com/office/drawing/2014/main" id="{74CE1633-D207-424F-B42A-8006EA8F2D1F}"/>
              </a:ext>
            </a:extLst>
          </p:cNvPr>
          <p:cNvSpPr>
            <a:spLocks xmlns:a="http://schemas.openxmlformats.org/drawingml/2006/main" noGrp="1"/>
          </p:cNvSpPr>
          <p:nvPr/>
        </p:nvSpPr>
        <p:spPr>
          <a:xfrm xmlns:a="http://schemas.openxmlformats.org/drawingml/2006/main">
            <a:off x="6611112" y="4005072"/>
            <a:ext cx="44714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47B881"/>
                </a:solidFill>
                <a:latin typeface="Noto Sans CJK SC"/>
                <a:ea typeface="Noto Sans CJK SC"/>
                <a:cs typeface="Noto Sans CJK SC"/>
              </a:rPr>
              <a:t>域标签生成</a:t>
            </a:r>
          </a:p>
        </p:txBody>
      </p:sp>
      <p:sp>
        <p:nvSpPr>
          <p:cNvPr id="50" name="Text 48">
            <a:extLst xmlns:a="http://schemas.openxmlformats.org/drawingml/2006/main">
              <a:ext uri="{FF2B5EF4-FFF2-40B4-BE49-F238E27FC236}">
                <a16:creationId xmlns:a16="http://schemas.microsoft.com/office/drawing/2014/main" id="{415421C3-9196-49CC-BEF4-1B99103EBBB1}"/>
              </a:ext>
            </a:extLst>
          </p:cNvPr>
          <p:cNvSpPr>
            <a:spLocks xmlns:a="http://schemas.openxmlformats.org/drawingml/2006/main" noGrp="1"/>
          </p:cNvSpPr>
          <p:nvPr/>
        </p:nvSpPr>
        <p:spPr>
          <a:xfrm xmlns:a="http://schemas.openxmlformats.org/drawingml/2006/main">
            <a:off x="6611112" y="4325112"/>
            <a:ext cx="4471416" cy="25603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fontScale="25000"/>
          </a:bodyPr>
          <a:lstStyle xmlns:a="http://schemas.openxmlformats.org/drawingml/2006/main"/>
          <a:p xmlns:a="http://schemas.openxmlformats.org/drawingml/2006/main">
            <a:pPr marL="0" indent="0">
              <a:buNone/>
            </a:pPr>
            <a:r>
              <a:rPr sz="4665">
                <a:solidFill>
                  <a:srgbClr val="1D2A3A"/>
                </a:solidFill>
                <a:latin typeface="微软雅黑"/>
                <a:ea typeface="微软雅黑"/>
                <a:cs typeface="微软雅黑"/>
              </a:rPr>
              <a:t>训练 trial 记为源域，测试 trial 记为目标域；该标签用于后续 DANN 分支学习域不变特征</a:t>
            </a:r>
            <a:r>
              <a:rPr sz="1280">
                <a:solidFill>
                  <a:srgbClr val="1D2A3A"/>
                </a:solidFill>
                <a:latin typeface="Noto Sans CJK SC"/>
                <a:ea typeface="Noto Sans CJK SC"/>
                <a:cs typeface="Noto Sans CJK SC"/>
              </a:rPr>
              <a:t>。</a:t>
            </a:r>
          </a:p>
        </p:txBody>
      </p:sp>
      <p:sp>
        <p:nvSpPr>
          <p:cNvPr id="51" name="Shape 49">
            <a:extLst xmlns:a="http://schemas.openxmlformats.org/drawingml/2006/main">
              <a:ext uri="{FF2B5EF4-FFF2-40B4-BE49-F238E27FC236}">
                <a16:creationId xmlns:a16="http://schemas.microsoft.com/office/drawing/2014/main" id="{890A199A-4631-4C12-9378-11DC632392F4}"/>
              </a:ext>
            </a:extLst>
          </p:cNvPr>
          <p:cNvSpPr>
            <a:spLocks xmlns:a="http://schemas.openxmlformats.org/drawingml/2006/main" noGrp="1"/>
          </p:cNvSpPr>
          <p:nvPr/>
        </p:nvSpPr>
        <p:spPr>
          <a:xfrm xmlns:a="http://schemas.openxmlformats.org/drawingml/2006/main">
            <a:off x="6446520" y="4892040"/>
            <a:ext cx="4800600" cy="804672"/>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5240">
            <a:solidFill>
              <a:srgbClr val="27C7CF"/>
            </a:solidFill>
            <a:prstDash val="solid"/>
          </a:ln>
        </p:spPr>
      </p:sp>
      <p:sp>
        <p:nvSpPr>
          <p:cNvPr id="52" name="Text 50">
            <a:extLst xmlns:a="http://schemas.openxmlformats.org/drawingml/2006/main">
              <a:ext uri="{FF2B5EF4-FFF2-40B4-BE49-F238E27FC236}">
                <a16:creationId xmlns:a16="http://schemas.microsoft.com/office/drawing/2014/main" id="{23EA6227-DB85-4B67-B77A-7BBD1381CACC}"/>
              </a:ext>
            </a:extLst>
          </p:cNvPr>
          <p:cNvSpPr>
            <a:spLocks xmlns:a="http://schemas.openxmlformats.org/drawingml/2006/main" noGrp="1"/>
          </p:cNvSpPr>
          <p:nvPr/>
        </p:nvSpPr>
        <p:spPr>
          <a:xfrm xmlns:a="http://schemas.openxmlformats.org/drawingml/2006/main">
            <a:off x="6611112" y="5010912"/>
            <a:ext cx="44714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7C7CF"/>
                </a:solidFill>
                <a:latin typeface="Noto Sans CJK SC"/>
                <a:ea typeface="Noto Sans CJK SC"/>
                <a:cs typeface="Noto Sans CJK SC"/>
              </a:rPr>
              <a:t>数据划分作用</a:t>
            </a:r>
          </a:p>
        </p:txBody>
      </p:sp>
      <p:sp>
        <p:nvSpPr>
          <p:cNvPr id="53" name="Text 51">
            <a:extLst xmlns:a="http://schemas.openxmlformats.org/drawingml/2006/main">
              <a:ext uri="{FF2B5EF4-FFF2-40B4-BE49-F238E27FC236}">
                <a16:creationId xmlns:a16="http://schemas.microsoft.com/office/drawing/2014/main" id="{174248B4-C213-42DA-9D79-221C360377E3}"/>
              </a:ext>
            </a:extLst>
          </p:cNvPr>
          <p:cNvSpPr>
            <a:spLocks xmlns:a="http://schemas.openxmlformats.org/drawingml/2006/main" noGrp="1"/>
          </p:cNvSpPr>
          <p:nvPr/>
        </p:nvSpPr>
        <p:spPr>
          <a:xfrm xmlns:a="http://schemas.openxmlformats.org/drawingml/2006/main">
            <a:off x="6611112" y="5330952"/>
            <a:ext cx="4471416" cy="25603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fontScale="25000"/>
          </a:bodyPr>
          <a:lstStyle xmlns:a="http://schemas.openxmlformats.org/drawingml/2006/main"/>
          <a:p xmlns:a="http://schemas.openxmlformats.org/drawingml/2006/main">
            <a:pPr marL="0" indent="0">
              <a:buNone/>
            </a:pPr>
            <a:r>
              <a:rPr sz="4665">
                <a:solidFill>
                  <a:srgbClr val="1D2A3A"/>
                </a:solidFill>
                <a:latin typeface="微软雅黑"/>
                <a:ea typeface="微软雅黑"/>
                <a:cs typeface="微软雅黑"/>
              </a:rPr>
              <a:t>按 trial 划分可以模拟不同时段/试次分布差异，为后续领域对抗训练提供应用背景。</a:t>
            </a:r>
          </a:p>
        </p:txBody>
      </p:sp>
    </p:spTree>
    <p:extLst>
      <p:ext uri="{BB962C8B-B14F-4D97-AF65-F5344CB8AC3E}">
        <p14:creationId xmlns:p14="http://schemas.microsoft.com/office/powerpoint/2010/main" val="139297531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796415cdbcad4b85"/>
          <a:srcRect xmlns:a="http://schemas.openxmlformats.org/drawingml/2006/main" l="33" t="0" r="33" b="0"/>
          <a:stretch xmlns:a="http://schemas.openxmlformats.org/drawingml/2006/main">
            <a:fillRect l="0" t="0" r="0" b="0"/>
          </a:stretch>
        </p:blipFill>
        <p:spPr>
          <a:xfrm xmlns:a="http://schemas.openxmlformats.org/drawingml/2006/main">
            <a:off x="0" y="0"/>
            <a:ext cx="12001500" cy="6807200"/>
          </a:xfrm>
          <a:prstGeom xmlns:a="http://schemas.openxmlformats.org/drawingml/2006/main" prst="rect">
            <a:avLst/>
          </a:prstGeom>
          <a:ln xmlns:a="http://schemas.openxmlformats.org/drawingml/2006/main" w="25400" cap="flat" cmpd="sng">
            <a:noFill/>
            <a:prstDash val="solid"/>
            <a:round/>
          </a:ln>
        </p:spPr>
      </p:pic>
      <p:sp>
        <p:nvSpPr>
          <p:cNvPr id="3" name="AutoShape 3">
            <a:extLst xmlns:a="http://schemas.openxmlformats.org/drawingml/2006/main">
              <a:ext uri="{FF2B5EF4-FFF2-40B4-BE49-F238E27FC236}">
                <a16:creationId xmlns:a16="http://schemas.microsoft.com/office/drawing/2014/main" id="{22BACF05-AD34-42ED-A02E-9765DAE2FA9B}"/>
              </a:ext>
            </a:extLst>
          </p:cNvPr>
          <p:cNvSpPr>
            <a:spLocks xmlns:a="http://schemas.openxmlformats.org/drawingml/2006/main" noGrp="1"/>
          </p:cNvSpPr>
          <p:nvPr/>
        </p:nvSpPr>
        <p:spPr>
          <a:xfrm xmlns:a="http://schemas.openxmlformats.org/drawingml/2006/main">
            <a:off x="0" y="381000"/>
            <a:ext cx="12001500" cy="762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algn="ctr">
              <a:lnSpc>
                <a:spcPct val="125000"/>
              </a:lnSpc>
              <a:buNone/>
            </a:pPr>
            <a:r>
              <a:rPr sz="3200" b="1" i="0" u="none">
                <a:solidFill>
                  <a:srgbClr val="104862"/>
                </a:solidFill>
                <a:latin typeface="Noto Sans SC"/>
                <a:ea typeface="Noto Sans SC"/>
                <a:cs typeface="Noto Sans SC"/>
              </a:rPr>
              <a:t>03 核心技术原理 (1) - MRGCN模型</a:t>
            </a:r>
          </a:p>
        </p:txBody>
      </p:sp>
      <p:sp>
        <p:nvSpPr>
          <p:cNvPr id="4" name="AutoShape 4">
            <a:extLst xmlns:a="http://schemas.openxmlformats.org/drawingml/2006/main">
              <a:ext uri="{FF2B5EF4-FFF2-40B4-BE49-F238E27FC236}">
                <a16:creationId xmlns:a16="http://schemas.microsoft.com/office/drawing/2014/main" id="{C43E563B-74B1-4DE9-85C9-13F96E210EF5}"/>
              </a:ext>
            </a:extLst>
          </p:cNvPr>
          <p:cNvSpPr>
            <a:spLocks xmlns:a="http://schemas.openxmlformats.org/drawingml/2006/main" noGrp="1"/>
          </p:cNvSpPr>
          <p:nvPr/>
        </p:nvSpPr>
        <p:spPr>
          <a:xfrm xmlns:a="http://schemas.openxmlformats.org/drawingml/2006/main">
            <a:off x="508000" y="1397000"/>
            <a:ext cx="10985500" cy="1143000"/>
          </a:xfrm>
          <a:prstGeom xmlns:a="http://schemas.openxmlformats.org/drawingml/2006/main" prst="roundRect">
            <a:avLst>
              <a:gd name="adj" fmla="val 13333"/>
            </a:avLst>
          </a:prstGeom>
          <a:solidFill xmlns:a="http://schemas.openxmlformats.org/drawingml/2006/main">
            <a:srgbClr val="FFFFFF">
              <a:alpha val="90000"/>
            </a:srgbClr>
          </a:solidFill>
          <a:ln xmlns:a="http://schemas.openxmlformats.org/drawingml/2006/main" w="12700" cmpd="sng">
            <a:solidFill>
              <a:srgbClr val="103A6E">
                <a:alpha val="2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5" name="AutoShape 5">
            <a:extLst xmlns:a="http://schemas.openxmlformats.org/drawingml/2006/main">
              <a:ext uri="{FF2B5EF4-FFF2-40B4-BE49-F238E27FC236}">
                <a16:creationId xmlns:a16="http://schemas.microsoft.com/office/drawing/2014/main" id="{67684FBF-D05A-4B54-9584-C623B89A0D3A}"/>
              </a:ext>
            </a:extLst>
          </p:cNvPr>
          <p:cNvSpPr>
            <a:spLocks xmlns:a="http://schemas.openxmlformats.org/drawingml/2006/main" noGrp="1"/>
          </p:cNvSpPr>
          <p:nvPr/>
        </p:nvSpPr>
        <p:spPr>
          <a:xfrm xmlns:a="http://schemas.openxmlformats.org/drawingml/2006/main">
            <a:off x="698500" y="1524000"/>
            <a:ext cx="10604500" cy="889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1800" b="1" i="0" u="none">
                <a:solidFill>
                  <a:srgbClr val="103A6E"/>
                </a:solidFill>
                <a:latin typeface="微软雅黑"/>
                <a:ea typeface="微软雅黑"/>
                <a:cs typeface="微软雅黑"/>
              </a:rPr>
              <a:t>💡 基本思想：</a:t>
            </a:r>
            <a:r>
              <a:rPr sz="1400" b="0" i="0" u="none">
                <a:solidFill>
                  <a:srgbClr val="374151"/>
                </a:solidFill>
                <a:latin typeface="Noto Sans SC"/>
                <a:ea typeface="Noto Sans SC"/>
                <a:cs typeface="Noto Sans SC"/>
              </a:rPr>
              <a:t>将EEG电极抽象为</a:t>
            </a:r>
            <a:r>
              <a:rPr sz="1400" b="1" i="0" u="none">
                <a:solidFill>
                  <a:srgbClr val="D97706"/>
                </a:solidFill>
                <a:latin typeface="Noto Sans SC"/>
                <a:ea typeface="Noto Sans SC"/>
                <a:cs typeface="Noto Sans SC"/>
              </a:rPr>
              <a:t>图节点</a:t>
            </a:r>
            <a:r>
              <a:rPr sz="1400" b="0" i="0" u="none">
                <a:solidFill>
                  <a:srgbClr val="374151"/>
                </a:solidFill>
                <a:latin typeface="Noto Sans SC"/>
                <a:ea typeface="Noto Sans SC"/>
                <a:cs typeface="Noto Sans SC"/>
              </a:rPr>
              <a:t>，电极间的连接关系抽象为</a:t>
            </a:r>
            <a:r>
              <a:rPr sz="1400" b="1" i="0" u="none">
                <a:solidFill>
                  <a:srgbClr val="D97706"/>
                </a:solidFill>
                <a:latin typeface="Noto Sans SC"/>
                <a:ea typeface="Noto Sans SC"/>
                <a:cs typeface="Noto Sans SC"/>
              </a:rPr>
              <a:t>图边</a:t>
            </a:r>
            <a:r>
              <a:rPr sz="1400" b="0" i="0" u="none">
                <a:solidFill>
                  <a:srgbClr val="374151"/>
                </a:solidFill>
                <a:latin typeface="Noto Sans SC"/>
                <a:ea typeface="Noto Sans SC"/>
                <a:cs typeface="Noto Sans SC"/>
              </a:rPr>
              <a:t>，利用图卷积网络(GCN)强大的拓扑学习能力，精准提取脑区间复杂的拓扑交互特征。</a:t>
            </a:r>
          </a:p>
        </p:txBody>
      </p:sp>
      <p:sp>
        <p:nvSpPr>
          <p:cNvPr id="6" name="AutoShape 6">
            <a:extLst xmlns:a="http://schemas.openxmlformats.org/drawingml/2006/main">
              <a:ext uri="{FF2B5EF4-FFF2-40B4-BE49-F238E27FC236}">
                <a16:creationId xmlns:a16="http://schemas.microsoft.com/office/drawing/2014/main" id="{C788D568-491F-47B3-91CD-CE0D4D6B44C6}"/>
              </a:ext>
            </a:extLst>
          </p:cNvPr>
          <p:cNvSpPr>
            <a:spLocks xmlns:a="http://schemas.openxmlformats.org/drawingml/2006/main" noGrp="1"/>
          </p:cNvSpPr>
          <p:nvPr/>
        </p:nvSpPr>
        <p:spPr>
          <a:xfrm xmlns:a="http://schemas.openxmlformats.org/drawingml/2006/main">
            <a:off x="527050" y="2675255"/>
            <a:ext cx="7396480" cy="2205355"/>
          </a:xfrm>
          <a:prstGeom xmlns:a="http://schemas.openxmlformats.org/drawingml/2006/main" prst="roundRect">
            <a:avLst>
              <a:gd name="adj" fmla="val 6451"/>
            </a:avLst>
          </a:prstGeom>
          <a:solidFill xmlns:a="http://schemas.openxmlformats.org/drawingml/2006/main">
            <a:srgbClr val="F8FAFC">
              <a:alpha val="95000"/>
            </a:srgbClr>
          </a:solidFill>
          <a:ln xmlns:a="http://schemas.openxmlformats.org/drawingml/2006/main" w="12700" cmpd="sng">
            <a:solidFill>
              <a:srgbClr val="E2E8F0">
                <a:alpha val="10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7" name="AutoShape 7">
            <a:extLst xmlns:a="http://schemas.openxmlformats.org/drawingml/2006/main">
              <a:ext uri="{FF2B5EF4-FFF2-40B4-BE49-F238E27FC236}">
                <a16:creationId xmlns:a16="http://schemas.microsoft.com/office/drawing/2014/main" id="{BD1778D6-5983-4A43-B969-2F4B8C61CC9A}"/>
              </a:ext>
            </a:extLst>
          </p:cNvPr>
          <p:cNvSpPr>
            <a:spLocks xmlns:a="http://schemas.openxmlformats.org/drawingml/2006/main" noGrp="1"/>
          </p:cNvSpPr>
          <p:nvPr/>
        </p:nvSpPr>
        <p:spPr>
          <a:xfrm xmlns:a="http://schemas.openxmlformats.org/drawingml/2006/main">
            <a:off x="698500" y="2794000"/>
            <a:ext cx="7205980" cy="17145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0000"/>
              </a:lnSpc>
              <a:buNone/>
            </a:pPr>
          </a:p>
        </p:txBody>
      </p:sp>
      <p:sp>
        <p:nvSpPr>
          <p:cNvPr id="9" name="AutoShape 9">
            <a:extLst xmlns:a="http://schemas.openxmlformats.org/drawingml/2006/main">
              <a:ext uri="{FF2B5EF4-FFF2-40B4-BE49-F238E27FC236}">
                <a16:creationId xmlns:a16="http://schemas.microsoft.com/office/drawing/2014/main" id="{0155A38C-1B76-40EE-ACFA-45931D1C368D}"/>
              </a:ext>
            </a:extLst>
          </p:cNvPr>
          <p:cNvSpPr>
            <a:spLocks xmlns:a="http://schemas.openxmlformats.org/drawingml/2006/main" noGrp="1"/>
          </p:cNvSpPr>
          <p:nvPr/>
        </p:nvSpPr>
        <p:spPr>
          <a:xfrm xmlns:a="http://schemas.openxmlformats.org/drawingml/2006/main">
            <a:off x="4508500" y="3253105"/>
            <a:ext cx="3238500" cy="17145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0000"/>
              </a:lnSpc>
              <a:buNone/>
            </a:pPr>
          </a:p>
        </p:txBody>
      </p:sp>
      <p:sp>
        <p:nvSpPr>
          <p:cNvPr id="10" name="AutoShape 10">
            <a:extLst xmlns:a="http://schemas.openxmlformats.org/drawingml/2006/main">
              <a:ext uri="{FF2B5EF4-FFF2-40B4-BE49-F238E27FC236}">
                <a16:creationId xmlns:a16="http://schemas.microsoft.com/office/drawing/2014/main" id="{F6E494DB-3796-431A-9636-1B019922734F}"/>
              </a:ext>
            </a:extLst>
          </p:cNvPr>
          <p:cNvSpPr>
            <a:spLocks xmlns:a="http://schemas.openxmlformats.org/drawingml/2006/main" noGrp="1"/>
          </p:cNvSpPr>
          <p:nvPr/>
        </p:nvSpPr>
        <p:spPr>
          <a:xfrm xmlns:a="http://schemas.openxmlformats.org/drawingml/2006/main">
            <a:off x="7963535" y="2676525"/>
            <a:ext cx="3492500" cy="2203450"/>
          </a:xfrm>
          <a:prstGeom xmlns:a="http://schemas.openxmlformats.org/drawingml/2006/main" prst="roundRect">
            <a:avLst>
              <a:gd name="adj" fmla="val 6451"/>
            </a:avLst>
          </a:prstGeom>
          <a:solidFill xmlns:a="http://schemas.openxmlformats.org/drawingml/2006/main">
            <a:srgbClr val="F8FAFC">
              <a:alpha val="95000"/>
            </a:srgbClr>
          </a:solidFill>
          <a:ln xmlns:a="http://schemas.openxmlformats.org/drawingml/2006/main" w="12700" cmpd="sng">
            <a:solidFill>
              <a:srgbClr val="E2E8F0">
                <a:alpha val="10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1" name="AutoShape 11">
            <a:extLst xmlns:a="http://schemas.openxmlformats.org/drawingml/2006/main">
              <a:ext uri="{FF2B5EF4-FFF2-40B4-BE49-F238E27FC236}">
                <a16:creationId xmlns:a16="http://schemas.microsoft.com/office/drawing/2014/main" id="{860EA33F-6252-4735-953F-A6BD53DAB837}"/>
              </a:ext>
            </a:extLst>
          </p:cNvPr>
          <p:cNvSpPr>
            <a:spLocks xmlns:a="http://schemas.openxmlformats.org/drawingml/2006/main" noGrp="1"/>
          </p:cNvSpPr>
          <p:nvPr/>
        </p:nvSpPr>
        <p:spPr>
          <a:xfrm xmlns:a="http://schemas.openxmlformats.org/drawingml/2006/main">
            <a:off x="8165465" y="2722245"/>
            <a:ext cx="3238500" cy="2235835"/>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0000"/>
              </a:lnSpc>
              <a:buNone/>
            </a:pPr>
          </a:p>
        </p:txBody>
      </p:sp>
      <p:sp>
        <p:nvSpPr>
          <p:cNvPr id="12" name="AutoShape 12">
            <a:extLst xmlns:a="http://schemas.openxmlformats.org/drawingml/2006/main">
              <a:ext uri="{FF2B5EF4-FFF2-40B4-BE49-F238E27FC236}">
                <a16:creationId xmlns:a16="http://schemas.microsoft.com/office/drawing/2014/main" id="{F713A1BB-CD2C-4E04-B947-09FFC6BAA70D}"/>
              </a:ext>
            </a:extLst>
          </p:cNvPr>
          <p:cNvSpPr>
            <a:spLocks xmlns:a="http://schemas.openxmlformats.org/drawingml/2006/main" noGrp="1"/>
          </p:cNvSpPr>
          <p:nvPr/>
        </p:nvSpPr>
        <p:spPr>
          <a:xfrm xmlns:a="http://schemas.openxmlformats.org/drawingml/2006/main">
            <a:off x="508000" y="5143500"/>
            <a:ext cx="10985500" cy="1270000"/>
          </a:xfrm>
          <a:prstGeom xmlns:a="http://schemas.openxmlformats.org/drawingml/2006/main" prst="roundRect">
            <a:avLst>
              <a:gd name="adj" fmla="val 10909"/>
            </a:avLst>
          </a:prstGeom>
          <a:solidFill xmlns:a="http://schemas.openxmlformats.org/drawingml/2006/main">
            <a:srgbClr val="ECFDF5">
              <a:alpha val="95000"/>
            </a:srgbClr>
          </a:solidFill>
          <a:ln xmlns:a="http://schemas.openxmlformats.org/drawingml/2006/main" w="12700" cmpd="sng">
            <a:solidFill>
              <a:srgbClr val="10B981">
                <a:alpha val="3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3" name="AutoShape 13">
            <a:extLst xmlns:a="http://schemas.openxmlformats.org/drawingml/2006/main">
              <a:ext uri="{FF2B5EF4-FFF2-40B4-BE49-F238E27FC236}">
                <a16:creationId xmlns:a16="http://schemas.microsoft.com/office/drawing/2014/main" id="{9601CF50-5985-461C-A779-FFF5DF690E3E}"/>
              </a:ext>
            </a:extLst>
          </p:cNvPr>
          <p:cNvSpPr>
            <a:spLocks xmlns:a="http://schemas.openxmlformats.org/drawingml/2006/main" noGrp="1"/>
          </p:cNvSpPr>
          <p:nvPr/>
        </p:nvSpPr>
        <p:spPr>
          <a:xfrm xmlns:a="http://schemas.openxmlformats.org/drawingml/2006/main">
            <a:off x="698500" y="5143500"/>
            <a:ext cx="10604500" cy="1143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08000"/>
              </a:lnSpc>
              <a:buNone/>
            </a:pPr>
            <a:r>
              <a:rPr sz="1700" b="1" i="0" u="none">
                <a:solidFill>
                  <a:srgbClr val="047857"/>
                </a:solidFill>
                <a:latin typeface="微软雅黑"/>
                <a:ea typeface="微软雅黑"/>
                <a:cs typeface="微软雅黑"/>
              </a:rPr>
              <a:t>🚀 端到端工作流程</a:t>
            </a:r>
          </a:p>
          <a:p xmlns:a="http://schemas.openxmlformats.org/drawingml/2006/main">
            <a:pPr indent="0" algn="ctr">
              <a:lnSpc>
                <a:spcPct val="125000"/>
              </a:lnSpc>
              <a:spcBef>
                <a:spcPts val="1000"/>
              </a:spcBef>
              <a:buNone/>
            </a:pPr>
            <a:r>
              <a:rPr sz="1400" b="1" i="0" u="none">
                <a:solidFill>
                  <a:srgbClr val="1F2937"/>
                </a:solidFill>
                <a:latin typeface="Noto Sans SC"/>
                <a:ea typeface="Noto Sans SC"/>
                <a:cs typeface="Noto Sans SC"/>
              </a:rPr>
              <a:t>脑网络构建 → 图卷积聚合 → 残差保留 → 多头融合 → 情绪特征输出</a:t>
            </a:r>
          </a:p>
        </p:txBody>
      </p:sp>
      <p:sp>
        <p:nvSpPr>
          <p:cNvPr id="14" name="文本框 13">
            <a:extLst xmlns:a="http://schemas.openxmlformats.org/drawingml/2006/main">
              <a:ext uri="{FF2B5EF4-FFF2-40B4-BE49-F238E27FC236}">
                <a16:creationId xmlns:a16="http://schemas.microsoft.com/office/drawing/2014/main" id="{90EC2783-5569-4ED7-B05F-81ECB99FB8E4}"/>
              </a:ext>
            </a:extLst>
          </p:cNvPr>
          <p:cNvSpPr>
            <a:spLocks xmlns:a="http://schemas.openxmlformats.org/drawingml/2006/main" noGrp="1"/>
          </p:cNvSpPr>
          <p:nvPr/>
        </p:nvSpPr>
        <p:spPr>
          <a:xfrm xmlns:a="http://schemas.openxmlformats.org/drawingml/2006/main">
            <a:off x="527050" y="2722245"/>
            <a:ext cx="7219950" cy="231775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indent="0" algn="l">
              <a:lnSpc>
                <a:spcPct val="100000"/>
              </a:lnSpc>
              <a:buNone/>
            </a:pPr>
            <a:r>
              <a:rPr b="1">
                <a:solidFill>
                  <a:srgbClr val="103A6E"/>
                </a:solidFill>
                <a:latin typeface="微软雅黑"/>
                <a:ea typeface="微软雅黑"/>
                <a:cs typeface="微软雅黑"/>
              </a:rPr>
              <a:t>🧠 </a:t>
            </a:r>
            <a:r>
              <a:rPr b="1">
                <a:solidFill>
                  <a:srgbClr val="103A6E"/>
                </a:solidFill>
                <a:latin typeface="微软雅黑"/>
                <a:ea typeface="微软雅黑"/>
                <a:cs typeface="微软雅黑"/>
              </a:rPr>
              <a:t>低秩多头图卷积</a:t>
            </a:r>
            <a:r>
              <a:rPr b="1">
                <a:solidFill>
                  <a:srgbClr val="103A6E"/>
                </a:solidFill>
                <a:latin typeface="微软雅黑"/>
                <a:ea typeface="微软雅黑"/>
                <a:cs typeface="微软雅黑"/>
              </a:rPr>
              <a:t> (Low-rank Multi-head)</a:t>
            </a:r>
          </a:p>
          <a:p xmlns:a="http://schemas.openxmlformats.org/drawingml/2006/main">
            <a:pPr algn="l">
              <a:lnSpc>
                <a:spcPct val="100000"/>
              </a:lnSpc>
              <a:spcBef>
                <a:spcPts val="0"/>
              </a:spcBef>
              <a:spcAft>
                <a:spcPts val="0"/>
              </a:spcAft>
              <a:buNone/>
            </a:pPr>
            <a:r>
              <a:rPr sz="1400" b="0" i="0" u="none">
                <a:solidFill>
                  <a:srgbClr val="374151"/>
                </a:solidFill>
                <a:latin typeface="Noto Sans SC"/>
                <a:ea typeface="Noto Sans SC"/>
                <a:cs typeface="Noto Sans SC"/>
              </a:rPr>
              <a:t>• 以 62 个 EEG 电极为图节点，采用低秩可学习邻接矩阵建模通道连接，降低参数量与存储开销。</a:t>
            </a:r>
          </a:p>
          <a:p xmlns:a="http://schemas.openxmlformats.org/drawingml/2006/main">
            <a:pPr algn="l">
              <a:spcBef>
                <a:spcPts val="0"/>
              </a:spcBef>
              <a:spcAft>
                <a:spcPts val="0"/>
              </a:spcAft>
              <a:buNone/>
            </a:pPr>
            <a:r>
              <a:rPr sz="1400">
                <a:solidFill>
                  <a:srgbClr val="374151"/>
                </a:solidFill>
                <a:latin typeface="Noto Sans SC"/>
                <a:ea typeface="Noto Sans SC"/>
                <a:cs typeface="Noto Sans SC"/>
              </a:rPr>
              <a:t>• “多头”表示同一层中包含多个并行图卷积分支，每个 Head 学习不同的邻接模式和特征变换。</a:t>
            </a:r>
          </a:p>
          <a:p xmlns:a="http://schemas.openxmlformats.org/drawingml/2006/main">
            <a:pPr algn="l">
              <a:spcBef>
                <a:spcPts val="0"/>
              </a:spcBef>
              <a:spcAft>
                <a:spcPts val="0"/>
              </a:spcAft>
              <a:buNone/>
            </a:pPr>
            <a:r>
              <a:rPr sz="1400">
                <a:solidFill>
                  <a:srgbClr val="374151"/>
                </a:solidFill>
                <a:latin typeface="Noto Sans SC"/>
                <a:ea typeface="Noto Sans SC"/>
                <a:cs typeface="Noto Sans SC"/>
              </a:rPr>
              <a:t>• 第一层 MRGCN 采用 4个 Head，每个 Head 学习不同连接模式，提取多视角脑区拓扑特征。</a:t>
            </a:r>
          </a:p>
          <a:p xmlns:a="http://schemas.openxmlformats.org/drawingml/2006/main">
            <a:pPr algn="l">
              <a:spcBef>
                <a:spcPts val="0"/>
              </a:spcBef>
              <a:spcAft>
                <a:spcPts val="0"/>
              </a:spcAft>
              <a:buNone/>
            </a:pPr>
            <a:r>
              <a:rPr sz="1400">
                <a:solidFill>
                  <a:srgbClr val="374151"/>
                </a:solidFill>
                <a:latin typeface="Noto Sans SC"/>
                <a:ea typeface="Noto Sans SC"/>
                <a:cs typeface="Noto Sans SC"/>
              </a:rPr>
              <a:t>• 第二层 MRGCN 采用 1 个 Head，对多头特征进行压缩融合，得到紧凑共享特征。</a:t>
            </a:r>
          </a:p>
          <a:p xmlns:a="http://schemas.openxmlformats.org/drawingml/2006/main">
            <a:pPr algn="l">
              <a:spcBef>
                <a:spcPts val="0"/>
              </a:spcBef>
              <a:spcAft>
                <a:spcPts val="0"/>
              </a:spcAft>
              <a:buNone/>
            </a:pPr>
            <a:r>
              <a:rPr sz="1400">
                <a:solidFill>
                  <a:srgbClr val="374151"/>
                </a:solidFill>
                <a:latin typeface="Noto Sans SC"/>
                <a:ea typeface="Noto Sans SC"/>
                <a:cs typeface="Noto Sans SC"/>
              </a:rPr>
              <a:t>• 特征经 BatchNorm 和 Flatten 后，分别用于情绪分类与域对抗训练。</a:t>
            </a:r>
          </a:p>
        </p:txBody>
      </p:sp>
      <p:sp>
        <p:nvSpPr>
          <p:cNvPr id="8" name="文本框 7">
            <a:extLst xmlns:a="http://schemas.openxmlformats.org/drawingml/2006/main">
              <a:ext uri="{FF2B5EF4-FFF2-40B4-BE49-F238E27FC236}">
                <a16:creationId xmlns:a16="http://schemas.microsoft.com/office/drawing/2014/main" id="{14CC11F0-05F7-4D23-B8B0-4DE809B5A12A}"/>
              </a:ext>
            </a:extLst>
          </p:cNvPr>
          <p:cNvSpPr>
            <a:spLocks xmlns:a="http://schemas.openxmlformats.org/drawingml/2006/main" noGrp="1"/>
          </p:cNvSpPr>
          <p:nvPr/>
        </p:nvSpPr>
        <p:spPr>
          <a:xfrm xmlns:a="http://schemas.openxmlformats.org/drawingml/2006/main">
            <a:off x="8018780" y="2722245"/>
            <a:ext cx="3284220" cy="19380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indent="0" algn="l">
              <a:lnSpc>
                <a:spcPct val="100000"/>
              </a:lnSpc>
              <a:buNone/>
            </a:pPr>
            <a:r>
              <a:rPr b="1">
                <a:solidFill>
                  <a:srgbClr val="103A6E"/>
                </a:solidFill>
                <a:latin typeface="微软雅黑"/>
                <a:ea typeface="微软雅黑"/>
                <a:cs typeface="微软雅黑"/>
              </a:rPr>
              <a:t>🔄 残差连接 (Residual)</a:t>
            </a:r>
          </a:p>
          <a:p xmlns:a="http://schemas.openxmlformats.org/drawingml/2006/main">
            <a:pPr algn="l">
              <a:spcBef>
                <a:spcPts val="0"/>
              </a:spcBef>
              <a:spcAft>
                <a:spcPts val="0"/>
              </a:spcAft>
              <a:buNone/>
            </a:pPr>
            <a:r>
              <a:rPr sz="1400">
                <a:solidFill>
                  <a:srgbClr val="374151"/>
                </a:solidFill>
                <a:latin typeface="Noto Sans SC"/>
                <a:ea typeface="Noto Sans SC"/>
                <a:cs typeface="Noto Sans SC"/>
              </a:rPr>
              <a:t>• 在 MRGCN 层中设置残差路径，将输入特征映射后与图卷积输出相加。</a:t>
            </a:r>
          </a:p>
          <a:p xmlns:a="http://schemas.openxmlformats.org/drawingml/2006/main">
            <a:pPr algn="l">
              <a:spcBef>
                <a:spcPts val="0"/>
              </a:spcBef>
              <a:spcAft>
                <a:spcPts val="0"/>
              </a:spcAft>
              <a:buNone/>
            </a:pPr>
            <a:r>
              <a:rPr sz="1400">
                <a:solidFill>
                  <a:srgbClr val="374151"/>
                </a:solidFill>
                <a:latin typeface="Noto Sans SC"/>
                <a:ea typeface="Noto Sans SC"/>
                <a:cs typeface="Noto Sans SC"/>
              </a:rPr>
              <a:t>• 保留原始 EEG 电极节点信息，避免多层图卷积后特征过度趋同。</a:t>
            </a:r>
          </a:p>
          <a:p xmlns:a="http://schemas.openxmlformats.org/drawingml/2006/main">
            <a:pPr algn="l">
              <a:spcBef>
                <a:spcPts val="0"/>
              </a:spcBef>
              <a:spcAft>
                <a:spcPts val="0"/>
              </a:spcAft>
              <a:buNone/>
            </a:pPr>
            <a:r>
              <a:rPr sz="1400">
                <a:solidFill>
                  <a:srgbClr val="374151"/>
                </a:solidFill>
                <a:latin typeface="Noto Sans SC"/>
                <a:ea typeface="Noto Sans SC"/>
                <a:cs typeface="Noto Sans SC"/>
              </a:rPr>
              <a:t>• 缓解图神经网络中的“过平滑”问题，提高训练稳定性。</a:t>
            </a:r>
          </a:p>
          <a:p xmlns:a="http://schemas.openxmlformats.org/drawingml/2006/main"/>
        </p:txBody>
      </p:sp>
    </p:spTree>
    <p:extLst>
      <p:ext uri="{BB962C8B-B14F-4D97-AF65-F5344CB8AC3E}">
        <p14:creationId xmlns:p14="http://schemas.microsoft.com/office/powerpoint/2010/main" val="196598974"/>
      </p:ext>
    </p:extLst>
  </p:cSld>
</p:sld>
</file>

<file path=ppt/slides/slide16.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0c49f38e971d4a94"/>
          <a:srcRect xmlns:a="http://schemas.openxmlformats.org/drawingml/2006/main" l="33" t="0" r="33" b="0"/>
          <a:stretch xmlns:a="http://schemas.openxmlformats.org/drawingml/2006/main">
            <a:fillRect l="0" t="0" r="0" b="0"/>
          </a:stretch>
        </p:blipFill>
        <p:spPr>
          <a:xfrm xmlns:a="http://schemas.openxmlformats.org/drawingml/2006/main">
            <a:off x="0" y="0"/>
            <a:ext cx="12001500" cy="6807200"/>
          </a:xfrm>
          <a:prstGeom xmlns:a="http://schemas.openxmlformats.org/drawingml/2006/main" prst="rect">
            <a:avLst/>
          </a:prstGeom>
          <a:ln xmlns:a="http://schemas.openxmlformats.org/drawingml/2006/main" w="25400" cap="flat" cmpd="sng">
            <a:noFill/>
            <a:prstDash val="solid"/>
            <a:round/>
          </a:ln>
        </p:spPr>
      </p:pic>
      <p:sp>
        <p:nvSpPr>
          <p:cNvPr id="3" name="AutoShape 3">
            <a:extLst xmlns:a="http://schemas.openxmlformats.org/drawingml/2006/main">
              <a:ext uri="{FF2B5EF4-FFF2-40B4-BE49-F238E27FC236}">
                <a16:creationId xmlns:a16="http://schemas.microsoft.com/office/drawing/2014/main" id="{6D8E3874-B5A9-4529-B9FC-7669557B5AE5}"/>
              </a:ext>
            </a:extLst>
          </p:cNvPr>
          <p:cNvSpPr>
            <a:spLocks xmlns:a="http://schemas.openxmlformats.org/drawingml/2006/main" noGrp="1"/>
          </p:cNvSpPr>
          <p:nvPr/>
        </p:nvSpPr>
        <p:spPr>
          <a:xfrm xmlns:a="http://schemas.openxmlformats.org/drawingml/2006/main">
            <a:off x="508000" y="508000"/>
            <a:ext cx="10985500" cy="762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3200" b="1" i="0" u="none">
                <a:solidFill>
                  <a:srgbClr val="0C3671"/>
                </a:solidFill>
                <a:latin typeface="微软雅黑"/>
                <a:ea typeface="微软雅黑"/>
                <a:cs typeface="微软雅黑"/>
              </a:rPr>
              <a:t>0</a:t>
            </a:r>
            <a:r>
              <a:rPr sz="3200" b="1" i="0" u="none">
                <a:solidFill>
                  <a:srgbClr val="0C3671"/>
                </a:solidFill>
                <a:latin typeface="微软雅黑"/>
                <a:ea typeface="微软雅黑"/>
                <a:cs typeface="微软雅黑"/>
              </a:rPr>
              <a:t>6</a:t>
            </a:r>
            <a:r>
              <a:rPr sz="3200" b="1" i="0" u="none">
                <a:solidFill>
                  <a:srgbClr val="1F2329"/>
                </a:solidFill>
                <a:latin typeface="Noto Sans SC"/>
                <a:ea typeface="Noto Sans SC"/>
                <a:cs typeface="Noto Sans SC"/>
              </a:rPr>
              <a:t> </a:t>
            </a:r>
            <a:r>
              <a:rPr sz="3200" b="1">
                <a:solidFill>
                  <a:srgbClr val="0C3671"/>
                </a:solidFill>
                <a:latin typeface="微软雅黑"/>
                <a:ea typeface="微软雅黑"/>
                <a:cs typeface="微软雅黑"/>
              </a:rPr>
              <a:t>NCNN量化部署与端侧推理优化</a:t>
            </a:r>
          </a:p>
        </p:txBody>
      </p:sp>
      <p:sp>
        <p:nvSpPr>
          <p:cNvPr id="6" name="Shape 4">
            <a:extLst xmlns:a="http://schemas.openxmlformats.org/drawingml/2006/main">
              <a:ext uri="{FF2B5EF4-FFF2-40B4-BE49-F238E27FC236}">
                <a16:creationId xmlns:a16="http://schemas.microsoft.com/office/drawing/2014/main" id="{AAF567E3-F7A1-43C0-8BDF-42B89E70F24A}"/>
              </a:ext>
            </a:extLst>
          </p:cNvPr>
          <p:cNvSpPr>
            <a:spLocks xmlns:a="http://schemas.openxmlformats.org/drawingml/2006/main" noGrp="1"/>
          </p:cNvSpPr>
          <p:nvPr/>
        </p:nvSpPr>
        <p:spPr>
          <a:xfrm xmlns:a="http://schemas.openxmlformats.org/drawingml/2006/main">
            <a:off x="640080" y="1444752"/>
            <a:ext cx="5257800" cy="438912"/>
          </a:xfrm>
          <a:prstGeom xmlns:a="http://schemas.openxmlformats.org/drawingml/2006/main" prst="roundRect">
            <a:avLst>
              <a:gd name="adj" fmla="val 25000"/>
            </a:avLst>
          </a:prstGeom>
          <a:solidFill xmlns:a="http://schemas.openxmlformats.org/drawingml/2006/main">
            <a:srgbClr val="113B7A"/>
          </a:solidFill>
          <a:ln xmlns:a="http://schemas.openxmlformats.org/drawingml/2006/main" w="12700">
            <a:solidFill>
              <a:srgbClr val="113B7A"/>
            </a:solidFill>
            <a:prstDash val="solid"/>
          </a:ln>
        </p:spPr>
      </p:sp>
      <p:sp>
        <p:nvSpPr>
          <p:cNvPr id="7" name="Text 5">
            <a:extLst xmlns:a="http://schemas.openxmlformats.org/drawingml/2006/main">
              <a:ext uri="{FF2B5EF4-FFF2-40B4-BE49-F238E27FC236}">
                <a16:creationId xmlns:a16="http://schemas.microsoft.com/office/drawing/2014/main" id="{800A1613-AA60-4466-A947-68F74DCB4BDC}"/>
              </a:ext>
            </a:extLst>
          </p:cNvPr>
          <p:cNvSpPr>
            <a:spLocks xmlns:a="http://schemas.openxmlformats.org/drawingml/2006/main" noGrp="1"/>
          </p:cNvSpPr>
          <p:nvPr/>
        </p:nvSpPr>
        <p:spPr>
          <a:xfrm xmlns:a="http://schemas.openxmlformats.org/drawingml/2006/main">
            <a:off x="713232" y="1472184"/>
            <a:ext cx="5111496" cy="384048"/>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0" indent="0" algn="ctr">
              <a:buNone/>
            </a:pPr>
            <a:r>
              <a:rPr sz="1600" b="1">
                <a:solidFill>
                  <a:srgbClr val="FFFFFF"/>
                </a:solidFill>
                <a:latin typeface="Noto Sans CJK SC"/>
                <a:ea typeface="Noto Sans CJK SC"/>
                <a:cs typeface="Noto Sans CJK SC"/>
              </a:rPr>
              <a:t>模型转换与量化部署</a:t>
            </a:r>
          </a:p>
        </p:txBody>
      </p:sp>
      <p:sp>
        <p:nvSpPr>
          <p:cNvPr id="8" name="Shape 6">
            <a:extLst xmlns:a="http://schemas.openxmlformats.org/drawingml/2006/main">
              <a:ext uri="{FF2B5EF4-FFF2-40B4-BE49-F238E27FC236}">
                <a16:creationId xmlns:a16="http://schemas.microsoft.com/office/drawing/2014/main" id="{0C9E322F-CB09-4106-83E7-C341AD80B3B0}"/>
              </a:ext>
            </a:extLst>
          </p:cNvPr>
          <p:cNvSpPr>
            <a:spLocks xmlns:a="http://schemas.openxmlformats.org/drawingml/2006/main" noGrp="1"/>
          </p:cNvSpPr>
          <p:nvPr/>
        </p:nvSpPr>
        <p:spPr>
          <a:xfrm xmlns:a="http://schemas.openxmlformats.org/drawingml/2006/main">
            <a:off x="731520" y="2057400"/>
            <a:ext cx="914400" cy="713232"/>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12700">
            <a:solidFill>
              <a:srgbClr val="9BB3CF"/>
            </a:solidFill>
            <a:prstDash val="solid"/>
          </a:ln>
        </p:spPr>
      </p:sp>
      <p:sp>
        <p:nvSpPr>
          <p:cNvPr id="9" name="Text 7">
            <a:extLst xmlns:a="http://schemas.openxmlformats.org/drawingml/2006/main">
              <a:ext uri="{FF2B5EF4-FFF2-40B4-BE49-F238E27FC236}">
                <a16:creationId xmlns:a16="http://schemas.microsoft.com/office/drawing/2014/main" id="{E1913A12-C01F-4514-AEA6-B3C9B4FAC3E5}"/>
              </a:ext>
            </a:extLst>
          </p:cNvPr>
          <p:cNvSpPr>
            <a:spLocks xmlns:a="http://schemas.openxmlformats.org/drawingml/2006/main" noGrp="1"/>
          </p:cNvSpPr>
          <p:nvPr/>
        </p:nvSpPr>
        <p:spPr>
          <a:xfrm xmlns:a="http://schemas.openxmlformats.org/drawingml/2006/main">
            <a:off x="786384" y="2093976"/>
            <a:ext cx="804672" cy="64008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a:bodyPr>
          <a:lstStyle xmlns:a="http://schemas.openxmlformats.org/drawingml/2006/main"/>
          <a:p xmlns:a="http://schemas.openxmlformats.org/drawingml/2006/main">
            <a:pPr marL="0" algn="ctr">
              <a:buNone/>
            </a:pPr>
            <a:r>
              <a:rPr sz="1230" b="1">
                <a:solidFill>
                  <a:srgbClr val="1D2A3A"/>
                </a:solidFill>
                <a:latin typeface="华文宋体"/>
                <a:ea typeface="华文宋体"/>
                <a:cs typeface="华文宋体"/>
              </a:rPr>
              <a:t>PyTorch</a:t>
            </a:r>
          </a:p>
          <a:p xmlns:a="http://schemas.openxmlformats.org/drawingml/2006/main">
            <a:pPr marL="0" algn="ctr">
              <a:buNone/>
            </a:pPr>
            <a:r>
              <a:rPr sz="1230" b="1">
                <a:solidFill>
                  <a:srgbClr val="1D2A3A"/>
                </a:solidFill>
                <a:latin typeface="华文宋体"/>
                <a:ea typeface="华文宋体"/>
                <a:cs typeface="华文宋体"/>
              </a:rPr>
              <a:t>候选模型</a:t>
            </a:r>
          </a:p>
        </p:txBody>
      </p:sp>
      <p:sp>
        <p:nvSpPr>
          <p:cNvPr id="10" name="Shape 8">
            <a:extLst xmlns:a="http://schemas.openxmlformats.org/drawingml/2006/main">
              <a:ext uri="{FF2B5EF4-FFF2-40B4-BE49-F238E27FC236}">
                <a16:creationId xmlns:a16="http://schemas.microsoft.com/office/drawing/2014/main" id="{FA3D1C75-54B4-4FE1-BC80-888ED3322F45}"/>
              </a:ext>
            </a:extLst>
          </p:cNvPr>
          <p:cNvSpPr>
            <a:spLocks xmlns:a="http://schemas.openxmlformats.org/drawingml/2006/main" noGrp="1"/>
          </p:cNvSpPr>
          <p:nvPr/>
        </p:nvSpPr>
        <p:spPr>
          <a:xfrm xmlns:a="http://schemas.openxmlformats.org/drawingml/2006/main">
            <a:off x="1664208" y="2414016"/>
            <a:ext cx="118872" cy="0"/>
          </a:xfrm>
          <a:prstGeom xmlns:a="http://schemas.openxmlformats.org/drawingml/2006/main" prst="line">
            <a:avLst/>
          </a:prstGeom>
          <a:noFill xmlns:a="http://schemas.openxmlformats.org/drawingml/2006/main"/>
          <a:ln xmlns:a="http://schemas.openxmlformats.org/drawingml/2006/main" w="11430">
            <a:solidFill>
              <a:srgbClr val="9BB3CF"/>
            </a:solidFill>
            <a:prstDash val="solid"/>
          </a:ln>
        </p:spPr>
      </p:sp>
      <p:sp>
        <p:nvSpPr>
          <p:cNvPr id="11" name="Shape 9">
            <a:extLst xmlns:a="http://schemas.openxmlformats.org/drawingml/2006/main">
              <a:ext uri="{FF2B5EF4-FFF2-40B4-BE49-F238E27FC236}">
                <a16:creationId xmlns:a16="http://schemas.microsoft.com/office/drawing/2014/main" id="{8EA37EA6-6811-4F46-9694-FFE931170A53}"/>
              </a:ext>
            </a:extLst>
          </p:cNvPr>
          <p:cNvSpPr>
            <a:spLocks xmlns:a="http://schemas.openxmlformats.org/drawingml/2006/main" noGrp="1"/>
          </p:cNvSpPr>
          <p:nvPr/>
        </p:nvSpPr>
        <p:spPr>
          <a:xfrm xmlns:a="http://schemas.openxmlformats.org/drawingml/2006/main">
            <a:off x="1801368" y="2057400"/>
            <a:ext cx="914400" cy="713232"/>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12700">
            <a:solidFill>
              <a:srgbClr val="9BB3CF"/>
            </a:solidFill>
            <a:prstDash val="solid"/>
          </a:ln>
        </p:spPr>
      </p:sp>
      <p:sp>
        <p:nvSpPr>
          <p:cNvPr id="12" name="Text 10">
            <a:extLst xmlns:a="http://schemas.openxmlformats.org/drawingml/2006/main">
              <a:ext uri="{FF2B5EF4-FFF2-40B4-BE49-F238E27FC236}">
                <a16:creationId xmlns:a16="http://schemas.microsoft.com/office/drawing/2014/main" id="{B40964CA-0154-43C1-B2B7-2CFB8B50A798}"/>
              </a:ext>
            </a:extLst>
          </p:cNvPr>
          <p:cNvSpPr>
            <a:spLocks xmlns:a="http://schemas.openxmlformats.org/drawingml/2006/main" noGrp="1"/>
          </p:cNvSpPr>
          <p:nvPr/>
        </p:nvSpPr>
        <p:spPr>
          <a:xfrm xmlns:a="http://schemas.openxmlformats.org/drawingml/2006/main">
            <a:off x="1856232" y="2093976"/>
            <a:ext cx="804672" cy="64008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a:bodyPr>
          <a:lstStyle xmlns:a="http://schemas.openxmlformats.org/drawingml/2006/main"/>
          <a:p xmlns:a="http://schemas.openxmlformats.org/drawingml/2006/main">
            <a:pPr marL="0" algn="ctr">
              <a:buNone/>
            </a:pPr>
            <a:r>
              <a:rPr sz="1230" b="1">
                <a:solidFill>
                  <a:srgbClr val="1D2A3A"/>
                </a:solidFill>
                <a:latin typeface="华文宋体"/>
                <a:ea typeface="华文宋体"/>
                <a:cs typeface="华文宋体"/>
              </a:rPr>
              <a:t>ONNX</a:t>
            </a:r>
          </a:p>
          <a:p xmlns:a="http://schemas.openxmlformats.org/drawingml/2006/main">
            <a:pPr marL="0" algn="ctr">
              <a:buNone/>
            </a:pPr>
            <a:r>
              <a:rPr sz="1230" b="1">
                <a:solidFill>
                  <a:srgbClr val="1D2A3A"/>
                </a:solidFill>
                <a:latin typeface="华文宋体"/>
                <a:ea typeface="华文宋体"/>
                <a:cs typeface="华文宋体"/>
              </a:rPr>
              <a:t>中间表示</a:t>
            </a:r>
          </a:p>
        </p:txBody>
      </p:sp>
      <p:sp>
        <p:nvSpPr>
          <p:cNvPr id="13" name="Shape 11">
            <a:extLst xmlns:a="http://schemas.openxmlformats.org/drawingml/2006/main">
              <a:ext uri="{FF2B5EF4-FFF2-40B4-BE49-F238E27FC236}">
                <a16:creationId xmlns:a16="http://schemas.microsoft.com/office/drawing/2014/main" id="{8CB3C06C-0A42-4569-9304-D688503C9AEE}"/>
              </a:ext>
            </a:extLst>
          </p:cNvPr>
          <p:cNvSpPr>
            <a:spLocks xmlns:a="http://schemas.openxmlformats.org/drawingml/2006/main" noGrp="1"/>
          </p:cNvSpPr>
          <p:nvPr/>
        </p:nvSpPr>
        <p:spPr>
          <a:xfrm xmlns:a="http://schemas.openxmlformats.org/drawingml/2006/main">
            <a:off x="2734056" y="2414016"/>
            <a:ext cx="118872" cy="0"/>
          </a:xfrm>
          <a:prstGeom xmlns:a="http://schemas.openxmlformats.org/drawingml/2006/main" prst="line">
            <a:avLst/>
          </a:prstGeom>
          <a:noFill xmlns:a="http://schemas.openxmlformats.org/drawingml/2006/main"/>
          <a:ln xmlns:a="http://schemas.openxmlformats.org/drawingml/2006/main" w="11430">
            <a:solidFill>
              <a:srgbClr val="9BB3CF"/>
            </a:solidFill>
            <a:prstDash val="solid"/>
          </a:ln>
        </p:spPr>
      </p:sp>
      <p:sp>
        <p:nvSpPr>
          <p:cNvPr id="14" name="Shape 12">
            <a:extLst xmlns:a="http://schemas.openxmlformats.org/drawingml/2006/main">
              <a:ext uri="{FF2B5EF4-FFF2-40B4-BE49-F238E27FC236}">
                <a16:creationId xmlns:a16="http://schemas.microsoft.com/office/drawing/2014/main" id="{D0C8DCD6-4FBA-4F1D-AE28-B07F9E98DA20}"/>
              </a:ext>
            </a:extLst>
          </p:cNvPr>
          <p:cNvSpPr>
            <a:spLocks xmlns:a="http://schemas.openxmlformats.org/drawingml/2006/main" noGrp="1"/>
          </p:cNvSpPr>
          <p:nvPr/>
        </p:nvSpPr>
        <p:spPr>
          <a:xfrm xmlns:a="http://schemas.openxmlformats.org/drawingml/2006/main">
            <a:off x="2871216" y="2057400"/>
            <a:ext cx="914400" cy="713232"/>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12700">
            <a:solidFill>
              <a:srgbClr val="9BB3CF"/>
            </a:solidFill>
            <a:prstDash val="solid"/>
          </a:ln>
        </p:spPr>
      </p:sp>
      <p:sp>
        <p:nvSpPr>
          <p:cNvPr id="15" name="Text 13">
            <a:extLst xmlns:a="http://schemas.openxmlformats.org/drawingml/2006/main">
              <a:ext uri="{FF2B5EF4-FFF2-40B4-BE49-F238E27FC236}">
                <a16:creationId xmlns:a16="http://schemas.microsoft.com/office/drawing/2014/main" id="{8AB12E46-5899-4E50-8EDA-CD354ECD135F}"/>
              </a:ext>
            </a:extLst>
          </p:cNvPr>
          <p:cNvSpPr>
            <a:spLocks xmlns:a="http://schemas.openxmlformats.org/drawingml/2006/main" noGrp="1"/>
          </p:cNvSpPr>
          <p:nvPr/>
        </p:nvSpPr>
        <p:spPr>
          <a:xfrm xmlns:a="http://schemas.openxmlformats.org/drawingml/2006/main">
            <a:off x="2926080" y="2093976"/>
            <a:ext cx="804672" cy="64008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a:bodyPr>
          <a:lstStyle xmlns:a="http://schemas.openxmlformats.org/drawingml/2006/main"/>
          <a:p xmlns:a="http://schemas.openxmlformats.org/drawingml/2006/main">
            <a:pPr marL="0" algn="ctr">
              <a:buNone/>
            </a:pPr>
            <a:r>
              <a:rPr sz="1230" b="1">
                <a:solidFill>
                  <a:srgbClr val="1D2A3A"/>
                </a:solidFill>
                <a:latin typeface="华文宋体"/>
                <a:ea typeface="华文宋体"/>
                <a:cs typeface="华文宋体"/>
              </a:rPr>
              <a:t>PNNX</a:t>
            </a:r>
          </a:p>
          <a:p xmlns:a="http://schemas.openxmlformats.org/drawingml/2006/main">
            <a:pPr marL="0" algn="ctr">
              <a:buNone/>
            </a:pPr>
            <a:r>
              <a:rPr sz="1230" b="1">
                <a:solidFill>
                  <a:srgbClr val="1D2A3A"/>
                </a:solidFill>
                <a:latin typeface="华文宋体"/>
                <a:ea typeface="华文宋体"/>
                <a:cs typeface="华文宋体"/>
              </a:rPr>
              <a:t>结构转换</a:t>
            </a:r>
          </a:p>
        </p:txBody>
      </p:sp>
      <p:sp>
        <p:nvSpPr>
          <p:cNvPr id="16" name="Shape 14">
            <a:extLst xmlns:a="http://schemas.openxmlformats.org/drawingml/2006/main">
              <a:ext uri="{FF2B5EF4-FFF2-40B4-BE49-F238E27FC236}">
                <a16:creationId xmlns:a16="http://schemas.microsoft.com/office/drawing/2014/main" id="{FCEDC04D-7F25-4D44-BDEF-2CBCAB95D99D}"/>
              </a:ext>
            </a:extLst>
          </p:cNvPr>
          <p:cNvSpPr>
            <a:spLocks xmlns:a="http://schemas.openxmlformats.org/drawingml/2006/main" noGrp="1"/>
          </p:cNvSpPr>
          <p:nvPr/>
        </p:nvSpPr>
        <p:spPr>
          <a:xfrm xmlns:a="http://schemas.openxmlformats.org/drawingml/2006/main">
            <a:off x="3803904" y="2414016"/>
            <a:ext cx="118872" cy="0"/>
          </a:xfrm>
          <a:prstGeom xmlns:a="http://schemas.openxmlformats.org/drawingml/2006/main" prst="line">
            <a:avLst/>
          </a:prstGeom>
          <a:noFill xmlns:a="http://schemas.openxmlformats.org/drawingml/2006/main"/>
          <a:ln xmlns:a="http://schemas.openxmlformats.org/drawingml/2006/main" w="11430">
            <a:solidFill>
              <a:srgbClr val="9BB3CF"/>
            </a:solidFill>
            <a:prstDash val="solid"/>
          </a:ln>
        </p:spPr>
      </p:sp>
      <p:sp>
        <p:nvSpPr>
          <p:cNvPr id="17" name="Shape 15">
            <a:extLst xmlns:a="http://schemas.openxmlformats.org/drawingml/2006/main">
              <a:ext uri="{FF2B5EF4-FFF2-40B4-BE49-F238E27FC236}">
                <a16:creationId xmlns:a16="http://schemas.microsoft.com/office/drawing/2014/main" id="{A9D67B6A-DF5F-4235-B671-E2383E582F1E}"/>
              </a:ext>
            </a:extLst>
          </p:cNvPr>
          <p:cNvSpPr>
            <a:spLocks xmlns:a="http://schemas.openxmlformats.org/drawingml/2006/main" noGrp="1"/>
          </p:cNvSpPr>
          <p:nvPr/>
        </p:nvSpPr>
        <p:spPr>
          <a:xfrm xmlns:a="http://schemas.openxmlformats.org/drawingml/2006/main">
            <a:off x="3941064" y="2057400"/>
            <a:ext cx="914400" cy="713232"/>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12700">
            <a:solidFill>
              <a:srgbClr val="9BB3CF"/>
            </a:solidFill>
            <a:prstDash val="solid"/>
          </a:ln>
        </p:spPr>
      </p:sp>
      <p:sp>
        <p:nvSpPr>
          <p:cNvPr id="18" name="Text 16">
            <a:extLst xmlns:a="http://schemas.openxmlformats.org/drawingml/2006/main">
              <a:ext uri="{FF2B5EF4-FFF2-40B4-BE49-F238E27FC236}">
                <a16:creationId xmlns:a16="http://schemas.microsoft.com/office/drawing/2014/main" id="{EA4A0651-4D76-4411-9D09-C7A0AC35829F}"/>
              </a:ext>
            </a:extLst>
          </p:cNvPr>
          <p:cNvSpPr>
            <a:spLocks xmlns:a="http://schemas.openxmlformats.org/drawingml/2006/main" noGrp="1"/>
          </p:cNvSpPr>
          <p:nvPr/>
        </p:nvSpPr>
        <p:spPr>
          <a:xfrm xmlns:a="http://schemas.openxmlformats.org/drawingml/2006/main">
            <a:off x="3995928" y="2093976"/>
            <a:ext cx="804672" cy="64008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a:bodyPr>
          <a:lstStyle xmlns:a="http://schemas.openxmlformats.org/drawingml/2006/main"/>
          <a:p xmlns:a="http://schemas.openxmlformats.org/drawingml/2006/main">
            <a:pPr marL="0" algn="ctr">
              <a:buNone/>
            </a:pPr>
            <a:r>
              <a:rPr sz="1230" b="1">
                <a:solidFill>
                  <a:srgbClr val="1D2A3A"/>
                </a:solidFill>
                <a:latin typeface="华文宋体"/>
                <a:ea typeface="华文宋体"/>
                <a:cs typeface="华文宋体"/>
              </a:rPr>
              <a:t>NCNN</a:t>
            </a:r>
          </a:p>
          <a:p xmlns:a="http://schemas.openxmlformats.org/drawingml/2006/main">
            <a:pPr marL="0" algn="ctr">
              <a:buNone/>
            </a:pPr>
            <a:r>
              <a:rPr sz="1230" b="1">
                <a:solidFill>
                  <a:srgbClr val="1D2A3A"/>
                </a:solidFill>
                <a:latin typeface="华文宋体"/>
                <a:ea typeface="华文宋体"/>
                <a:cs typeface="华文宋体"/>
              </a:rPr>
              <a:t>FP32 模型</a:t>
            </a:r>
          </a:p>
        </p:txBody>
      </p:sp>
      <p:sp>
        <p:nvSpPr>
          <p:cNvPr id="19" name="Shape 17">
            <a:extLst xmlns:a="http://schemas.openxmlformats.org/drawingml/2006/main">
              <a:ext uri="{FF2B5EF4-FFF2-40B4-BE49-F238E27FC236}">
                <a16:creationId xmlns:a16="http://schemas.microsoft.com/office/drawing/2014/main" id="{B2722BAA-8BB7-4007-95BC-5C30B7447E39}"/>
              </a:ext>
            </a:extLst>
          </p:cNvPr>
          <p:cNvSpPr>
            <a:spLocks xmlns:a="http://schemas.openxmlformats.org/drawingml/2006/main" noGrp="1"/>
          </p:cNvSpPr>
          <p:nvPr/>
        </p:nvSpPr>
        <p:spPr>
          <a:xfrm xmlns:a="http://schemas.openxmlformats.org/drawingml/2006/main">
            <a:off x="4873752" y="2414016"/>
            <a:ext cx="118872" cy="0"/>
          </a:xfrm>
          <a:prstGeom xmlns:a="http://schemas.openxmlformats.org/drawingml/2006/main" prst="line">
            <a:avLst/>
          </a:prstGeom>
          <a:noFill xmlns:a="http://schemas.openxmlformats.org/drawingml/2006/main"/>
          <a:ln xmlns:a="http://schemas.openxmlformats.org/drawingml/2006/main" w="11430">
            <a:solidFill>
              <a:srgbClr val="9BB3CF"/>
            </a:solidFill>
            <a:prstDash val="solid"/>
          </a:ln>
        </p:spPr>
      </p:sp>
      <p:sp>
        <p:nvSpPr>
          <p:cNvPr id="20" name="Shape 18">
            <a:extLst xmlns:a="http://schemas.openxmlformats.org/drawingml/2006/main">
              <a:ext uri="{FF2B5EF4-FFF2-40B4-BE49-F238E27FC236}">
                <a16:creationId xmlns:a16="http://schemas.microsoft.com/office/drawing/2014/main" id="{7415DD32-58A7-43B1-B4E1-6373EF2792FB}"/>
              </a:ext>
            </a:extLst>
          </p:cNvPr>
          <p:cNvSpPr>
            <a:spLocks xmlns:a="http://schemas.openxmlformats.org/drawingml/2006/main" noGrp="1"/>
          </p:cNvSpPr>
          <p:nvPr/>
        </p:nvSpPr>
        <p:spPr>
          <a:xfrm xmlns:a="http://schemas.openxmlformats.org/drawingml/2006/main">
            <a:off x="5010912" y="2057400"/>
            <a:ext cx="914400" cy="713232"/>
          </a:xfrm>
          <a:prstGeom xmlns:a="http://schemas.openxmlformats.org/drawingml/2006/main" prst="roundRect">
            <a:avLst>
              <a:gd name="adj" fmla="val 10256"/>
            </a:avLst>
          </a:prstGeom>
          <a:solidFill xmlns:a="http://schemas.openxmlformats.org/drawingml/2006/main">
            <a:srgbClr val="DDF9F5"/>
          </a:solidFill>
          <a:ln xmlns:a="http://schemas.openxmlformats.org/drawingml/2006/main" w="12700">
            <a:solidFill>
              <a:srgbClr val="27C7CF"/>
            </a:solidFill>
            <a:prstDash val="solid"/>
          </a:ln>
        </p:spPr>
      </p:sp>
      <p:sp>
        <p:nvSpPr>
          <p:cNvPr id="21" name="Text 19">
            <a:extLst xmlns:a="http://schemas.openxmlformats.org/drawingml/2006/main">
              <a:ext uri="{FF2B5EF4-FFF2-40B4-BE49-F238E27FC236}">
                <a16:creationId xmlns:a16="http://schemas.microsoft.com/office/drawing/2014/main" id="{D1D4F8B3-6272-4151-A50E-BBA32AAC52D2}"/>
              </a:ext>
            </a:extLst>
          </p:cNvPr>
          <p:cNvSpPr>
            <a:spLocks xmlns:a="http://schemas.openxmlformats.org/drawingml/2006/main" noGrp="1"/>
          </p:cNvSpPr>
          <p:nvPr/>
        </p:nvSpPr>
        <p:spPr>
          <a:xfrm xmlns:a="http://schemas.openxmlformats.org/drawingml/2006/main">
            <a:off x="5065776" y="2093976"/>
            <a:ext cx="804672" cy="64008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1230" b="1">
                <a:solidFill>
                  <a:srgbClr val="1D2A3A"/>
                </a:solidFill>
                <a:latin typeface="华文宋体"/>
                <a:ea typeface="华文宋体"/>
                <a:cs typeface="华文宋体"/>
              </a:rPr>
              <a:t>NCNN</a:t>
            </a:r>
          </a:p>
          <a:p xmlns:a="http://schemas.openxmlformats.org/drawingml/2006/main">
            <a:pPr marL="0" indent="0" algn="ctr">
              <a:buNone/>
            </a:pPr>
            <a:r>
              <a:rPr sz="1230" b="1">
                <a:solidFill>
                  <a:srgbClr val="1D2A3A"/>
                </a:solidFill>
                <a:latin typeface="华文宋体"/>
                <a:ea typeface="华文宋体"/>
                <a:cs typeface="华文宋体"/>
              </a:rPr>
              <a:t>INT8 量化</a:t>
            </a:r>
          </a:p>
        </p:txBody>
      </p:sp>
      <p:sp>
        <p:nvSpPr>
          <p:cNvPr id="23" name="Shape 21">
            <a:extLst xmlns:a="http://schemas.openxmlformats.org/drawingml/2006/main">
              <a:ext uri="{FF2B5EF4-FFF2-40B4-BE49-F238E27FC236}">
                <a16:creationId xmlns:a16="http://schemas.microsoft.com/office/drawing/2014/main" id="{C7582444-2309-47D6-92A3-A9DFC465F069}"/>
              </a:ext>
            </a:extLst>
          </p:cNvPr>
          <p:cNvSpPr>
            <a:spLocks xmlns:a="http://schemas.openxmlformats.org/drawingml/2006/main" noGrp="1"/>
          </p:cNvSpPr>
          <p:nvPr/>
        </p:nvSpPr>
        <p:spPr>
          <a:xfrm xmlns:a="http://schemas.openxmlformats.org/drawingml/2006/main">
            <a:off x="6400800" y="1444752"/>
            <a:ext cx="5166360" cy="438912"/>
          </a:xfrm>
          <a:prstGeom xmlns:a="http://schemas.openxmlformats.org/drawingml/2006/main" prst="roundRect">
            <a:avLst>
              <a:gd name="adj" fmla="val 25000"/>
            </a:avLst>
          </a:prstGeom>
          <a:solidFill xmlns:a="http://schemas.openxmlformats.org/drawingml/2006/main">
            <a:srgbClr val="47B881"/>
          </a:solidFill>
          <a:ln xmlns:a="http://schemas.openxmlformats.org/drawingml/2006/main" w="12700">
            <a:solidFill>
              <a:srgbClr val="47B881"/>
            </a:solidFill>
            <a:prstDash val="solid"/>
          </a:ln>
        </p:spPr>
      </p:sp>
      <p:sp>
        <p:nvSpPr>
          <p:cNvPr id="24" name="Text 22">
            <a:extLst xmlns:a="http://schemas.openxmlformats.org/drawingml/2006/main">
              <a:ext uri="{FF2B5EF4-FFF2-40B4-BE49-F238E27FC236}">
                <a16:creationId xmlns:a16="http://schemas.microsoft.com/office/drawing/2014/main" id="{593E97E3-D0DE-4E4B-BC59-60D7C02B464A}"/>
              </a:ext>
            </a:extLst>
          </p:cNvPr>
          <p:cNvSpPr>
            <a:spLocks xmlns:a="http://schemas.openxmlformats.org/drawingml/2006/main" noGrp="1"/>
          </p:cNvSpPr>
          <p:nvPr/>
        </p:nvSpPr>
        <p:spPr>
          <a:xfrm xmlns:a="http://schemas.openxmlformats.org/drawingml/2006/main">
            <a:off x="6473952" y="1472184"/>
            <a:ext cx="5020056" cy="384048"/>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0" indent="0" algn="ctr">
              <a:buNone/>
            </a:pPr>
            <a:r>
              <a:rPr sz="1600" b="1">
                <a:solidFill>
                  <a:srgbClr val="FFFFFF"/>
                </a:solidFill>
                <a:latin typeface="Noto Sans CJK SC"/>
                <a:ea typeface="Noto Sans CJK SC"/>
                <a:cs typeface="Noto Sans CJK SC"/>
              </a:rPr>
              <a:t>端侧推理与评价指标</a:t>
            </a:r>
          </a:p>
        </p:txBody>
      </p:sp>
      <p:sp>
        <p:nvSpPr>
          <p:cNvPr id="25" name="Shape 23">
            <a:extLst xmlns:a="http://schemas.openxmlformats.org/drawingml/2006/main">
              <a:ext uri="{FF2B5EF4-FFF2-40B4-BE49-F238E27FC236}">
                <a16:creationId xmlns:a16="http://schemas.microsoft.com/office/drawing/2014/main" id="{36E9F337-CEB8-42B6-A080-E6E08D634819}"/>
              </a:ext>
            </a:extLst>
          </p:cNvPr>
          <p:cNvSpPr>
            <a:spLocks xmlns:a="http://schemas.openxmlformats.org/drawingml/2006/main" noGrp="1"/>
          </p:cNvSpPr>
          <p:nvPr/>
        </p:nvSpPr>
        <p:spPr>
          <a:xfrm xmlns:a="http://schemas.openxmlformats.org/drawingml/2006/main">
            <a:off x="6473952" y="2057400"/>
            <a:ext cx="859536" cy="749808"/>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2700">
            <a:solidFill>
              <a:srgbClr val="9BB3CF"/>
            </a:solidFill>
            <a:prstDash val="solid"/>
          </a:ln>
        </p:spPr>
      </p:sp>
      <p:sp>
        <p:nvSpPr>
          <p:cNvPr id="26" name="Text 24">
            <a:extLst xmlns:a="http://schemas.openxmlformats.org/drawingml/2006/main">
              <a:ext uri="{FF2B5EF4-FFF2-40B4-BE49-F238E27FC236}">
                <a16:creationId xmlns:a16="http://schemas.microsoft.com/office/drawing/2014/main" id="{3AC3F546-AEFD-44E4-AF59-FDF6A1DF4B9F}"/>
              </a:ext>
            </a:extLst>
          </p:cNvPr>
          <p:cNvSpPr>
            <a:spLocks xmlns:a="http://schemas.openxmlformats.org/drawingml/2006/main" noGrp="1"/>
          </p:cNvSpPr>
          <p:nvPr/>
        </p:nvSpPr>
        <p:spPr>
          <a:xfrm xmlns:a="http://schemas.openxmlformats.org/drawingml/2006/main">
            <a:off x="6528816" y="2093976"/>
            <a:ext cx="749808" cy="676656"/>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1230" b="1">
                <a:solidFill>
                  <a:srgbClr val="1D2A3A"/>
                </a:solidFill>
                <a:latin typeface="华文宋体"/>
                <a:ea typeface="华文宋体"/>
                <a:cs typeface="华文宋体"/>
              </a:rPr>
              <a:t>模型加载</a:t>
            </a:r>
          </a:p>
          <a:p xmlns:a="http://schemas.openxmlformats.org/drawingml/2006/main">
            <a:pPr marL="0" indent="0" algn="ctr">
              <a:buNone/>
            </a:pPr>
            <a:r>
              <a:rPr sz="1230" b="1">
                <a:solidFill>
                  <a:srgbClr val="1D2A3A"/>
                </a:solidFill>
                <a:latin typeface="华文宋体"/>
                <a:ea typeface="华文宋体"/>
                <a:cs typeface="华文宋体"/>
              </a:rPr>
              <a:t>param/bin</a:t>
            </a:r>
          </a:p>
        </p:txBody>
      </p:sp>
      <p:sp>
        <p:nvSpPr>
          <p:cNvPr id="27" name="Shape 25">
            <a:extLst xmlns:a="http://schemas.openxmlformats.org/drawingml/2006/main">
              <a:ext uri="{FF2B5EF4-FFF2-40B4-BE49-F238E27FC236}">
                <a16:creationId xmlns:a16="http://schemas.microsoft.com/office/drawing/2014/main" id="{20A3035F-8FE1-4631-B0F0-85C97D4C4CD5}"/>
              </a:ext>
            </a:extLst>
          </p:cNvPr>
          <p:cNvSpPr>
            <a:spLocks xmlns:a="http://schemas.openxmlformats.org/drawingml/2006/main" noGrp="1"/>
          </p:cNvSpPr>
          <p:nvPr/>
        </p:nvSpPr>
        <p:spPr>
          <a:xfrm xmlns:a="http://schemas.openxmlformats.org/drawingml/2006/main">
            <a:off x="7351776" y="2432304"/>
            <a:ext cx="91440" cy="0"/>
          </a:xfrm>
          <a:prstGeom xmlns:a="http://schemas.openxmlformats.org/drawingml/2006/main" prst="line">
            <a:avLst/>
          </a:prstGeom>
          <a:noFill xmlns:a="http://schemas.openxmlformats.org/drawingml/2006/main"/>
          <a:ln xmlns:a="http://schemas.openxmlformats.org/drawingml/2006/main" w="11430">
            <a:solidFill>
              <a:srgbClr val="9BB3CF"/>
            </a:solidFill>
            <a:prstDash val="solid"/>
          </a:ln>
        </p:spPr>
      </p:sp>
      <p:sp>
        <p:nvSpPr>
          <p:cNvPr id="28" name="Shape 26">
            <a:extLst xmlns:a="http://schemas.openxmlformats.org/drawingml/2006/main">
              <a:ext uri="{FF2B5EF4-FFF2-40B4-BE49-F238E27FC236}">
                <a16:creationId xmlns:a16="http://schemas.microsoft.com/office/drawing/2014/main" id="{FC091951-74CF-45D0-ACEE-96CA337FFDF0}"/>
              </a:ext>
            </a:extLst>
          </p:cNvPr>
          <p:cNvSpPr>
            <a:spLocks xmlns:a="http://schemas.openxmlformats.org/drawingml/2006/main" noGrp="1"/>
          </p:cNvSpPr>
          <p:nvPr/>
        </p:nvSpPr>
        <p:spPr>
          <a:xfrm xmlns:a="http://schemas.openxmlformats.org/drawingml/2006/main">
            <a:off x="7461504" y="2057400"/>
            <a:ext cx="859536" cy="749808"/>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2700">
            <a:solidFill>
              <a:srgbClr val="9BB3CF"/>
            </a:solidFill>
            <a:prstDash val="solid"/>
          </a:ln>
        </p:spPr>
      </p:sp>
      <p:sp>
        <p:nvSpPr>
          <p:cNvPr id="29" name="Text 27">
            <a:extLst xmlns:a="http://schemas.openxmlformats.org/drawingml/2006/main">
              <a:ext uri="{FF2B5EF4-FFF2-40B4-BE49-F238E27FC236}">
                <a16:creationId xmlns:a16="http://schemas.microsoft.com/office/drawing/2014/main" id="{6378ED50-309C-4721-B709-01CDD60462B4}"/>
              </a:ext>
            </a:extLst>
          </p:cNvPr>
          <p:cNvSpPr>
            <a:spLocks xmlns:a="http://schemas.openxmlformats.org/drawingml/2006/main" noGrp="1"/>
          </p:cNvSpPr>
          <p:nvPr/>
        </p:nvSpPr>
        <p:spPr>
          <a:xfrm xmlns:a="http://schemas.openxmlformats.org/drawingml/2006/main">
            <a:off x="7516368" y="2093976"/>
            <a:ext cx="749808" cy="676656"/>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lnSpcReduction="20000"/>
          </a:bodyPr>
          <a:lstStyle xmlns:a="http://schemas.openxmlformats.org/drawingml/2006/main"/>
          <a:p xmlns:a="http://schemas.openxmlformats.org/drawingml/2006/main">
            <a:pPr marL="0" indent="0" algn="ctr">
              <a:buNone/>
            </a:pPr>
            <a:r>
              <a:rPr sz="1230" b="1">
                <a:solidFill>
                  <a:srgbClr val="1D2A3A"/>
                </a:solidFill>
                <a:latin typeface="华文宋体"/>
                <a:ea typeface="华文宋体"/>
                <a:cs typeface="华文宋体"/>
              </a:rPr>
              <a:t>读取测试样本</a:t>
            </a:r>
          </a:p>
          <a:p xmlns:a="http://schemas.openxmlformats.org/drawingml/2006/main">
            <a:pPr marL="0" algn="ctr">
              <a:buNone/>
            </a:pPr>
            <a:r>
              <a:rPr sz="1230" b="1">
                <a:solidFill>
                  <a:srgbClr val="1D2A3A"/>
                </a:solidFill>
                <a:latin typeface="华文宋体"/>
                <a:ea typeface="华文宋体"/>
                <a:cs typeface="华文宋体"/>
              </a:rPr>
              <a:t>test_data.bin</a:t>
            </a:r>
          </a:p>
        </p:txBody>
      </p:sp>
      <p:sp>
        <p:nvSpPr>
          <p:cNvPr id="30" name="Shape 28">
            <a:extLst xmlns:a="http://schemas.openxmlformats.org/drawingml/2006/main">
              <a:ext uri="{FF2B5EF4-FFF2-40B4-BE49-F238E27FC236}">
                <a16:creationId xmlns:a16="http://schemas.microsoft.com/office/drawing/2014/main" id="{A78AA03C-A2AD-4750-B0A1-2EE5523FEBFD}"/>
              </a:ext>
            </a:extLst>
          </p:cNvPr>
          <p:cNvSpPr>
            <a:spLocks xmlns:a="http://schemas.openxmlformats.org/drawingml/2006/main" noGrp="1"/>
          </p:cNvSpPr>
          <p:nvPr/>
        </p:nvSpPr>
        <p:spPr>
          <a:xfrm xmlns:a="http://schemas.openxmlformats.org/drawingml/2006/main">
            <a:off x="8339328" y="2432304"/>
            <a:ext cx="91440" cy="0"/>
          </a:xfrm>
          <a:prstGeom xmlns:a="http://schemas.openxmlformats.org/drawingml/2006/main" prst="line">
            <a:avLst/>
          </a:prstGeom>
          <a:noFill xmlns:a="http://schemas.openxmlformats.org/drawingml/2006/main"/>
          <a:ln xmlns:a="http://schemas.openxmlformats.org/drawingml/2006/main" w="11430">
            <a:solidFill>
              <a:srgbClr val="9BB3CF"/>
            </a:solidFill>
            <a:prstDash val="solid"/>
          </a:ln>
        </p:spPr>
      </p:sp>
      <p:sp>
        <p:nvSpPr>
          <p:cNvPr id="31" name="Shape 29">
            <a:extLst xmlns:a="http://schemas.openxmlformats.org/drawingml/2006/main">
              <a:ext uri="{FF2B5EF4-FFF2-40B4-BE49-F238E27FC236}">
                <a16:creationId xmlns:a16="http://schemas.microsoft.com/office/drawing/2014/main" id="{4CD1161A-59AE-4330-9C23-D5D9FB7006DD}"/>
              </a:ext>
            </a:extLst>
          </p:cNvPr>
          <p:cNvSpPr>
            <a:spLocks xmlns:a="http://schemas.openxmlformats.org/drawingml/2006/main" noGrp="1"/>
          </p:cNvSpPr>
          <p:nvPr/>
        </p:nvSpPr>
        <p:spPr>
          <a:xfrm xmlns:a="http://schemas.openxmlformats.org/drawingml/2006/main">
            <a:off x="8449056" y="2057400"/>
            <a:ext cx="859536" cy="749808"/>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2700">
            <a:solidFill>
              <a:srgbClr val="9BB3CF"/>
            </a:solidFill>
            <a:prstDash val="solid"/>
          </a:ln>
        </p:spPr>
      </p:sp>
      <p:sp>
        <p:nvSpPr>
          <p:cNvPr id="32" name="Text 30">
            <a:extLst xmlns:a="http://schemas.openxmlformats.org/drawingml/2006/main">
              <a:ext uri="{FF2B5EF4-FFF2-40B4-BE49-F238E27FC236}">
                <a16:creationId xmlns:a16="http://schemas.microsoft.com/office/drawing/2014/main" id="{BFA417CE-B1BC-4E23-B4D9-1750B86C6477}"/>
              </a:ext>
            </a:extLst>
          </p:cNvPr>
          <p:cNvSpPr>
            <a:spLocks xmlns:a="http://schemas.openxmlformats.org/drawingml/2006/main" noGrp="1"/>
          </p:cNvSpPr>
          <p:nvPr/>
        </p:nvSpPr>
        <p:spPr>
          <a:xfrm xmlns:a="http://schemas.openxmlformats.org/drawingml/2006/main">
            <a:off x="8503920" y="2093976"/>
            <a:ext cx="749808" cy="676656"/>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a:bodyPr>
          <a:lstStyle xmlns:a="http://schemas.openxmlformats.org/drawingml/2006/main"/>
          <a:p xmlns:a="http://schemas.openxmlformats.org/drawingml/2006/main">
            <a:pPr marL="0" algn="ctr">
              <a:buNone/>
            </a:pPr>
            <a:r>
              <a:rPr sz="1230" b="1">
                <a:solidFill>
                  <a:srgbClr val="1D2A3A"/>
                </a:solidFill>
                <a:latin typeface="华文宋体"/>
                <a:ea typeface="华文宋体"/>
                <a:cs typeface="华文宋体"/>
              </a:rPr>
              <a:t>Cache 预热</a:t>
            </a:r>
          </a:p>
          <a:p xmlns:a="http://schemas.openxmlformats.org/drawingml/2006/main">
            <a:pPr marL="0" algn="ctr">
              <a:buNone/>
            </a:pPr>
            <a:r>
              <a:rPr sz="1230" b="1">
                <a:solidFill>
                  <a:srgbClr val="1D2A3A"/>
                </a:solidFill>
                <a:latin typeface="华文宋体"/>
                <a:ea typeface="华文宋体"/>
                <a:cs typeface="华文宋体"/>
              </a:rPr>
              <a:t>warmup</a:t>
            </a:r>
          </a:p>
        </p:txBody>
      </p:sp>
      <p:sp>
        <p:nvSpPr>
          <p:cNvPr id="33" name="Shape 31">
            <a:extLst xmlns:a="http://schemas.openxmlformats.org/drawingml/2006/main">
              <a:ext uri="{FF2B5EF4-FFF2-40B4-BE49-F238E27FC236}">
                <a16:creationId xmlns:a16="http://schemas.microsoft.com/office/drawing/2014/main" id="{D153FD44-3E3C-4779-968C-ED37DD8A0290}"/>
              </a:ext>
            </a:extLst>
          </p:cNvPr>
          <p:cNvSpPr>
            <a:spLocks xmlns:a="http://schemas.openxmlformats.org/drawingml/2006/main" noGrp="1"/>
          </p:cNvSpPr>
          <p:nvPr/>
        </p:nvSpPr>
        <p:spPr>
          <a:xfrm xmlns:a="http://schemas.openxmlformats.org/drawingml/2006/main">
            <a:off x="9326880" y="2432304"/>
            <a:ext cx="91440" cy="0"/>
          </a:xfrm>
          <a:prstGeom xmlns:a="http://schemas.openxmlformats.org/drawingml/2006/main" prst="line">
            <a:avLst/>
          </a:prstGeom>
          <a:noFill xmlns:a="http://schemas.openxmlformats.org/drawingml/2006/main"/>
          <a:ln xmlns:a="http://schemas.openxmlformats.org/drawingml/2006/main" w="11430">
            <a:solidFill>
              <a:srgbClr val="9BB3CF"/>
            </a:solidFill>
            <a:prstDash val="solid"/>
          </a:ln>
        </p:spPr>
      </p:sp>
      <p:sp>
        <p:nvSpPr>
          <p:cNvPr id="34" name="Shape 32">
            <a:extLst xmlns:a="http://schemas.openxmlformats.org/drawingml/2006/main">
              <a:ext uri="{FF2B5EF4-FFF2-40B4-BE49-F238E27FC236}">
                <a16:creationId xmlns:a16="http://schemas.microsoft.com/office/drawing/2014/main" id="{55CB2508-DC62-47AB-86A4-AFB0FFB11C4C}"/>
              </a:ext>
            </a:extLst>
          </p:cNvPr>
          <p:cNvSpPr>
            <a:spLocks xmlns:a="http://schemas.openxmlformats.org/drawingml/2006/main" noGrp="1"/>
          </p:cNvSpPr>
          <p:nvPr/>
        </p:nvSpPr>
        <p:spPr>
          <a:xfrm xmlns:a="http://schemas.openxmlformats.org/drawingml/2006/main">
            <a:off x="9436608" y="2057400"/>
            <a:ext cx="859536" cy="749808"/>
          </a:xfrm>
          <a:prstGeom xmlns:a="http://schemas.openxmlformats.org/drawingml/2006/main" prst="roundRect">
            <a:avLst>
              <a:gd name="adj" fmla="val 9756"/>
            </a:avLst>
          </a:prstGeom>
          <a:solidFill xmlns:a="http://schemas.openxmlformats.org/drawingml/2006/main">
            <a:srgbClr val="DDF9F5"/>
          </a:solidFill>
          <a:ln xmlns:a="http://schemas.openxmlformats.org/drawingml/2006/main" w="12700">
            <a:solidFill>
              <a:srgbClr val="27C7CF"/>
            </a:solidFill>
            <a:prstDash val="solid"/>
          </a:ln>
        </p:spPr>
      </p:sp>
      <p:sp>
        <p:nvSpPr>
          <p:cNvPr id="35" name="Text 33">
            <a:extLst xmlns:a="http://schemas.openxmlformats.org/drawingml/2006/main">
              <a:ext uri="{FF2B5EF4-FFF2-40B4-BE49-F238E27FC236}">
                <a16:creationId xmlns:a16="http://schemas.microsoft.com/office/drawing/2014/main" id="{ACF03488-795F-4A94-A66D-E234A559080D}"/>
              </a:ext>
            </a:extLst>
          </p:cNvPr>
          <p:cNvSpPr>
            <a:spLocks xmlns:a="http://schemas.openxmlformats.org/drawingml/2006/main" noGrp="1"/>
          </p:cNvSpPr>
          <p:nvPr/>
        </p:nvSpPr>
        <p:spPr>
          <a:xfrm xmlns:a="http://schemas.openxmlformats.org/drawingml/2006/main">
            <a:off x="9491472" y="2093976"/>
            <a:ext cx="749808" cy="676656"/>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fontScale="90000"/>
          </a:bodyPr>
          <a:lstStyle xmlns:a="http://schemas.openxmlformats.org/drawingml/2006/main"/>
          <a:p xmlns:a="http://schemas.openxmlformats.org/drawingml/2006/main">
            <a:pPr marL="0" indent="0" algn="ctr">
              <a:buNone/>
            </a:pPr>
            <a:r>
              <a:rPr sz="1230" b="1">
                <a:solidFill>
                  <a:srgbClr val="1D2A3A"/>
                </a:solidFill>
                <a:latin typeface="华文宋体"/>
                <a:ea typeface="华文宋体"/>
                <a:cs typeface="华文宋体"/>
              </a:rPr>
              <a:t>多轮 Benchmark</a:t>
            </a:r>
          </a:p>
          <a:p xmlns:a="http://schemas.openxmlformats.org/drawingml/2006/main">
            <a:pPr marL="0" indent="0" algn="ctr">
              <a:buNone/>
            </a:pPr>
            <a:r>
              <a:rPr sz="1230" b="1">
                <a:solidFill>
                  <a:srgbClr val="1D2A3A"/>
                </a:solidFill>
                <a:latin typeface="华文宋体"/>
                <a:ea typeface="华文宋体"/>
                <a:cs typeface="华文宋体"/>
              </a:rPr>
              <a:t>统计延迟/吞吐</a:t>
            </a:r>
          </a:p>
        </p:txBody>
      </p:sp>
      <p:sp>
        <p:nvSpPr>
          <p:cNvPr id="36" name="Shape 34">
            <a:extLst xmlns:a="http://schemas.openxmlformats.org/drawingml/2006/main">
              <a:ext uri="{FF2B5EF4-FFF2-40B4-BE49-F238E27FC236}">
                <a16:creationId xmlns:a16="http://schemas.microsoft.com/office/drawing/2014/main" id="{2C235047-64F4-4843-8C15-42EE27B898DF}"/>
              </a:ext>
            </a:extLst>
          </p:cNvPr>
          <p:cNvSpPr>
            <a:spLocks xmlns:a="http://schemas.openxmlformats.org/drawingml/2006/main" noGrp="1"/>
          </p:cNvSpPr>
          <p:nvPr/>
        </p:nvSpPr>
        <p:spPr>
          <a:xfrm xmlns:a="http://schemas.openxmlformats.org/drawingml/2006/main">
            <a:off x="10314432" y="2432304"/>
            <a:ext cx="91440" cy="0"/>
          </a:xfrm>
          <a:prstGeom xmlns:a="http://schemas.openxmlformats.org/drawingml/2006/main" prst="line">
            <a:avLst/>
          </a:prstGeom>
          <a:noFill xmlns:a="http://schemas.openxmlformats.org/drawingml/2006/main"/>
          <a:ln xmlns:a="http://schemas.openxmlformats.org/drawingml/2006/main" w="11430">
            <a:solidFill>
              <a:srgbClr val="9BB3CF"/>
            </a:solidFill>
            <a:prstDash val="solid"/>
          </a:ln>
        </p:spPr>
      </p:sp>
      <p:sp>
        <p:nvSpPr>
          <p:cNvPr id="37" name="Shape 35">
            <a:extLst xmlns:a="http://schemas.openxmlformats.org/drawingml/2006/main">
              <a:ext uri="{FF2B5EF4-FFF2-40B4-BE49-F238E27FC236}">
                <a16:creationId xmlns:a16="http://schemas.microsoft.com/office/drawing/2014/main" id="{A49E5AC0-6846-4AC6-AC4F-2FC31E3FFB84}"/>
              </a:ext>
            </a:extLst>
          </p:cNvPr>
          <p:cNvSpPr>
            <a:spLocks xmlns:a="http://schemas.openxmlformats.org/drawingml/2006/main" noGrp="1"/>
          </p:cNvSpPr>
          <p:nvPr/>
        </p:nvSpPr>
        <p:spPr>
          <a:xfrm xmlns:a="http://schemas.openxmlformats.org/drawingml/2006/main">
            <a:off x="10424160" y="2057400"/>
            <a:ext cx="859536" cy="749808"/>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2700">
            <a:solidFill>
              <a:srgbClr val="9BB3CF"/>
            </a:solidFill>
            <a:prstDash val="solid"/>
          </a:ln>
        </p:spPr>
      </p:sp>
      <p:sp>
        <p:nvSpPr>
          <p:cNvPr id="38" name="Text 36">
            <a:extLst xmlns:a="http://schemas.openxmlformats.org/drawingml/2006/main">
              <a:ext uri="{FF2B5EF4-FFF2-40B4-BE49-F238E27FC236}">
                <a16:creationId xmlns:a16="http://schemas.microsoft.com/office/drawing/2014/main" id="{B27EE811-7F3A-491A-BDCF-A2A3C3107302}"/>
              </a:ext>
            </a:extLst>
          </p:cNvPr>
          <p:cNvSpPr>
            <a:spLocks xmlns:a="http://schemas.openxmlformats.org/drawingml/2006/main" noGrp="1"/>
          </p:cNvSpPr>
          <p:nvPr/>
        </p:nvSpPr>
        <p:spPr>
          <a:xfrm xmlns:a="http://schemas.openxmlformats.org/drawingml/2006/main">
            <a:off x="10479024" y="2093976"/>
            <a:ext cx="749808" cy="676656"/>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lnSpcReduction="20000"/>
          </a:bodyPr>
          <a:lstStyle xmlns:a="http://schemas.openxmlformats.org/drawingml/2006/main"/>
          <a:p xmlns:a="http://schemas.openxmlformats.org/drawingml/2006/main">
            <a:pPr marL="0" algn="ctr">
              <a:buNone/>
            </a:pPr>
            <a:r>
              <a:rPr sz="1230" b="1">
                <a:solidFill>
                  <a:srgbClr val="1D2A3A"/>
                </a:solidFill>
                <a:latin typeface="华文宋体"/>
                <a:ea typeface="华文宋体"/>
                <a:cs typeface="华文宋体"/>
              </a:rPr>
              <a:t>准确率评估</a:t>
            </a:r>
          </a:p>
          <a:p xmlns:a="http://schemas.openxmlformats.org/drawingml/2006/main">
            <a:pPr marL="0" algn="ctr">
              <a:buNone/>
            </a:pPr>
            <a:r>
              <a:rPr sz="1230" b="1">
                <a:solidFill>
                  <a:srgbClr val="1D2A3A"/>
                </a:solidFill>
                <a:latin typeface="华文宋体"/>
                <a:ea typeface="华文宋体"/>
                <a:cs typeface="华文宋体"/>
              </a:rPr>
              <a:t>预测 vs 标签</a:t>
            </a:r>
          </a:p>
        </p:txBody>
      </p:sp>
      <p:sp>
        <p:nvSpPr>
          <p:cNvPr id="39" name="Shape 37">
            <a:extLst xmlns:a="http://schemas.openxmlformats.org/drawingml/2006/main">
              <a:ext uri="{FF2B5EF4-FFF2-40B4-BE49-F238E27FC236}">
                <a16:creationId xmlns:a16="http://schemas.microsoft.com/office/drawing/2014/main" id="{BD723BFB-BB39-437B-B3CB-2DCEEB6DC12E}"/>
              </a:ext>
            </a:extLst>
          </p:cNvPr>
          <p:cNvSpPr>
            <a:spLocks xmlns:a="http://schemas.openxmlformats.org/drawingml/2006/main" noGrp="1"/>
          </p:cNvSpPr>
          <p:nvPr/>
        </p:nvSpPr>
        <p:spPr>
          <a:xfrm xmlns:a="http://schemas.openxmlformats.org/drawingml/2006/main">
            <a:off x="6492240" y="3127248"/>
            <a:ext cx="4846320" cy="868680"/>
          </a:xfrm>
          <a:prstGeom xmlns:a="http://schemas.openxmlformats.org/drawingml/2006/main" prst="roundRect">
            <a:avLst>
              <a:gd name="adj" fmla="val 12632"/>
            </a:avLst>
          </a:prstGeom>
          <a:solidFill xmlns:a="http://schemas.openxmlformats.org/drawingml/2006/main">
            <a:srgbClr val="FFFFFF"/>
          </a:solidFill>
          <a:ln xmlns:a="http://schemas.openxmlformats.org/drawingml/2006/main" w="15240">
            <a:solidFill>
              <a:srgbClr val="47B881"/>
            </a:solidFill>
            <a:prstDash val="solid"/>
          </a:ln>
        </p:spPr>
      </p:sp>
      <p:sp>
        <p:nvSpPr>
          <p:cNvPr id="40" name="Text 38">
            <a:extLst xmlns:a="http://schemas.openxmlformats.org/drawingml/2006/main">
              <a:ext uri="{FF2B5EF4-FFF2-40B4-BE49-F238E27FC236}">
                <a16:creationId xmlns:a16="http://schemas.microsoft.com/office/drawing/2014/main" id="{F4685E58-A06F-482B-B851-18E7E270B3BF}"/>
              </a:ext>
            </a:extLst>
          </p:cNvPr>
          <p:cNvSpPr>
            <a:spLocks xmlns:a="http://schemas.openxmlformats.org/drawingml/2006/main" noGrp="1"/>
          </p:cNvSpPr>
          <p:nvPr/>
        </p:nvSpPr>
        <p:spPr>
          <a:xfrm xmlns:a="http://schemas.openxmlformats.org/drawingml/2006/main">
            <a:off x="6656832" y="3246120"/>
            <a:ext cx="451713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47B881"/>
                </a:solidFill>
                <a:latin typeface="Noto Sans CJK SC"/>
                <a:ea typeface="Noto Sans CJK SC"/>
                <a:cs typeface="Noto Sans CJK SC"/>
              </a:rPr>
              <a:t>端侧优化策略</a:t>
            </a:r>
          </a:p>
        </p:txBody>
      </p:sp>
      <p:sp>
        <p:nvSpPr>
          <p:cNvPr id="41" name="Text 39">
            <a:extLst xmlns:a="http://schemas.openxmlformats.org/drawingml/2006/main">
              <a:ext uri="{FF2B5EF4-FFF2-40B4-BE49-F238E27FC236}">
                <a16:creationId xmlns:a16="http://schemas.microsoft.com/office/drawing/2014/main" id="{EE02EE3F-E439-47CE-96F1-25FA35CAE187}"/>
              </a:ext>
            </a:extLst>
          </p:cNvPr>
          <p:cNvSpPr>
            <a:spLocks xmlns:a="http://schemas.openxmlformats.org/drawingml/2006/main" noGrp="1"/>
          </p:cNvSpPr>
          <p:nvPr/>
        </p:nvSpPr>
        <p:spPr>
          <a:xfrm xmlns:a="http://schemas.openxmlformats.org/drawingml/2006/main">
            <a:off x="6656832" y="3566160"/>
            <a:ext cx="4517136" cy="32004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Autofit/>
          </a:bodyPr>
          <a:lstStyle xmlns:a="http://schemas.openxmlformats.org/drawingml/2006/main"/>
          <a:p xmlns:a="http://schemas.openxmlformats.org/drawingml/2006/main">
            <a:pPr marL="0" indent="0">
              <a:buNone/>
            </a:pPr>
            <a:r>
              <a:rPr sz="1230" b="1">
                <a:solidFill>
                  <a:srgbClr val="1D2A3A"/>
                </a:solidFill>
                <a:latin typeface="华文宋体"/>
                <a:ea typeface="华文宋体"/>
                <a:cs typeface="华文宋体"/>
              </a:rPr>
              <a:t>2 Worker × </a:t>
            </a:r>
            <a:r>
              <a:rPr sz="1230" b="1">
                <a:solidFill>
                  <a:srgbClr val="1D2A3A"/>
                </a:solidFill>
                <a:latin typeface="华文宋体"/>
                <a:ea typeface="华文宋体"/>
                <a:cs typeface="华文宋体"/>
              </a:rPr>
              <a:t>1</a:t>
            </a:r>
            <a:r>
              <a:rPr sz="1230" b="1">
                <a:solidFill>
                  <a:srgbClr val="1D2A3A"/>
                </a:solidFill>
                <a:latin typeface="华文宋体"/>
                <a:ea typeface="华文宋体"/>
                <a:cs typeface="华文宋体"/>
              </a:rPr>
              <a:t> Thread</a:t>
            </a:r>
            <a:r>
              <a:rPr sz="1200">
                <a:solidFill>
                  <a:srgbClr val="1D2A3A"/>
                </a:solidFill>
                <a:latin typeface="Noto Sans CJK SC"/>
                <a:ea typeface="Noto Sans CJK SC"/>
                <a:cs typeface="Noto Sans CJK SC"/>
              </a:rPr>
              <a:t> 混合并行：多个独立</a:t>
            </a:r>
            <a:r>
              <a:rPr sz="1230" b="1">
                <a:solidFill>
                  <a:srgbClr val="1D2A3A"/>
                </a:solidFill>
                <a:latin typeface="华文宋体"/>
                <a:ea typeface="华文宋体"/>
                <a:cs typeface="华文宋体"/>
              </a:rPr>
              <a:t> Net </a:t>
            </a:r>
            <a:r>
              <a:rPr sz="1200">
                <a:solidFill>
                  <a:srgbClr val="1D2A3A"/>
                </a:solidFill>
                <a:latin typeface="Noto Sans CJK SC"/>
                <a:ea typeface="Noto Sans CJK SC"/>
                <a:cs typeface="Noto Sans CJK SC"/>
              </a:rPr>
              <a:t>实例实现数据并行，动态任务领取缓解大小核负载不均衡。</a:t>
            </a:r>
          </a:p>
        </p:txBody>
      </p:sp>
      <p:sp>
        <p:nvSpPr>
          <p:cNvPr id="42" name="Shape 40">
            <a:extLst xmlns:a="http://schemas.openxmlformats.org/drawingml/2006/main">
              <a:ext uri="{FF2B5EF4-FFF2-40B4-BE49-F238E27FC236}">
                <a16:creationId xmlns:a16="http://schemas.microsoft.com/office/drawing/2014/main" id="{FC364034-1012-48FF-8D0D-4E7D3579CECC}"/>
              </a:ext>
            </a:extLst>
          </p:cNvPr>
          <p:cNvSpPr>
            <a:spLocks xmlns:a="http://schemas.openxmlformats.org/drawingml/2006/main" noGrp="1"/>
          </p:cNvSpPr>
          <p:nvPr/>
        </p:nvSpPr>
        <p:spPr>
          <a:xfrm xmlns:a="http://schemas.openxmlformats.org/drawingml/2006/main">
            <a:off x="6492240" y="4224528"/>
            <a:ext cx="4846320" cy="777240"/>
          </a:xfrm>
          <a:prstGeom xmlns:a="http://schemas.openxmlformats.org/drawingml/2006/main" prst="roundRect">
            <a:avLst>
              <a:gd name="adj" fmla="val 14118"/>
            </a:avLst>
          </a:prstGeom>
          <a:solidFill xmlns:a="http://schemas.openxmlformats.org/drawingml/2006/main">
            <a:srgbClr val="FFFFFF"/>
          </a:solidFill>
          <a:ln xmlns:a="http://schemas.openxmlformats.org/drawingml/2006/main" w="15240">
            <a:solidFill>
              <a:srgbClr val="27C7CF"/>
            </a:solidFill>
            <a:prstDash val="solid"/>
          </a:ln>
        </p:spPr>
      </p:sp>
      <p:sp>
        <p:nvSpPr>
          <p:cNvPr id="43" name="Text 41">
            <a:extLst xmlns:a="http://schemas.openxmlformats.org/drawingml/2006/main">
              <a:ext uri="{FF2B5EF4-FFF2-40B4-BE49-F238E27FC236}">
                <a16:creationId xmlns:a16="http://schemas.microsoft.com/office/drawing/2014/main" id="{4FF4512B-21AB-4784-9330-0FBE383E14FC}"/>
              </a:ext>
            </a:extLst>
          </p:cNvPr>
          <p:cNvSpPr>
            <a:spLocks xmlns:a="http://schemas.openxmlformats.org/drawingml/2006/main" noGrp="1"/>
          </p:cNvSpPr>
          <p:nvPr/>
        </p:nvSpPr>
        <p:spPr>
          <a:xfrm xmlns:a="http://schemas.openxmlformats.org/drawingml/2006/main">
            <a:off x="6656832" y="4343400"/>
            <a:ext cx="451713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7C7CF"/>
                </a:solidFill>
                <a:latin typeface="Noto Sans CJK SC"/>
                <a:ea typeface="Noto Sans CJK SC"/>
                <a:cs typeface="Noto Sans CJK SC"/>
              </a:rPr>
              <a:t>评价指标</a:t>
            </a:r>
          </a:p>
        </p:txBody>
      </p:sp>
      <p:sp>
        <p:nvSpPr>
          <p:cNvPr id="44" name="Text 42">
            <a:extLst xmlns:a="http://schemas.openxmlformats.org/drawingml/2006/main">
              <a:ext uri="{FF2B5EF4-FFF2-40B4-BE49-F238E27FC236}">
                <a16:creationId xmlns:a16="http://schemas.microsoft.com/office/drawing/2014/main" id="{AF33C059-6D35-495D-AB96-7A4D376A95D5}"/>
              </a:ext>
            </a:extLst>
          </p:cNvPr>
          <p:cNvSpPr>
            <a:spLocks xmlns:a="http://schemas.openxmlformats.org/drawingml/2006/main" noGrp="1"/>
          </p:cNvSpPr>
          <p:nvPr/>
        </p:nvSpPr>
        <p:spPr>
          <a:xfrm xmlns:a="http://schemas.openxmlformats.org/drawingml/2006/main">
            <a:off x="6656832" y="4663440"/>
            <a:ext cx="4517136" cy="2286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Autofit/>
          </a:bodyPr>
          <a:lstStyle xmlns:a="http://schemas.openxmlformats.org/drawingml/2006/main"/>
          <a:p xmlns:a="http://schemas.openxmlformats.org/drawingml/2006/main">
            <a:pPr marL="0" indent="0">
              <a:buNone/>
            </a:pPr>
            <a:r>
              <a:rPr sz="1100">
                <a:solidFill>
                  <a:srgbClr val="1D2A3A"/>
                </a:solidFill>
                <a:latin typeface="Noto Sans CJK SC"/>
                <a:ea typeface="Noto Sans CJK SC"/>
                <a:cs typeface="Noto Sans CJK SC"/>
              </a:rPr>
              <a:t>分类准确率、单样本平均延迟、吞吐量、模型大小与 </a:t>
            </a:r>
            <a:r>
              <a:rPr sz="1230" b="1">
                <a:solidFill>
                  <a:srgbClr val="1D2A3A"/>
                </a:solidFill>
                <a:latin typeface="华文宋体"/>
                <a:ea typeface="华文宋体"/>
                <a:cs typeface="华文宋体"/>
              </a:rPr>
              <a:t>FP32 / INT8</a:t>
            </a:r>
            <a:r>
              <a:rPr sz="1100">
                <a:solidFill>
                  <a:srgbClr val="1D2A3A"/>
                </a:solidFill>
                <a:latin typeface="Noto Sans CJK SC"/>
                <a:ea typeface="Noto Sans CJK SC"/>
                <a:cs typeface="Noto Sans CJK SC"/>
              </a:rPr>
              <a:t> 精度差异共同评估部署效果。</a:t>
            </a:r>
          </a:p>
        </p:txBody>
      </p:sp>
      <p:sp>
        <p:nvSpPr>
          <p:cNvPr id="45" name="Shape 37">
            <a:extLst xmlns:a="http://schemas.openxmlformats.org/drawingml/2006/main">
              <a:ext uri="{FF2B5EF4-FFF2-40B4-BE49-F238E27FC236}">
                <a16:creationId xmlns:a16="http://schemas.microsoft.com/office/drawing/2014/main" id="{2D6ACDCD-7968-47D2-91E8-17EA3C770CA3}"/>
              </a:ext>
            </a:extLst>
          </p:cNvPr>
          <p:cNvSpPr>
            <a:spLocks xmlns:a="http://schemas.openxmlformats.org/drawingml/2006/main" noGrp="1"/>
          </p:cNvSpPr>
          <p:nvPr/>
        </p:nvSpPr>
        <p:spPr>
          <a:xfrm xmlns:a="http://schemas.openxmlformats.org/drawingml/2006/main">
            <a:off x="1051560" y="3127375"/>
            <a:ext cx="4846320" cy="2519680"/>
          </a:xfrm>
          <a:prstGeom xmlns:a="http://schemas.openxmlformats.org/drawingml/2006/main" prst="roundRect">
            <a:avLst>
              <a:gd name="adj" fmla="val 12632"/>
            </a:avLst>
          </a:prstGeom>
          <a:solidFill xmlns:a="http://schemas.openxmlformats.org/drawingml/2006/main">
            <a:srgbClr val="FFFFFF"/>
          </a:solidFill>
          <a:ln xmlns:a="http://schemas.openxmlformats.org/drawingml/2006/main" w="15240">
            <a:solidFill>
              <a:srgbClr val="47B881"/>
            </a:solidFill>
            <a:prstDash val="solid"/>
          </a:ln>
        </p:spPr>
      </p:sp>
      <p:sp>
        <p:nvSpPr>
          <p:cNvPr id="46" name="文本框 45">
            <a:extLst xmlns:a="http://schemas.openxmlformats.org/drawingml/2006/main">
              <a:ext uri="{FF2B5EF4-FFF2-40B4-BE49-F238E27FC236}">
                <a16:creationId xmlns:a16="http://schemas.microsoft.com/office/drawing/2014/main" id="{28497F0F-10C6-4A8C-A9AF-3FDFFFAB5584}"/>
              </a:ext>
            </a:extLst>
          </p:cNvPr>
          <p:cNvSpPr>
            <a:spLocks xmlns:a="http://schemas.openxmlformats.org/drawingml/2006/main" noGrp="1"/>
          </p:cNvSpPr>
          <p:nvPr/>
        </p:nvSpPr>
        <p:spPr>
          <a:xfrm xmlns:a="http://schemas.openxmlformats.org/drawingml/2006/main">
            <a:off x="1245870" y="3246120"/>
            <a:ext cx="4457700" cy="242062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0" indent="0">
              <a:buNone/>
            </a:pPr>
            <a:r>
              <a:rPr b="1">
                <a:solidFill>
                  <a:srgbClr val="113B7A"/>
                </a:solidFill>
                <a:latin typeface="Noto Sans CJK SC"/>
                <a:ea typeface="Noto Sans CJK SC"/>
                <a:cs typeface="Noto Sans CJK SC"/>
              </a:rPr>
              <a:t>• </a:t>
            </a:r>
            <a:r>
              <a:rPr sz="1230" b="1">
                <a:solidFill>
                  <a:srgbClr val="1D2A3A"/>
                </a:solidFill>
                <a:latin typeface="华文宋体"/>
                <a:ea typeface="华文宋体"/>
                <a:cs typeface="华文宋体"/>
              </a:rPr>
              <a:t>ONNX</a:t>
            </a:r>
            <a:r>
              <a:rPr>
                <a:solidFill>
                  <a:srgbClr val="1D2A3A"/>
                </a:solidFill>
                <a:latin typeface="Noto Sans CJK SC"/>
                <a:ea typeface="Noto Sans CJK SC"/>
                <a:cs typeface="Noto Sans CJK SC"/>
              </a:rPr>
              <a:t> 用于检查计算图、输入输出维度和算子连接关系
</a:t>
            </a:r>
          </a:p>
          <a:p xmlns:a="http://schemas.openxmlformats.org/drawingml/2006/main">
            <a:pPr marL="0" indent="0">
              <a:buNone/>
            </a:pPr>
            <a:r>
              <a:rPr b="1">
                <a:solidFill>
                  <a:srgbClr val="113B7A"/>
                </a:solidFill>
                <a:latin typeface="Noto Sans CJK SC"/>
                <a:ea typeface="Noto Sans CJK SC"/>
                <a:cs typeface="Noto Sans CJK SC"/>
              </a:rPr>
              <a:t>• </a:t>
            </a:r>
            <a:r>
              <a:rPr sz="1230" b="1">
                <a:solidFill>
                  <a:srgbClr val="1D2A3A"/>
                </a:solidFill>
                <a:latin typeface="华文宋体"/>
                <a:ea typeface="华文宋体"/>
                <a:cs typeface="华文宋体"/>
              </a:rPr>
              <a:t>NCNN </a:t>
            </a:r>
            <a:r>
              <a:rPr>
                <a:solidFill>
                  <a:srgbClr val="1D2A3A"/>
                </a:solidFill>
                <a:latin typeface="Noto Sans CJK SC"/>
                <a:ea typeface="Noto Sans CJK SC"/>
                <a:cs typeface="Noto Sans CJK SC"/>
              </a:rPr>
              <a:t>面向移动端/嵌入式端，适合无</a:t>
            </a:r>
            <a:r>
              <a:rPr sz="1230" b="1">
                <a:solidFill>
                  <a:srgbClr val="1D2A3A"/>
                </a:solidFill>
                <a:latin typeface="华文宋体"/>
                <a:ea typeface="华文宋体"/>
                <a:cs typeface="华文宋体"/>
              </a:rPr>
              <a:t>GPU</a:t>
            </a:r>
            <a:r>
              <a:rPr>
                <a:solidFill>
                  <a:srgbClr val="1D2A3A"/>
                </a:solidFill>
                <a:latin typeface="Noto Sans CJK SC"/>
                <a:ea typeface="Noto Sans CJK SC"/>
                <a:cs typeface="Noto Sans CJK SC"/>
              </a:rPr>
              <a:t>的</a:t>
            </a:r>
            <a:r>
              <a:rPr sz="1230" b="1">
                <a:solidFill>
                  <a:srgbClr val="1D2A3A"/>
                </a:solidFill>
                <a:latin typeface="华文宋体"/>
                <a:ea typeface="华文宋体"/>
                <a:cs typeface="华文宋体"/>
              </a:rPr>
              <a:t>ARM64 CPU </a:t>
            </a:r>
            <a:r>
              <a:rPr>
                <a:solidFill>
                  <a:srgbClr val="1D2A3A"/>
                </a:solidFill>
                <a:latin typeface="Noto Sans CJK SC"/>
                <a:ea typeface="Noto Sans CJK SC"/>
                <a:cs typeface="Noto Sans CJK SC"/>
              </a:rPr>
              <a:t>平台</a:t>
            </a:r>
          </a:p>
          <a:p xmlns:a="http://schemas.openxmlformats.org/drawingml/2006/main">
            <a:pPr marL="0" indent="0">
              <a:buNone/>
            </a:pPr>
            <a:br/>
            <a:r>
              <a:rPr b="1">
                <a:solidFill>
                  <a:srgbClr val="113B7A"/>
                </a:solidFill>
                <a:latin typeface="Noto Sans CJK SC"/>
                <a:ea typeface="Noto Sans CJK SC"/>
                <a:cs typeface="Noto Sans CJK SC"/>
              </a:rPr>
              <a:t>• </a:t>
            </a:r>
            <a:r>
              <a:rPr sz="1230" b="1">
                <a:solidFill>
                  <a:srgbClr val="1D2A3A"/>
                </a:solidFill>
                <a:latin typeface="华文宋体"/>
                <a:ea typeface="华文宋体"/>
                <a:cs typeface="华文宋体"/>
              </a:rPr>
              <a:t>FP32</a:t>
            </a:r>
            <a:r>
              <a:rPr>
                <a:solidFill>
                  <a:srgbClr val="1D2A3A"/>
                </a:solidFill>
                <a:latin typeface="Noto Sans CJK SC"/>
                <a:ea typeface="Noto Sans CJK SC"/>
                <a:cs typeface="Noto Sans CJK SC"/>
              </a:rPr>
              <a:t> 与 </a:t>
            </a:r>
            <a:r>
              <a:rPr sz="1230" b="1">
                <a:solidFill>
                  <a:srgbClr val="1D2A3A"/>
                </a:solidFill>
                <a:latin typeface="华文宋体"/>
                <a:ea typeface="华文宋体"/>
                <a:cs typeface="华文宋体"/>
              </a:rPr>
              <a:t>INT8</a:t>
            </a:r>
            <a:r>
              <a:rPr>
                <a:solidFill>
                  <a:srgbClr val="1D2A3A"/>
                </a:solidFill>
                <a:latin typeface="Noto Sans CJK SC"/>
                <a:ea typeface="Noto Sans CJK SC"/>
                <a:cs typeface="Noto Sans CJK SC"/>
              </a:rPr>
              <a:t> 模型并行保留，便于比较准确率、延迟和吞吐量</a:t>
            </a:r>
          </a:p>
        </p:txBody>
      </p:sp>
    </p:spTree>
    <p:extLst>
      <p:ext uri="{BB962C8B-B14F-4D97-AF65-F5344CB8AC3E}">
        <p14:creationId xmlns:p14="http://schemas.microsoft.com/office/powerpoint/2010/main" val="158500076"/>
      </p:ext>
    </p:extLst>
  </p:cSld>
</p:sld>
</file>

<file path=ppt/slides/slide17.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8e4376ff0e1d41c3"/>
          <a:srcRect xmlns:a="http://schemas.openxmlformats.org/drawingml/2006/main" l="33" t="0" r="33" b="0"/>
          <a:stretch xmlns:a="http://schemas.openxmlformats.org/drawingml/2006/main">
            <a:fillRect l="0" t="0" r="0" b="0"/>
          </a:stretch>
        </p:blipFill>
        <p:spPr>
          <a:xfrm xmlns:a="http://schemas.openxmlformats.org/drawingml/2006/main">
            <a:off x="0" y="0"/>
            <a:ext cx="12001500" cy="6807200"/>
          </a:xfrm>
          <a:prstGeom xmlns:a="http://schemas.openxmlformats.org/drawingml/2006/main" prst="rect">
            <a:avLst/>
          </a:prstGeom>
          <a:ln xmlns:a="http://schemas.openxmlformats.org/drawingml/2006/main" w="25400" cap="flat" cmpd="sng">
            <a:noFill/>
            <a:prstDash val="solid"/>
            <a:round/>
          </a:ln>
        </p:spPr>
      </p:pic>
      <p:sp>
        <p:nvSpPr>
          <p:cNvPr id="3" name="AutoShape 3">
            <a:extLst xmlns:a="http://schemas.openxmlformats.org/drawingml/2006/main">
              <a:ext uri="{FF2B5EF4-FFF2-40B4-BE49-F238E27FC236}">
                <a16:creationId xmlns:a16="http://schemas.microsoft.com/office/drawing/2014/main" id="{17F21468-3079-49D1-8748-71B7983507A0}"/>
              </a:ext>
            </a:extLst>
          </p:cNvPr>
          <p:cNvSpPr>
            <a:spLocks xmlns:a="http://schemas.openxmlformats.org/drawingml/2006/main" noGrp="1"/>
          </p:cNvSpPr>
          <p:nvPr/>
        </p:nvSpPr>
        <p:spPr>
          <a:xfrm xmlns:a="http://schemas.openxmlformats.org/drawingml/2006/main">
            <a:off x="0" y="1778000"/>
            <a:ext cx="12001500" cy="1524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9600" b="1" i="0" u="none">
                <a:solidFill>
                  <a:srgbClr val="103A6E"/>
                </a:solidFill>
                <a:latin typeface="微软雅黑"/>
                <a:ea typeface="微软雅黑"/>
                <a:cs typeface="微软雅黑"/>
              </a:rPr>
              <a:t>04</a:t>
            </a:r>
          </a:p>
        </p:txBody>
      </p:sp>
      <p:sp>
        <p:nvSpPr>
          <p:cNvPr id="4" name="AutoShape 4">
            <a:extLst xmlns:a="http://schemas.openxmlformats.org/drawingml/2006/main">
              <a:ext uri="{FF2B5EF4-FFF2-40B4-BE49-F238E27FC236}">
                <a16:creationId xmlns:a16="http://schemas.microsoft.com/office/drawing/2014/main" id="{D40D59E0-10E1-4F02-A00F-E4156F837A5E}"/>
              </a:ext>
            </a:extLst>
          </p:cNvPr>
          <p:cNvSpPr>
            <a:spLocks xmlns:a="http://schemas.openxmlformats.org/drawingml/2006/main" noGrp="1"/>
          </p:cNvSpPr>
          <p:nvPr/>
        </p:nvSpPr>
        <p:spPr>
          <a:xfrm xmlns:a="http://schemas.openxmlformats.org/drawingml/2006/main">
            <a:off x="0" y="3556000"/>
            <a:ext cx="12001500" cy="889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4200" b="1" i="0" u="none">
                <a:solidFill>
                  <a:srgbClr val="1F2937"/>
                </a:solidFill>
                <a:latin typeface="Noto Sans SC"/>
                <a:ea typeface="Noto Sans SC"/>
                <a:cs typeface="Noto Sans SC"/>
              </a:rPr>
              <a:t>系统测试与结果分析</a:t>
            </a:r>
          </a:p>
        </p:txBody>
      </p:sp>
      <p:sp>
        <p:nvSpPr>
          <p:cNvPr id="5" name="AutoShape 5">
            <a:extLst xmlns:a="http://schemas.openxmlformats.org/drawingml/2006/main">
              <a:ext uri="{FF2B5EF4-FFF2-40B4-BE49-F238E27FC236}">
                <a16:creationId xmlns:a16="http://schemas.microsoft.com/office/drawing/2014/main" id="{FD0087A4-13E8-456D-BAA8-02C77A28512C}"/>
              </a:ext>
            </a:extLst>
          </p:cNvPr>
          <p:cNvSpPr>
            <a:spLocks xmlns:a="http://schemas.openxmlformats.org/drawingml/2006/main" noGrp="1"/>
          </p:cNvSpPr>
          <p:nvPr/>
        </p:nvSpPr>
        <p:spPr>
          <a:xfrm xmlns:a="http://schemas.openxmlformats.org/drawingml/2006/main">
            <a:off x="0" y="4836795"/>
            <a:ext cx="12001500" cy="624205"/>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1800" b="0" i="0" u="none" spc="200">
                <a:solidFill>
                  <a:srgbClr val="6B7280"/>
                </a:solidFill>
                <a:latin typeface="Noto Sans SC"/>
                <a:ea typeface="Noto Sans SC"/>
                <a:cs typeface="Noto Sans SC"/>
              </a:rPr>
              <a:t>测试内容与评价指标</a:t>
            </a:r>
            <a:r>
              <a:rPr sz="1800">
                <a:solidFill>
                  <a:srgbClr val="4B5563"/>
                </a:solidFill>
                <a:latin typeface="Noto Sans SC"/>
                <a:ea typeface="Noto Sans SC"/>
                <a:cs typeface="Noto Sans SC"/>
              </a:rPr>
              <a:t> | </a:t>
            </a:r>
            <a:r>
              <a:rPr sz="1800">
                <a:solidFill>
                  <a:srgbClr val="4B5563"/>
                </a:solidFill>
                <a:latin typeface="Noto Sans SC"/>
                <a:ea typeface="Noto Sans SC"/>
                <a:cs typeface="Noto Sans SC"/>
              </a:rPr>
              <a:t>模型轻量化</a:t>
            </a:r>
            <a:r>
              <a:rPr>
                <a:solidFill>
                  <a:srgbClr val="4B5563"/>
                </a:solidFill>
                <a:latin typeface="Noto Sans SC"/>
                <a:ea typeface="Noto Sans SC"/>
                <a:cs typeface="Noto Sans SC"/>
              </a:rPr>
              <a:t>| </a:t>
            </a:r>
            <a:r>
              <a:rPr>
                <a:solidFill>
                  <a:srgbClr val="475569"/>
                </a:solidFill>
                <a:latin typeface="Noto Sans SC"/>
                <a:ea typeface="Noto Sans SC"/>
                <a:cs typeface="Noto Sans SC"/>
              </a:rPr>
              <a:t>项目候选模型对比</a:t>
            </a:r>
            <a:r>
              <a:rPr sz="1800">
                <a:solidFill>
                  <a:srgbClr val="4B5563"/>
                </a:solidFill>
                <a:latin typeface="Noto Sans SC"/>
                <a:ea typeface="Noto Sans SC"/>
                <a:cs typeface="Noto Sans SC"/>
              </a:rPr>
              <a:t> | </a:t>
            </a:r>
            <a:r>
              <a:rPr>
                <a:solidFill>
                  <a:srgbClr val="475569"/>
                </a:solidFill>
                <a:latin typeface="Noto Sans SC"/>
                <a:ea typeface="Noto Sans SC"/>
                <a:cs typeface="Noto Sans SC"/>
              </a:rPr>
              <a:t>多线程端侧推理性能对比</a:t>
            </a:r>
            <a:r>
              <a:rPr sz="1800">
                <a:solidFill>
                  <a:srgbClr val="4B5563"/>
                </a:solidFill>
                <a:latin typeface="Noto Sans SC"/>
                <a:ea typeface="Noto Sans SC"/>
                <a:cs typeface="Noto Sans SC"/>
              </a:rPr>
              <a:t> | </a:t>
            </a:r>
            <a:r>
              <a:rPr sz="1800">
                <a:solidFill>
                  <a:srgbClr val="4B5563"/>
                </a:solidFill>
                <a:latin typeface="Noto Sans SC"/>
                <a:ea typeface="Noto Sans SC"/>
                <a:cs typeface="Noto Sans SC"/>
              </a:rPr>
              <a:t>优化效果与</a:t>
            </a:r>
            <a:r>
              <a:rPr sz="1800">
                <a:solidFill>
                  <a:srgbClr val="4B5563"/>
                </a:solidFill>
                <a:latin typeface="Noto Sans SC"/>
                <a:ea typeface="Noto Sans SC"/>
                <a:cs typeface="Noto Sans SC"/>
              </a:rPr>
              <a:t>误差分析</a:t>
            </a:r>
          </a:p>
        </p:txBody>
      </p:sp>
    </p:spTree>
    <p:extLst>
      <p:ext uri="{BB962C8B-B14F-4D97-AF65-F5344CB8AC3E}">
        <p14:creationId xmlns:p14="http://schemas.microsoft.com/office/powerpoint/2010/main" val="652830935"/>
      </p:ext>
    </p:extLst>
  </p:cSld>
</p:sld>
</file>

<file path=ppt/slides/slide18.xml><?xml version="1.0" encoding="utf-8"?>
<p:sld xmlns:p="http://schemas.openxmlformats.org/presentationml/2006/main">
  <p:cSld>
    <p:bg>
      <p:bgPr>
        <a:blipFill xmlns:a="http://schemas.openxmlformats.org/drawingml/2006/main">
          <a:blip xmlns:r="http://schemas.openxmlformats.org/officeDocument/2006/relationships" r:embed="R7c3d7291eaf74ad4"/>
          <a:srcRect l="0" t="0" r="0" b="0"/>
          <a:stretch>
            <a:fillRect l="-61" t="0" r="-61" b="0"/>
          </a:stretch>
        </a:blipFill>
      </p:bgPr>
    </p:bg>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047CDEFB-EE4F-47E2-91F0-65D17B0C230B}"/>
              </a:ext>
            </a:extLst>
          </p:cNvPr>
          <p:cNvSpPr>
            <a:spLocks xmlns:a="http://schemas.openxmlformats.org/drawingml/2006/main" noGrp="1"/>
          </p:cNvSpPr>
          <p:nvPr/>
        </p:nvSpPr>
        <p:spPr>
          <a:xfrm xmlns:a="http://schemas.openxmlformats.org/drawingml/2006/main">
            <a:off x="558800" y="762000"/>
            <a:ext cx="10985500" cy="762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3200" b="1" i="0" u="none">
                <a:solidFill>
                  <a:srgbClr val="0C3671"/>
                </a:solidFill>
                <a:latin typeface="微软雅黑"/>
                <a:ea typeface="微软雅黑"/>
                <a:cs typeface="微软雅黑"/>
              </a:rPr>
              <a:t>01 测试内容与评价指标</a:t>
            </a:r>
          </a:p>
        </p:txBody>
      </p:sp>
      <p:sp>
        <p:nvSpPr>
          <p:cNvPr id="3" name="AutoShape 3">
            <a:extLst xmlns:a="http://schemas.openxmlformats.org/drawingml/2006/main">
              <a:ext uri="{FF2B5EF4-FFF2-40B4-BE49-F238E27FC236}">
                <a16:creationId xmlns:a16="http://schemas.microsoft.com/office/drawing/2014/main" id="{ED5EB599-EB63-455C-9E04-DC68908C0492}"/>
              </a:ext>
            </a:extLst>
          </p:cNvPr>
          <p:cNvSpPr>
            <a:spLocks xmlns:a="http://schemas.openxmlformats.org/drawingml/2006/main" noGrp="1"/>
          </p:cNvSpPr>
          <p:nvPr/>
        </p:nvSpPr>
        <p:spPr>
          <a:xfrm xmlns:a="http://schemas.openxmlformats.org/drawingml/2006/main">
            <a:off x="508000" y="1524000"/>
            <a:ext cx="5334000" cy="4826000"/>
          </a:xfrm>
          <a:prstGeom xmlns:a="http://schemas.openxmlformats.org/drawingml/2006/main" prst="roundRect">
            <a:avLst>
              <a:gd name="adj" fmla="val 3157"/>
            </a:avLst>
          </a:prstGeom>
          <a:solidFill xmlns:a="http://schemas.openxmlformats.org/drawingml/2006/main">
            <a:srgbClr val="FFFFFF">
              <a:alpha val="92000"/>
            </a:srgbClr>
          </a:solidFill>
          <a:ln xmlns:a="http://schemas.openxmlformats.org/drawingml/2006/main" w="12700" cmpd="sng">
            <a:solidFill>
              <a:srgbClr val="E5E7EB">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4" name="Picture 4"/>
          <p:cNvPicPr>
            <a:picLocks xmlns:a="http://schemas.openxmlformats.org/drawingml/2006/main" noChangeAspect="1"/>
          </p:cNvPicPr>
          <p:nvPr/>
        </p:nvPicPr>
        <p:blipFill>
          <a:blip xmlns:r="http://schemas.openxmlformats.org/officeDocument/2006/relationships" xmlns:a="http://schemas.openxmlformats.org/drawingml/2006/main" r:embed="Reff8620b360d4224"/>
          <a:stretch xmlns:a="http://schemas.openxmlformats.org/drawingml/2006/main">
            <a:fillRect l="0" t="0" r="0" b="0"/>
          </a:stretch>
        </p:blipFill>
        <p:spPr>
          <a:xfrm xmlns:a="http://schemas.openxmlformats.org/drawingml/2006/main">
            <a:off x="825500" y="1841500"/>
            <a:ext cx="406400" cy="406400"/>
          </a:xfrm>
          <a:prstGeom xmlns:a="http://schemas.openxmlformats.org/drawingml/2006/main" prst="rect">
            <a:avLst/>
          </a:prstGeom>
        </p:spPr>
      </p:pic>
      <p:sp>
        <p:nvSpPr>
          <p:cNvPr id="5" name="AutoShape 5">
            <a:extLst xmlns:a="http://schemas.openxmlformats.org/drawingml/2006/main">
              <a:ext uri="{FF2B5EF4-FFF2-40B4-BE49-F238E27FC236}">
                <a16:creationId xmlns:a16="http://schemas.microsoft.com/office/drawing/2014/main" id="{8785549E-6DFA-48FA-BA39-2D1026B846CD}"/>
              </a:ext>
            </a:extLst>
          </p:cNvPr>
          <p:cNvSpPr>
            <a:spLocks xmlns:a="http://schemas.openxmlformats.org/drawingml/2006/main" noGrp="1"/>
          </p:cNvSpPr>
          <p:nvPr/>
        </p:nvSpPr>
        <p:spPr>
          <a:xfrm xmlns:a="http://schemas.openxmlformats.org/drawingml/2006/main">
            <a:off x="1397000" y="1778000"/>
            <a:ext cx="4064000" cy="5715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2200" b="1" i="0" u="none">
                <a:solidFill>
                  <a:srgbClr val="1F2937"/>
                </a:solidFill>
                <a:latin typeface="Noto Sans SC"/>
                <a:ea typeface="Noto Sans SC"/>
                <a:cs typeface="Noto Sans SC"/>
              </a:rPr>
              <a:t>测试维度</a:t>
            </a:r>
          </a:p>
        </p:txBody>
      </p:sp>
      <p:sp>
        <p:nvSpPr>
          <p:cNvPr id="6" name="AutoShape 6">
            <a:extLst xmlns:a="http://schemas.openxmlformats.org/drawingml/2006/main">
              <a:ext uri="{FF2B5EF4-FFF2-40B4-BE49-F238E27FC236}">
                <a16:creationId xmlns:a16="http://schemas.microsoft.com/office/drawing/2014/main" id="{4E0F41EA-73FA-4D04-BFE6-7960729801DC}"/>
              </a:ext>
            </a:extLst>
          </p:cNvPr>
          <p:cNvSpPr>
            <a:spLocks xmlns:a="http://schemas.openxmlformats.org/drawingml/2006/main" noGrp="1"/>
          </p:cNvSpPr>
          <p:nvPr/>
        </p:nvSpPr>
        <p:spPr>
          <a:xfrm xmlns:a="http://schemas.openxmlformats.org/drawingml/2006/main">
            <a:off x="762000" y="2667000"/>
            <a:ext cx="4826000" cy="1397000"/>
          </a:xfrm>
          <a:prstGeom xmlns:a="http://schemas.openxmlformats.org/drawingml/2006/main" prst="roundRect">
            <a:avLst>
              <a:gd name="adj" fmla="val 7272"/>
            </a:avLst>
          </a:prstGeom>
          <a:solidFill xmlns:a="http://schemas.openxmlformats.org/drawingml/2006/main">
            <a:srgbClr val="EFF6FF">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7" name="AutoShape 7">
            <a:extLst xmlns:a="http://schemas.openxmlformats.org/drawingml/2006/main">
              <a:ext uri="{FF2B5EF4-FFF2-40B4-BE49-F238E27FC236}">
                <a16:creationId xmlns:a16="http://schemas.microsoft.com/office/drawing/2014/main" id="{E5194743-09E8-4057-B940-78BAF139D3B7}"/>
              </a:ext>
            </a:extLst>
          </p:cNvPr>
          <p:cNvSpPr>
            <a:spLocks xmlns:a="http://schemas.openxmlformats.org/drawingml/2006/main" noGrp="1"/>
          </p:cNvSpPr>
          <p:nvPr/>
        </p:nvSpPr>
        <p:spPr>
          <a:xfrm xmlns:a="http://schemas.openxmlformats.org/drawingml/2006/main">
            <a:off x="952500" y="2857500"/>
            <a:ext cx="4445000" cy="1016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8000"/>
              </a:lnSpc>
              <a:buNone/>
            </a:pPr>
            <a:r>
              <a:rPr sz="1700" b="1" i="0" u="none">
                <a:solidFill>
                  <a:srgbClr val="1E3A8A"/>
                </a:solidFill>
                <a:latin typeface="Noto Sans SC"/>
                <a:ea typeface="Noto Sans SC"/>
                <a:cs typeface="Noto Sans SC"/>
              </a:rPr>
              <a:t>▍算法有效性</a:t>
            </a:r>
          </a:p>
          <a:p xmlns:a="http://schemas.openxmlformats.org/drawingml/2006/main">
            <a:pPr indent="0" algn="l">
              <a:lnSpc>
                <a:spcPct val="117000"/>
              </a:lnSpc>
              <a:buNone/>
            </a:pPr>
            <a:r>
              <a:rPr sz="1300" b="0" i="0" u="none">
                <a:solidFill>
                  <a:srgbClr val="4B5563"/>
                </a:solidFill>
                <a:latin typeface="Noto Sans SC"/>
                <a:ea typeface="Noto Sans SC"/>
                <a:cs typeface="Noto Sans SC"/>
              </a:rPr>
              <a:t>核心关注模型在各类测试数据集上的分类准确率，以验证算法逻辑的严密性和解决问题的能力。</a:t>
            </a:r>
          </a:p>
        </p:txBody>
      </p:sp>
      <p:sp>
        <p:nvSpPr>
          <p:cNvPr id="8" name="AutoShape 8">
            <a:extLst xmlns:a="http://schemas.openxmlformats.org/drawingml/2006/main">
              <a:ext uri="{FF2B5EF4-FFF2-40B4-BE49-F238E27FC236}">
                <a16:creationId xmlns:a16="http://schemas.microsoft.com/office/drawing/2014/main" id="{B33F0B67-6FFE-443C-B304-904C977E3DC5}"/>
              </a:ext>
            </a:extLst>
          </p:cNvPr>
          <p:cNvSpPr>
            <a:spLocks xmlns:a="http://schemas.openxmlformats.org/drawingml/2006/main" noGrp="1"/>
          </p:cNvSpPr>
          <p:nvPr/>
        </p:nvSpPr>
        <p:spPr>
          <a:xfrm xmlns:a="http://schemas.openxmlformats.org/drawingml/2006/main">
            <a:off x="762000" y="4318000"/>
            <a:ext cx="4826000" cy="1397000"/>
          </a:xfrm>
          <a:prstGeom xmlns:a="http://schemas.openxmlformats.org/drawingml/2006/main" prst="roundRect">
            <a:avLst>
              <a:gd name="adj" fmla="val 7272"/>
            </a:avLst>
          </a:prstGeom>
          <a:solidFill xmlns:a="http://schemas.openxmlformats.org/drawingml/2006/main">
            <a:srgbClr val="F0FDF4">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9" name="AutoShape 9">
            <a:extLst xmlns:a="http://schemas.openxmlformats.org/drawingml/2006/main">
              <a:ext uri="{FF2B5EF4-FFF2-40B4-BE49-F238E27FC236}">
                <a16:creationId xmlns:a16="http://schemas.microsoft.com/office/drawing/2014/main" id="{F365AC46-8681-4169-AA26-B0EBBDEE7B32}"/>
              </a:ext>
            </a:extLst>
          </p:cNvPr>
          <p:cNvSpPr>
            <a:spLocks xmlns:a="http://schemas.openxmlformats.org/drawingml/2006/main" noGrp="1"/>
          </p:cNvSpPr>
          <p:nvPr/>
        </p:nvSpPr>
        <p:spPr>
          <a:xfrm xmlns:a="http://schemas.openxmlformats.org/drawingml/2006/main">
            <a:off x="952500" y="4508500"/>
            <a:ext cx="4445000" cy="1016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8000"/>
              </a:lnSpc>
              <a:buNone/>
            </a:pPr>
            <a:r>
              <a:rPr sz="1700" b="1" i="0" u="none">
                <a:solidFill>
                  <a:srgbClr val="15803D"/>
                </a:solidFill>
                <a:latin typeface="Noto Sans SC"/>
                <a:ea typeface="Noto Sans SC"/>
                <a:cs typeface="Noto Sans SC"/>
              </a:rPr>
              <a:t>▍端侧部署性能</a:t>
            </a:r>
          </a:p>
          <a:p xmlns:a="http://schemas.openxmlformats.org/drawingml/2006/main">
            <a:pPr indent="0" algn="l">
              <a:lnSpc>
                <a:spcPct val="117000"/>
              </a:lnSpc>
              <a:buNone/>
            </a:pPr>
            <a:r>
              <a:rPr sz="1300" b="0" i="0" u="none">
                <a:solidFill>
                  <a:srgbClr val="4B5563"/>
                </a:solidFill>
                <a:latin typeface="Noto Sans SC"/>
                <a:ea typeface="Noto Sans SC"/>
                <a:cs typeface="Noto Sans SC"/>
              </a:rPr>
              <a:t>聚焦模型在实际硬件上的表现，重点考察模型文件大小、推理延迟以及单位时间的吞吐量。</a:t>
            </a:r>
          </a:p>
        </p:txBody>
      </p:sp>
      <p:sp>
        <p:nvSpPr>
          <p:cNvPr id="10" name="AutoShape 10">
            <a:extLst xmlns:a="http://schemas.openxmlformats.org/drawingml/2006/main">
              <a:ext uri="{FF2B5EF4-FFF2-40B4-BE49-F238E27FC236}">
                <a16:creationId xmlns:a16="http://schemas.microsoft.com/office/drawing/2014/main" id="{7DAF77C4-7D21-4CDF-A864-242479CD3F34}"/>
              </a:ext>
            </a:extLst>
          </p:cNvPr>
          <p:cNvSpPr>
            <a:spLocks xmlns:a="http://schemas.openxmlformats.org/drawingml/2006/main" noGrp="1"/>
          </p:cNvSpPr>
          <p:nvPr/>
        </p:nvSpPr>
        <p:spPr>
          <a:xfrm xmlns:a="http://schemas.openxmlformats.org/drawingml/2006/main">
            <a:off x="6159500" y="1524000"/>
            <a:ext cx="5334000" cy="4826000"/>
          </a:xfrm>
          <a:prstGeom xmlns:a="http://schemas.openxmlformats.org/drawingml/2006/main" prst="roundRect">
            <a:avLst>
              <a:gd name="adj" fmla="val 3157"/>
            </a:avLst>
          </a:prstGeom>
          <a:solidFill xmlns:a="http://schemas.openxmlformats.org/drawingml/2006/main">
            <a:srgbClr val="FFFFFF">
              <a:alpha val="92000"/>
            </a:srgbClr>
          </a:solidFill>
          <a:ln xmlns:a="http://schemas.openxmlformats.org/drawingml/2006/main" w="12700" cmpd="sng">
            <a:solidFill>
              <a:srgbClr val="E5E7EB">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11" name="Picture 11"/>
          <p:cNvPicPr>
            <a:picLocks xmlns:a="http://schemas.openxmlformats.org/drawingml/2006/main" noChangeAspect="1"/>
          </p:cNvPicPr>
          <p:nvPr/>
        </p:nvPicPr>
        <p:blipFill>
          <a:blip xmlns:r="http://schemas.openxmlformats.org/officeDocument/2006/relationships" xmlns:a="http://schemas.openxmlformats.org/drawingml/2006/main" r:embed="Rd8edb10c53024ef6"/>
          <a:stretch xmlns:a="http://schemas.openxmlformats.org/drawingml/2006/main">
            <a:fillRect l="0" t="0" r="0" b="0"/>
          </a:stretch>
        </p:blipFill>
        <p:spPr>
          <a:xfrm xmlns:a="http://schemas.openxmlformats.org/drawingml/2006/main">
            <a:off x="6477000" y="1841500"/>
            <a:ext cx="406400" cy="406400"/>
          </a:xfrm>
          <a:prstGeom xmlns:a="http://schemas.openxmlformats.org/drawingml/2006/main" prst="rect">
            <a:avLst/>
          </a:prstGeom>
        </p:spPr>
      </p:pic>
      <p:sp>
        <p:nvSpPr>
          <p:cNvPr id="12" name="AutoShape 12">
            <a:extLst xmlns:a="http://schemas.openxmlformats.org/drawingml/2006/main">
              <a:ext uri="{FF2B5EF4-FFF2-40B4-BE49-F238E27FC236}">
                <a16:creationId xmlns:a16="http://schemas.microsoft.com/office/drawing/2014/main" id="{6C698BAE-101B-4356-B210-02514F452560}"/>
              </a:ext>
            </a:extLst>
          </p:cNvPr>
          <p:cNvSpPr>
            <a:spLocks xmlns:a="http://schemas.openxmlformats.org/drawingml/2006/main" noGrp="1"/>
          </p:cNvSpPr>
          <p:nvPr/>
        </p:nvSpPr>
        <p:spPr>
          <a:xfrm xmlns:a="http://schemas.openxmlformats.org/drawingml/2006/main">
            <a:off x="7048500" y="1778000"/>
            <a:ext cx="4064000" cy="5715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2200" b="1" i="0" u="none">
                <a:solidFill>
                  <a:srgbClr val="1F2937"/>
                </a:solidFill>
                <a:latin typeface="Noto Sans SC"/>
                <a:ea typeface="Noto Sans SC"/>
                <a:cs typeface="Noto Sans SC"/>
              </a:rPr>
              <a:t>核心评价指标体系</a:t>
            </a:r>
          </a:p>
        </p:txBody>
      </p:sp>
      <p:sp>
        <p:nvSpPr>
          <p:cNvPr id="13" name="AutoShape 13">
            <a:extLst xmlns:a="http://schemas.openxmlformats.org/drawingml/2006/main">
              <a:ext uri="{FF2B5EF4-FFF2-40B4-BE49-F238E27FC236}">
                <a16:creationId xmlns:a16="http://schemas.microsoft.com/office/drawing/2014/main" id="{731A1CA7-AD86-4815-AFDC-1F086A2C6C8D}"/>
              </a:ext>
            </a:extLst>
          </p:cNvPr>
          <p:cNvSpPr>
            <a:spLocks xmlns:a="http://schemas.openxmlformats.org/drawingml/2006/main" noGrp="1"/>
          </p:cNvSpPr>
          <p:nvPr/>
        </p:nvSpPr>
        <p:spPr>
          <a:xfrm xmlns:a="http://schemas.openxmlformats.org/drawingml/2006/main">
            <a:off x="6350000" y="2667000"/>
            <a:ext cx="2476500" cy="1143000"/>
          </a:xfrm>
          <a:prstGeom xmlns:a="http://schemas.openxmlformats.org/drawingml/2006/main" prst="roundRect">
            <a:avLst>
              <a:gd name="adj" fmla="val 6666"/>
            </a:avLst>
          </a:prstGeom>
          <a:solidFill xmlns:a="http://schemas.openxmlformats.org/drawingml/2006/main">
            <a:srgbClr val="F9FAFB">
              <a:alpha val="100000"/>
            </a:srgbClr>
          </a:solidFill>
          <a:ln xmlns:a="http://schemas.openxmlformats.org/drawingml/2006/main" w="12700" cmpd="sng">
            <a:solidFill>
              <a:srgbClr val="E5E7EB">
                <a:alpha val="10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4" name="AutoShape 14">
            <a:extLst xmlns:a="http://schemas.openxmlformats.org/drawingml/2006/main">
              <a:ext uri="{FF2B5EF4-FFF2-40B4-BE49-F238E27FC236}">
                <a16:creationId xmlns:a16="http://schemas.microsoft.com/office/drawing/2014/main" id="{5EF9F641-AD66-4650-81C9-8BBC091C4F7F}"/>
              </a:ext>
            </a:extLst>
          </p:cNvPr>
          <p:cNvSpPr>
            <a:spLocks xmlns:a="http://schemas.openxmlformats.org/drawingml/2006/main" noGrp="1"/>
          </p:cNvSpPr>
          <p:nvPr/>
        </p:nvSpPr>
        <p:spPr>
          <a:xfrm xmlns:a="http://schemas.openxmlformats.org/drawingml/2006/main">
            <a:off x="6477000" y="2794000"/>
            <a:ext cx="2222500" cy="889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1400" b="1" i="0" u="none">
                <a:solidFill>
                  <a:srgbClr val="111827"/>
                </a:solidFill>
                <a:latin typeface="Noto Sans SC"/>
                <a:ea typeface="Noto Sans SC"/>
                <a:cs typeface="Noto Sans SC"/>
              </a:rPr>
              <a:t>分类准确率</a:t>
            </a:r>
          </a:p>
          <a:p xmlns:a="http://schemas.openxmlformats.org/drawingml/2006/main">
            <a:pPr indent="0" algn="l">
              <a:lnSpc>
                <a:spcPct val="100000"/>
              </a:lnSpc>
              <a:buNone/>
            </a:pPr>
            <a:r>
              <a:rPr sz="1100" b="0" i="0" u="none">
                <a:solidFill>
                  <a:srgbClr val="6B7280"/>
                </a:solidFill>
                <a:latin typeface="Noto Sans SC"/>
                <a:ea typeface="Noto Sans SC"/>
                <a:cs typeface="Noto Sans SC"/>
              </a:rPr>
              <a:t>预测标签与真实标签的一致程度，衡量算法的正确性。</a:t>
            </a:r>
          </a:p>
        </p:txBody>
      </p:sp>
      <p:sp>
        <p:nvSpPr>
          <p:cNvPr id="15" name="AutoShape 15">
            <a:extLst xmlns:a="http://schemas.openxmlformats.org/drawingml/2006/main">
              <a:ext uri="{FF2B5EF4-FFF2-40B4-BE49-F238E27FC236}">
                <a16:creationId xmlns:a16="http://schemas.microsoft.com/office/drawing/2014/main" id="{3E33263F-D8C7-4616-9DB9-01C61C218D81}"/>
              </a:ext>
            </a:extLst>
          </p:cNvPr>
          <p:cNvSpPr>
            <a:spLocks xmlns:a="http://schemas.openxmlformats.org/drawingml/2006/main" noGrp="1"/>
          </p:cNvSpPr>
          <p:nvPr/>
        </p:nvSpPr>
        <p:spPr>
          <a:xfrm xmlns:a="http://schemas.openxmlformats.org/drawingml/2006/main">
            <a:off x="8890000" y="2667000"/>
            <a:ext cx="2476500" cy="1143000"/>
          </a:xfrm>
          <a:prstGeom xmlns:a="http://schemas.openxmlformats.org/drawingml/2006/main" prst="roundRect">
            <a:avLst>
              <a:gd name="adj" fmla="val 6666"/>
            </a:avLst>
          </a:prstGeom>
          <a:solidFill xmlns:a="http://schemas.openxmlformats.org/drawingml/2006/main">
            <a:srgbClr val="F9FAFB">
              <a:alpha val="100000"/>
            </a:srgbClr>
          </a:solidFill>
          <a:ln xmlns:a="http://schemas.openxmlformats.org/drawingml/2006/main" w="12700" cmpd="sng">
            <a:solidFill>
              <a:srgbClr val="E5E7EB">
                <a:alpha val="10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6" name="AutoShape 16">
            <a:extLst xmlns:a="http://schemas.openxmlformats.org/drawingml/2006/main">
              <a:ext uri="{FF2B5EF4-FFF2-40B4-BE49-F238E27FC236}">
                <a16:creationId xmlns:a16="http://schemas.microsoft.com/office/drawing/2014/main" id="{4267054C-D575-450B-9184-8CD3614BF9D0}"/>
              </a:ext>
            </a:extLst>
          </p:cNvPr>
          <p:cNvSpPr>
            <a:spLocks xmlns:a="http://schemas.openxmlformats.org/drawingml/2006/main" noGrp="1"/>
          </p:cNvSpPr>
          <p:nvPr/>
        </p:nvSpPr>
        <p:spPr>
          <a:xfrm xmlns:a="http://schemas.openxmlformats.org/drawingml/2006/main">
            <a:off x="9017000" y="2794000"/>
            <a:ext cx="2222500" cy="889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1400" b="1" i="0" u="none">
                <a:solidFill>
                  <a:srgbClr val="111827"/>
                </a:solidFill>
                <a:latin typeface="Noto Sans SC"/>
                <a:ea typeface="Noto Sans SC"/>
                <a:cs typeface="Noto Sans SC"/>
              </a:rPr>
              <a:t>单样本延迟</a:t>
            </a:r>
          </a:p>
          <a:p xmlns:a="http://schemas.openxmlformats.org/drawingml/2006/main">
            <a:pPr indent="0" algn="l">
              <a:lnSpc>
                <a:spcPct val="100000"/>
              </a:lnSpc>
              <a:buNone/>
            </a:pPr>
            <a:r>
              <a:rPr sz="1100" b="0" i="0" u="none">
                <a:solidFill>
                  <a:srgbClr val="6B7280"/>
                </a:solidFill>
                <a:latin typeface="Noto Sans SC"/>
                <a:ea typeface="Noto Sans SC"/>
                <a:cs typeface="Noto Sans SC"/>
              </a:rPr>
              <a:t>处理单个数据样本所需的平均时间，数值越低代表响应越快。</a:t>
            </a:r>
          </a:p>
        </p:txBody>
      </p:sp>
      <p:sp>
        <p:nvSpPr>
          <p:cNvPr id="17" name="AutoShape 17">
            <a:extLst xmlns:a="http://schemas.openxmlformats.org/drawingml/2006/main">
              <a:ext uri="{FF2B5EF4-FFF2-40B4-BE49-F238E27FC236}">
                <a16:creationId xmlns:a16="http://schemas.microsoft.com/office/drawing/2014/main" id="{4F13CEEB-CE1A-4511-90A8-57BC7A327164}"/>
              </a:ext>
            </a:extLst>
          </p:cNvPr>
          <p:cNvSpPr>
            <a:spLocks xmlns:a="http://schemas.openxmlformats.org/drawingml/2006/main" noGrp="1"/>
          </p:cNvSpPr>
          <p:nvPr/>
        </p:nvSpPr>
        <p:spPr>
          <a:xfrm xmlns:a="http://schemas.openxmlformats.org/drawingml/2006/main">
            <a:off x="6350000" y="3937000"/>
            <a:ext cx="2476500" cy="1143000"/>
          </a:xfrm>
          <a:prstGeom xmlns:a="http://schemas.openxmlformats.org/drawingml/2006/main" prst="roundRect">
            <a:avLst>
              <a:gd name="adj" fmla="val 6666"/>
            </a:avLst>
          </a:prstGeom>
          <a:solidFill xmlns:a="http://schemas.openxmlformats.org/drawingml/2006/main">
            <a:srgbClr val="F9FAFB">
              <a:alpha val="100000"/>
            </a:srgbClr>
          </a:solidFill>
          <a:ln xmlns:a="http://schemas.openxmlformats.org/drawingml/2006/main" w="12700" cmpd="sng">
            <a:solidFill>
              <a:srgbClr val="E5E7EB">
                <a:alpha val="10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8" name="AutoShape 18">
            <a:extLst xmlns:a="http://schemas.openxmlformats.org/drawingml/2006/main">
              <a:ext uri="{FF2B5EF4-FFF2-40B4-BE49-F238E27FC236}">
                <a16:creationId xmlns:a16="http://schemas.microsoft.com/office/drawing/2014/main" id="{10DA5700-1CE5-484D-870C-DBCC787258AA}"/>
              </a:ext>
            </a:extLst>
          </p:cNvPr>
          <p:cNvSpPr>
            <a:spLocks xmlns:a="http://schemas.openxmlformats.org/drawingml/2006/main" noGrp="1"/>
          </p:cNvSpPr>
          <p:nvPr/>
        </p:nvSpPr>
        <p:spPr>
          <a:xfrm xmlns:a="http://schemas.openxmlformats.org/drawingml/2006/main">
            <a:off x="6477000" y="4064000"/>
            <a:ext cx="2222500" cy="889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1400" b="1" i="0" u="none">
                <a:solidFill>
                  <a:srgbClr val="111827"/>
                </a:solidFill>
                <a:latin typeface="Noto Sans SC"/>
                <a:ea typeface="Noto Sans SC"/>
                <a:cs typeface="Noto Sans SC"/>
              </a:rPr>
              <a:t>吞吐量 (QPS)</a:t>
            </a:r>
          </a:p>
          <a:p xmlns:a="http://schemas.openxmlformats.org/drawingml/2006/main">
            <a:pPr indent="0" algn="l">
              <a:lnSpc>
                <a:spcPct val="100000"/>
              </a:lnSpc>
              <a:buNone/>
            </a:pPr>
            <a:r>
              <a:rPr sz="1100" b="0" i="0" u="none">
                <a:solidFill>
                  <a:srgbClr val="6B7280"/>
                </a:solidFill>
                <a:latin typeface="Noto Sans SC"/>
                <a:ea typeface="Noto Sans SC"/>
                <a:cs typeface="Noto Sans SC"/>
              </a:rPr>
              <a:t>单位时间内系统能够稳定处理的最大样本数量，体现并发处理能力。</a:t>
            </a:r>
          </a:p>
        </p:txBody>
      </p:sp>
      <p:sp>
        <p:nvSpPr>
          <p:cNvPr id="19" name="AutoShape 19">
            <a:extLst xmlns:a="http://schemas.openxmlformats.org/drawingml/2006/main">
              <a:ext uri="{FF2B5EF4-FFF2-40B4-BE49-F238E27FC236}">
                <a16:creationId xmlns:a16="http://schemas.microsoft.com/office/drawing/2014/main" id="{82D1E909-D2BA-4002-9DBD-5520861ABCF8}"/>
              </a:ext>
            </a:extLst>
          </p:cNvPr>
          <p:cNvSpPr>
            <a:spLocks xmlns:a="http://schemas.openxmlformats.org/drawingml/2006/main" noGrp="1"/>
          </p:cNvSpPr>
          <p:nvPr/>
        </p:nvSpPr>
        <p:spPr>
          <a:xfrm xmlns:a="http://schemas.openxmlformats.org/drawingml/2006/main">
            <a:off x="8890000" y="3937000"/>
            <a:ext cx="2476500" cy="1143000"/>
          </a:xfrm>
          <a:prstGeom xmlns:a="http://schemas.openxmlformats.org/drawingml/2006/main" prst="roundRect">
            <a:avLst>
              <a:gd name="adj" fmla="val 6666"/>
            </a:avLst>
          </a:prstGeom>
          <a:solidFill xmlns:a="http://schemas.openxmlformats.org/drawingml/2006/main">
            <a:srgbClr val="F9FAFB">
              <a:alpha val="100000"/>
            </a:srgbClr>
          </a:solidFill>
          <a:ln xmlns:a="http://schemas.openxmlformats.org/drawingml/2006/main" w="12700" cmpd="sng">
            <a:solidFill>
              <a:srgbClr val="E5E7EB">
                <a:alpha val="10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20" name="AutoShape 20">
            <a:extLst xmlns:a="http://schemas.openxmlformats.org/drawingml/2006/main">
              <a:ext uri="{FF2B5EF4-FFF2-40B4-BE49-F238E27FC236}">
                <a16:creationId xmlns:a16="http://schemas.microsoft.com/office/drawing/2014/main" id="{15D67C34-62D2-44CE-8F66-E4DA8F760AFB}"/>
              </a:ext>
            </a:extLst>
          </p:cNvPr>
          <p:cNvSpPr>
            <a:spLocks xmlns:a="http://schemas.openxmlformats.org/drawingml/2006/main" noGrp="1"/>
          </p:cNvSpPr>
          <p:nvPr/>
        </p:nvSpPr>
        <p:spPr>
          <a:xfrm xmlns:a="http://schemas.openxmlformats.org/drawingml/2006/main">
            <a:off x="9017000" y="4064000"/>
            <a:ext cx="2222500" cy="889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1400" b="1" i="0" u="none">
                <a:solidFill>
                  <a:srgbClr val="111827"/>
                </a:solidFill>
                <a:latin typeface="Noto Sans SC"/>
                <a:ea typeface="Noto Sans SC"/>
                <a:cs typeface="Noto Sans SC"/>
              </a:rPr>
              <a:t>模型大小 (Size)</a:t>
            </a:r>
          </a:p>
          <a:p xmlns:a="http://schemas.openxmlformats.org/drawingml/2006/main">
            <a:pPr indent="0" algn="l">
              <a:lnSpc>
                <a:spcPct val="100000"/>
              </a:lnSpc>
              <a:buNone/>
            </a:pPr>
            <a:r>
              <a:rPr sz="1100" b="0" i="0" u="none">
                <a:solidFill>
                  <a:srgbClr val="6B7280"/>
                </a:solidFill>
                <a:latin typeface="Noto Sans SC"/>
                <a:ea typeface="Noto Sans SC"/>
                <a:cs typeface="Noto Sans SC"/>
              </a:rPr>
              <a:t>量化与压缩后的最终模型文件体积，越小越利于端侧存储和传输。</a:t>
            </a:r>
          </a:p>
        </p:txBody>
      </p:sp>
      <p:sp>
        <p:nvSpPr>
          <p:cNvPr id="21" name="AutoShape 21">
            <a:extLst xmlns:a="http://schemas.openxmlformats.org/drawingml/2006/main">
              <a:ext uri="{FF2B5EF4-FFF2-40B4-BE49-F238E27FC236}">
                <a16:creationId xmlns:a16="http://schemas.microsoft.com/office/drawing/2014/main" id="{3ADDCC44-362D-4171-91AD-4A701524017C}"/>
              </a:ext>
            </a:extLst>
          </p:cNvPr>
          <p:cNvSpPr>
            <a:spLocks xmlns:a="http://schemas.openxmlformats.org/drawingml/2006/main" noGrp="1"/>
          </p:cNvSpPr>
          <p:nvPr/>
        </p:nvSpPr>
        <p:spPr>
          <a:xfrm xmlns:a="http://schemas.openxmlformats.org/drawingml/2006/main">
            <a:off x="6350000" y="5143500"/>
            <a:ext cx="5016500" cy="1016000"/>
          </a:xfrm>
          <a:prstGeom xmlns:a="http://schemas.openxmlformats.org/drawingml/2006/main" prst="roundRect">
            <a:avLst>
              <a:gd name="adj" fmla="val 7500"/>
            </a:avLst>
          </a:prstGeom>
          <a:solidFill xmlns:a="http://schemas.openxmlformats.org/drawingml/2006/main">
            <a:srgbClr val="FFF7ED">
              <a:alpha val="100000"/>
            </a:srgbClr>
          </a:solidFill>
          <a:ln xmlns:a="http://schemas.openxmlformats.org/drawingml/2006/main" w="12700" cmpd="sng">
            <a:solidFill>
              <a:srgbClr val="FED7AA">
                <a:alpha val="10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22" name="AutoShape 22">
            <a:extLst xmlns:a="http://schemas.openxmlformats.org/drawingml/2006/main">
              <a:ext uri="{FF2B5EF4-FFF2-40B4-BE49-F238E27FC236}">
                <a16:creationId xmlns:a16="http://schemas.microsoft.com/office/drawing/2014/main" id="{591874E9-3E65-4486-8236-0647CE27CD9A}"/>
              </a:ext>
            </a:extLst>
          </p:cNvPr>
          <p:cNvSpPr>
            <a:spLocks xmlns:a="http://schemas.openxmlformats.org/drawingml/2006/main" noGrp="1"/>
          </p:cNvSpPr>
          <p:nvPr/>
        </p:nvSpPr>
        <p:spPr>
          <a:xfrm xmlns:a="http://schemas.openxmlformats.org/drawingml/2006/main">
            <a:off x="6540500" y="5270500"/>
            <a:ext cx="4635500" cy="762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1400" b="1" i="0" u="none">
                <a:solidFill>
                  <a:srgbClr val="C2410C"/>
                </a:solidFill>
                <a:latin typeface="Noto Sans SC"/>
                <a:ea typeface="Noto Sans SC"/>
                <a:cs typeface="Noto Sans SC"/>
              </a:rPr>
              <a:t>稳定性 (Stability)：</a:t>
            </a:r>
            <a:r>
              <a:rPr sz="1200" b="0" i="0" u="none">
                <a:solidFill>
                  <a:srgbClr val="7C2D12"/>
                </a:solidFill>
                <a:latin typeface="Noto Sans SC"/>
                <a:ea typeface="Noto Sans SC"/>
                <a:cs typeface="Noto Sans SC"/>
              </a:rPr>
              <a:t>在不同随机种子、不同数据划分以及不同硬件环境下，模型各项指标结果的方差，以验证鲁棒性。</a:t>
            </a:r>
          </a:p>
        </p:txBody>
      </p:sp>
    </p:spTree>
    <p:extLst>
      <p:ext uri="{BB962C8B-B14F-4D97-AF65-F5344CB8AC3E}">
        <p14:creationId xmlns:p14="http://schemas.microsoft.com/office/powerpoint/2010/main" val="702096396"/>
      </p:ext>
    </p:extLst>
  </p:cSld>
</p:sld>
</file>

<file path=ppt/slides/slide19.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3776ce50455f471f"/>
          <a:srcRect xmlns:a="http://schemas.openxmlformats.org/drawingml/2006/main" l="33" t="0" r="33" b="0"/>
          <a:stretch xmlns:a="http://schemas.openxmlformats.org/drawingml/2006/main">
            <a:fillRect l="0" t="0" r="0" b="0"/>
          </a:stretch>
        </p:blipFill>
        <p:spPr>
          <a:xfrm xmlns:a="http://schemas.openxmlformats.org/drawingml/2006/main">
            <a:off x="0" y="0"/>
            <a:ext cx="12001500" cy="6807200"/>
          </a:xfrm>
          <a:prstGeom xmlns:a="http://schemas.openxmlformats.org/drawingml/2006/main" prst="rect">
            <a:avLst/>
          </a:prstGeom>
          <a:ln xmlns:a="http://schemas.openxmlformats.org/drawingml/2006/main" w="25400" cap="flat" cmpd="sng">
            <a:noFill/>
            <a:prstDash val="solid"/>
            <a:round/>
          </a:ln>
        </p:spPr>
      </p:pic>
      <p:sp>
        <p:nvSpPr>
          <p:cNvPr id="4" name="AutoShape 4">
            <a:extLst xmlns:a="http://schemas.openxmlformats.org/drawingml/2006/main">
              <a:ext uri="{FF2B5EF4-FFF2-40B4-BE49-F238E27FC236}">
                <a16:creationId xmlns:a16="http://schemas.microsoft.com/office/drawing/2014/main" id="{077D5EA1-B682-4DAC-8B66-E76A6F422AA1}"/>
              </a:ext>
            </a:extLst>
          </p:cNvPr>
          <p:cNvSpPr>
            <a:spLocks xmlns:a="http://schemas.openxmlformats.org/drawingml/2006/main" noGrp="1"/>
          </p:cNvSpPr>
          <p:nvPr/>
        </p:nvSpPr>
        <p:spPr>
          <a:xfrm xmlns:a="http://schemas.openxmlformats.org/drawingml/2006/main">
            <a:off x="609600" y="838200"/>
            <a:ext cx="10782300" cy="762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algn="ctr">
              <a:lnSpc>
                <a:spcPct val="125000"/>
              </a:lnSpc>
              <a:buNone/>
            </a:pPr>
            <a:r>
              <a:rPr sz="3200" b="1" i="0" u="none">
                <a:solidFill>
                  <a:srgbClr val="0C3671"/>
                </a:solidFill>
                <a:latin typeface="微软雅黑"/>
                <a:ea typeface="微软雅黑"/>
                <a:cs typeface="微软雅黑"/>
              </a:rPr>
              <a:t>0</a:t>
            </a:r>
            <a:r>
              <a:rPr sz="3200" b="1" i="0" u="none">
                <a:solidFill>
                  <a:srgbClr val="0C3671"/>
                </a:solidFill>
                <a:latin typeface="微软雅黑"/>
                <a:ea typeface="微软雅黑"/>
                <a:cs typeface="微软雅黑"/>
              </a:rPr>
              <a:t>5</a:t>
            </a:r>
            <a:r>
              <a:rPr sz="3200" b="1" i="0" u="none">
                <a:solidFill>
                  <a:srgbClr val="0C3671"/>
                </a:solidFill>
                <a:latin typeface="微软雅黑"/>
                <a:ea typeface="微软雅黑"/>
                <a:cs typeface="微软雅黑"/>
              </a:rPr>
              <a:t> 端侧优化效果与误差分析</a:t>
            </a:r>
          </a:p>
        </p:txBody>
      </p:sp>
      <p:sp>
        <p:nvSpPr>
          <p:cNvPr id="5" name="AutoShape 5">
            <a:extLst xmlns:a="http://schemas.openxmlformats.org/drawingml/2006/main">
              <a:ext uri="{FF2B5EF4-FFF2-40B4-BE49-F238E27FC236}">
                <a16:creationId xmlns:a16="http://schemas.microsoft.com/office/drawing/2014/main" id="{69F64BD1-6176-4D67-9800-5C7D54F4A3C2}"/>
              </a:ext>
            </a:extLst>
          </p:cNvPr>
          <p:cNvSpPr>
            <a:spLocks xmlns:a="http://schemas.openxmlformats.org/drawingml/2006/main" noGrp="1"/>
          </p:cNvSpPr>
          <p:nvPr/>
        </p:nvSpPr>
        <p:spPr>
          <a:xfrm xmlns:a="http://schemas.openxmlformats.org/drawingml/2006/main">
            <a:off x="609600" y="1651000"/>
            <a:ext cx="5334000" cy="4699000"/>
          </a:xfrm>
          <a:prstGeom xmlns:a="http://schemas.openxmlformats.org/drawingml/2006/main" prst="roundRect">
            <a:avLst>
              <a:gd name="adj" fmla="val 3243"/>
            </a:avLst>
          </a:prstGeom>
          <a:solidFill xmlns:a="http://schemas.openxmlformats.org/drawingml/2006/main">
            <a:srgbClr val="EFF6FF">
              <a:alpha val="100000"/>
            </a:srgbClr>
          </a:solidFill>
          <a:ln xmlns:a="http://schemas.openxmlformats.org/drawingml/2006/main" w="12700" cmpd="sng">
            <a:solidFill>
              <a:srgbClr val="BFDBFE">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6" name="Picture 6"/>
          <p:cNvPicPr>
            <a:picLocks xmlns:a="http://schemas.openxmlformats.org/drawingml/2006/main" noChangeAspect="1"/>
          </p:cNvPicPr>
          <p:nvPr/>
        </p:nvPicPr>
        <p:blipFill>
          <a:blip xmlns:r="http://schemas.openxmlformats.org/officeDocument/2006/relationships" xmlns:a="http://schemas.openxmlformats.org/drawingml/2006/main" r:embed="R378a2b3ba46644d3"/>
          <a:stretch xmlns:a="http://schemas.openxmlformats.org/drawingml/2006/main">
            <a:fillRect l="0" t="0" r="0" b="0"/>
          </a:stretch>
        </p:blipFill>
        <p:spPr>
          <a:xfrm xmlns:a="http://schemas.openxmlformats.org/drawingml/2006/main">
            <a:off x="889000" y="1905000"/>
            <a:ext cx="406400" cy="406400"/>
          </a:xfrm>
          <a:prstGeom xmlns:a="http://schemas.openxmlformats.org/drawingml/2006/main" prst="rect">
            <a:avLst/>
          </a:prstGeom>
        </p:spPr>
      </p:pic>
      <p:sp>
        <p:nvSpPr>
          <p:cNvPr id="7" name="AutoShape 7">
            <a:extLst xmlns:a="http://schemas.openxmlformats.org/drawingml/2006/main">
              <a:ext uri="{FF2B5EF4-FFF2-40B4-BE49-F238E27FC236}">
                <a16:creationId xmlns:a16="http://schemas.microsoft.com/office/drawing/2014/main" id="{781B4974-E1E0-4582-A949-756B4F0C2CFC}"/>
              </a:ext>
            </a:extLst>
          </p:cNvPr>
          <p:cNvSpPr>
            <a:spLocks xmlns:a="http://schemas.openxmlformats.org/drawingml/2006/main" noGrp="1"/>
          </p:cNvSpPr>
          <p:nvPr/>
        </p:nvSpPr>
        <p:spPr>
          <a:xfrm xmlns:a="http://schemas.openxmlformats.org/drawingml/2006/main">
            <a:off x="1397000" y="1879600"/>
            <a:ext cx="4064000" cy="508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2200" b="1" i="0" u="none">
                <a:solidFill>
                  <a:srgbClr val="1E40AF"/>
                </a:solidFill>
                <a:latin typeface="Noto Sans SC"/>
                <a:ea typeface="Noto Sans SC"/>
                <a:cs typeface="Noto Sans SC"/>
              </a:rPr>
              <a:t>端侧优化收益</a:t>
            </a:r>
          </a:p>
        </p:txBody>
      </p:sp>
      <p:sp>
        <p:nvSpPr>
          <p:cNvPr id="8" name="AutoShape 8">
            <a:extLst xmlns:a="http://schemas.openxmlformats.org/drawingml/2006/main">
              <a:ext uri="{FF2B5EF4-FFF2-40B4-BE49-F238E27FC236}">
                <a16:creationId xmlns:a16="http://schemas.microsoft.com/office/drawing/2014/main" id="{9CCC1E1E-561E-4BF0-9223-0DD3DE361D1D}"/>
              </a:ext>
            </a:extLst>
          </p:cNvPr>
          <p:cNvSpPr>
            <a:spLocks xmlns:a="http://schemas.openxmlformats.org/drawingml/2006/main" noGrp="1"/>
          </p:cNvSpPr>
          <p:nvPr/>
        </p:nvSpPr>
        <p:spPr>
          <a:xfrm xmlns:a="http://schemas.openxmlformats.org/drawingml/2006/main">
            <a:off x="863600" y="2667000"/>
            <a:ext cx="4826000" cy="1079500"/>
          </a:xfrm>
          <a:prstGeom xmlns:a="http://schemas.openxmlformats.org/drawingml/2006/main" prst="roundRect">
            <a:avLst>
              <a:gd name="adj" fmla="val 9411"/>
            </a:avLst>
          </a:prstGeom>
          <a:solidFill xmlns:a="http://schemas.openxmlformats.org/drawingml/2006/main">
            <a:srgbClr val="FFFFFF">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9" name="AutoShape 9">
            <a:extLst xmlns:a="http://schemas.openxmlformats.org/drawingml/2006/main">
              <a:ext uri="{FF2B5EF4-FFF2-40B4-BE49-F238E27FC236}">
                <a16:creationId xmlns:a16="http://schemas.microsoft.com/office/drawing/2014/main" id="{0996B540-6610-498D-946D-EEB79BB05857}"/>
              </a:ext>
            </a:extLst>
          </p:cNvPr>
          <p:cNvSpPr>
            <a:spLocks xmlns:a="http://schemas.openxmlformats.org/drawingml/2006/main" noGrp="1"/>
          </p:cNvSpPr>
          <p:nvPr/>
        </p:nvSpPr>
        <p:spPr>
          <a:xfrm xmlns:a="http://schemas.openxmlformats.org/drawingml/2006/main">
            <a:off x="1016000" y="2794000"/>
            <a:ext cx="4572000" cy="8255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8000"/>
              </a:lnSpc>
              <a:buNone/>
            </a:pPr>
            <a:r>
              <a:rPr sz="1600" b="1" i="0" u="none">
                <a:solidFill>
                  <a:srgbClr val="1F2937"/>
                </a:solidFill>
                <a:latin typeface="Noto Sans SC"/>
                <a:ea typeface="Noto Sans SC"/>
                <a:cs typeface="Noto Sans SC"/>
              </a:rPr>
              <a:t>📊  模型层面：</a:t>
            </a:r>
            <a:r>
              <a:rPr sz="1300" b="0" i="0" u="none">
                <a:solidFill>
                  <a:srgbClr val="4B5563"/>
                </a:solidFill>
                <a:latin typeface="Noto Sans SC"/>
                <a:ea typeface="Noto Sans SC"/>
                <a:cs typeface="Noto Sans SC"/>
              </a:rPr>
              <a:t>通过精细的超参数调整与网络结构筛选，在保持核心性能的前提下，有效控制模型整体规模，降低运行负担。</a:t>
            </a:r>
          </a:p>
        </p:txBody>
      </p:sp>
      <p:sp>
        <p:nvSpPr>
          <p:cNvPr id="10" name="AutoShape 10">
            <a:extLst xmlns:a="http://schemas.openxmlformats.org/drawingml/2006/main">
              <a:ext uri="{FF2B5EF4-FFF2-40B4-BE49-F238E27FC236}">
                <a16:creationId xmlns:a16="http://schemas.microsoft.com/office/drawing/2014/main" id="{B96446D3-50AC-400E-8F09-BD249813FB14}"/>
              </a:ext>
            </a:extLst>
          </p:cNvPr>
          <p:cNvSpPr>
            <a:spLocks xmlns:a="http://schemas.openxmlformats.org/drawingml/2006/main" noGrp="1"/>
          </p:cNvSpPr>
          <p:nvPr/>
        </p:nvSpPr>
        <p:spPr>
          <a:xfrm xmlns:a="http://schemas.openxmlformats.org/drawingml/2006/main">
            <a:off x="863600" y="3937000"/>
            <a:ext cx="4826000" cy="1079500"/>
          </a:xfrm>
          <a:prstGeom xmlns:a="http://schemas.openxmlformats.org/drawingml/2006/main" prst="roundRect">
            <a:avLst>
              <a:gd name="adj" fmla="val 9411"/>
            </a:avLst>
          </a:prstGeom>
          <a:solidFill xmlns:a="http://schemas.openxmlformats.org/drawingml/2006/main">
            <a:srgbClr val="FFFFFF">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1" name="AutoShape 11">
            <a:extLst xmlns:a="http://schemas.openxmlformats.org/drawingml/2006/main">
              <a:ext uri="{FF2B5EF4-FFF2-40B4-BE49-F238E27FC236}">
                <a16:creationId xmlns:a16="http://schemas.microsoft.com/office/drawing/2014/main" id="{EA5450CF-7D97-4892-B8BE-9D6B946C6C09}"/>
              </a:ext>
            </a:extLst>
          </p:cNvPr>
          <p:cNvSpPr>
            <a:spLocks xmlns:a="http://schemas.openxmlformats.org/drawingml/2006/main" noGrp="1"/>
          </p:cNvSpPr>
          <p:nvPr/>
        </p:nvSpPr>
        <p:spPr>
          <a:xfrm xmlns:a="http://schemas.openxmlformats.org/drawingml/2006/main">
            <a:off x="1016000" y="4064000"/>
            <a:ext cx="4572000" cy="8255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08000"/>
              </a:lnSpc>
              <a:buNone/>
            </a:pPr>
            <a:r>
              <a:rPr sz="1600" b="1" i="0" u="none">
                <a:solidFill>
                  <a:srgbClr val="1F2937"/>
                </a:solidFill>
                <a:latin typeface="Noto Sans SC"/>
                <a:ea typeface="Noto Sans SC"/>
                <a:cs typeface="Noto Sans SC"/>
              </a:rPr>
              <a:t>⚖ 量化层面：</a:t>
            </a:r>
            <a:r>
              <a:rPr sz="1300">
                <a:solidFill>
                  <a:srgbClr val="4B5563"/>
                </a:solidFill>
                <a:latin typeface="Noto Sans SC"/>
                <a:ea typeface="Noto Sans SC"/>
                <a:cs typeface="Noto Sans SC"/>
              </a:rPr>
              <a:t>采用NCCN</a:t>
            </a:r>
            <a:r>
              <a:rPr sz="1300">
                <a:solidFill>
                  <a:srgbClr val="4B5563"/>
                </a:solidFill>
                <a:latin typeface="Noto Sans SC"/>
                <a:ea typeface="Noto Sans SC"/>
                <a:cs typeface="Noto Sans SC"/>
              </a:rPr>
              <a:t>自带的</a:t>
            </a:r>
            <a:r>
              <a:rPr sz="1300">
                <a:solidFill>
                  <a:srgbClr val="4B5563"/>
                </a:solidFill>
                <a:latin typeface="Noto Sans SC"/>
                <a:ea typeface="Noto Sans SC"/>
                <a:cs typeface="Noto Sans SC"/>
              </a:rPr>
              <a:t>INT8量化，压缩模型权重并保持FP32输入输出，兼顾精度与兼容性，降低端侧存储及访存开销。</a:t>
            </a:r>
          </a:p>
        </p:txBody>
      </p:sp>
      <p:sp>
        <p:nvSpPr>
          <p:cNvPr id="12" name="AutoShape 12">
            <a:extLst xmlns:a="http://schemas.openxmlformats.org/drawingml/2006/main">
              <a:ext uri="{FF2B5EF4-FFF2-40B4-BE49-F238E27FC236}">
                <a16:creationId xmlns:a16="http://schemas.microsoft.com/office/drawing/2014/main" id="{1596CD68-89E4-4E11-A3AF-30D003F3A6A9}"/>
              </a:ext>
            </a:extLst>
          </p:cNvPr>
          <p:cNvSpPr>
            <a:spLocks xmlns:a="http://schemas.openxmlformats.org/drawingml/2006/main" noGrp="1"/>
          </p:cNvSpPr>
          <p:nvPr/>
        </p:nvSpPr>
        <p:spPr>
          <a:xfrm xmlns:a="http://schemas.openxmlformats.org/drawingml/2006/main">
            <a:off x="863600" y="5080000"/>
            <a:ext cx="4826000" cy="1079500"/>
          </a:xfrm>
          <a:prstGeom xmlns:a="http://schemas.openxmlformats.org/drawingml/2006/main" prst="roundRect">
            <a:avLst>
              <a:gd name="adj" fmla="val 9411"/>
            </a:avLst>
          </a:prstGeom>
          <a:solidFill xmlns:a="http://schemas.openxmlformats.org/drawingml/2006/main">
            <a:srgbClr val="FFFFFF">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3" name="AutoShape 13">
            <a:extLst xmlns:a="http://schemas.openxmlformats.org/drawingml/2006/main">
              <a:ext uri="{FF2B5EF4-FFF2-40B4-BE49-F238E27FC236}">
                <a16:creationId xmlns:a16="http://schemas.microsoft.com/office/drawing/2014/main" id="{57F9915D-2A89-4776-B25C-CBBB0F42D887}"/>
              </a:ext>
            </a:extLst>
          </p:cNvPr>
          <p:cNvSpPr>
            <a:spLocks xmlns:a="http://schemas.openxmlformats.org/drawingml/2006/main" noGrp="1"/>
          </p:cNvSpPr>
          <p:nvPr/>
        </p:nvSpPr>
        <p:spPr>
          <a:xfrm xmlns:a="http://schemas.openxmlformats.org/drawingml/2006/main">
            <a:off x="1016000" y="5207000"/>
            <a:ext cx="4572000" cy="8255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8000"/>
              </a:lnSpc>
              <a:buNone/>
            </a:pPr>
            <a:r>
              <a:rPr sz="1600" b="1" i="0" u="none">
                <a:solidFill>
                  <a:srgbClr val="1F2937"/>
                </a:solidFill>
                <a:latin typeface="Noto Sans SC"/>
                <a:ea typeface="Noto Sans SC"/>
                <a:cs typeface="Noto Sans SC"/>
              </a:rPr>
              <a:t>🚀 引擎层面：</a:t>
            </a:r>
            <a:r>
              <a:rPr sz="1300" b="0" i="0" u="none">
                <a:solidFill>
                  <a:srgbClr val="4B5563"/>
                </a:solidFill>
                <a:latin typeface="Noto Sans SC"/>
                <a:ea typeface="Noto Sans SC"/>
                <a:cs typeface="Noto Sans SC"/>
              </a:rPr>
              <a:t>基于NCNN框架针对ARM CPU进行深度适配，结合多线程并行计算与数据布局优化，显著提升推理吞吐量。</a:t>
            </a:r>
          </a:p>
        </p:txBody>
      </p:sp>
      <p:sp>
        <p:nvSpPr>
          <p:cNvPr id="14" name="AutoShape 14">
            <a:extLst xmlns:a="http://schemas.openxmlformats.org/drawingml/2006/main">
              <a:ext uri="{FF2B5EF4-FFF2-40B4-BE49-F238E27FC236}">
                <a16:creationId xmlns:a16="http://schemas.microsoft.com/office/drawing/2014/main" id="{4C9B3753-0905-4D03-9F77-FA6766DF592B}"/>
              </a:ext>
            </a:extLst>
          </p:cNvPr>
          <p:cNvSpPr>
            <a:spLocks xmlns:a="http://schemas.openxmlformats.org/drawingml/2006/main" noGrp="1"/>
          </p:cNvSpPr>
          <p:nvPr/>
        </p:nvSpPr>
        <p:spPr>
          <a:xfrm xmlns:a="http://schemas.openxmlformats.org/drawingml/2006/main">
            <a:off x="6248400" y="1651000"/>
            <a:ext cx="5334000" cy="4699000"/>
          </a:xfrm>
          <a:prstGeom xmlns:a="http://schemas.openxmlformats.org/drawingml/2006/main" prst="roundRect">
            <a:avLst>
              <a:gd name="adj" fmla="val 3243"/>
            </a:avLst>
          </a:prstGeom>
          <a:solidFill xmlns:a="http://schemas.openxmlformats.org/drawingml/2006/main">
            <a:srgbClr val="FFF7ED">
              <a:alpha val="100000"/>
            </a:srgbClr>
          </a:solidFill>
          <a:ln xmlns:a="http://schemas.openxmlformats.org/drawingml/2006/main" w="12700" cmpd="sng">
            <a:solidFill>
              <a:srgbClr val="FDBA74">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15" name="Picture 15"/>
          <p:cNvPicPr>
            <a:picLocks xmlns:a="http://schemas.openxmlformats.org/drawingml/2006/main" noChangeAspect="1"/>
          </p:cNvPicPr>
          <p:nvPr/>
        </p:nvPicPr>
        <p:blipFill>
          <a:blip xmlns:r="http://schemas.openxmlformats.org/officeDocument/2006/relationships" xmlns:a="http://schemas.openxmlformats.org/drawingml/2006/main" r:embed="Re56f78f115d4422f"/>
          <a:stretch xmlns:a="http://schemas.openxmlformats.org/drawingml/2006/main">
            <a:fillRect l="0" t="0" r="0" b="0"/>
          </a:stretch>
        </p:blipFill>
        <p:spPr>
          <a:xfrm xmlns:a="http://schemas.openxmlformats.org/drawingml/2006/main">
            <a:off x="6527800" y="1905000"/>
            <a:ext cx="406400" cy="406400"/>
          </a:xfrm>
          <a:prstGeom xmlns:a="http://schemas.openxmlformats.org/drawingml/2006/main" prst="rect">
            <a:avLst/>
          </a:prstGeom>
        </p:spPr>
      </p:pic>
      <p:sp>
        <p:nvSpPr>
          <p:cNvPr id="16" name="AutoShape 16">
            <a:extLst xmlns:a="http://schemas.openxmlformats.org/drawingml/2006/main">
              <a:ext uri="{FF2B5EF4-FFF2-40B4-BE49-F238E27FC236}">
                <a16:creationId xmlns:a16="http://schemas.microsoft.com/office/drawing/2014/main" id="{AA252C10-64BF-4C87-85B6-797DD1FFF67A}"/>
              </a:ext>
            </a:extLst>
          </p:cNvPr>
          <p:cNvSpPr>
            <a:spLocks xmlns:a="http://schemas.openxmlformats.org/drawingml/2006/main" noGrp="1"/>
          </p:cNvSpPr>
          <p:nvPr/>
        </p:nvSpPr>
        <p:spPr>
          <a:xfrm xmlns:a="http://schemas.openxmlformats.org/drawingml/2006/main">
            <a:off x="7010400" y="1879600"/>
            <a:ext cx="4191000" cy="508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2200" b="1" i="0" u="none">
                <a:solidFill>
                  <a:srgbClr val="B45309"/>
                </a:solidFill>
                <a:latin typeface="Noto Sans SC"/>
                <a:ea typeface="Noto Sans SC"/>
                <a:cs typeface="Noto Sans SC"/>
              </a:rPr>
              <a:t>误差来源分析</a:t>
            </a:r>
          </a:p>
        </p:txBody>
      </p:sp>
      <p:sp>
        <p:nvSpPr>
          <p:cNvPr id="17" name="AutoShape 17">
            <a:extLst xmlns:a="http://schemas.openxmlformats.org/drawingml/2006/main">
              <a:ext uri="{FF2B5EF4-FFF2-40B4-BE49-F238E27FC236}">
                <a16:creationId xmlns:a16="http://schemas.microsoft.com/office/drawing/2014/main" id="{1E68289F-5328-4D05-B888-1773121B4544}"/>
              </a:ext>
            </a:extLst>
          </p:cNvPr>
          <p:cNvSpPr>
            <a:spLocks xmlns:a="http://schemas.openxmlformats.org/drawingml/2006/main" noGrp="1"/>
          </p:cNvSpPr>
          <p:nvPr/>
        </p:nvSpPr>
        <p:spPr>
          <a:xfrm xmlns:a="http://schemas.openxmlformats.org/drawingml/2006/main">
            <a:off x="6502400" y="2667000"/>
            <a:ext cx="2349500" cy="1524000"/>
          </a:xfrm>
          <a:prstGeom xmlns:a="http://schemas.openxmlformats.org/drawingml/2006/main" prst="roundRect">
            <a:avLst>
              <a:gd name="adj" fmla="val 6666"/>
            </a:avLst>
          </a:prstGeom>
          <a:solidFill xmlns:a="http://schemas.openxmlformats.org/drawingml/2006/main">
            <a:srgbClr val="FFFFFF">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8" name="AutoShape 18">
            <a:extLst xmlns:a="http://schemas.openxmlformats.org/drawingml/2006/main">
              <a:ext uri="{FF2B5EF4-FFF2-40B4-BE49-F238E27FC236}">
                <a16:creationId xmlns:a16="http://schemas.microsoft.com/office/drawing/2014/main" id="{703D253D-55AD-4A63-852F-82EB7EBBF6ED}"/>
              </a:ext>
            </a:extLst>
          </p:cNvPr>
          <p:cNvSpPr>
            <a:spLocks xmlns:a="http://schemas.openxmlformats.org/drawingml/2006/main" noGrp="1"/>
          </p:cNvSpPr>
          <p:nvPr/>
        </p:nvSpPr>
        <p:spPr>
          <a:xfrm xmlns:a="http://schemas.openxmlformats.org/drawingml/2006/main">
            <a:off x="6629400" y="2794000"/>
            <a:ext cx="2095500" cy="1270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8000"/>
              </a:lnSpc>
              <a:buNone/>
            </a:pPr>
            <a:r>
              <a:rPr sz="1500" b="1" i="0" u="none">
                <a:solidFill>
                  <a:srgbClr val="1F2937"/>
                </a:solidFill>
                <a:latin typeface="Noto Sans SC"/>
                <a:ea typeface="Noto Sans SC"/>
                <a:cs typeface="Noto Sans SC"/>
              </a:rPr>
              <a:t>🧪 数据预处理误差</a:t>
            </a:r>
          </a:p>
          <a:p xmlns:a="http://schemas.openxmlformats.org/drawingml/2006/main">
            <a:pPr indent="0" algn="l">
              <a:lnSpc>
                <a:spcPct val="108000"/>
              </a:lnSpc>
              <a:buNone/>
            </a:pPr>
            <a:r>
              <a:rPr sz="1200" b="0" i="0" u="none">
                <a:solidFill>
                  <a:srgbClr val="4B5563"/>
                </a:solidFill>
                <a:latin typeface="Noto Sans SC"/>
                <a:ea typeface="Noto Sans SC"/>
                <a:cs typeface="Noto Sans SC"/>
              </a:rPr>
              <a:t>特征提取方式、滑动窗口大小及数据标准化策略在不同环境下的差异。</a:t>
            </a:r>
          </a:p>
        </p:txBody>
      </p:sp>
      <p:sp>
        <p:nvSpPr>
          <p:cNvPr id="19" name="AutoShape 19">
            <a:extLst xmlns:a="http://schemas.openxmlformats.org/drawingml/2006/main">
              <a:ext uri="{FF2B5EF4-FFF2-40B4-BE49-F238E27FC236}">
                <a16:creationId xmlns:a16="http://schemas.microsoft.com/office/drawing/2014/main" id="{CAEB2889-3804-48FB-939D-F36F036EF168}"/>
              </a:ext>
            </a:extLst>
          </p:cNvPr>
          <p:cNvSpPr>
            <a:spLocks xmlns:a="http://schemas.openxmlformats.org/drawingml/2006/main" noGrp="1"/>
          </p:cNvSpPr>
          <p:nvPr/>
        </p:nvSpPr>
        <p:spPr>
          <a:xfrm xmlns:a="http://schemas.openxmlformats.org/drawingml/2006/main">
            <a:off x="8978900" y="2667000"/>
            <a:ext cx="2349500" cy="1524000"/>
          </a:xfrm>
          <a:prstGeom xmlns:a="http://schemas.openxmlformats.org/drawingml/2006/main" prst="roundRect">
            <a:avLst>
              <a:gd name="adj" fmla="val 6666"/>
            </a:avLst>
          </a:prstGeom>
          <a:solidFill xmlns:a="http://schemas.openxmlformats.org/drawingml/2006/main">
            <a:srgbClr val="FFFFFF">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20" name="AutoShape 20">
            <a:extLst xmlns:a="http://schemas.openxmlformats.org/drawingml/2006/main">
              <a:ext uri="{FF2B5EF4-FFF2-40B4-BE49-F238E27FC236}">
                <a16:creationId xmlns:a16="http://schemas.microsoft.com/office/drawing/2014/main" id="{CB630348-314A-459B-884E-083185E43431}"/>
              </a:ext>
            </a:extLst>
          </p:cNvPr>
          <p:cNvSpPr>
            <a:spLocks xmlns:a="http://schemas.openxmlformats.org/drawingml/2006/main" noGrp="1"/>
          </p:cNvSpPr>
          <p:nvPr/>
        </p:nvSpPr>
        <p:spPr>
          <a:xfrm xmlns:a="http://schemas.openxmlformats.org/drawingml/2006/main">
            <a:off x="9105900" y="2794000"/>
            <a:ext cx="2095500" cy="1270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8000"/>
              </a:lnSpc>
              <a:buNone/>
            </a:pPr>
            <a:r>
              <a:rPr sz="1500" b="1" i="0" u="none">
                <a:solidFill>
                  <a:srgbClr val="1F2937"/>
                </a:solidFill>
                <a:latin typeface="Noto Sans SC"/>
                <a:ea typeface="Noto Sans SC"/>
                <a:cs typeface="Noto Sans SC"/>
              </a:rPr>
              <a:t>🎲 模型训练随机性</a:t>
            </a:r>
          </a:p>
          <a:p xmlns:a="http://schemas.openxmlformats.org/drawingml/2006/main">
            <a:pPr indent="0" algn="l">
              <a:lnSpc>
                <a:spcPct val="108000"/>
              </a:lnSpc>
              <a:buNone/>
            </a:pPr>
            <a:r>
              <a:rPr sz="1200" b="0" i="0" u="none">
                <a:solidFill>
                  <a:srgbClr val="4B5563"/>
                </a:solidFill>
                <a:latin typeface="Noto Sans SC"/>
                <a:ea typeface="Noto Sans SC"/>
                <a:cs typeface="Noto Sans SC"/>
              </a:rPr>
              <a:t>权重初始化方式、训练数据Batch顺序等不可控随机因素的累积。</a:t>
            </a:r>
          </a:p>
        </p:txBody>
      </p:sp>
      <p:sp>
        <p:nvSpPr>
          <p:cNvPr id="21" name="AutoShape 21">
            <a:extLst xmlns:a="http://schemas.openxmlformats.org/drawingml/2006/main">
              <a:ext uri="{FF2B5EF4-FFF2-40B4-BE49-F238E27FC236}">
                <a16:creationId xmlns:a16="http://schemas.microsoft.com/office/drawing/2014/main" id="{DFB2138C-6977-44AB-8DCB-22D7611C854A}"/>
              </a:ext>
            </a:extLst>
          </p:cNvPr>
          <p:cNvSpPr>
            <a:spLocks xmlns:a="http://schemas.openxmlformats.org/drawingml/2006/main" noGrp="1"/>
          </p:cNvSpPr>
          <p:nvPr/>
        </p:nvSpPr>
        <p:spPr>
          <a:xfrm xmlns:a="http://schemas.openxmlformats.org/drawingml/2006/main">
            <a:off x="6502400" y="4318000"/>
            <a:ext cx="2349500" cy="1524000"/>
          </a:xfrm>
          <a:prstGeom xmlns:a="http://schemas.openxmlformats.org/drawingml/2006/main" prst="roundRect">
            <a:avLst>
              <a:gd name="adj" fmla="val 6666"/>
            </a:avLst>
          </a:prstGeom>
          <a:solidFill xmlns:a="http://schemas.openxmlformats.org/drawingml/2006/main">
            <a:srgbClr val="FFFFFF">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22" name="AutoShape 22">
            <a:extLst xmlns:a="http://schemas.openxmlformats.org/drawingml/2006/main">
              <a:ext uri="{FF2B5EF4-FFF2-40B4-BE49-F238E27FC236}">
                <a16:creationId xmlns:a16="http://schemas.microsoft.com/office/drawing/2014/main" id="{AC059375-B46A-468C-A92B-FC1704C9182A}"/>
              </a:ext>
            </a:extLst>
          </p:cNvPr>
          <p:cNvSpPr>
            <a:spLocks xmlns:a="http://schemas.openxmlformats.org/drawingml/2006/main" noGrp="1"/>
          </p:cNvSpPr>
          <p:nvPr/>
        </p:nvSpPr>
        <p:spPr>
          <a:xfrm xmlns:a="http://schemas.openxmlformats.org/drawingml/2006/main">
            <a:off x="6629400" y="4445000"/>
            <a:ext cx="2095500" cy="1270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8000"/>
              </a:lnSpc>
              <a:buNone/>
            </a:pPr>
            <a:r>
              <a:rPr sz="1500" b="1" i="0" u="none">
                <a:solidFill>
                  <a:srgbClr val="1F2937"/>
                </a:solidFill>
                <a:latin typeface="Noto Sans SC"/>
                <a:ea typeface="Noto Sans SC"/>
                <a:cs typeface="Noto Sans SC"/>
              </a:rPr>
              <a:t>📉 量化精度损失</a:t>
            </a:r>
          </a:p>
          <a:p xmlns:a="http://schemas.openxmlformats.org/drawingml/2006/main">
            <a:pPr indent="0" algn="l">
              <a:lnSpc>
                <a:spcPct val="108000"/>
              </a:lnSpc>
              <a:buNone/>
            </a:pPr>
            <a:r>
              <a:rPr sz="1200" b="0" i="0" u="none">
                <a:solidFill>
                  <a:srgbClr val="4B5563"/>
                </a:solidFill>
                <a:latin typeface="Noto Sans SC"/>
                <a:ea typeface="Noto Sans SC"/>
                <a:cs typeface="Noto Sans SC"/>
              </a:rPr>
              <a:t>INT8 低精度量化过程中不可避免的数值精度损失，影响最终输出。</a:t>
            </a:r>
          </a:p>
        </p:txBody>
      </p:sp>
      <p:sp>
        <p:nvSpPr>
          <p:cNvPr id="23" name="AutoShape 23">
            <a:extLst xmlns:a="http://schemas.openxmlformats.org/drawingml/2006/main">
              <a:ext uri="{FF2B5EF4-FFF2-40B4-BE49-F238E27FC236}">
                <a16:creationId xmlns:a16="http://schemas.microsoft.com/office/drawing/2014/main" id="{C39A4973-77F9-4791-B67B-B45D80C7F3EE}"/>
              </a:ext>
            </a:extLst>
          </p:cNvPr>
          <p:cNvSpPr>
            <a:spLocks xmlns:a="http://schemas.openxmlformats.org/drawingml/2006/main" noGrp="1"/>
          </p:cNvSpPr>
          <p:nvPr/>
        </p:nvSpPr>
        <p:spPr>
          <a:xfrm xmlns:a="http://schemas.openxmlformats.org/drawingml/2006/main">
            <a:off x="8978900" y="4318000"/>
            <a:ext cx="2349500" cy="1524000"/>
          </a:xfrm>
          <a:prstGeom xmlns:a="http://schemas.openxmlformats.org/drawingml/2006/main" prst="roundRect">
            <a:avLst>
              <a:gd name="adj" fmla="val 6666"/>
            </a:avLst>
          </a:prstGeom>
          <a:solidFill xmlns:a="http://schemas.openxmlformats.org/drawingml/2006/main">
            <a:srgbClr val="FFFFFF">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24" name="AutoShape 24">
            <a:extLst xmlns:a="http://schemas.openxmlformats.org/drawingml/2006/main">
              <a:ext uri="{FF2B5EF4-FFF2-40B4-BE49-F238E27FC236}">
                <a16:creationId xmlns:a16="http://schemas.microsoft.com/office/drawing/2014/main" id="{78E90B84-7DAD-434D-B6C7-D84F4D0C577A}"/>
              </a:ext>
            </a:extLst>
          </p:cNvPr>
          <p:cNvSpPr>
            <a:spLocks xmlns:a="http://schemas.openxmlformats.org/drawingml/2006/main" noGrp="1"/>
          </p:cNvSpPr>
          <p:nvPr/>
        </p:nvSpPr>
        <p:spPr>
          <a:xfrm xmlns:a="http://schemas.openxmlformats.org/drawingml/2006/main">
            <a:off x="9105900" y="4445000"/>
            <a:ext cx="2095500" cy="1270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8000"/>
              </a:lnSpc>
              <a:buNone/>
            </a:pPr>
            <a:r>
              <a:rPr sz="1500" b="1" i="0" u="none">
                <a:solidFill>
                  <a:srgbClr val="1F2937"/>
                </a:solidFill>
                <a:latin typeface="Noto Sans SC"/>
                <a:ea typeface="Noto Sans SC"/>
                <a:cs typeface="Noto Sans SC"/>
              </a:rPr>
              <a:t>💻 端侧测量误差</a:t>
            </a:r>
          </a:p>
          <a:p xmlns:a="http://schemas.openxmlformats.org/drawingml/2006/main">
            <a:pPr indent="0" algn="l">
              <a:lnSpc>
                <a:spcPct val="108000"/>
              </a:lnSpc>
              <a:buNone/>
            </a:pPr>
            <a:r>
              <a:rPr sz="1200" b="0" i="0" u="none">
                <a:solidFill>
                  <a:srgbClr val="4B5563"/>
                </a:solidFill>
                <a:latin typeface="Noto Sans SC"/>
                <a:ea typeface="Noto Sans SC"/>
                <a:cs typeface="Noto Sans SC"/>
              </a:rPr>
              <a:t>CPU动态调频、后台进程干扰、线程调度延迟等系统环境波动因素。</a:t>
            </a:r>
          </a:p>
        </p:txBody>
      </p:sp>
    </p:spTree>
    <p:extLst>
      <p:ext uri="{BB962C8B-B14F-4D97-AF65-F5344CB8AC3E}">
        <p14:creationId xmlns:p14="http://schemas.microsoft.com/office/powerpoint/2010/main" val="454939094"/>
      </p:ext>
    </p:extLst>
  </p:cSld>
</p:sld>
</file>

<file path=ppt/slides/slide20.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c7cfbd24029e4111"/>
          <a:srcRect xmlns:a="http://schemas.openxmlformats.org/drawingml/2006/main" l="33" t="0" r="33" b="0"/>
          <a:stretch xmlns:a="http://schemas.openxmlformats.org/drawingml/2006/main">
            <a:fillRect l="0" t="0" r="0" b="0"/>
          </a:stretch>
        </p:blipFill>
        <p:spPr>
          <a:xfrm xmlns:a="http://schemas.openxmlformats.org/drawingml/2006/main">
            <a:off x="0" y="0"/>
            <a:ext cx="12001500" cy="6807200"/>
          </a:xfrm>
          <a:prstGeom xmlns:a="http://schemas.openxmlformats.org/drawingml/2006/main" prst="rect">
            <a:avLst/>
          </a:prstGeom>
          <a:ln xmlns:a="http://schemas.openxmlformats.org/drawingml/2006/main" w="25400" cap="flat" cmpd="sng">
            <a:noFill/>
            <a:prstDash val="solid"/>
            <a:round/>
          </a:ln>
        </p:spPr>
      </p:pic>
      <p:sp>
        <p:nvSpPr>
          <p:cNvPr id="3" name="AutoShape 3">
            <a:extLst xmlns:a="http://schemas.openxmlformats.org/drawingml/2006/main">
              <a:ext uri="{FF2B5EF4-FFF2-40B4-BE49-F238E27FC236}">
                <a16:creationId xmlns:a16="http://schemas.microsoft.com/office/drawing/2014/main" id="{133BCDB2-4242-498D-9FF3-BD5F0FE1EA89}"/>
              </a:ext>
            </a:extLst>
          </p:cNvPr>
          <p:cNvSpPr>
            <a:spLocks xmlns:a="http://schemas.openxmlformats.org/drawingml/2006/main" noGrp="1"/>
          </p:cNvSpPr>
          <p:nvPr/>
        </p:nvSpPr>
        <p:spPr>
          <a:xfrm xmlns:a="http://schemas.openxmlformats.org/drawingml/2006/main">
            <a:off x="0" y="1778000"/>
            <a:ext cx="12001500" cy="1524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9600" b="1" i="0" u="none">
                <a:solidFill>
                  <a:srgbClr val="103A6E"/>
                </a:solidFill>
                <a:latin typeface="微软雅黑"/>
                <a:ea typeface="微软雅黑"/>
                <a:cs typeface="微软雅黑"/>
              </a:rPr>
              <a:t>05</a:t>
            </a:r>
          </a:p>
        </p:txBody>
      </p:sp>
      <p:sp>
        <p:nvSpPr>
          <p:cNvPr id="4" name="AutoShape 4">
            <a:extLst xmlns:a="http://schemas.openxmlformats.org/drawingml/2006/main">
              <a:ext uri="{FF2B5EF4-FFF2-40B4-BE49-F238E27FC236}">
                <a16:creationId xmlns:a16="http://schemas.microsoft.com/office/drawing/2014/main" id="{6A066CCA-8530-4630-99E5-F57FD1DF92DD}"/>
              </a:ext>
            </a:extLst>
          </p:cNvPr>
          <p:cNvSpPr>
            <a:spLocks xmlns:a="http://schemas.openxmlformats.org/drawingml/2006/main" noGrp="1"/>
          </p:cNvSpPr>
          <p:nvPr/>
        </p:nvSpPr>
        <p:spPr>
          <a:xfrm xmlns:a="http://schemas.openxmlformats.org/drawingml/2006/main">
            <a:off x="0" y="3556000"/>
            <a:ext cx="12001500" cy="889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4200" b="1" i="0" u="none">
                <a:solidFill>
                  <a:srgbClr val="1F2937"/>
                </a:solidFill>
                <a:latin typeface="Noto Sans SC"/>
                <a:ea typeface="Noto Sans SC"/>
                <a:cs typeface="Noto Sans SC"/>
              </a:rPr>
              <a:t>总结与</a:t>
            </a:r>
            <a:r>
              <a:rPr sz="4200" b="1" i="0" u="none">
                <a:solidFill>
                  <a:srgbClr val="1F2937"/>
                </a:solidFill>
                <a:latin typeface="Noto Sans SC"/>
                <a:ea typeface="Noto Sans SC"/>
                <a:cs typeface="Noto Sans SC"/>
              </a:rPr>
              <a:t>展望</a:t>
            </a:r>
          </a:p>
        </p:txBody>
      </p:sp>
      <p:sp>
        <p:nvSpPr>
          <p:cNvPr id="5" name="AutoShape 5">
            <a:extLst xmlns:a="http://schemas.openxmlformats.org/drawingml/2006/main">
              <a:ext uri="{FF2B5EF4-FFF2-40B4-BE49-F238E27FC236}">
                <a16:creationId xmlns:a16="http://schemas.microsoft.com/office/drawing/2014/main" id="{C29BA542-41ED-47C8-8544-5FAEA346D238}"/>
              </a:ext>
            </a:extLst>
          </p:cNvPr>
          <p:cNvSpPr>
            <a:spLocks xmlns:a="http://schemas.openxmlformats.org/drawingml/2006/main" noGrp="1"/>
          </p:cNvSpPr>
          <p:nvPr/>
        </p:nvSpPr>
        <p:spPr>
          <a:xfrm xmlns:a="http://schemas.openxmlformats.org/drawingml/2006/main">
            <a:off x="0" y="4953000"/>
            <a:ext cx="12001500" cy="508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1800" b="0" i="0" u="none" spc="200">
                <a:solidFill>
                  <a:srgbClr val="6B7280"/>
                </a:solidFill>
                <a:latin typeface="Noto Sans SC"/>
                <a:ea typeface="Noto Sans SC"/>
                <a:cs typeface="Noto Sans SC"/>
              </a:rPr>
              <a:t>项目总结</a:t>
            </a:r>
            <a:r>
              <a:rPr sz="1800">
                <a:solidFill>
                  <a:srgbClr val="4B5563"/>
                </a:solidFill>
                <a:latin typeface="Noto Sans SC"/>
                <a:ea typeface="Noto Sans SC"/>
                <a:cs typeface="Noto Sans SC"/>
              </a:rPr>
              <a:t> | </a:t>
            </a:r>
            <a:r>
              <a:rPr sz="1800">
                <a:solidFill>
                  <a:srgbClr val="4B5563"/>
                </a:solidFill>
                <a:latin typeface="Noto Sans SC"/>
                <a:ea typeface="Noto Sans SC"/>
                <a:cs typeface="Noto Sans SC"/>
              </a:rPr>
              <a:t>未来</a:t>
            </a:r>
            <a:r>
              <a:rPr sz="1800">
                <a:solidFill>
                  <a:srgbClr val="4B5563"/>
                </a:solidFill>
                <a:latin typeface="Noto Sans SC"/>
                <a:ea typeface="Noto Sans SC"/>
                <a:cs typeface="Noto Sans SC"/>
              </a:rPr>
              <a:t>展望</a:t>
            </a:r>
          </a:p>
        </p:txBody>
      </p:sp>
    </p:spTree>
    <p:extLst>
      <p:ext uri="{BB962C8B-B14F-4D97-AF65-F5344CB8AC3E}">
        <p14:creationId xmlns:p14="http://schemas.microsoft.com/office/powerpoint/2010/main" val="419281836"/>
      </p:ext>
    </p:extLst>
  </p:cSld>
</p:sld>
</file>

<file path=ppt/slides/slide21.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8668b80d403e4cba"/>
          <a:srcRect xmlns:a="http://schemas.openxmlformats.org/drawingml/2006/main" l="33" t="0" r="33" b="0"/>
          <a:stretch xmlns:a="http://schemas.openxmlformats.org/drawingml/2006/main">
            <a:fillRect l="0" t="0" r="0" b="0"/>
          </a:stretch>
        </p:blipFill>
        <p:spPr>
          <a:xfrm xmlns:a="http://schemas.openxmlformats.org/drawingml/2006/main">
            <a:off x="0" y="0"/>
            <a:ext cx="12001500" cy="6807200"/>
          </a:xfrm>
          <a:prstGeom xmlns:a="http://schemas.openxmlformats.org/drawingml/2006/main" prst="rect">
            <a:avLst/>
          </a:prstGeom>
          <a:ln xmlns:a="http://schemas.openxmlformats.org/drawingml/2006/main" w="25400" cap="flat" cmpd="sng">
            <a:noFill/>
            <a:prstDash val="solid"/>
            <a:round/>
          </a:ln>
        </p:spPr>
      </p:pic>
      <p:sp>
        <p:nvSpPr>
          <p:cNvPr id="4" name="AutoShape 4">
            <a:extLst xmlns:a="http://schemas.openxmlformats.org/drawingml/2006/main">
              <a:ext uri="{FF2B5EF4-FFF2-40B4-BE49-F238E27FC236}">
                <a16:creationId xmlns:a16="http://schemas.microsoft.com/office/drawing/2014/main" id="{0BFF120C-1F09-4751-B17F-762D7ABC72A4}"/>
              </a:ext>
            </a:extLst>
          </p:cNvPr>
          <p:cNvSpPr>
            <a:spLocks xmlns:a="http://schemas.openxmlformats.org/drawingml/2006/main" noGrp="1"/>
          </p:cNvSpPr>
          <p:nvPr/>
        </p:nvSpPr>
        <p:spPr>
          <a:xfrm xmlns:a="http://schemas.openxmlformats.org/drawingml/2006/main">
            <a:off x="0" y="444500"/>
            <a:ext cx="12001500" cy="762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p>
        </p:txBody>
      </p:sp>
      <p:sp>
        <p:nvSpPr>
          <p:cNvPr id="5" name="AutoShape 5">
            <a:extLst xmlns:a="http://schemas.openxmlformats.org/drawingml/2006/main">
              <a:ext uri="{FF2B5EF4-FFF2-40B4-BE49-F238E27FC236}">
                <a16:creationId xmlns:a16="http://schemas.microsoft.com/office/drawing/2014/main" id="{7D5EFC06-45E4-4E41-AE2F-936052F3BE59}"/>
              </a:ext>
            </a:extLst>
          </p:cNvPr>
          <p:cNvSpPr>
            <a:spLocks xmlns:a="http://schemas.openxmlformats.org/drawingml/2006/main" noGrp="1"/>
          </p:cNvSpPr>
          <p:nvPr/>
        </p:nvSpPr>
        <p:spPr>
          <a:xfrm xmlns:a="http://schemas.openxmlformats.org/drawingml/2006/main">
            <a:off x="508000" y="1524000"/>
            <a:ext cx="5461000" cy="4826000"/>
          </a:xfrm>
          <a:prstGeom xmlns:a="http://schemas.openxmlformats.org/drawingml/2006/main" prst="roundRect">
            <a:avLst>
              <a:gd name="adj" fmla="val 3157"/>
            </a:avLst>
          </a:prstGeom>
          <a:solidFill xmlns:a="http://schemas.openxmlformats.org/drawingml/2006/main">
            <a:srgbClr val="FFFFFF">
              <a:alpha val="95000"/>
            </a:srgbClr>
          </a:solidFill>
          <a:ln xmlns:a="http://schemas.openxmlformats.org/drawingml/2006/main" w="25400" cmpd="sng">
            <a:solidFill>
              <a:srgbClr val="3B82F6">
                <a:alpha val="4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6" name="AutoShape 6">
            <a:extLst xmlns:a="http://schemas.openxmlformats.org/drawingml/2006/main">
              <a:ext uri="{FF2B5EF4-FFF2-40B4-BE49-F238E27FC236}">
                <a16:creationId xmlns:a16="http://schemas.microsoft.com/office/drawing/2014/main" id="{79632BF7-2857-45BC-9CBB-CB1C32F59880}"/>
              </a:ext>
            </a:extLst>
          </p:cNvPr>
          <p:cNvSpPr>
            <a:spLocks xmlns:a="http://schemas.openxmlformats.org/drawingml/2006/main" noGrp="1"/>
          </p:cNvSpPr>
          <p:nvPr/>
        </p:nvSpPr>
        <p:spPr>
          <a:xfrm xmlns:a="http://schemas.openxmlformats.org/drawingml/2006/main">
            <a:off x="762000" y="1778000"/>
            <a:ext cx="4953000" cy="508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2400" b="1" i="0" u="none">
                <a:solidFill>
                  <a:srgbClr val="2563EB"/>
                </a:solidFill>
                <a:latin typeface="Noto Sans SC"/>
                <a:ea typeface="Noto Sans SC"/>
                <a:cs typeface="Noto Sans SC"/>
              </a:rPr>
              <a:t>PROJECT SUMMARY · 项目总结</a:t>
            </a:r>
          </a:p>
        </p:txBody>
      </p:sp>
      <p:pic>
        <p:nvPicPr>
          <p:cNvPr id="7" name="Picture 7"/>
          <p:cNvPicPr>
            <a:picLocks xmlns:a="http://schemas.openxmlformats.org/drawingml/2006/main" noChangeAspect="1"/>
          </p:cNvPicPr>
          <p:nvPr/>
        </p:nvPicPr>
        <p:blipFill>
          <a:blip xmlns:r="http://schemas.openxmlformats.org/officeDocument/2006/relationships" xmlns:a="http://schemas.openxmlformats.org/drawingml/2006/main" r:embed="R18c9cba088f44d0c"/>
          <a:stretch xmlns:a="http://schemas.openxmlformats.org/drawingml/2006/main">
            <a:fillRect l="0" t="0" r="0" b="0"/>
          </a:stretch>
        </p:blipFill>
        <p:spPr>
          <a:xfrm xmlns:a="http://schemas.openxmlformats.org/drawingml/2006/main">
            <a:off x="825500" y="2667000"/>
            <a:ext cx="406400" cy="406400"/>
          </a:xfrm>
          <a:prstGeom xmlns:a="http://schemas.openxmlformats.org/drawingml/2006/main" prst="rect">
            <a:avLst/>
          </a:prstGeom>
        </p:spPr>
      </p:pic>
      <p:sp>
        <p:nvSpPr>
          <p:cNvPr id="8" name="AutoShape 8">
            <a:extLst xmlns:a="http://schemas.openxmlformats.org/drawingml/2006/main">
              <a:ext uri="{FF2B5EF4-FFF2-40B4-BE49-F238E27FC236}">
                <a16:creationId xmlns:a16="http://schemas.microsoft.com/office/drawing/2014/main" id="{FB80D0EC-56BF-49D4-BFE5-FCBEC8A1F731}"/>
              </a:ext>
            </a:extLst>
          </p:cNvPr>
          <p:cNvSpPr>
            <a:spLocks xmlns:a="http://schemas.openxmlformats.org/drawingml/2006/main" noGrp="1"/>
          </p:cNvSpPr>
          <p:nvPr/>
        </p:nvSpPr>
        <p:spPr>
          <a:xfrm xmlns:a="http://schemas.openxmlformats.org/drawingml/2006/main">
            <a:off x="1397000" y="2603500"/>
            <a:ext cx="4254500" cy="9525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t"/>
          <a:lstStyle xmlns:a="http://schemas.openxmlformats.org/drawingml/2006/main"/>
          <a:p xmlns:a="http://schemas.openxmlformats.org/drawingml/2006/main">
            <a:pPr indent="0" algn="l">
              <a:lnSpc>
                <a:spcPct val="100000"/>
              </a:lnSpc>
              <a:buNone/>
            </a:pPr>
            <a:r>
              <a:rPr sz="1600" b="1" i="0" u="none">
                <a:solidFill>
                  <a:srgbClr val="111827"/>
                </a:solidFill>
                <a:latin typeface="Noto Sans SC"/>
                <a:ea typeface="Noto Sans SC"/>
                <a:cs typeface="Noto Sans SC"/>
              </a:rPr>
              <a:t>完整技术方案构建</a:t>
            </a:r>
          </a:p>
          <a:p xmlns:a="http://schemas.openxmlformats.org/drawingml/2006/main">
            <a:pPr indent="0" algn="l">
              <a:lnSpc>
                <a:spcPct val="108000"/>
              </a:lnSpc>
              <a:spcBef>
                <a:spcPts val="400"/>
              </a:spcBef>
              <a:buNone/>
            </a:pPr>
            <a:r>
              <a:rPr sz="1200" b="0" i="0" u="none">
                <a:solidFill>
                  <a:srgbClr val="4B5563"/>
                </a:solidFill>
                <a:latin typeface="Noto Sans SC"/>
                <a:ea typeface="Noto Sans SC"/>
                <a:cs typeface="Noto Sans SC"/>
              </a:rPr>
              <a:t>打通从算法建模到端侧部署的全流程，形成闭环的、可执行的端到端解决方案。</a:t>
            </a:r>
          </a:p>
        </p:txBody>
      </p:sp>
      <p:pic>
        <p:nvPicPr>
          <p:cNvPr id="9" name="Picture 9"/>
          <p:cNvPicPr>
            <a:picLocks xmlns:a="http://schemas.openxmlformats.org/drawingml/2006/main" noChangeAspect="1"/>
          </p:cNvPicPr>
          <p:nvPr/>
        </p:nvPicPr>
        <p:blipFill>
          <a:blip xmlns:r="http://schemas.openxmlformats.org/officeDocument/2006/relationships" xmlns:a="http://schemas.openxmlformats.org/drawingml/2006/main" r:embed="R5db2023517234a87"/>
          <a:stretch xmlns:a="http://schemas.openxmlformats.org/drawingml/2006/main">
            <a:fillRect l="0" t="0" r="0" b="0"/>
          </a:stretch>
        </p:blipFill>
        <p:spPr>
          <a:xfrm xmlns:a="http://schemas.openxmlformats.org/drawingml/2006/main">
            <a:off x="825500" y="3873500"/>
            <a:ext cx="406400" cy="406400"/>
          </a:xfrm>
          <a:prstGeom xmlns:a="http://schemas.openxmlformats.org/drawingml/2006/main" prst="rect">
            <a:avLst/>
          </a:prstGeom>
        </p:spPr>
      </p:pic>
      <p:sp>
        <p:nvSpPr>
          <p:cNvPr id="10" name="AutoShape 10">
            <a:extLst xmlns:a="http://schemas.openxmlformats.org/drawingml/2006/main">
              <a:ext uri="{FF2B5EF4-FFF2-40B4-BE49-F238E27FC236}">
                <a16:creationId xmlns:a16="http://schemas.microsoft.com/office/drawing/2014/main" id="{17337522-29C1-48E3-8E76-6655D3554D2F}"/>
              </a:ext>
            </a:extLst>
          </p:cNvPr>
          <p:cNvSpPr>
            <a:spLocks xmlns:a="http://schemas.openxmlformats.org/drawingml/2006/main" noGrp="1"/>
          </p:cNvSpPr>
          <p:nvPr/>
        </p:nvSpPr>
        <p:spPr>
          <a:xfrm xmlns:a="http://schemas.openxmlformats.org/drawingml/2006/main">
            <a:off x="1397000" y="3810000"/>
            <a:ext cx="4254500" cy="9525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t"/>
          <a:lstStyle xmlns:a="http://schemas.openxmlformats.org/drawingml/2006/main"/>
          <a:p xmlns:a="http://schemas.openxmlformats.org/drawingml/2006/main">
            <a:pPr indent="0" algn="l">
              <a:lnSpc>
                <a:spcPct val="100000"/>
              </a:lnSpc>
              <a:buNone/>
            </a:pPr>
            <a:r>
              <a:rPr sz="1600" b="1" i="0" u="none">
                <a:solidFill>
                  <a:srgbClr val="111827"/>
                </a:solidFill>
                <a:latin typeface="Noto Sans SC"/>
                <a:ea typeface="Noto Sans SC"/>
                <a:cs typeface="Noto Sans SC"/>
              </a:rPr>
              <a:t>核心问题突破与解决</a:t>
            </a:r>
          </a:p>
          <a:p xmlns:a="http://schemas.openxmlformats.org/drawingml/2006/main">
            <a:pPr indent="0" algn="l">
              <a:lnSpc>
                <a:spcPct val="108000"/>
              </a:lnSpc>
              <a:spcBef>
                <a:spcPts val="400"/>
              </a:spcBef>
              <a:buNone/>
            </a:pPr>
            <a:r>
              <a:rPr sz="1200" b="0" i="0" u="none">
                <a:solidFill>
                  <a:srgbClr val="4B5563"/>
                </a:solidFill>
                <a:latin typeface="Noto Sans SC"/>
                <a:ea typeface="Noto Sans SC"/>
                <a:cs typeface="Noto Sans SC"/>
              </a:rPr>
              <a:t>复现高精度MRGCN模型，引入DANN与自适应调参技术，有效解决了模型的泛化与落地难题。</a:t>
            </a:r>
          </a:p>
        </p:txBody>
      </p:sp>
      <p:pic>
        <p:nvPicPr>
          <p:cNvPr id="11" name="Picture 11"/>
          <p:cNvPicPr>
            <a:picLocks xmlns:a="http://schemas.openxmlformats.org/drawingml/2006/main" noChangeAspect="1"/>
          </p:cNvPicPr>
          <p:nvPr/>
        </p:nvPicPr>
        <p:blipFill>
          <a:blip xmlns:r="http://schemas.openxmlformats.org/officeDocument/2006/relationships" xmlns:a="http://schemas.openxmlformats.org/drawingml/2006/main" r:embed="R0c82c6229d544416"/>
          <a:stretch xmlns:a="http://schemas.openxmlformats.org/drawingml/2006/main">
            <a:fillRect l="0" t="0" r="0" b="0"/>
          </a:stretch>
        </p:blipFill>
        <p:spPr>
          <a:xfrm xmlns:a="http://schemas.openxmlformats.org/drawingml/2006/main">
            <a:off x="825500" y="5080000"/>
            <a:ext cx="406400" cy="406400"/>
          </a:xfrm>
          <a:prstGeom xmlns:a="http://schemas.openxmlformats.org/drawingml/2006/main" prst="rect">
            <a:avLst/>
          </a:prstGeom>
        </p:spPr>
      </p:pic>
      <p:sp>
        <p:nvSpPr>
          <p:cNvPr id="12" name="AutoShape 12">
            <a:extLst xmlns:a="http://schemas.openxmlformats.org/drawingml/2006/main">
              <a:ext uri="{FF2B5EF4-FFF2-40B4-BE49-F238E27FC236}">
                <a16:creationId xmlns:a16="http://schemas.microsoft.com/office/drawing/2014/main" id="{523749B4-E902-4443-A077-A31842204CBC}"/>
              </a:ext>
            </a:extLst>
          </p:cNvPr>
          <p:cNvSpPr>
            <a:spLocks xmlns:a="http://schemas.openxmlformats.org/drawingml/2006/main" noGrp="1"/>
          </p:cNvSpPr>
          <p:nvPr/>
        </p:nvSpPr>
        <p:spPr>
          <a:xfrm xmlns:a="http://schemas.openxmlformats.org/drawingml/2006/main">
            <a:off x="1397000" y="5016500"/>
            <a:ext cx="4254500" cy="9525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t"/>
          <a:lstStyle xmlns:a="http://schemas.openxmlformats.org/drawingml/2006/main"/>
          <a:p xmlns:a="http://schemas.openxmlformats.org/drawingml/2006/main">
            <a:pPr indent="0" algn="l">
              <a:lnSpc>
                <a:spcPct val="100000"/>
              </a:lnSpc>
              <a:buNone/>
            </a:pPr>
            <a:r>
              <a:rPr sz="1600" b="1" i="0" u="none">
                <a:solidFill>
                  <a:srgbClr val="111827"/>
                </a:solidFill>
                <a:latin typeface="Noto Sans SC"/>
                <a:ea typeface="Noto Sans SC"/>
                <a:cs typeface="Noto Sans SC"/>
              </a:rPr>
              <a:t>可复用的工程化价值</a:t>
            </a:r>
          </a:p>
          <a:p xmlns:a="http://schemas.openxmlformats.org/drawingml/2006/main">
            <a:pPr indent="0" algn="l">
              <a:lnSpc>
                <a:spcPct val="108000"/>
              </a:lnSpc>
              <a:spcBef>
                <a:spcPts val="400"/>
              </a:spcBef>
              <a:buNone/>
            </a:pPr>
            <a:r>
              <a:rPr sz="1200" b="0" i="0" u="none">
                <a:solidFill>
                  <a:srgbClr val="4B5563"/>
                </a:solidFill>
                <a:latin typeface="Noto Sans SC"/>
                <a:ea typeface="Noto Sans SC"/>
                <a:cs typeface="Noto Sans SC"/>
              </a:rPr>
              <a:t>为图神经网络（GNN）在边缘计算平台的压缩部署与推理加速提供了成熟的工程参考路径。</a:t>
            </a:r>
          </a:p>
        </p:txBody>
      </p:sp>
      <p:sp>
        <p:nvSpPr>
          <p:cNvPr id="13" name="AutoShape 13">
            <a:extLst xmlns:a="http://schemas.openxmlformats.org/drawingml/2006/main">
              <a:ext uri="{FF2B5EF4-FFF2-40B4-BE49-F238E27FC236}">
                <a16:creationId xmlns:a16="http://schemas.microsoft.com/office/drawing/2014/main" id="{6DE6DF0A-F961-4648-8C62-83654153BA86}"/>
              </a:ext>
            </a:extLst>
          </p:cNvPr>
          <p:cNvSpPr>
            <a:spLocks xmlns:a="http://schemas.openxmlformats.org/drawingml/2006/main" noGrp="1"/>
          </p:cNvSpPr>
          <p:nvPr/>
        </p:nvSpPr>
        <p:spPr>
          <a:xfrm xmlns:a="http://schemas.openxmlformats.org/drawingml/2006/main">
            <a:off x="6032500" y="1524000"/>
            <a:ext cx="5461000" cy="4826000"/>
          </a:xfrm>
          <a:prstGeom xmlns:a="http://schemas.openxmlformats.org/drawingml/2006/main" prst="roundRect">
            <a:avLst>
              <a:gd name="adj" fmla="val 3157"/>
            </a:avLst>
          </a:prstGeom>
          <a:solidFill xmlns:a="http://schemas.openxmlformats.org/drawingml/2006/main">
            <a:srgbClr val="FFFFFF">
              <a:alpha val="95000"/>
            </a:srgbClr>
          </a:solidFill>
          <a:ln xmlns:a="http://schemas.openxmlformats.org/drawingml/2006/main" w="25400" cmpd="sng">
            <a:solidFill>
              <a:srgbClr val="F97316">
                <a:alpha val="4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4" name="AutoShape 14">
            <a:extLst xmlns:a="http://schemas.openxmlformats.org/drawingml/2006/main">
              <a:ext uri="{FF2B5EF4-FFF2-40B4-BE49-F238E27FC236}">
                <a16:creationId xmlns:a16="http://schemas.microsoft.com/office/drawing/2014/main" id="{92DE57A8-8B71-4BE6-A300-8949F61833E5}"/>
              </a:ext>
            </a:extLst>
          </p:cNvPr>
          <p:cNvSpPr>
            <a:spLocks xmlns:a="http://schemas.openxmlformats.org/drawingml/2006/main" noGrp="1"/>
          </p:cNvSpPr>
          <p:nvPr/>
        </p:nvSpPr>
        <p:spPr>
          <a:xfrm xmlns:a="http://schemas.openxmlformats.org/drawingml/2006/main">
            <a:off x="6286500" y="1778000"/>
            <a:ext cx="4953000" cy="508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2400" b="1" i="0" u="none">
                <a:solidFill>
                  <a:srgbClr val="EA580C"/>
                </a:solidFill>
                <a:latin typeface="Noto Sans SC"/>
                <a:ea typeface="Noto Sans SC"/>
                <a:cs typeface="Noto Sans SC"/>
              </a:rPr>
              <a:t>FUTURE OUTLOOK · 未来展望</a:t>
            </a:r>
          </a:p>
        </p:txBody>
      </p:sp>
      <p:pic>
        <p:nvPicPr>
          <p:cNvPr id="15" name="Picture 15"/>
          <p:cNvPicPr>
            <a:picLocks xmlns:a="http://schemas.openxmlformats.org/drawingml/2006/main" noChangeAspect="1"/>
          </p:cNvPicPr>
          <p:nvPr/>
        </p:nvPicPr>
        <p:blipFill>
          <a:blip xmlns:r="http://schemas.openxmlformats.org/officeDocument/2006/relationships" xmlns:a="http://schemas.openxmlformats.org/drawingml/2006/main" r:embed="Rd8707ad7471f4040"/>
          <a:stretch xmlns:a="http://schemas.openxmlformats.org/drawingml/2006/main">
            <a:fillRect l="0" t="0" r="0" b="0"/>
          </a:stretch>
        </p:blipFill>
        <p:spPr>
          <a:xfrm xmlns:a="http://schemas.openxmlformats.org/drawingml/2006/main">
            <a:off x="6350000" y="2667000"/>
            <a:ext cx="406400" cy="406400"/>
          </a:xfrm>
          <a:prstGeom xmlns:a="http://schemas.openxmlformats.org/drawingml/2006/main" prst="rect">
            <a:avLst/>
          </a:prstGeom>
        </p:spPr>
      </p:pic>
      <p:sp>
        <p:nvSpPr>
          <p:cNvPr id="16" name="AutoShape 16">
            <a:extLst xmlns:a="http://schemas.openxmlformats.org/drawingml/2006/main">
              <a:ext uri="{FF2B5EF4-FFF2-40B4-BE49-F238E27FC236}">
                <a16:creationId xmlns:a16="http://schemas.microsoft.com/office/drawing/2014/main" id="{DA81D041-3EF4-41C8-B558-D7E5E8E39986}"/>
              </a:ext>
            </a:extLst>
          </p:cNvPr>
          <p:cNvSpPr>
            <a:spLocks xmlns:a="http://schemas.openxmlformats.org/drawingml/2006/main" noGrp="1"/>
          </p:cNvSpPr>
          <p:nvPr/>
        </p:nvSpPr>
        <p:spPr>
          <a:xfrm xmlns:a="http://schemas.openxmlformats.org/drawingml/2006/main">
            <a:off x="6921500" y="2603500"/>
            <a:ext cx="4254500" cy="9525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t"/>
          <a:lstStyle xmlns:a="http://schemas.openxmlformats.org/drawingml/2006/main"/>
          <a:p xmlns:a="http://schemas.openxmlformats.org/drawingml/2006/main">
            <a:pPr indent="0" algn="l">
              <a:lnSpc>
                <a:spcPct val="100000"/>
              </a:lnSpc>
              <a:buNone/>
            </a:pPr>
            <a:r>
              <a:rPr sz="1600" b="1" i="0" u="none">
                <a:solidFill>
                  <a:srgbClr val="111827"/>
                </a:solidFill>
                <a:latin typeface="Noto Sans SC"/>
                <a:ea typeface="Noto Sans SC"/>
                <a:cs typeface="Noto Sans SC"/>
              </a:rPr>
              <a:t>01 / 建立完善评测体系</a:t>
            </a:r>
          </a:p>
          <a:p xmlns:a="http://schemas.openxmlformats.org/drawingml/2006/main">
            <a:pPr indent="0" algn="l">
              <a:lnSpc>
                <a:spcPct val="108000"/>
              </a:lnSpc>
              <a:spcBef>
                <a:spcPts val="400"/>
              </a:spcBef>
              <a:buNone/>
            </a:pPr>
            <a:r>
              <a:rPr sz="1200" b="0" i="0" u="none">
                <a:solidFill>
                  <a:srgbClr val="4B5563"/>
                </a:solidFill>
                <a:latin typeface="Noto Sans SC"/>
                <a:ea typeface="Noto Sans SC"/>
                <a:cs typeface="Noto Sans SC"/>
              </a:rPr>
              <a:t>补充完整、统一的实测性能日志，量化对比不同模型架构与量化策略下的推理速度与精度。</a:t>
            </a:r>
          </a:p>
        </p:txBody>
      </p:sp>
      <p:pic>
        <p:nvPicPr>
          <p:cNvPr id="17" name="Picture 17"/>
          <p:cNvPicPr>
            <a:picLocks xmlns:a="http://schemas.openxmlformats.org/drawingml/2006/main" noChangeAspect="1"/>
          </p:cNvPicPr>
          <p:nvPr/>
        </p:nvPicPr>
        <p:blipFill>
          <a:blip xmlns:r="http://schemas.openxmlformats.org/officeDocument/2006/relationships" xmlns:a="http://schemas.openxmlformats.org/drawingml/2006/main" r:embed="Rb8fbb24349e9463c"/>
          <a:stretch xmlns:a="http://schemas.openxmlformats.org/drawingml/2006/main">
            <a:fillRect l="0" t="0" r="0" b="0"/>
          </a:stretch>
        </p:blipFill>
        <p:spPr>
          <a:xfrm xmlns:a="http://schemas.openxmlformats.org/drawingml/2006/main">
            <a:off x="6350000" y="3873500"/>
            <a:ext cx="406400" cy="406400"/>
          </a:xfrm>
          <a:prstGeom xmlns:a="http://schemas.openxmlformats.org/drawingml/2006/main" prst="rect">
            <a:avLst/>
          </a:prstGeom>
        </p:spPr>
      </p:pic>
      <p:sp>
        <p:nvSpPr>
          <p:cNvPr id="18" name="AutoShape 18">
            <a:extLst xmlns:a="http://schemas.openxmlformats.org/drawingml/2006/main">
              <a:ext uri="{FF2B5EF4-FFF2-40B4-BE49-F238E27FC236}">
                <a16:creationId xmlns:a16="http://schemas.microsoft.com/office/drawing/2014/main" id="{89EBA121-485D-46B7-B025-0EDE39C6F7EC}"/>
              </a:ext>
            </a:extLst>
          </p:cNvPr>
          <p:cNvSpPr>
            <a:spLocks xmlns:a="http://schemas.openxmlformats.org/drawingml/2006/main" noGrp="1"/>
          </p:cNvSpPr>
          <p:nvPr/>
        </p:nvSpPr>
        <p:spPr>
          <a:xfrm xmlns:a="http://schemas.openxmlformats.org/drawingml/2006/main">
            <a:off x="6921500" y="3810000"/>
            <a:ext cx="4254500" cy="9525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t"/>
          <a:lstStyle xmlns:a="http://schemas.openxmlformats.org/drawingml/2006/main"/>
          <a:p xmlns:a="http://schemas.openxmlformats.org/drawingml/2006/main">
            <a:pPr indent="0" algn="l">
              <a:lnSpc>
                <a:spcPct val="100000"/>
              </a:lnSpc>
              <a:buNone/>
            </a:pPr>
            <a:r>
              <a:rPr sz="1600" b="1" i="0" u="none">
                <a:solidFill>
                  <a:srgbClr val="111827"/>
                </a:solidFill>
                <a:latin typeface="Noto Sans SC"/>
                <a:ea typeface="Noto Sans SC"/>
                <a:cs typeface="Noto Sans SC"/>
              </a:rPr>
              <a:t>02 / 深度底层算子优化</a:t>
            </a:r>
          </a:p>
          <a:p xmlns:a="http://schemas.openxmlformats.org/drawingml/2006/main">
            <a:pPr indent="0" algn="l">
              <a:lnSpc>
                <a:spcPct val="108000"/>
              </a:lnSpc>
              <a:spcBef>
                <a:spcPts val="400"/>
              </a:spcBef>
              <a:buNone/>
            </a:pPr>
            <a:r>
              <a:rPr sz="1200" b="0" i="0" u="none">
                <a:solidFill>
                  <a:srgbClr val="4B5563"/>
                </a:solidFill>
                <a:latin typeface="Noto Sans SC"/>
                <a:ea typeface="Noto Sans SC"/>
                <a:cs typeface="Noto Sans SC"/>
              </a:rPr>
              <a:t>进一步优化底层 </a:t>
            </a:r>
            <a:r>
              <a:rPr sz="1200" b="0" i="0" u="none">
                <a:solidFill>
                  <a:srgbClr val="4B5563"/>
                </a:solidFill>
                <a:latin typeface="Noto Sans SC"/>
                <a:ea typeface="Noto Sans SC"/>
                <a:cs typeface="Noto Sans SC"/>
              </a:rPr>
              <a:t>MatMul/GEMM </a:t>
            </a:r>
            <a:r>
              <a:rPr sz="1200" b="0" i="0" u="none">
                <a:solidFill>
                  <a:srgbClr val="4B5563"/>
                </a:solidFill>
                <a:latin typeface="Noto Sans SC"/>
                <a:ea typeface="Noto Sans SC"/>
                <a:cs typeface="Noto Sans SC"/>
              </a:rPr>
              <a:t>算子，结合 </a:t>
            </a:r>
            <a:r>
              <a:rPr sz="1200" b="0" i="0" u="none">
                <a:solidFill>
                  <a:srgbClr val="4B5563"/>
                </a:solidFill>
                <a:latin typeface="Noto Sans SC"/>
                <a:ea typeface="Noto Sans SC"/>
                <a:cs typeface="Noto Sans SC"/>
              </a:rPr>
              <a:t>NEON SIMD </a:t>
            </a:r>
            <a:r>
              <a:rPr sz="1200" b="0" i="0" u="none">
                <a:solidFill>
                  <a:srgbClr val="4B5563"/>
                </a:solidFill>
                <a:latin typeface="Noto Sans SC"/>
                <a:ea typeface="Noto Sans SC"/>
                <a:cs typeface="Noto Sans SC"/>
              </a:rPr>
              <a:t>和 </a:t>
            </a:r>
            <a:r>
              <a:rPr sz="1200" b="0" i="0" u="none">
                <a:solidFill>
                  <a:srgbClr val="4B5563"/>
                </a:solidFill>
                <a:latin typeface="Noto Sans SC"/>
                <a:ea typeface="Noto Sans SC"/>
                <a:cs typeface="Noto Sans SC"/>
              </a:rPr>
              <a:t>cache </a:t>
            </a:r>
            <a:r>
              <a:rPr sz="1200" b="0" i="0" u="none">
                <a:solidFill>
                  <a:srgbClr val="4B5563"/>
                </a:solidFill>
                <a:latin typeface="Noto Sans SC"/>
                <a:ea typeface="Noto Sans SC"/>
                <a:cs typeface="Noto Sans SC"/>
              </a:rPr>
              <a:t>分块提升 </a:t>
            </a:r>
            <a:r>
              <a:rPr sz="1200" b="0" i="0" u="none">
                <a:solidFill>
                  <a:srgbClr val="4B5563"/>
                </a:solidFill>
                <a:latin typeface="Noto Sans SC"/>
                <a:ea typeface="Noto Sans SC"/>
                <a:cs typeface="Noto Sans SC"/>
              </a:rPr>
              <a:t>CPU </a:t>
            </a:r>
            <a:r>
              <a:rPr sz="1200" b="0" i="0" u="none">
                <a:solidFill>
                  <a:srgbClr val="4B5563"/>
                </a:solidFill>
                <a:latin typeface="Noto Sans SC"/>
                <a:ea typeface="Noto Sans SC"/>
                <a:cs typeface="Noto Sans SC"/>
              </a:rPr>
              <a:t>端效率</a:t>
            </a:r>
          </a:p>
        </p:txBody>
      </p:sp>
      <p:pic>
        <p:nvPicPr>
          <p:cNvPr id="19" name="Picture 19"/>
          <p:cNvPicPr>
            <a:picLocks xmlns:a="http://schemas.openxmlformats.org/drawingml/2006/main" noChangeAspect="1"/>
          </p:cNvPicPr>
          <p:nvPr/>
        </p:nvPicPr>
        <p:blipFill>
          <a:blip xmlns:r="http://schemas.openxmlformats.org/officeDocument/2006/relationships" xmlns:a="http://schemas.openxmlformats.org/drawingml/2006/main" r:embed="Rf03dba7d10b54ec4"/>
          <a:stretch xmlns:a="http://schemas.openxmlformats.org/drawingml/2006/main">
            <a:fillRect l="0" t="0" r="0" b="0"/>
          </a:stretch>
        </p:blipFill>
        <p:spPr>
          <a:xfrm xmlns:a="http://schemas.openxmlformats.org/drawingml/2006/main">
            <a:off x="6350000" y="5080000"/>
            <a:ext cx="406400" cy="406400"/>
          </a:xfrm>
          <a:prstGeom xmlns:a="http://schemas.openxmlformats.org/drawingml/2006/main" prst="rect">
            <a:avLst/>
          </a:prstGeom>
        </p:spPr>
      </p:pic>
      <p:sp>
        <p:nvSpPr>
          <p:cNvPr id="20" name="AutoShape 20">
            <a:extLst xmlns:a="http://schemas.openxmlformats.org/drawingml/2006/main">
              <a:ext uri="{FF2B5EF4-FFF2-40B4-BE49-F238E27FC236}">
                <a16:creationId xmlns:a16="http://schemas.microsoft.com/office/drawing/2014/main" id="{072B3C2C-41B0-4087-8F2F-278D1D7702DA}"/>
              </a:ext>
            </a:extLst>
          </p:cNvPr>
          <p:cNvSpPr>
            <a:spLocks xmlns:a="http://schemas.openxmlformats.org/drawingml/2006/main" noGrp="1"/>
          </p:cNvSpPr>
          <p:nvPr/>
        </p:nvSpPr>
        <p:spPr>
          <a:xfrm xmlns:a="http://schemas.openxmlformats.org/drawingml/2006/main">
            <a:off x="6921500" y="5016500"/>
            <a:ext cx="4254500" cy="9525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t"/>
          <a:lstStyle xmlns:a="http://schemas.openxmlformats.org/drawingml/2006/main"/>
          <a:p xmlns:a="http://schemas.openxmlformats.org/drawingml/2006/main">
            <a:pPr indent="0" algn="l">
              <a:lnSpc>
                <a:spcPct val="100000"/>
              </a:lnSpc>
              <a:buNone/>
            </a:pPr>
            <a:r>
              <a:rPr sz="1600" b="1" i="0" u="none">
                <a:solidFill>
                  <a:srgbClr val="111827"/>
                </a:solidFill>
                <a:latin typeface="Noto Sans SC"/>
                <a:ea typeface="Noto Sans SC"/>
                <a:cs typeface="Noto Sans SC"/>
              </a:rPr>
              <a:t>03 / 真实场景多维扩展</a:t>
            </a:r>
          </a:p>
          <a:p xmlns:a="http://schemas.openxmlformats.org/drawingml/2006/main">
            <a:pPr indent="0" algn="l">
              <a:lnSpc>
                <a:spcPct val="108000"/>
              </a:lnSpc>
              <a:spcBef>
                <a:spcPts val="400"/>
              </a:spcBef>
              <a:buNone/>
            </a:pPr>
            <a:r>
              <a:rPr sz="1200" b="0" i="0" u="none">
                <a:solidFill>
                  <a:srgbClr val="4B5563"/>
                </a:solidFill>
                <a:latin typeface="Noto Sans SC"/>
                <a:ea typeface="Noto Sans SC"/>
                <a:cs typeface="Noto Sans SC"/>
              </a:rPr>
              <a:t>突破现有测试环境，扩展到跨被试验证、跨数据集迁移及在线实时推理，向真实应用场景迈进。</a:t>
            </a:r>
          </a:p>
        </p:txBody>
      </p:sp>
      <p:sp>
        <p:nvSpPr>
          <p:cNvPr id="21" name="文本框 20">
            <a:extLst xmlns:a="http://schemas.openxmlformats.org/drawingml/2006/main">
              <a:ext uri="{FF2B5EF4-FFF2-40B4-BE49-F238E27FC236}">
                <a16:creationId xmlns:a16="http://schemas.microsoft.com/office/drawing/2014/main" id="{E74A6379-3277-46B4-9BED-2B6F4BAE1496}"/>
              </a:ext>
            </a:extLst>
          </p:cNvPr>
          <p:cNvSpPr>
            <a:spLocks xmlns:a="http://schemas.openxmlformats.org/drawingml/2006/main" noGrp="1"/>
          </p:cNvSpPr>
          <p:nvPr/>
        </p:nvSpPr>
        <p:spPr>
          <a:xfrm xmlns:a="http://schemas.openxmlformats.org/drawingml/2006/main">
            <a:off x="2899410" y="375920"/>
            <a:ext cx="6057900" cy="899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ct val="125000"/>
              </a:lnSpc>
              <a:buNone/>
            </a:pPr>
            <a:r>
              <a:rPr sz="4200" b="1">
                <a:solidFill>
                  <a:srgbClr val="1F2937"/>
                </a:solidFill>
                <a:latin typeface="Noto Sans SC"/>
                <a:ea typeface="Noto Sans SC"/>
                <a:cs typeface="Noto Sans SC"/>
              </a:rPr>
              <a:t>05 总结</a:t>
            </a:r>
            <a:r>
              <a:rPr sz="4200" b="1">
                <a:solidFill>
                  <a:srgbClr val="1F2937"/>
                </a:solidFill>
                <a:latin typeface="Noto Sans SC"/>
                <a:ea typeface="Noto Sans SC"/>
                <a:cs typeface="Noto Sans SC"/>
              </a:rPr>
              <a:t>与</a:t>
            </a:r>
            <a:r>
              <a:rPr sz="4200" b="1">
                <a:solidFill>
                  <a:srgbClr val="1F2937"/>
                </a:solidFill>
                <a:latin typeface="Noto Sans SC"/>
                <a:ea typeface="Noto Sans SC"/>
                <a:cs typeface="Noto Sans SC"/>
              </a:rPr>
              <a:t>展望</a:t>
            </a:r>
          </a:p>
        </p:txBody>
      </p:sp>
    </p:spTree>
    <p:extLst>
      <p:ext uri="{BB962C8B-B14F-4D97-AF65-F5344CB8AC3E}">
        <p14:creationId xmlns:p14="http://schemas.microsoft.com/office/powerpoint/2010/main" val="32225540"/>
      </p:ext>
    </p:extLst>
  </p:cSld>
</p:sld>
</file>

<file path=ppt/slides/slide22.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23af2eeec9a6435b"/>
          <a:srcRect xmlns:a="http://schemas.openxmlformats.org/drawingml/2006/main" l="33" t="0" r="33" b="0"/>
          <a:stretch xmlns:a="http://schemas.openxmlformats.org/drawingml/2006/main">
            <a:fillRect l="0" t="0" r="0" b="0"/>
          </a:stretch>
        </p:blipFill>
        <p:spPr>
          <a:xfrm xmlns:a="http://schemas.openxmlformats.org/drawingml/2006/main">
            <a:off x="0" y="0"/>
            <a:ext cx="12001500" cy="6807200"/>
          </a:xfrm>
          <a:prstGeom xmlns:a="http://schemas.openxmlformats.org/drawingml/2006/main" prst="rect">
            <a:avLst/>
          </a:prstGeom>
          <a:ln xmlns:a="http://schemas.openxmlformats.org/drawingml/2006/main" w="25400" cap="flat" cmpd="sng">
            <a:noFill/>
            <a:prstDash val="solid"/>
            <a:round/>
          </a:ln>
        </p:spPr>
      </p:pic>
      <p:sp>
        <p:nvSpPr>
          <p:cNvPr id="3" name="AutoShape 3">
            <a:extLst xmlns:a="http://schemas.openxmlformats.org/drawingml/2006/main">
              <a:ext uri="{FF2B5EF4-FFF2-40B4-BE49-F238E27FC236}">
                <a16:creationId xmlns:a16="http://schemas.microsoft.com/office/drawing/2014/main" id="{D984330D-F1FC-4A46-961E-C5D5640601AA}"/>
              </a:ext>
            </a:extLst>
          </p:cNvPr>
          <p:cNvSpPr>
            <a:spLocks xmlns:a="http://schemas.openxmlformats.org/drawingml/2006/main" noGrp="1"/>
          </p:cNvSpPr>
          <p:nvPr/>
        </p:nvSpPr>
        <p:spPr>
          <a:xfrm xmlns:a="http://schemas.openxmlformats.org/drawingml/2006/main">
            <a:off x="0" y="1524000"/>
            <a:ext cx="12001500" cy="1143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6400" b="1" i="0" u="none">
                <a:solidFill>
                  <a:srgbClr val="000000"/>
                </a:solidFill>
                <a:latin typeface="微软雅黑"/>
                <a:ea typeface="微软雅黑"/>
                <a:cs typeface="微软雅黑"/>
              </a:rPr>
              <a:t> 感谢聆听</a:t>
            </a:r>
          </a:p>
        </p:txBody>
      </p:sp>
      <p:sp>
        <p:nvSpPr>
          <p:cNvPr id="4" name="AutoShape 4">
            <a:extLst xmlns:a="http://schemas.openxmlformats.org/drawingml/2006/main">
              <a:ext uri="{FF2B5EF4-FFF2-40B4-BE49-F238E27FC236}">
                <a16:creationId xmlns:a16="http://schemas.microsoft.com/office/drawing/2014/main" id="{98641620-A9B0-46ED-9871-26E14C3ACCB4}"/>
              </a:ext>
            </a:extLst>
          </p:cNvPr>
          <p:cNvSpPr>
            <a:spLocks xmlns:a="http://schemas.openxmlformats.org/drawingml/2006/main" noGrp="1"/>
          </p:cNvSpPr>
          <p:nvPr/>
        </p:nvSpPr>
        <p:spPr>
          <a:xfrm xmlns:a="http://schemas.openxmlformats.org/drawingml/2006/main">
            <a:off x="0" y="2921000"/>
            <a:ext cx="12001500" cy="889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p>
        </p:txBody>
      </p:sp>
      <p:sp>
        <p:nvSpPr>
          <p:cNvPr id="6" name="AutoShape 6">
            <a:extLst xmlns:a="http://schemas.openxmlformats.org/drawingml/2006/main">
              <a:ext uri="{FF2B5EF4-FFF2-40B4-BE49-F238E27FC236}">
                <a16:creationId xmlns:a16="http://schemas.microsoft.com/office/drawing/2014/main" id="{630000F7-56A3-4227-9EC1-B58D6C812A34}"/>
              </a:ext>
            </a:extLst>
          </p:cNvPr>
          <p:cNvSpPr>
            <a:spLocks xmlns:a="http://schemas.openxmlformats.org/drawingml/2006/main" noGrp="1"/>
          </p:cNvSpPr>
          <p:nvPr/>
        </p:nvSpPr>
        <p:spPr>
          <a:xfrm xmlns:a="http://schemas.openxmlformats.org/drawingml/2006/main">
            <a:off x="292100" y="4356100"/>
            <a:ext cx="12001500" cy="1778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1600" b="0" i="0" u="none">
                <a:solidFill>
                  <a:srgbClr val="374151"/>
                </a:solidFill>
                <a:latin typeface="Noto Sans SC"/>
                <a:ea typeface="Noto Sans SC"/>
                <a:cs typeface="Noto Sans SC"/>
              </a:rPr>
              <a:t>队伍名称：神经没有bug队</a:t>
            </a:r>
          </a:p>
          <a:p xmlns:a="http://schemas.openxmlformats.org/drawingml/2006/main">
            <a:pPr indent="0" algn="ctr">
              <a:lnSpc>
                <a:spcPct val="125000"/>
              </a:lnSpc>
              <a:buNone/>
            </a:pPr>
          </a:p>
          <a:p xmlns:a="http://schemas.openxmlformats.org/drawingml/2006/main">
            <a:pPr indent="0" algn="ctr">
              <a:lnSpc>
                <a:spcPct val="125000"/>
              </a:lnSpc>
              <a:buNone/>
            </a:pPr>
            <a:r>
              <a:rPr sz="1600" b="0" i="0" u="none">
                <a:solidFill>
                  <a:srgbClr val="374151"/>
                </a:solidFill>
                <a:latin typeface="Noto Sans SC"/>
                <a:ea typeface="Noto Sans SC"/>
                <a:cs typeface="Noto Sans SC"/>
              </a:rPr>
              <a:t>参赛队员：郑杰龙 · 庞冠春 · 侯程予</a:t>
            </a:r>
          </a:p>
        </p:txBody>
      </p:sp>
      <p:sp>
        <p:nvSpPr>
          <p:cNvPr id="8" name="文本框 7">
            <a:extLst xmlns:a="http://schemas.openxmlformats.org/drawingml/2006/main">
              <a:ext uri="{FF2B5EF4-FFF2-40B4-BE49-F238E27FC236}">
                <a16:creationId xmlns:a16="http://schemas.microsoft.com/office/drawing/2014/main" id="{A19C4C78-D17D-41C5-AF6E-BDE6F2B7F111}"/>
              </a:ext>
            </a:extLst>
          </p:cNvPr>
          <p:cNvSpPr>
            <a:spLocks xmlns:a="http://schemas.openxmlformats.org/drawingml/2006/main" noGrp="1"/>
          </p:cNvSpPr>
          <p:nvPr/>
        </p:nvSpPr>
        <p:spPr>
          <a:xfrm xmlns:a="http://schemas.openxmlformats.org/drawingml/2006/main">
            <a:off x="3756025" y="3333750"/>
            <a:ext cx="5162550" cy="5835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3200" b="1">
                <a:latin typeface="微软雅黑"/>
                <a:ea typeface="微软雅黑"/>
                <a:cs typeface="微软雅黑"/>
              </a:rPr>
              <a:t>敬请各位专家老师批评指正</a:t>
            </a:r>
          </a:p>
        </p:txBody>
      </p:sp>
    </p:spTree>
    <p:extLst>
      <p:ext uri="{BB962C8B-B14F-4D97-AF65-F5344CB8AC3E}">
        <p14:creationId xmlns:p14="http://schemas.microsoft.com/office/powerpoint/2010/main" val="1420517530"/>
      </p:ext>
    </p:extLst>
  </p:cSld>
</p:sld>
</file>

<file path=ppt/theme/theme1.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2026-06-12T15:43:53.1960000Z</dcterms:created>
  <dcterms:modified xsi:type="dcterms:W3CDTF">2026-06-12T15:43:53.1960000Z</dcterms:modified>
</coreProperties>
</file>