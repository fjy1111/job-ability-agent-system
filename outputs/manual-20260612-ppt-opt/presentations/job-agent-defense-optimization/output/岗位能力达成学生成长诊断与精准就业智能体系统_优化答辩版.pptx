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Masters/slideMaster6.xml" ContentType="application/vnd.openxmlformats-officedocument.presentationml.slideMaster+xml"/>
  <Override PartName="/ppt/slideMasters/theme/theme7.xml" ContentType="application/vnd.openxmlformats-officedocument.theme+xml"/>
  <Override PartName="/ppt/slideMasters/slideMaster7.xml" ContentType="application/vnd.openxmlformats-officedocument.presentationml.slideMaster+xml"/>
  <Override PartName="/ppt/slideMasters/theme/theme8.xml" ContentType="application/vnd.openxmlformats-officedocument.theme+xml"/>
  <Override PartName="/ppt/slideMasters/slideMaster8.xml" ContentType="application/vnd.openxmlformats-officedocument.presentationml.slideMaster+xml"/>
  <Override PartName="/ppt/slideMasters/theme/theme9.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10.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df1fefe2d84215" /><Relationship Type="http://schemas.openxmlformats.org/officeDocument/2006/relationships/extended-properties" Target="/docProps/app.xml" Id="R0e9bb0e45383491c" /><Relationship Type="http://schemas.openxmlformats.org/officeDocument/2006/relationships/officeDocument" Target="/ppt/presentation.xml" Id="Rc5c43eb0fa9c4637" /></Relationships>
</file>

<file path=ppt/presentation.xml><?xml version="1.0" encoding="utf-8"?>
<p:presentation xmlns:p="http://schemas.openxmlformats.org/presentationml/2006/main">
  <p:sldMasterIdLst>
    <p:sldMasterId xmlns:r="http://schemas.openxmlformats.org/officeDocument/2006/relationships" id="2147483648" r:id="R303e2a4580b84d89"/>
    <p:sldMasterId xmlns:r="http://schemas.openxmlformats.org/officeDocument/2006/relationships" id="2147483651" r:id="Rf8221243ad43485f"/>
    <p:sldMasterId xmlns:r="http://schemas.openxmlformats.org/officeDocument/2006/relationships" id="2147483653" r:id="R1a1f750278974cb5"/>
    <p:sldMasterId xmlns:r="http://schemas.openxmlformats.org/officeDocument/2006/relationships" id="2147483655" r:id="R5815640c1b50472b"/>
    <p:sldMasterId xmlns:r="http://schemas.openxmlformats.org/officeDocument/2006/relationships" id="2147483657" r:id="R6ef7f967e50042e2"/>
    <p:sldMasterId xmlns:r="http://schemas.openxmlformats.org/officeDocument/2006/relationships" id="2147483660" r:id="Rd31bdf3646f641f4"/>
    <p:sldMasterId xmlns:r="http://schemas.openxmlformats.org/officeDocument/2006/relationships" id="2147483662" r:id="R4f74970e5b5a4e62"/>
    <p:sldMasterId xmlns:r="http://schemas.openxmlformats.org/officeDocument/2006/relationships" id="2147483664" r:id="Rf54ef1f40bd74094"/>
  </p:sldMasterIdLst>
  <p:notesMasterIdLst>
    <p:notesMasterId xmlns:r="http://schemas.openxmlformats.org/officeDocument/2006/relationships" r:id="Ra164a953ee4847eb"/>
  </p:notesMasterIdLst>
  <p:sldIdLst>
    <p:sldId xmlns:r="http://schemas.openxmlformats.org/officeDocument/2006/relationships" id="256" r:id="Rb036866be88e4341"/>
    <p:sldId xmlns:r="http://schemas.openxmlformats.org/officeDocument/2006/relationships" id="257" r:id="Rf81711c2aa5543f7"/>
    <p:sldId xmlns:r="http://schemas.openxmlformats.org/officeDocument/2006/relationships" id="258" r:id="R9854702b2aef4e06"/>
    <p:sldId xmlns:r="http://schemas.openxmlformats.org/officeDocument/2006/relationships" id="259" r:id="Ra78f26d05ae244f0"/>
    <p:sldId xmlns:r="http://schemas.openxmlformats.org/officeDocument/2006/relationships" id="260" r:id="Rdac6dad363304fb2"/>
    <p:sldId xmlns:r="http://schemas.openxmlformats.org/officeDocument/2006/relationships" id="261" r:id="Rf1201d89d6ad46f8"/>
    <p:sldId xmlns:r="http://schemas.openxmlformats.org/officeDocument/2006/relationships" id="262" r:id="Raf8a28591fc24978"/>
    <p:sldId xmlns:r="http://schemas.openxmlformats.org/officeDocument/2006/relationships" id="263" r:id="R89e0b2cf753443d4"/>
    <p:sldId xmlns:r="http://schemas.openxmlformats.org/officeDocument/2006/relationships" id="264" r:id="R7b0d6b1ba0014fdf"/>
    <p:sldId xmlns:r="http://schemas.openxmlformats.org/officeDocument/2006/relationships" id="265" r:id="Raf1c1af320a048f5"/>
    <p:sldId xmlns:r="http://schemas.openxmlformats.org/officeDocument/2006/relationships" id="266" r:id="R837c883e524747d3"/>
    <p:sldId xmlns:r="http://schemas.openxmlformats.org/officeDocument/2006/relationships" id="267" r:id="R4bd4fe1cb2054d13"/>
    <p:sldId xmlns:r="http://schemas.openxmlformats.org/officeDocument/2006/relationships" id="268" r:id="R2066434d474c4014"/>
    <p:sldId xmlns:r="http://schemas.openxmlformats.org/officeDocument/2006/relationships" id="269" r:id="R80a326c71a7a4450"/>
    <p:sldId xmlns:r="http://schemas.openxmlformats.org/officeDocument/2006/relationships" id="270" r:id="Rd873b950683742c3"/>
    <p:sldId xmlns:r="http://schemas.openxmlformats.org/officeDocument/2006/relationships" id="271" r:id="Rd80bcfd833734659"/>
    <p:sldId xmlns:r="http://schemas.openxmlformats.org/officeDocument/2006/relationships" id="272" r:id="R72b331bd7dc04975"/>
    <p:sldId xmlns:r="http://schemas.openxmlformats.org/officeDocument/2006/relationships" id="273" r:id="Rd8bc879d1c8d4b4e"/>
    <p:sldId xmlns:r="http://schemas.openxmlformats.org/officeDocument/2006/relationships" id="274" r:id="R7af307a0cc654a6d"/>
    <p:sldId xmlns:r="http://schemas.openxmlformats.org/officeDocument/2006/relationships" id="275" r:id="Ra835c77568cc43fb"/>
    <p:sldId xmlns:r="http://schemas.openxmlformats.org/officeDocument/2006/relationships" id="276" r:id="R0e8a6850bbaa4a59"/>
    <p:sldId xmlns:r="http://schemas.openxmlformats.org/officeDocument/2006/relationships" id="277" r:id="R803cc35e72b1428c"/>
  </p:sldIdLst>
  <p:sldSz cx="12001500" cy="68072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abe4bd3d0df4430" /><Relationship Type="http://schemas.openxmlformats.org/officeDocument/2006/relationships/slideMaster" Target="/ppt/slideMasters/slideMaster1.xml" Id="R303e2a4580b84d89" /><Relationship Type="http://schemas.openxmlformats.org/officeDocument/2006/relationships/slideMaster" Target="/ppt/slideMasters/slideMaster2.xml" Id="Rf8221243ad43485f" /><Relationship Type="http://schemas.openxmlformats.org/officeDocument/2006/relationships/slideMaster" Target="/ppt/slideMasters/slideMaster3.xml" Id="R1a1f750278974cb5" /><Relationship Type="http://schemas.openxmlformats.org/officeDocument/2006/relationships/slideMaster" Target="/ppt/slideMasters/slideMaster4.xml" Id="R5815640c1b50472b" /><Relationship Type="http://schemas.openxmlformats.org/officeDocument/2006/relationships/slideMaster" Target="/ppt/slideMasters/slideMaster5.xml" Id="R6ef7f967e50042e2" /><Relationship Type="http://schemas.openxmlformats.org/officeDocument/2006/relationships/slideMaster" Target="/ppt/slideMasters/slideMaster6.xml" Id="Rd31bdf3646f641f4" /><Relationship Type="http://schemas.openxmlformats.org/officeDocument/2006/relationships/slideMaster" Target="/ppt/slideMasters/slideMaster7.xml" Id="R4f74970e5b5a4e62" /><Relationship Type="http://schemas.openxmlformats.org/officeDocument/2006/relationships/slideMaster" Target="/ppt/slideMasters/slideMaster8.xml" Id="Rf54ef1f40bd74094" /><Relationship Type="http://schemas.openxmlformats.org/officeDocument/2006/relationships/notesMaster" Target="/ppt/notesMasters/notesMaster1.xml" Id="Ra164a953ee4847eb" /><Relationship Type="http://schemas.openxmlformats.org/officeDocument/2006/relationships/presProps" Target="/ppt/presProps.xml" Id="Rbc6dc1928e184c06" /><Relationship Type="http://schemas.openxmlformats.org/officeDocument/2006/relationships/viewProps" Target="/ppt/viewProps.xml" Id="R08f57c09ec4d4f66" /><Relationship Type="http://schemas.openxmlformats.org/officeDocument/2006/relationships/tableStyles" Target="/ppt/tableStyles.xml" Id="Rfcea4debfbe1445d" /><Relationship Type="http://schemas.openxmlformats.org/officeDocument/2006/relationships/slide" Target="/ppt/slides/slide1.xml" Id="Rb036866be88e4341" /><Relationship Type="http://schemas.openxmlformats.org/officeDocument/2006/relationships/slide" Target="/ppt/slides/slide2.xml" Id="Rf81711c2aa5543f7" /><Relationship Type="http://schemas.openxmlformats.org/officeDocument/2006/relationships/slide" Target="/ppt/slides/slide3.xml" Id="R9854702b2aef4e06" /><Relationship Type="http://schemas.openxmlformats.org/officeDocument/2006/relationships/slide" Target="/ppt/slides/slide4.xml" Id="Ra78f26d05ae244f0" /><Relationship Type="http://schemas.openxmlformats.org/officeDocument/2006/relationships/slide" Target="/ppt/slides/slide5.xml" Id="Rdac6dad363304fb2" /><Relationship Type="http://schemas.openxmlformats.org/officeDocument/2006/relationships/slide" Target="/ppt/slides/slide6.xml" Id="Rf1201d89d6ad46f8" /><Relationship Type="http://schemas.openxmlformats.org/officeDocument/2006/relationships/slide" Target="/ppt/slides/slide7.xml" Id="Raf8a28591fc24978" /><Relationship Type="http://schemas.openxmlformats.org/officeDocument/2006/relationships/slide" Target="/ppt/slides/slide8.xml" Id="R89e0b2cf753443d4" /><Relationship Type="http://schemas.openxmlformats.org/officeDocument/2006/relationships/slide" Target="/ppt/slides/slide9.xml" Id="R7b0d6b1ba0014fdf" /><Relationship Type="http://schemas.openxmlformats.org/officeDocument/2006/relationships/slide" Target="/ppt/slides/slide10.xml" Id="Raf1c1af320a048f5" /><Relationship Type="http://schemas.openxmlformats.org/officeDocument/2006/relationships/slide" Target="/ppt/slides/slide11.xml" Id="R837c883e524747d3" /><Relationship Type="http://schemas.openxmlformats.org/officeDocument/2006/relationships/slide" Target="/ppt/slides/slide12.xml" Id="R4bd4fe1cb2054d13" /><Relationship Type="http://schemas.openxmlformats.org/officeDocument/2006/relationships/slide" Target="/ppt/slides/slide13.xml" Id="R2066434d474c4014" /><Relationship Type="http://schemas.openxmlformats.org/officeDocument/2006/relationships/slide" Target="/ppt/slides/slide14.xml" Id="R80a326c71a7a4450" /><Relationship Type="http://schemas.openxmlformats.org/officeDocument/2006/relationships/slide" Target="/ppt/slides/slide15.xml" Id="Rd873b950683742c3" /><Relationship Type="http://schemas.openxmlformats.org/officeDocument/2006/relationships/slide" Target="/ppt/slides/slide16.xml" Id="Rd80bcfd833734659" /><Relationship Type="http://schemas.openxmlformats.org/officeDocument/2006/relationships/slide" Target="/ppt/slides/slide17.xml" Id="R72b331bd7dc04975" /><Relationship Type="http://schemas.openxmlformats.org/officeDocument/2006/relationships/slide" Target="/ppt/slides/slide18.xml" Id="Rd8bc879d1c8d4b4e" /><Relationship Type="http://schemas.openxmlformats.org/officeDocument/2006/relationships/slide" Target="/ppt/slides/slide19.xml" Id="R7af307a0cc654a6d" /><Relationship Type="http://schemas.openxmlformats.org/officeDocument/2006/relationships/slide" Target="/ppt/slides/slide20.xml" Id="Ra835c77568cc43fb" /><Relationship Type="http://schemas.openxmlformats.org/officeDocument/2006/relationships/slide" Target="/ppt/slides/slide21.xml" Id="R0e8a6850bbaa4a59" /><Relationship Type="http://schemas.openxmlformats.org/officeDocument/2006/relationships/slide" Target="/ppt/slides/slide22.xml" Id="R803cc35e72b142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0.xml" Id="Rc11e1aa5c97244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10.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fabbfd34d94342" /><Relationship Type="http://schemas.openxmlformats.org/officeDocument/2006/relationships/notesMaster" Target="/ppt/notesMasters/notesMaster1.xml" Id="R759ac9e6489348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52c7c7f3cf44f2" /><Relationship Type="http://schemas.openxmlformats.org/officeDocument/2006/relationships/notesMaster" Target="/ppt/notesMasters/notesMaster1.xml" Id="R48c1e8b719d44e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be31c203a9425a" /><Relationship Type="http://schemas.openxmlformats.org/officeDocument/2006/relationships/notesMaster" Target="/ppt/notesMasters/notesMaster1.xml" Id="R28da566a692e4b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5494d2c4e44a00" /><Relationship Type="http://schemas.openxmlformats.org/officeDocument/2006/relationships/notesMaster" Target="/ppt/notesMasters/notesMaster1.xml" Id="Re4a194dab17443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d61f643c514d04" /><Relationship Type="http://schemas.openxmlformats.org/officeDocument/2006/relationships/notesMaster" Target="/ppt/notesMasters/notesMaster1.xml" Id="R2a2944cd956f43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5658c707514163" /><Relationship Type="http://schemas.openxmlformats.org/officeDocument/2006/relationships/notesMaster" Target="/ppt/notesMasters/notesMaster1.xml" Id="R57737758325741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030235294346cc" /><Relationship Type="http://schemas.openxmlformats.org/officeDocument/2006/relationships/notesMaster" Target="/ppt/notesMasters/notesMaster1.xml" Id="R44ebe7d454c94b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550547b95b4c7c" /><Relationship Type="http://schemas.openxmlformats.org/officeDocument/2006/relationships/notesMaster" Target="/ppt/notesMasters/notesMaster1.xml" Id="Rc95ca3e974514e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f3891cd0814cef" /><Relationship Type="http://schemas.openxmlformats.org/officeDocument/2006/relationships/notesMaster" Target="/ppt/notesMasters/notesMaster1.xml" Id="Ref2e7d159f854d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128b87b1f34734" /><Relationship Type="http://schemas.openxmlformats.org/officeDocument/2006/relationships/notesMaster" Target="/ppt/notesMasters/notesMaster1.xml" Id="R31d9b9d56aa34e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6f3b924f2f4daa" /><Relationship Type="http://schemas.openxmlformats.org/officeDocument/2006/relationships/notesMaster" Target="/ppt/notesMasters/notesMaster1.xml" Id="Rda561e6057ef47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72a47fd6554191" /><Relationship Type="http://schemas.openxmlformats.org/officeDocument/2006/relationships/notesMaster" Target="/ppt/notesMasters/notesMaster1.xml" Id="R3c26f66f673c42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e00a8534184873" /><Relationship Type="http://schemas.openxmlformats.org/officeDocument/2006/relationships/notesMaster" Target="/ppt/notesMasters/notesMaster1.xml" Id="R2d446cc56fe049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2f9f71744e4363" /><Relationship Type="http://schemas.openxmlformats.org/officeDocument/2006/relationships/notesMaster" Target="/ppt/notesMasters/notesMaster1.xml" Id="R60ae4844ec7644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faa941473f04edd" /><Relationship Type="http://schemas.openxmlformats.org/officeDocument/2006/relationships/notesMaster" Target="/ppt/notesMasters/notesMaster1.xml" Id="R09183011d75c4e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a85605b19744ec" /><Relationship Type="http://schemas.openxmlformats.org/officeDocument/2006/relationships/notesMaster" Target="/ppt/notesMasters/notesMaster1.xml" Id="R891ead9fe6ce45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8749e18dc4f4b24" /><Relationship Type="http://schemas.openxmlformats.org/officeDocument/2006/relationships/notesMaster" Target="/ppt/notesMasters/notesMaster1.xml" Id="Rb7c8d17b32a54f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5ca7e9069b748ca" /><Relationship Type="http://schemas.openxmlformats.org/officeDocument/2006/relationships/notesMaster" Target="/ppt/notesMasters/notesMaster1.xml" Id="Rba63ae93873a436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053a0555d25483b" /><Relationship Type="http://schemas.openxmlformats.org/officeDocument/2006/relationships/notesMaster" Target="/ppt/notesMasters/notesMaster1.xml" Id="R5e1565f5e3624d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cebce41b1a4aed" /><Relationship Type="http://schemas.openxmlformats.org/officeDocument/2006/relationships/notesMaster" Target="/ppt/notesMasters/notesMaster1.xml" Id="Rb17aa5f9ec8f40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397e1cf07d48bd" /><Relationship Type="http://schemas.openxmlformats.org/officeDocument/2006/relationships/notesMaster" Target="/ppt/notesMasters/notesMaster1.xml" Id="R9e696e064e3749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7fdad84917a4722" /><Relationship Type="http://schemas.openxmlformats.org/officeDocument/2006/relationships/notesMaster" Target="/ppt/notesMasters/notesMaster1.xml" Id="R48ddabbb5e2f46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尊敬的各位评委老师，大家好。我们是来自桂林电子科技大学的“神经没有bug队”。今天我们带来的项目是“基于领域对抗多头残差图卷积网络的EEG情绪识别模型优化与端侧部署”。我们的项目旨在解决脑电情绪识别在实际应用中面临的泛化性差和部署难的问题，通过一系列算法优化和工程实践，实现了一个从模型训练到端侧推理的完整技术方案。接下来，我将详细介绍我们的工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本次汇报将分为五个部分。首先，我将介绍项目的研究背景、意义以及我们面临的技术难点和创新点。接着，会详细阐述我们的总体技术方案和三大核心技术原理。第三部分将展示我们的软件设计与实现细节。第四部分是系统测试与结果分析。最后，对整个项目进行总结并对未来工作进行展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接下来，我将详细介绍我们的方案设计与核心技术原理。这部分将涵盖我们的总体技术路线、基线模型的选择，以及MRGCN、DANN和模型量化三大核心技术的具体实现。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首先来看研究背景。在脑机接口和边缘智能快速发展的今天，基于脑电信号的情绪识别因其直接性和抗伪装性，展现出巨大的应用潜力。然而，EEG信号本身具有高维度、强噪声的特点，尤其是跨被试和跨时段的数据分布差异，也就是我们常说的“域偏移”问题，严重制约了模型的泛化能力。因此，我们的项目目标就是构建一个完整的技术方案，解决这些挑战，最终实现一个高效、准确且能够在端侧设备上部署的EEG情绪识别系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为了实现这一目标，我们识别出三大核心技术难点：首先是图模型强大的表达能力与端侧推理效率之间的矛盾；其次是如何有效解决跨被试的域偏移问题；最后是如何打通从模型训练到端侧部署的复杂工程链路。针对这些难点，我们提出了四大核心创新：通过滑动窗口增强动态信息表达；构建融合多种连接方式的脑网络；引入领域对抗训练提升泛化能力；以及最终构建一个从算法到产品的完整工程闭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接下来，我将详细介绍我们的方案设计与核心技术原理。这部分将涵盖我们的总体技术路线、基线模型的选择，以及MRGCN、DANN和模型量化三大核心技术的具体实现。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总体技术路线遵循一个清晰的全链路流程。首先，对原始EEG数据进行预处理，通过滑动窗口构建模型输入。然后，以MRGCN为核心进行图建模，提取脑区拓扑特征。接着，通过引入DANN等方法进行模型优化，提升泛化能力。之后，我们对训练好的模型进行量化压缩和格式转换，以适应端侧部署。最后，在ARM64平台上进行性能验证，形成一个完整的从算法到应用的闭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总体技术路线遵循一个清晰的全链路流程。首先，对原始EEG数据进行预处理，通过滑动窗口构建模型输入。然后，以MRGCN为核心进行图建模，提取脑区拓扑特征。接着，通过引入DANN等方法进行模型优化，提升泛化能力。之后，我们对训练好的模型进行量化压缩和格式转换，以适应端侧部署。最后，在ARM64平台上进行性能验证，形成一个完整的从算法到应用的闭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软件系统采用了模块化设计，如这张架构图所示。核心模块包括负责模型实现的训练实验模块，负责结构组合的结构扩展模块，以及包含DANN和自动调参的泛化调优模块。此外，还有专门的量化转换模块和端侧推理模块。这些核心模块由公共资源脚本和输出评估模块提供支撑，整个架构职责清晰，便于开发、测试和维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在模型选择上，我们对比了多种方案。传统的DNN模型虽然简单快速，但无法捕捉电极间的空间关系。CNN-LSTM能利用时序信息，但对非规则的脑电拓扑结构表达不足。普通的GCN虽然引入了图结构，但其表达能力有限。最终，我们选择MRGCN，即多头残差图卷积网络作为核心基线模型，因为它在脑区拓扑建模、训练稳定性和强大的特征表达能力之间取得了最佳平衡，是后续优化的理想起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第二个核心技术是DANN，即领域对抗训练。它旨在解决EEG数据中普遍存在的域偏移问题。我们在MRGCN特征提取器后增加了两个分类器：一个用于情绪分类，另一个用于判断样本来自训练集还是测试集。关键在于梯度反转层，它在反向传播时会翻转域分类器的梯度方向。这样，特征提取器就陷入了一种“对抗”：它既要让情绪分类器准确分类，又要让域分类器无法分辨样本来源。最终，模型会学习到对情绪有效但对域差异不敏感的“域不变特征”，从而大大提升泛化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第二个核心技术是DANN，即领域对抗训练。它旨在解决EEG数据中普遍存在的域偏移问题。我们在MRGCN特征提取器后增加了两个分类器：一个用于情绪分类，另一个用于判断样本来自训练集还是测试集。关键在于梯度反转层，它在反向传播时会翻转域分类器的梯度方向。这样，特征提取器就陷入了一种“对抗”：它既要让情绪分类器准确分类，又要让域分类器无法分辨样本来源。最终，模型会学习到对情绪有效但对域差异不敏感的“域不变特征”，从而大大提升泛化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理论介绍完毕，接下来我们进入第三部分，详细介绍我们的软件设计与实现过程。这部分将展示我们的代码架构、数据处理流程以及端侧部署的具体步骤。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软件系统采用了模块化设计，如这张架构图所示。核心模块包括负责模型实现的训练实验模块，负责结构组合的结构扩展模块，以及包含DANN和自动调参的泛化调优模块。此外，还有专门的量化转换模块和端侧推理模块。这些核心模块由公共资源脚本和输出评估模块提供支撑，整个架构职责清晰，便于开发、测试和维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我们的第一个核心技术是MRGCN模型。它的基本思想是将EEG电极看作图的节点，电极间的连接看作边，从而利用图卷积来提取脑区之间的拓扑交互特征。</a:t>
            </a:r>
          </a:p>
          <a:p xmlns:a="http://schemas.openxmlformats.org/drawingml/2006/main">
            <a:pPr indent="0" algn="l">
              <a:lnSpc>
                <a:spcPct val="100000"/>
              </a:lnSpc>
              <a:buNone/>
            </a:pPr>
            <a:r>
              <a:rPr sz="1400" b="0" i="0" u="none">
                <a:solidFill>
                  <a:srgbClr val="000000"/>
                </a:solidFill>
              </a:rPr>
              <a:t>我们构建的脑网络融合了三种信息：基于物理位置的短距离连接、基于数据相关性的功能连接，以及一个可由模型自动学习的邻接矩阵。通过多头图卷积和残差连接，模型能够从不同角度提取多样化的特征，并有效缓解训练过程中的梯度消失问题，最终实现对情绪特征的高效提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软件系统采用了模块化设计，如这张架构图所示。核心模块包括负责模型实现的训练实验模块，负责结构组合的结构扩展模块，以及包含DANN和自动调参的泛化调优模块。此外，还有专门的量化转换模块和端侧推理模块。这些核心模块由公共资源脚本和输出评估模块提供支撑，整个架构职责清晰，便于开发、测试和维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完成了软件实现后，我们对系统进行了全面的测试与分析。第四部分将展示我们的测试内容、评价指标以及关键的测试结果。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我们的测试主要围绕两个维度展开：算法有效性和端侧部署性能。为此，我们定义了一系列核心评价指标。</a:t>
            </a:r>
          </a:p>
          <a:p xmlns:a="http://schemas.openxmlformats.org/drawingml/2006/main">
            <a:pPr indent="0" algn="l">
              <a:lnSpc>
                <a:spcPct val="100000"/>
              </a:lnSpc>
              <a:buNone/>
            </a:pPr>
            <a:r>
              <a:rPr sz="1400" b="0" i="0" u="none">
                <a:solidFill>
                  <a:srgbClr val="000000"/>
                </a:solidFill>
              </a:rPr>
              <a:t>在算法层面，我们首要关注分类准确率，确保模型解决问题的能力；同时关注模型在不同环境下的稳定性，以保证其泛化能力。</a:t>
            </a:r>
          </a:p>
          <a:p xmlns:a="http://schemas.openxmlformats.org/drawingml/2006/main">
            <a:pPr indent="0" algn="l">
              <a:lnSpc>
                <a:spcPct val="100000"/>
              </a:lnSpc>
              <a:buNone/>
            </a:pPr>
            <a:r>
              <a:rPr sz="1400" b="0" i="0" u="none">
                <a:solidFill>
                  <a:srgbClr val="000000"/>
                </a:solidFill>
              </a:rPr>
              <a:t>在部署层面，为了保证用户体验，我们重点关注单样本推理延迟和系统的吞吐量；此外，考虑到移动端设备的存储和带宽限制，量化压缩后的模型体积也是一个关键指标。</a:t>
            </a:r>
          </a:p>
          <a:p xmlns:a="http://schemas.openxmlformats.org/drawingml/2006/main">
            <a:pPr indent="0" algn="l">
              <a:lnSpc>
                <a:spcPct val="100000"/>
              </a:lnSpc>
              <a:buNone/>
            </a:pPr>
            <a:r>
              <a:rPr sz="1400" b="0" i="0" u="none">
                <a:solidFill>
                  <a:srgbClr val="000000"/>
                </a:solidFill>
              </a:rPr>
              <a:t>这五大核心指标，从准确性、速度、并发、体积、稳定性五个维度，共同构成了对我们方案的全面评估体系，确保上线产品既“准”又“快”，还“轻量可靠”。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们的端侧优化带来了显著的收益。在模型层面，我们通过调参控制了模型规模；在量化层面，PTQ和QAT显著减小了模型体积；在引擎层面，NCNN框架的优化有效提升了推理吞吐量。当然，我们也分析了误差的来源，包括数据预处理、模型训练随机性、量化本身带来的精度损失以及端侧测量时的系统误差。对这些误差的分析有助于我们未来进一步优化系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完成了软件实现后，我们对系统进行了全面的测试与分析。第四部分将展示我们的测试内容、评价指标以及关键的测试结果。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最后，对我们的项目进行总结与展望。我们成功构建了一个从算法到端侧部署的完整技术方案，核心贡献在于解决了高精度模型的泛化和落地问题，为图神经网络在边缘平台的应用提供了可复用的工程路径。展望未来，我们计划进一步完善评测体系，进行算子级的底层优化，并将测试场景扩展到更复杂的跨被试和在线推理，向真正的产品化应用迈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1400" b="0" i="0" u="none">
                <a:solidFill>
                  <a:srgbClr val="000000"/>
                </a:solidFill>
              </a:rPr>
              <a:t>我的汇报到此结束，感谢各位评委老师的聆听。我们非常乐意回答大家可能有的任何问题。谢谢！</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b9305965cc48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fb96f399b944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f246396f412047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3.xml" Id="R0b7fc292a67446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4.xml" Id="Ref1c75ed59f542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5.xml" Id="Rcf8842196ba94cb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5.xml" Id="R064592e56fc8401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6.xml" Id="R017ff318d04a444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7.xml" Id="R1bd5e2cc19fe430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8.xml" Id="R89bf23ea23674d83" /></Relationships>
</file>

<file path=ppt/slideLayouts/slideLayout1.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d9622d50e94216" /><Relationship Type="http://schemas.openxmlformats.org/officeDocument/2006/relationships/slideLayout" Target="/ppt/slideLayouts/slideLayout1.xml" Id="Rdca4c0b2009c465a" /><Relationship Type="http://schemas.openxmlformats.org/officeDocument/2006/relationships/slideLayout" Target="/ppt/slideLayouts/slideLayout2.xml" Id="R8d6eceb4cf59459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72be7f80c214d66" /><Relationship Type="http://schemas.openxmlformats.org/officeDocument/2006/relationships/slideLayout" Target="/ppt/slideLayouts/slideLayout3.xml" Id="R0eb3a94948a34769"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b1c93d2c022d45ce" /><Relationship Type="http://schemas.openxmlformats.org/officeDocument/2006/relationships/slideLayout" Target="/ppt/slideLayouts/slideLayout4.xml" Id="R174bc5889b89411d"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107f94aa388d460c" /><Relationship Type="http://schemas.openxmlformats.org/officeDocument/2006/relationships/slideLayout" Target="/ppt/slideLayouts/slideLayout5.xml" Id="R0dd1875a380e4d81" /></Relationships>
</file>

<file path=ppt/slideMasters/_rels/slideMaster5.xml.rels>&#65279;<?xml version="1.0" encoding="utf-8"?><Relationships xmlns="http://schemas.openxmlformats.org/package/2006/relationships"><Relationship Type="http://schemas.openxmlformats.org/officeDocument/2006/relationships/theme" Target="/ppt/slideMasters/theme/theme6.xml" Id="Rf4ca86cf07da499b" /><Relationship Type="http://schemas.openxmlformats.org/officeDocument/2006/relationships/slideLayout" Target="/ppt/slideLayouts/slideLayout6.xml" Id="Rfb8358f2d9584aee" /><Relationship Type="http://schemas.openxmlformats.org/officeDocument/2006/relationships/slideLayout" Target="/ppt/slideLayouts/slideLayout7.xml" Id="Rbc44ea612c8847d7" /></Relationships>
</file>

<file path=ppt/slideMasters/_rels/slideMaster6.xml.rels>&#65279;<?xml version="1.0" encoding="utf-8"?><Relationships xmlns="http://schemas.openxmlformats.org/package/2006/relationships"><Relationship Type="http://schemas.openxmlformats.org/officeDocument/2006/relationships/theme" Target="/ppt/slideMasters/theme/theme7.xml" Id="R7aa8fd279afc476c" /><Relationship Type="http://schemas.openxmlformats.org/officeDocument/2006/relationships/slideLayout" Target="/ppt/slideLayouts/slideLayout8.xml" Id="R7a69ce7427184a8b" /></Relationships>
</file>

<file path=ppt/slideMasters/_rels/slideMaster7.xml.rels>&#65279;<?xml version="1.0" encoding="utf-8"?><Relationships xmlns="http://schemas.openxmlformats.org/package/2006/relationships"><Relationship Type="http://schemas.openxmlformats.org/officeDocument/2006/relationships/theme" Target="/ppt/slideMasters/theme/theme8.xml" Id="Ree60420dee3e4059" /><Relationship Type="http://schemas.openxmlformats.org/officeDocument/2006/relationships/slideLayout" Target="/ppt/slideLayouts/slideLayout9.xml" Id="Rbb3835faf84942ef" /></Relationships>
</file>

<file path=ppt/slideMasters/_rels/slideMaster8.xml.rels>&#65279;<?xml version="1.0" encoding="utf-8"?><Relationships xmlns="http://schemas.openxmlformats.org/package/2006/relationships"><Relationship Type="http://schemas.openxmlformats.org/officeDocument/2006/relationships/theme" Target="/ppt/slideMasters/theme/theme9.xml" Id="R369ad224c1594a6d" /><Relationship Type="http://schemas.openxmlformats.org/officeDocument/2006/relationships/slideLayout" Target="/ppt/slideLayouts/slideLayout10.xml" Id="R6ff70c0496aa4e5b" /></Relationships>
</file>

<file path=ppt/slideMasters/slideMaster1.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ca4c0b2009c465a"/>
    <p:sldLayoutId xmlns:r="http://schemas.openxmlformats.org/officeDocument/2006/relationships" id="2147483650" r:id="R8d6eceb4cf59459b"/>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2" r:id="R0eb3a94948a34769"/>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4" r:id="R174bc5889b89411d"/>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4.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6" r:id="R0dd1875a380e4d81"/>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5.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8" r:id="Rfb8358f2d9584aee"/>
    <p:sldLayoutId xmlns:r="http://schemas.openxmlformats.org/officeDocument/2006/relationships" id="2147483659" r:id="Rbc44ea612c8847d7"/>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6.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7a69ce7427184a8b"/>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7.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3" r:id="Rbb3835faf84942ef"/>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slideMaster8.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5" r:id="R6ff70c0496aa4e5b"/>
  </p:sldLayoutIdLst>
  <p:hf sldNum="0" hdr="0" ftr="0" dt="0"/>
  <p:txStyles>
    <p:title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1pPr>
      <a:lvl2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2pPr>
      <a:lvl3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3pPr>
      <a:lvl4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4pPr>
      <a:lvl5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5pPr>
      <a:lvl6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6pPr>
      <a:lvl7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7pPr>
      <a:lvl8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8pPr>
      <a:lvl9pPr xmlns:a="http://schemas.openxmlformats.org/drawingml/2006/main"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8.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9.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54fec5704a49d1" /><Relationship Type="http://schemas.openxmlformats.org/officeDocument/2006/relationships/image" Target="/ppt/media/image.png" Id="Rec901460295640b7" /><Relationship Type="http://schemas.openxmlformats.org/officeDocument/2006/relationships/notesSlide" Target="/ppt/notesSlides/notesSlide1.xml" Id="Rf8a9790bb6b34b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acde7f82934c69" /><Relationship Type="http://schemas.openxmlformats.org/officeDocument/2006/relationships/image" Target="/ppt/media/image2.png" Id="R826e2fe389614464" /><Relationship Type="http://schemas.openxmlformats.org/officeDocument/2006/relationships/notesSlide" Target="/ppt/notesSlides/notesSlide2.xml" Id="R9a81b5c51fe644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35e7f0145a48ee" /><Relationship Type="http://schemas.openxmlformats.org/officeDocument/2006/relationships/image" Target="/ppt/media/image2.png" Id="R3be19b5162ad4a15" /><Relationship Type="http://schemas.openxmlformats.org/officeDocument/2006/relationships/notesSlide" Target="/ppt/notesSlides/notesSlide3.xml" Id="Rbf8d7d7c934c4e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03aabd2e504a10" /><Relationship Type="http://schemas.openxmlformats.org/officeDocument/2006/relationships/image" Target="/ppt/media/image2.png" Id="R381ef63f660649f9" /><Relationship Type="http://schemas.openxmlformats.org/officeDocument/2006/relationships/image" Target="/ppt/media/image3.png" Id="Rfbad6eb0a8da4bbf" /><Relationship Type="http://schemas.openxmlformats.org/officeDocument/2006/relationships/image" Target="/ppt/media/image4.png" Id="Red92e05986d64e77" /><Relationship Type="http://schemas.openxmlformats.org/officeDocument/2006/relationships/image" Target="/ppt/media/image5.png" Id="R1a5667a703054273" /><Relationship Type="http://schemas.openxmlformats.org/officeDocument/2006/relationships/image" Target="/ppt/media/image6.png" Id="Rcfabda883d51422f" /><Relationship Type="http://schemas.openxmlformats.org/officeDocument/2006/relationships/notesSlide" Target="/ppt/notesSlides/notesSlide4.xml" Id="R32a0975df21546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8fd7f2ae92412d" /><Relationship Type="http://schemas.openxmlformats.org/officeDocument/2006/relationships/image" Target="/ppt/media/image2.png" Id="R55d633e4ef524b6b" /><Relationship Type="http://schemas.openxmlformats.org/officeDocument/2006/relationships/image" Target="/ppt/media/image7.png" Id="R02dfc1afe9244c46" /><Relationship Type="http://schemas.openxmlformats.org/officeDocument/2006/relationships/image" Target="/ppt/media/image8.png" Id="R2c301fac8df54991" /><Relationship Type="http://schemas.openxmlformats.org/officeDocument/2006/relationships/image" Target="/ppt/media/image9.png" Id="R366cb7ee5f16421e" /><Relationship Type="http://schemas.openxmlformats.org/officeDocument/2006/relationships/image" Target="/ppt/media/image10.png" Id="Rb0102b7b8d514695" /><Relationship Type="http://schemas.openxmlformats.org/officeDocument/2006/relationships/image" Target="/ppt/media/image11.png" Id="R7b23b2356e734582" /><Relationship Type="http://schemas.openxmlformats.org/officeDocument/2006/relationships/image" Target="/ppt/media/image12.png" Id="Rf489cb459f104fca" /><Relationship Type="http://schemas.openxmlformats.org/officeDocument/2006/relationships/image" Target="/ppt/media/image13.png" Id="R9c3aec69b85f48eb" /><Relationship Type="http://schemas.openxmlformats.org/officeDocument/2006/relationships/notesSlide" Target="/ppt/notesSlides/notesSlide5.xml" Id="R49ff062df71a4a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cfff01a843b14b77" /><Relationship Type="http://schemas.openxmlformats.org/officeDocument/2006/relationships/image" Target="/ppt/media/image2.png" Id="R40cfe32ead2e4c7a" /><Relationship Type="http://schemas.openxmlformats.org/officeDocument/2006/relationships/notesSlide" Target="/ppt/notesSlides/notesSlide6.xml" Id="Rd2f6ee7a228a41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4d6f06406b4671" /><Relationship Type="http://schemas.openxmlformats.org/officeDocument/2006/relationships/image" Target="/ppt/media/image2.png" Id="Rfbe930e7229e47b5" /><Relationship Type="http://schemas.openxmlformats.org/officeDocument/2006/relationships/notesSlide" Target="/ppt/notesSlides/notesSlide7.xml" Id="R75cd902d87394d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217455464e4c51" /><Relationship Type="http://schemas.openxmlformats.org/officeDocument/2006/relationships/image" Target="/ppt/media/image2.png" Id="Recff4020174d48f0" /><Relationship Type="http://schemas.openxmlformats.org/officeDocument/2006/relationships/notesSlide" Target="/ppt/notesSlides/notesSlide8.xml" Id="Rd4c7686592174a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54fe578b52714e06" /><Relationship Type="http://schemas.openxmlformats.org/officeDocument/2006/relationships/image" Target="/ppt/media/image2.png" Id="R89ffbcf0d0c1495c" /><Relationship Type="http://schemas.openxmlformats.org/officeDocument/2006/relationships/notesSlide" Target="/ppt/notesSlides/notesSlide9.xml" Id="Rcaf23ea8fac949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4c56af0d034037" /><Relationship Type="http://schemas.openxmlformats.org/officeDocument/2006/relationships/image" Target="/ppt/media/image2.png" Id="R23676bfb41bc40ff" /><Relationship Type="http://schemas.openxmlformats.org/officeDocument/2006/relationships/image" Target="/ppt/media/image14.png" Id="R0975dbc51cd044f1" /><Relationship Type="http://schemas.openxmlformats.org/officeDocument/2006/relationships/notesSlide" Target="/ppt/notesSlides/notesSlide10.xml" Id="R4d03b299132546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fa5af9519a4c7f" /><Relationship Type="http://schemas.openxmlformats.org/officeDocument/2006/relationships/image" Target="/ppt/media/image2.png" Id="R7f0862742d3140e2" /><Relationship Type="http://schemas.openxmlformats.org/officeDocument/2006/relationships/image" Target="/ppt/media/image15.png" Id="R99d5965c37f04cd3" /><Relationship Type="http://schemas.openxmlformats.org/officeDocument/2006/relationships/image" Target="/ppt/media/image16.png" Id="Rbcd604b0b66545af" /><Relationship Type="http://schemas.openxmlformats.org/officeDocument/2006/relationships/image" Target="/ppt/media/image17.png" Id="R1e95c0ba40e8445a" /><Relationship Type="http://schemas.openxmlformats.org/officeDocument/2006/relationships/image" Target="/ppt/media/image18.png" Id="R76412e07dd614525" /><Relationship Type="http://schemas.openxmlformats.org/officeDocument/2006/relationships/notesSlide" Target="/ppt/notesSlides/notesSlide11.xml" Id="R323fa2ef777049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7854b13fb65408c" /><Relationship Type="http://schemas.openxmlformats.org/officeDocument/2006/relationships/image" Target="/ppt/media/image2.png" Id="Ra74318260c684454" /><Relationship Type="http://schemas.openxmlformats.org/officeDocument/2006/relationships/notesSlide" Target="/ppt/notesSlides/notesSlide12.xml" Id="Rced8dc92339440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704358d2cc4380" /><Relationship Type="http://schemas.openxmlformats.org/officeDocument/2006/relationships/image" Target="/ppt/media/image2.png" Id="Rdd0bb09602c14ec4" /><Relationship Type="http://schemas.openxmlformats.org/officeDocument/2006/relationships/notesSlide" Target="/ppt/notesSlides/notesSlide13.xml" Id="Rf14441c0eac947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3386d0445d0d48d5" /><Relationship Type="http://schemas.openxmlformats.org/officeDocument/2006/relationships/image" Target="/ppt/media/image2.png" Id="R78873cd1c296424c" /><Relationship Type="http://schemas.openxmlformats.org/officeDocument/2006/relationships/notesSlide" Target="/ppt/notesSlides/notesSlide14.xml" Id="R07b8603e45ff46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ebb91ccf6af46a2" /><Relationship Type="http://schemas.openxmlformats.org/officeDocument/2006/relationships/image" Target="/ppt/media/image2.png" Id="Rd8f0e7a24065412b" /><Relationship Type="http://schemas.openxmlformats.org/officeDocument/2006/relationships/notesSlide" Target="/ppt/notesSlides/notesSlide15.xml" Id="R62138af93d78441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90f02b68741e48e9" /><Relationship Type="http://schemas.openxmlformats.org/officeDocument/2006/relationships/image" Target="/ppt/media/image2.png" Id="R2a5eb84f1ef24121" /><Relationship Type="http://schemas.openxmlformats.org/officeDocument/2006/relationships/notesSlide" Target="/ppt/notesSlides/notesSlide16.xml" Id="Rb30372b470614c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1222b4af251440e" /><Relationship Type="http://schemas.openxmlformats.org/officeDocument/2006/relationships/image" Target="/ppt/media/image2.png" Id="R15174a1b21274208" /><Relationship Type="http://schemas.openxmlformats.org/officeDocument/2006/relationships/notesSlide" Target="/ppt/notesSlides/notesSlide17.xml" Id="R52ecfbc39c0c4a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759032f3de74a34" /><Relationship Type="http://schemas.openxmlformats.org/officeDocument/2006/relationships/image" Target="/ppt/media/image2.png" Id="R4abfb9cccf724d84" /><Relationship Type="http://schemas.openxmlformats.org/officeDocument/2006/relationships/image" Target="/ppt/media/image19.png" Id="R8776e3969c3d4268" /><Relationship Type="http://schemas.openxmlformats.org/officeDocument/2006/relationships/image" Target="/ppt/media/image20.png" Id="R840ef5be31874c9d" /><Relationship Type="http://schemas.openxmlformats.org/officeDocument/2006/relationships/notesSlide" Target="/ppt/notesSlides/notesSlide18.xml" Id="R8c0ca086107441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f9968c1f2374af5" /><Relationship Type="http://schemas.openxmlformats.org/officeDocument/2006/relationships/image" Target="/ppt/media/image2.png" Id="Rfb3d9229e3ec4fc5" /><Relationship Type="http://schemas.openxmlformats.org/officeDocument/2006/relationships/image" Target="/ppt/media/image21.png" Id="Rcd1929f5749c4480" /><Relationship Type="http://schemas.openxmlformats.org/officeDocument/2006/relationships/image" Target="/ppt/media/image22.png" Id="Rafbb0c1aa749440d" /><Relationship Type="http://schemas.openxmlformats.org/officeDocument/2006/relationships/notesSlide" Target="/ppt/notesSlides/notesSlide19.xml" Id="R5dbe58a380974c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d42e3b734d274028" /><Relationship Type="http://schemas.openxmlformats.org/officeDocument/2006/relationships/image" Target="/ppt/media/image2.png" Id="Rf4505780793e4736" /><Relationship Type="http://schemas.openxmlformats.org/officeDocument/2006/relationships/notesSlide" Target="/ppt/notesSlides/notesSlide20.xml" Id="Rf4b0185401ac4ae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4f2ed5a1bca45c5" /><Relationship Type="http://schemas.openxmlformats.org/officeDocument/2006/relationships/image" Target="/ppt/media/image2.png" Id="Rf21dd599c9904c33" /><Relationship Type="http://schemas.openxmlformats.org/officeDocument/2006/relationships/image" Target="/ppt/media/image23.png" Id="R4340a27721114967" /><Relationship Type="http://schemas.openxmlformats.org/officeDocument/2006/relationships/image" Target="/ppt/media/image24.png" Id="Rb411913d10f54c6d" /><Relationship Type="http://schemas.openxmlformats.org/officeDocument/2006/relationships/image" Target="/ppt/media/image25.png" Id="Rd34a5a56a9c946a8" /><Relationship Type="http://schemas.openxmlformats.org/officeDocument/2006/relationships/image" Target="/ppt/media/image26.png" Id="R211ea5704cb14bf2" /><Relationship Type="http://schemas.openxmlformats.org/officeDocument/2006/relationships/image" Target="/ppt/media/image27.png" Id="Rbe885f0c6c8f4854" /><Relationship Type="http://schemas.openxmlformats.org/officeDocument/2006/relationships/image" Target="/ppt/media/image28.png" Id="R9afe58aba34c4be8" /><Relationship Type="http://schemas.openxmlformats.org/officeDocument/2006/relationships/notesSlide" Target="/ppt/notesSlides/notesSlide21.xml" Id="Rb381076e05ee41e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9e959634dd74928" /><Relationship Type="http://schemas.openxmlformats.org/officeDocument/2006/relationships/image" Target="/ppt/media/image2.png" Id="Rd0dd419e89424d17" /><Relationship Type="http://schemas.openxmlformats.org/officeDocument/2006/relationships/notesSlide" Target="/ppt/notesSlides/notesSlide22.xml" Id="R608b50c4ce844c28" /></Relationships>
</file>

<file path=ppt/slides/slide1.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ec901460295640b7"/>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CD94EDF9-D3F6-423F-9D56-2904BFB74373}"/>
              </a:ext>
            </a:extLst>
          </p:cNvPr>
          <p:cNvSpPr>
            <a:spLocks xmlns:a="http://schemas.openxmlformats.org/drawingml/2006/main" noGrp="1"/>
          </p:cNvSpPr>
          <p:nvPr/>
        </p:nvSpPr>
        <p:spPr>
          <a:xfrm xmlns:a="http://schemas.openxmlformats.org/drawingml/2006/main">
            <a:off x="508000" y="1958975"/>
            <a:ext cx="10985500" cy="1143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00000"/>
              </a:lnSpc>
              <a:buNone/>
            </a:pPr>
            <a:r>
              <a:rPr sz="2800" b="1" i="0" u="none">
                <a:solidFill>
                  <a:srgbClr val="0F172A"/>
                </a:solidFill>
                <a:latin typeface="Noto Sans SC"/>
                <a:ea typeface="Noto Sans SC"/>
                <a:cs typeface="Noto Sans SC"/>
              </a:rPr>
              <a:t>岗位能力达成学生成长诊断与精准就业智能体系统</a:t>
            </a:r>
          </a:p>
        </p:txBody>
      </p:sp>
      <p:sp>
        <p:nvSpPr>
          <p:cNvPr id="11" name="文本框 10">
            <a:extLst xmlns:a="http://schemas.openxmlformats.org/drawingml/2006/main">
              <a:ext uri="{FF2B5EF4-FFF2-40B4-BE49-F238E27FC236}">
                <a16:creationId xmlns:a16="http://schemas.microsoft.com/office/drawing/2014/main" id="{B82569E9-B908-4F5F-9225-3FF574AA1A57}"/>
              </a:ext>
            </a:extLst>
          </p:cNvPr>
          <p:cNvSpPr>
            <a:spLocks xmlns:a="http://schemas.openxmlformats.org/drawingml/2006/main" noGrp="1"/>
          </p:cNvSpPr>
          <p:nvPr/>
        </p:nvSpPr>
        <p:spPr>
          <a:xfrm xmlns:a="http://schemas.openxmlformats.org/drawingml/2006/main">
            <a:off x="1237615" y="3681095"/>
            <a:ext cx="4360545" cy="264350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
            </a:r>
          </a:p>
          <a:p xmlns:a="http://schemas.openxmlformats.org/drawingml/2006/main">
            <a:r>
              <a:rPr sz="2000" b="1">
                <a:solidFill>
                  <a:srgbClr val="1E3A8A"/>
                </a:solidFill>
                <a:latin typeface="Noto Sans SC"/>
                <a:ea typeface="Noto Sans SC"/>
                <a:cs typeface="Noto Sans SC"/>
              </a:rPr>
              <a:t>队伍名称：智聘未来</a:t>
            </a:r>
          </a:p>
          <a:p xmlns:a="http://schemas.openxmlformats.org/drawingml/2006/main">
            <a:r>
              <a:t/>
            </a:r>
          </a:p>
          <a:p xmlns:a="http://schemas.openxmlformats.org/drawingml/2006/main">
            <a:r>
              <a:rPr sz="2000" b="1">
                <a:solidFill>
                  <a:srgbClr val="1E3A8A"/>
                </a:solidFill>
                <a:latin typeface="Noto Sans SC"/>
                <a:ea typeface="Noto Sans SC"/>
                <a:cs typeface="Noto Sans SC"/>
              </a:rPr>
              <a:t>参赛队员：黎盛 | 侯程予 | 冯靖原</a:t>
            </a:r>
          </a:p>
          <a:p xmlns:a="http://schemas.openxmlformats.org/drawingml/2006/main">
            <a:r>
              <a:t/>
            </a:r>
          </a:p>
          <a:p xmlns:a="http://schemas.openxmlformats.org/drawingml/2006/main">
            <a:r>
              <a:rPr sz="2000" b="1">
                <a:solidFill>
                  <a:srgbClr val="1E3A8A"/>
                </a:solidFill>
                <a:latin typeface="Noto Sans SC"/>
                <a:ea typeface="Noto Sans SC"/>
                <a:cs typeface="Noto Sans SC"/>
              </a:rPr>
              <a:t>完成时间：2026年6月</a:t>
            </a:r>
          </a:p>
          <a:p xmlns:a="http://schemas.openxmlformats.org/drawingml/2006/main">
            <a:r>
              <a:t/>
            </a:r>
          </a:p>
          <a:p xmlns:a="http://schemas.openxmlformats.org/drawingml/2006/main">
            <a:r>
              <a:t/>
            </a:r>
          </a:p>
          <a:p xmlns:a="http://schemas.openxmlformats.org/drawingml/2006/main">
            <a:r>
              <a:t/>
            </a:r>
          </a:p>
        </p:txBody>
      </p:sp>
    </p:spTree>
    <p:extLst>
      <p:ext uri="{BB962C8B-B14F-4D97-AF65-F5344CB8AC3E}">
        <p14:creationId xmlns:p14="http://schemas.microsoft.com/office/powerpoint/2010/main" val="1554264605"/>
      </p:ext>
    </p:extLst>
  </p:cSld>
</p:sld>
</file>

<file path=ppt/slides/slide2.xml><?xml version="1.0" encoding="utf-8"?>
<p:sld xmlns:p="http://schemas.openxmlformats.org/presentationml/2006/main">
  <p:cSld>
    <p:bg>
      <p:bgPr>
        <a:blipFill xmlns:a="http://schemas.openxmlformats.org/drawingml/2006/main">
          <a:blip xmlns:r="http://schemas.openxmlformats.org/officeDocument/2006/relationships" r:embed="R826e2fe389614464"/>
          <a:srcRect l="0" t="0" r="0" b="0"/>
          <a:stretch>
            <a:fillRect l="-61" t="0" r="-61" b="0"/>
          </a:stretch>
        </a:blip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EC804C0F-B0EA-4C4D-A55F-5ECB73F36C10}"/>
              </a:ext>
            </a:extLst>
          </p:cNvPr>
          <p:cNvSpPr>
            <a:spLocks xmlns:a="http://schemas.openxmlformats.org/drawingml/2006/main" noGrp="1"/>
          </p:cNvSpPr>
          <p:nvPr/>
        </p:nvSpPr>
        <p:spPr>
          <a:xfrm xmlns:a="http://schemas.openxmlformats.org/drawingml/2006/main">
            <a:off x="0" y="508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600" b="1" i="0" u="none">
                <a:solidFill>
                  <a:srgbClr val="0F172A"/>
                </a:solidFill>
                <a:latin typeface="Noto Sans SC"/>
                <a:ea typeface="Noto Sans SC"/>
                <a:cs typeface="Noto Sans SC"/>
              </a:rPr>
              <a:t>目 录 CONTENTS</a:t>
            </a:r>
          </a:p>
        </p:txBody>
      </p:sp>
      <p:sp>
        <p:nvSpPr>
          <p:cNvPr id="3" name="AutoShape 3">
            <a:extLst xmlns:a="http://schemas.openxmlformats.org/drawingml/2006/main">
              <a:ext uri="{FF2B5EF4-FFF2-40B4-BE49-F238E27FC236}">
                <a16:creationId xmlns:a16="http://schemas.microsoft.com/office/drawing/2014/main" id="{431A77E3-BC1F-4554-9B3D-BB3443AA9352}"/>
              </a:ext>
            </a:extLst>
          </p:cNvPr>
          <p:cNvSpPr>
            <a:spLocks xmlns:a="http://schemas.openxmlformats.org/drawingml/2006/main" noGrp="1"/>
          </p:cNvSpPr>
          <p:nvPr/>
        </p:nvSpPr>
        <p:spPr>
          <a:xfrm xmlns:a="http://schemas.openxmlformats.org/drawingml/2006/main">
            <a:off x="525780" y="1446530"/>
            <a:ext cx="3556000" cy="2440305"/>
          </a:xfrm>
          <a:prstGeom xmlns:a="http://schemas.openxmlformats.org/drawingml/2006/main" prst="roundRect">
            <a:avLst>
              <a:gd name="adj" fmla="val 6857"/>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4" name="AutoShape 4">
            <a:extLst xmlns:a="http://schemas.openxmlformats.org/drawingml/2006/main">
              <a:ext uri="{FF2B5EF4-FFF2-40B4-BE49-F238E27FC236}">
                <a16:creationId xmlns:a16="http://schemas.microsoft.com/office/drawing/2014/main" id="{864DCA20-BA06-42A8-8A1A-5E0D8B7E02F7}"/>
              </a:ext>
            </a:extLst>
          </p:cNvPr>
          <p:cNvSpPr>
            <a:spLocks xmlns:a="http://schemas.openxmlformats.org/drawingml/2006/main" noGrp="1"/>
          </p:cNvSpPr>
          <p:nvPr/>
        </p:nvSpPr>
        <p:spPr>
          <a:xfrm xmlns:a="http://schemas.openxmlformats.org/drawingml/2006/main">
            <a:off x="716280" y="1573530"/>
            <a:ext cx="3175000" cy="123317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92000"/>
              </a:lnSpc>
              <a:buNone/>
            </a:pPr>
            <a:r>
              <a:rPr sz="2800" b="1" i="0" u="none">
                <a:solidFill>
                  <a:srgbClr val="D97706"/>
                </a:solidFill>
                <a:latin typeface="Noto Sans SC"/>
                <a:ea typeface="Noto Sans SC"/>
                <a:cs typeface="Noto Sans SC"/>
              </a:rPr>
              <a:t>01. 项目背景与需求</a:t>
            </a:r>
          </a:p>
          <a:p xmlns:a="http://schemas.openxmlformats.org/drawingml/2006/main">
            <a:pPr indent="0" algn="l">
              <a:lnSpc>
                <a:spcPct val="108000"/>
              </a:lnSpc>
              <a:spcBef>
                <a:spcPts val="1200"/>
              </a:spcBef>
              <a:buNone/>
            </a:pPr>
            <a:r>
              <a:rPr sz="1300">
                <a:solidFill>
                  <a:srgbClr val="475569"/>
                </a:solidFill>
                <a:latin typeface="Noto Sans SC"/>
                <a:ea typeface="Noto Sans SC"/>
                <a:cs typeface="Noto Sans SC"/>
              </a:rPr>
              <a:t>• 现实问题与建设目标</a:t>
            </a:r>
          </a:p>
          <a:p xmlns:a="http://schemas.openxmlformats.org/drawingml/2006/main">
            <a:pPr indent="0" algn="l">
              <a:lnSpc>
                <a:spcPct val="108000"/>
              </a:lnSpc>
              <a:spcBef>
                <a:spcPts val="1200"/>
              </a:spcBef>
              <a:buNone/>
            </a:pPr>
            <a:r>
              <a:rPr sz="1300">
                <a:solidFill>
                  <a:srgbClr val="475569"/>
                </a:solidFill>
                <a:latin typeface="Noto Sans SC"/>
                <a:ea typeface="Noto Sans SC"/>
                <a:cs typeface="Noto Sans SC"/>
              </a:rPr>
              <a:t>• 技术难点与核心创新</a:t>
            </a:r>
          </a:p>
        </p:txBody>
      </p:sp>
      <p:sp>
        <p:nvSpPr>
          <p:cNvPr id="5" name="AutoShape 5">
            <a:extLst xmlns:a="http://schemas.openxmlformats.org/drawingml/2006/main">
              <a:ext uri="{FF2B5EF4-FFF2-40B4-BE49-F238E27FC236}">
                <a16:creationId xmlns:a16="http://schemas.microsoft.com/office/drawing/2014/main" id="{781084AC-51F8-41A5-8D68-C151157286BB}"/>
              </a:ext>
            </a:extLst>
          </p:cNvPr>
          <p:cNvSpPr>
            <a:spLocks xmlns:a="http://schemas.openxmlformats.org/drawingml/2006/main" noGrp="1"/>
          </p:cNvSpPr>
          <p:nvPr/>
        </p:nvSpPr>
        <p:spPr>
          <a:xfrm xmlns:a="http://schemas.openxmlformats.org/drawingml/2006/main">
            <a:off x="4231640" y="1367155"/>
            <a:ext cx="3556000" cy="2508250"/>
          </a:xfrm>
          <a:prstGeom xmlns:a="http://schemas.openxmlformats.org/drawingml/2006/main" prst="roundRect">
            <a:avLst>
              <a:gd name="adj" fmla="val 6857"/>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6" name="AutoShape 6">
            <a:extLst xmlns:a="http://schemas.openxmlformats.org/drawingml/2006/main">
              <a:ext uri="{FF2B5EF4-FFF2-40B4-BE49-F238E27FC236}">
                <a16:creationId xmlns:a16="http://schemas.microsoft.com/office/drawing/2014/main" id="{F6E8AD5C-15C6-4855-B9E1-4AD29839C202}"/>
              </a:ext>
            </a:extLst>
          </p:cNvPr>
          <p:cNvSpPr>
            <a:spLocks xmlns:a="http://schemas.openxmlformats.org/drawingml/2006/main" noGrp="1"/>
          </p:cNvSpPr>
          <p:nvPr/>
        </p:nvSpPr>
        <p:spPr>
          <a:xfrm xmlns:a="http://schemas.openxmlformats.org/drawingml/2006/main">
            <a:off x="4422140" y="1573530"/>
            <a:ext cx="3175000" cy="192024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92000"/>
              </a:lnSpc>
              <a:buNone/>
            </a:pPr>
            <a:r>
              <a:rPr sz="2800" b="1" i="0" u="none">
                <a:solidFill>
                  <a:srgbClr val="D97706"/>
                </a:solidFill>
                <a:latin typeface="Noto Sans SC"/>
                <a:ea typeface="Noto Sans SC"/>
                <a:cs typeface="Noto Sans SC"/>
              </a:rPr>
              <a:t>02. 系统设计与智能体协作</a:t>
            </a:r>
          </a:p>
          <a:p xmlns:a="http://schemas.openxmlformats.org/drawingml/2006/main">
            <a:pPr indent="0" algn="l">
              <a:lnSpc>
                <a:spcPct val="108000"/>
              </a:lnSpc>
              <a:spcBef>
                <a:spcPts val="1200"/>
              </a:spcBef>
              <a:buNone/>
            </a:pPr>
            <a:r>
              <a:rPr sz="1300" b="0" i="0" u="none">
                <a:solidFill>
                  <a:srgbClr val="475569"/>
                </a:solidFill>
                <a:latin typeface="Noto Sans SC"/>
                <a:ea typeface="Noto Sans SC"/>
                <a:cs typeface="Noto Sans SC"/>
              </a:rPr>
              <a:t>• 总体技术路线与系统架构</a:t>
            </a:r>
          </a:p>
          <a:p xmlns:a="http://schemas.openxmlformats.org/drawingml/2006/main">
            <a:pPr indent="0" algn="l">
              <a:lnSpc>
                <a:spcPct val="108000"/>
              </a:lnSpc>
              <a:spcBef>
                <a:spcPts val="1200"/>
              </a:spcBef>
              <a:buNone/>
            </a:pPr>
            <a:r>
              <a:rPr sz="1300">
                <a:solidFill>
                  <a:srgbClr val="475569"/>
                </a:solidFill>
                <a:latin typeface="Noto Sans SC"/>
                <a:ea typeface="Noto Sans SC"/>
                <a:cs typeface="Noto Sans SC"/>
              </a:rPr>
              <a:t>• 四维画像、LLM 与工具协作</a:t>
            </a:r>
          </a:p>
        </p:txBody>
      </p:sp>
      <p:sp>
        <p:nvSpPr>
          <p:cNvPr id="7" name="AutoShape 7">
            <a:extLst xmlns:a="http://schemas.openxmlformats.org/drawingml/2006/main">
              <a:ext uri="{FF2B5EF4-FFF2-40B4-BE49-F238E27FC236}">
                <a16:creationId xmlns:a16="http://schemas.microsoft.com/office/drawing/2014/main" id="{AE11C81A-F8D0-466B-B984-86869F06743C}"/>
              </a:ext>
            </a:extLst>
          </p:cNvPr>
          <p:cNvSpPr>
            <a:spLocks xmlns:a="http://schemas.openxmlformats.org/drawingml/2006/main" noGrp="1"/>
          </p:cNvSpPr>
          <p:nvPr/>
        </p:nvSpPr>
        <p:spPr>
          <a:xfrm xmlns:a="http://schemas.openxmlformats.org/drawingml/2006/main">
            <a:off x="7937500" y="1367790"/>
            <a:ext cx="3556000" cy="2684780"/>
          </a:xfrm>
          <a:prstGeom xmlns:a="http://schemas.openxmlformats.org/drawingml/2006/main" prst="roundRect">
            <a:avLst>
              <a:gd name="adj" fmla="val 6857"/>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8" name="AutoShape 8">
            <a:extLst xmlns:a="http://schemas.openxmlformats.org/drawingml/2006/main">
              <a:ext uri="{FF2B5EF4-FFF2-40B4-BE49-F238E27FC236}">
                <a16:creationId xmlns:a16="http://schemas.microsoft.com/office/drawing/2014/main" id="{2E146604-C143-488B-88FA-112FEF4F3898}"/>
              </a:ext>
            </a:extLst>
          </p:cNvPr>
          <p:cNvSpPr>
            <a:spLocks xmlns:a="http://schemas.openxmlformats.org/drawingml/2006/main" noGrp="1"/>
          </p:cNvSpPr>
          <p:nvPr/>
        </p:nvSpPr>
        <p:spPr>
          <a:xfrm xmlns:a="http://schemas.openxmlformats.org/drawingml/2006/main">
            <a:off x="8128000" y="1936750"/>
            <a:ext cx="3175000" cy="1841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l">
              <a:lnSpc>
                <a:spcPct val="108000"/>
              </a:lnSpc>
              <a:spcBef>
                <a:spcPts val="1200"/>
              </a:spcBef>
              <a:buNone/>
            </a:pPr>
          </a:p>
        </p:txBody>
      </p:sp>
      <p:sp>
        <p:nvSpPr>
          <p:cNvPr id="9" name="AutoShape 9">
            <a:extLst xmlns:a="http://schemas.openxmlformats.org/drawingml/2006/main">
              <a:ext uri="{FF2B5EF4-FFF2-40B4-BE49-F238E27FC236}">
                <a16:creationId xmlns:a16="http://schemas.microsoft.com/office/drawing/2014/main" id="{17B8C1C1-3A65-479D-A084-AA00801EF2EB}"/>
              </a:ext>
            </a:extLst>
          </p:cNvPr>
          <p:cNvSpPr>
            <a:spLocks xmlns:a="http://schemas.openxmlformats.org/drawingml/2006/main" noGrp="1"/>
          </p:cNvSpPr>
          <p:nvPr/>
        </p:nvSpPr>
        <p:spPr>
          <a:xfrm xmlns:a="http://schemas.openxmlformats.org/drawingml/2006/main">
            <a:off x="1778000" y="4017645"/>
            <a:ext cx="4191000" cy="2406650"/>
          </a:xfrm>
          <a:prstGeom xmlns:a="http://schemas.openxmlformats.org/drawingml/2006/main" prst="roundRect">
            <a:avLst>
              <a:gd name="adj" fmla="val 7058"/>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D8D3B9A1-9266-42A6-B547-D2A426914FF2}"/>
              </a:ext>
            </a:extLst>
          </p:cNvPr>
          <p:cNvSpPr>
            <a:spLocks xmlns:a="http://schemas.openxmlformats.org/drawingml/2006/main" noGrp="1"/>
          </p:cNvSpPr>
          <p:nvPr/>
        </p:nvSpPr>
        <p:spPr>
          <a:xfrm xmlns:a="http://schemas.openxmlformats.org/drawingml/2006/main">
            <a:off x="2032000" y="4445000"/>
            <a:ext cx="3683000" cy="165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spcBef>
                <a:spcPts val="1200"/>
              </a:spcBef>
              <a:buNone/>
            </a:pPr>
          </a:p>
        </p:txBody>
      </p:sp>
      <p:sp>
        <p:nvSpPr>
          <p:cNvPr id="11" name="AutoShape 11">
            <a:extLst xmlns:a="http://schemas.openxmlformats.org/drawingml/2006/main">
              <a:ext uri="{FF2B5EF4-FFF2-40B4-BE49-F238E27FC236}">
                <a16:creationId xmlns:a16="http://schemas.microsoft.com/office/drawing/2014/main" id="{FFADB220-35F8-44CD-8F5C-EEA9DC81F185}"/>
              </a:ext>
            </a:extLst>
          </p:cNvPr>
          <p:cNvSpPr>
            <a:spLocks xmlns:a="http://schemas.openxmlformats.org/drawingml/2006/main" noGrp="1"/>
          </p:cNvSpPr>
          <p:nvPr/>
        </p:nvSpPr>
        <p:spPr>
          <a:xfrm xmlns:a="http://schemas.openxmlformats.org/drawingml/2006/main">
            <a:off x="6305550" y="4051935"/>
            <a:ext cx="4191000" cy="2371725"/>
          </a:xfrm>
          <a:prstGeom xmlns:a="http://schemas.openxmlformats.org/drawingml/2006/main" prst="roundRect">
            <a:avLst>
              <a:gd name="adj" fmla="val 7058"/>
            </a:avLst>
          </a:prstGeom>
          <a:solidFill xmlns:a="http://schemas.openxmlformats.org/drawingml/2006/main">
            <a:srgbClr val="FFFFFF">
              <a:alpha val="92000"/>
            </a:srgbClr>
          </a:solidFill>
          <a:ln xmlns:a="http://schemas.openxmlformats.org/drawingml/2006/main" w="12700" cmpd="sng">
            <a:solidFill>
              <a:srgbClr val="E2E8F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2" name="AutoShape 12">
            <a:extLst xmlns:a="http://schemas.openxmlformats.org/drawingml/2006/main">
              <a:ext uri="{FF2B5EF4-FFF2-40B4-BE49-F238E27FC236}">
                <a16:creationId xmlns:a16="http://schemas.microsoft.com/office/drawing/2014/main" id="{62C11EA8-2A05-4143-A3BE-29CCB5DF77E3}"/>
              </a:ext>
            </a:extLst>
          </p:cNvPr>
          <p:cNvSpPr>
            <a:spLocks xmlns:a="http://schemas.openxmlformats.org/drawingml/2006/main" noGrp="1"/>
          </p:cNvSpPr>
          <p:nvPr/>
        </p:nvSpPr>
        <p:spPr>
          <a:xfrm xmlns:a="http://schemas.openxmlformats.org/drawingml/2006/main">
            <a:off x="6477000" y="4127500"/>
            <a:ext cx="3683000" cy="1226185"/>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92000"/>
              </a:lnSpc>
              <a:buNone/>
            </a:pPr>
          </a:p>
        </p:txBody>
      </p:sp>
      <p:sp>
        <p:nvSpPr>
          <p:cNvPr id="13" name="文本框 12">
            <a:extLst xmlns:a="http://schemas.openxmlformats.org/drawingml/2006/main">
              <a:ext uri="{FF2B5EF4-FFF2-40B4-BE49-F238E27FC236}">
                <a16:creationId xmlns:a16="http://schemas.microsoft.com/office/drawing/2014/main" id="{5B90A14C-D01E-4228-9A98-E2EC1E05ABCD}"/>
              </a:ext>
            </a:extLst>
          </p:cNvPr>
          <p:cNvSpPr>
            <a:spLocks xmlns:a="http://schemas.openxmlformats.org/drawingml/2006/main" noGrp="1"/>
          </p:cNvSpPr>
          <p:nvPr/>
        </p:nvSpPr>
        <p:spPr>
          <a:xfrm xmlns:a="http://schemas.openxmlformats.org/drawingml/2006/main">
            <a:off x="8128000" y="1367790"/>
            <a:ext cx="3105150" cy="232981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2800" b="1">
                <a:solidFill>
                  <a:srgbClr val="D97706"/>
                </a:solidFill>
                <a:latin typeface="Noto Sans SC"/>
                <a:ea typeface="Noto Sans SC"/>
                <a:cs typeface="Noto Sans SC"/>
              </a:rPr>
              <a:t>03. 岗位匹配与性能优化</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岗位知识库与本地召回</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多样性控制、AI 精排与持久缓存</a:t>
            </a:r>
          </a:p>
        </p:txBody>
      </p:sp>
      <p:sp>
        <p:nvSpPr>
          <p:cNvPr id="14" name="文本框 13">
            <a:extLst xmlns:a="http://schemas.openxmlformats.org/drawingml/2006/main">
              <a:ext uri="{FF2B5EF4-FFF2-40B4-BE49-F238E27FC236}">
                <a16:creationId xmlns:a16="http://schemas.microsoft.com/office/drawing/2014/main" id="{BB0DF2BF-148E-42F3-8B37-3D08C98A92DB}"/>
              </a:ext>
            </a:extLst>
          </p:cNvPr>
          <p:cNvSpPr>
            <a:spLocks xmlns:a="http://schemas.openxmlformats.org/drawingml/2006/main" noGrp="1"/>
          </p:cNvSpPr>
          <p:nvPr/>
        </p:nvSpPr>
        <p:spPr>
          <a:xfrm xmlns:a="http://schemas.openxmlformats.org/drawingml/2006/main">
            <a:off x="1904365" y="4064000"/>
            <a:ext cx="3985895" cy="224218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2800" b="1">
                <a:solidFill>
                  <a:srgbClr val="D97706"/>
                </a:solidFill>
                <a:latin typeface="Noto Sans SC"/>
                <a:ea typeface="Noto Sans SC"/>
                <a:cs typeface="Noto Sans SC"/>
              </a:rPr>
              <a:t>04. 系统测试与应用成效</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功能测试与性能指标</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优化收益与风险控制</a:t>
            </a:r>
          </a:p>
        </p:txBody>
      </p:sp>
      <p:sp>
        <p:nvSpPr>
          <p:cNvPr id="15" name="文本框 14">
            <a:extLst xmlns:a="http://schemas.openxmlformats.org/drawingml/2006/main">
              <a:ext uri="{FF2B5EF4-FFF2-40B4-BE49-F238E27FC236}">
                <a16:creationId xmlns:a16="http://schemas.microsoft.com/office/drawing/2014/main" id="{1136471D-73C9-4937-85E1-6DD49AD47B82}"/>
              </a:ext>
            </a:extLst>
          </p:cNvPr>
          <p:cNvSpPr>
            <a:spLocks xmlns:a="http://schemas.openxmlformats.org/drawingml/2006/main" noGrp="1"/>
          </p:cNvSpPr>
          <p:nvPr/>
        </p:nvSpPr>
        <p:spPr>
          <a:xfrm xmlns:a="http://schemas.openxmlformats.org/drawingml/2006/main">
            <a:off x="6477000" y="4083050"/>
            <a:ext cx="3873500" cy="204216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2800" b="1">
                <a:solidFill>
                  <a:srgbClr val="D97706"/>
                </a:solidFill>
                <a:latin typeface="Noto Sans SC"/>
                <a:ea typeface="Noto Sans SC"/>
                <a:cs typeface="Noto Sans SC"/>
              </a:rPr>
              <a:t>05. 总结与展望</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项目总结</a:t>
            </a:r>
          </a:p>
          <a:p xmlns:a="http://schemas.openxmlformats.org/drawingml/2006/main">
            <a:pPr algn="l">
              <a:lnSpc>
                <a:spcPct val="108000"/>
              </a:lnSpc>
              <a:spcBef>
                <a:spcPts val="1200"/>
              </a:spcBef>
              <a:buNone/>
            </a:pPr>
            <a:r>
              <a:rPr sz="1300">
                <a:solidFill>
                  <a:srgbClr val="475569"/>
                </a:solidFill>
                <a:latin typeface="Noto Sans SC"/>
                <a:ea typeface="Noto Sans SC"/>
                <a:cs typeface="Noto Sans SC"/>
              </a:rPr>
              <a:t>• 后续规划</a:t>
            </a:r>
          </a:p>
        </p:txBody>
      </p:sp>
    </p:spTree>
    <p:extLst>
      <p:ext uri="{BB962C8B-B14F-4D97-AF65-F5344CB8AC3E}">
        <p14:creationId xmlns:p14="http://schemas.microsoft.com/office/powerpoint/2010/main" val="768759084"/>
      </p:ext>
    </p:extLst>
  </p:cSld>
</p:sld>
</file>

<file path=ppt/slides/slide3.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3be19b5162ad4a15"/>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975912B8-96DB-4B25-A853-5A02EBFD4CB1}"/>
              </a:ext>
            </a:extLst>
          </p:cNvPr>
          <p:cNvSpPr>
            <a:spLocks xmlns:a="http://schemas.openxmlformats.org/drawingml/2006/main" noGrp="1"/>
          </p:cNvSpPr>
          <p:nvPr/>
        </p:nvSpPr>
        <p:spPr>
          <a:xfrm xmlns:a="http://schemas.openxmlformats.org/drawingml/2006/main">
            <a:off x="0" y="1778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E3A8A"/>
                </a:solidFill>
                <a:latin typeface="微软雅黑"/>
                <a:ea typeface="微软雅黑"/>
                <a:cs typeface="微软雅黑"/>
              </a:rPr>
              <a:t>01</a:t>
            </a:r>
          </a:p>
        </p:txBody>
      </p:sp>
      <p:sp>
        <p:nvSpPr>
          <p:cNvPr id="4" name="AutoShape 4">
            <a:extLst xmlns:a="http://schemas.openxmlformats.org/drawingml/2006/main">
              <a:ext uri="{FF2B5EF4-FFF2-40B4-BE49-F238E27FC236}">
                <a16:creationId xmlns:a16="http://schemas.microsoft.com/office/drawing/2014/main" id="{E5BF64C9-B561-4EF5-B1F3-E8A5205A6809}"/>
              </a:ext>
            </a:extLst>
          </p:cNvPr>
          <p:cNvSpPr>
            <a:spLocks xmlns:a="http://schemas.openxmlformats.org/drawingml/2006/main" noGrp="1"/>
          </p:cNvSpPr>
          <p:nvPr/>
        </p:nvSpPr>
        <p:spPr>
          <a:xfrm xmlns:a="http://schemas.openxmlformats.org/drawingml/2006/main">
            <a:off x="0" y="3556000"/>
            <a:ext cx="120015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000" b="1" i="0" u="none">
                <a:solidFill>
                  <a:srgbClr val="111827"/>
                </a:solidFill>
                <a:latin typeface="Noto Sans SC"/>
                <a:ea typeface="Noto Sans SC"/>
                <a:cs typeface="Noto Sans SC"/>
              </a:rPr>
              <a:t>项目背景与需求</a:t>
            </a:r>
          </a:p>
        </p:txBody>
      </p:sp>
      <p:sp>
        <p:nvSpPr>
          <p:cNvPr id="5" name="AutoShape 5">
            <a:extLst xmlns:a="http://schemas.openxmlformats.org/drawingml/2006/main">
              <a:ext uri="{FF2B5EF4-FFF2-40B4-BE49-F238E27FC236}">
                <a16:creationId xmlns:a16="http://schemas.microsoft.com/office/drawing/2014/main" id="{0EBE9315-3847-4109-A1F0-1BD818A31E93}"/>
              </a:ext>
            </a:extLst>
          </p:cNvPr>
          <p:cNvSpPr>
            <a:spLocks xmlns:a="http://schemas.openxmlformats.org/drawingml/2006/main" noGrp="1"/>
          </p:cNvSpPr>
          <p:nvPr/>
        </p:nvSpPr>
        <p:spPr>
          <a:xfrm xmlns:a="http://schemas.openxmlformats.org/drawingml/2006/main">
            <a:off x="0" y="5080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800" b="0" i="0" u="none">
                <a:solidFill>
                  <a:srgbClr val="4B5563"/>
                </a:solidFill>
                <a:latin typeface="Noto Sans SC"/>
                <a:ea typeface="Noto Sans SC"/>
                <a:cs typeface="Noto Sans SC"/>
              </a:rPr>
              <a:t>现实问题与建设目标 | 技术难点与核心创新</a:t>
            </a:r>
          </a:p>
        </p:txBody>
      </p:sp>
    </p:spTree>
    <p:extLst>
      <p:ext uri="{BB962C8B-B14F-4D97-AF65-F5344CB8AC3E}">
        <p14:creationId xmlns:p14="http://schemas.microsoft.com/office/powerpoint/2010/main" val="967709841"/>
      </p:ext>
    </p:extLst>
  </p:cSld>
</p:sld>
</file>

<file path=ppt/slides/slide4.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381ef63f660649f9"/>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8314A251-7A48-43E4-BA74-9CF32932A728}"/>
              </a:ext>
            </a:extLst>
          </p:cNvPr>
          <p:cNvSpPr>
            <a:spLocks xmlns:a="http://schemas.openxmlformats.org/drawingml/2006/main" noGrp="1"/>
          </p:cNvSpPr>
          <p:nvPr/>
        </p:nvSpPr>
        <p:spPr>
          <a:xfrm xmlns:a="http://schemas.openxmlformats.org/drawingml/2006/main">
            <a:off x="631825" y="68834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01 项目背景与需求</a:t>
            </a:r>
          </a:p>
        </p:txBody>
      </p:sp>
      <p:sp>
        <p:nvSpPr>
          <p:cNvPr id="5" name="AutoShape 5">
            <a:extLst xmlns:a="http://schemas.openxmlformats.org/drawingml/2006/main">
              <a:ext uri="{FF2B5EF4-FFF2-40B4-BE49-F238E27FC236}">
                <a16:creationId xmlns:a16="http://schemas.microsoft.com/office/drawing/2014/main" id="{BFDF0F61-7A8C-47FA-9DD0-2A6CB60BAB73}"/>
              </a:ext>
            </a:extLst>
          </p:cNvPr>
          <p:cNvSpPr>
            <a:spLocks xmlns:a="http://schemas.openxmlformats.org/drawingml/2006/main" noGrp="1"/>
          </p:cNvSpPr>
          <p:nvPr/>
        </p:nvSpPr>
        <p:spPr>
          <a:xfrm xmlns:a="http://schemas.openxmlformats.org/drawingml/2006/main">
            <a:off x="508000" y="1397000"/>
            <a:ext cx="5461000" cy="2413000"/>
          </a:xfrm>
          <a:prstGeom xmlns:a="http://schemas.openxmlformats.org/drawingml/2006/main" prst="roundRect">
            <a:avLst>
              <a:gd name="adj" fmla="val 6315"/>
            </a:avLst>
          </a:prstGeom>
          <a:solidFill xmlns:a="http://schemas.openxmlformats.org/drawingml/2006/main">
            <a:srgbClr val="FFFFFF">
              <a:alpha val="95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6" name="Picture 6"/>
          <p:cNvPicPr>
            <a:picLocks xmlns:a="http://schemas.openxmlformats.org/drawingml/2006/main" noChangeAspect="1"/>
          </p:cNvPicPr>
          <p:nvPr/>
        </p:nvPicPr>
        <p:blipFill>
          <a:blip xmlns:r="http://schemas.openxmlformats.org/officeDocument/2006/relationships" xmlns:a="http://schemas.openxmlformats.org/drawingml/2006/main" r:embed="Rfbad6eb0a8da4bbf"/>
          <a:stretch xmlns:a="http://schemas.openxmlformats.org/drawingml/2006/main">
            <a:fillRect l="0" t="0" r="0" b="0"/>
          </a:stretch>
        </p:blipFill>
        <p:spPr>
          <a:xfrm xmlns:a="http://schemas.openxmlformats.org/drawingml/2006/main">
            <a:off x="762000" y="1651000"/>
            <a:ext cx="355600" cy="355600"/>
          </a:xfrm>
          <a:prstGeom xmlns:a="http://schemas.openxmlformats.org/drawingml/2006/main" prst="rect">
            <a:avLst/>
          </a:prstGeom>
        </p:spPr>
      </p:pic>
      <p:sp>
        <p:nvSpPr>
          <p:cNvPr id="7" name="AutoShape 7">
            <a:extLst xmlns:a="http://schemas.openxmlformats.org/drawingml/2006/main">
              <a:ext uri="{FF2B5EF4-FFF2-40B4-BE49-F238E27FC236}">
                <a16:creationId xmlns:a16="http://schemas.microsoft.com/office/drawing/2014/main" id="{764232BD-5041-47A6-9572-02C500E8578E}"/>
              </a:ext>
            </a:extLst>
          </p:cNvPr>
          <p:cNvSpPr>
            <a:spLocks xmlns:a="http://schemas.openxmlformats.org/drawingml/2006/main" noGrp="1"/>
          </p:cNvSpPr>
          <p:nvPr/>
        </p:nvSpPr>
        <p:spPr>
          <a:xfrm xmlns:a="http://schemas.openxmlformats.org/drawingml/2006/main">
            <a:off x="1270000" y="1625600"/>
            <a:ext cx="4318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900" b="1" i="0" u="none">
                <a:solidFill>
                  <a:srgbClr val="2563EB"/>
                </a:solidFill>
                <a:latin typeface="Noto Sans SC"/>
                <a:ea typeface="Noto Sans SC"/>
                <a:cs typeface="Noto Sans SC"/>
              </a:rPr>
              <a:t>成长评价断点</a:t>
            </a:r>
          </a:p>
        </p:txBody>
      </p:sp>
      <p:sp>
        <p:nvSpPr>
          <p:cNvPr id="8" name="AutoShape 8">
            <a:extLst xmlns:a="http://schemas.openxmlformats.org/drawingml/2006/main">
              <a:ext uri="{FF2B5EF4-FFF2-40B4-BE49-F238E27FC236}">
                <a16:creationId xmlns:a16="http://schemas.microsoft.com/office/drawing/2014/main" id="{BA265E2E-F4FB-42F8-8FD9-E6A2A17FBF56}"/>
              </a:ext>
            </a:extLst>
          </p:cNvPr>
          <p:cNvSpPr>
            <a:spLocks xmlns:a="http://schemas.openxmlformats.org/drawingml/2006/main" noGrp="1"/>
          </p:cNvSpPr>
          <p:nvPr/>
        </p:nvSpPr>
        <p:spPr>
          <a:xfrm xmlns:a="http://schemas.openxmlformats.org/drawingml/2006/main">
            <a:off x="762000" y="2286000"/>
            <a:ext cx="49530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buNone/>
            </a:pPr>
            <a:r>
              <a:rPr sz="1300" b="0" i="0" u="none">
                <a:solidFill>
                  <a:srgbClr val="374151"/>
                </a:solidFill>
                <a:latin typeface="Noto Sans SC"/>
                <a:ea typeface="Noto Sans SC"/>
                <a:cs typeface="Noto Sans SC"/>
              </a:rPr>
              <a:t>学生材料分散在简历、课程、项目与竞赛中，传统评价难以形成统一证据链，也难以回答“能力从哪里来、下一步补什么”。</a:t>
            </a:r>
          </a:p>
        </p:txBody>
      </p:sp>
      <p:sp>
        <p:nvSpPr>
          <p:cNvPr id="9" name="AutoShape 9">
            <a:extLst xmlns:a="http://schemas.openxmlformats.org/drawingml/2006/main">
              <a:ext uri="{FF2B5EF4-FFF2-40B4-BE49-F238E27FC236}">
                <a16:creationId xmlns:a16="http://schemas.microsoft.com/office/drawing/2014/main" id="{2802A589-0E03-4AC0-A070-F71014415834}"/>
              </a:ext>
            </a:extLst>
          </p:cNvPr>
          <p:cNvSpPr>
            <a:spLocks xmlns:a="http://schemas.openxmlformats.org/drawingml/2006/main" noGrp="1"/>
          </p:cNvSpPr>
          <p:nvPr/>
        </p:nvSpPr>
        <p:spPr>
          <a:xfrm xmlns:a="http://schemas.openxmlformats.org/drawingml/2006/main">
            <a:off x="6223000" y="1397000"/>
            <a:ext cx="5461000" cy="2413000"/>
          </a:xfrm>
          <a:prstGeom xmlns:a="http://schemas.openxmlformats.org/drawingml/2006/main" prst="roundRect">
            <a:avLst>
              <a:gd name="adj" fmla="val 6315"/>
            </a:avLst>
          </a:prstGeom>
          <a:solidFill xmlns:a="http://schemas.openxmlformats.org/drawingml/2006/main">
            <a:srgbClr val="FFFFFF">
              <a:alpha val="95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0" name="Picture 10"/>
          <p:cNvPicPr>
            <a:picLocks xmlns:a="http://schemas.openxmlformats.org/drawingml/2006/main" noChangeAspect="1"/>
          </p:cNvPicPr>
          <p:nvPr/>
        </p:nvPicPr>
        <p:blipFill>
          <a:blip xmlns:r="http://schemas.openxmlformats.org/officeDocument/2006/relationships" xmlns:a="http://schemas.openxmlformats.org/drawingml/2006/main" r:embed="Red92e05986d64e77"/>
          <a:stretch xmlns:a="http://schemas.openxmlformats.org/drawingml/2006/main">
            <a:fillRect l="0" t="0" r="0" b="0"/>
          </a:stretch>
        </p:blipFill>
        <p:spPr>
          <a:xfrm xmlns:a="http://schemas.openxmlformats.org/drawingml/2006/main">
            <a:off x="6477000" y="1651000"/>
            <a:ext cx="355600" cy="355600"/>
          </a:xfrm>
          <a:prstGeom xmlns:a="http://schemas.openxmlformats.org/drawingml/2006/main" prst="rect">
            <a:avLst/>
          </a:prstGeom>
        </p:spPr>
      </p:pic>
      <p:sp>
        <p:nvSpPr>
          <p:cNvPr id="11" name="AutoShape 11">
            <a:extLst xmlns:a="http://schemas.openxmlformats.org/drawingml/2006/main">
              <a:ext uri="{FF2B5EF4-FFF2-40B4-BE49-F238E27FC236}">
                <a16:creationId xmlns:a16="http://schemas.microsoft.com/office/drawing/2014/main" id="{21F2FDFC-481F-4636-A3C9-307B2DAE50BA}"/>
              </a:ext>
            </a:extLst>
          </p:cNvPr>
          <p:cNvSpPr>
            <a:spLocks xmlns:a="http://schemas.openxmlformats.org/drawingml/2006/main" noGrp="1"/>
          </p:cNvSpPr>
          <p:nvPr/>
        </p:nvSpPr>
        <p:spPr>
          <a:xfrm xmlns:a="http://schemas.openxmlformats.org/drawingml/2006/main">
            <a:off x="6985000" y="1625600"/>
            <a:ext cx="4318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900" b="1" i="0" u="none">
                <a:solidFill>
                  <a:srgbClr val="10B981"/>
                </a:solidFill>
                <a:latin typeface="Noto Sans SC"/>
                <a:ea typeface="Noto Sans SC"/>
                <a:cs typeface="Noto Sans SC"/>
              </a:rPr>
              <a:t>就业匹配痛点</a:t>
            </a:r>
          </a:p>
        </p:txBody>
      </p:sp>
      <p:sp>
        <p:nvSpPr>
          <p:cNvPr id="12" name="AutoShape 12">
            <a:extLst xmlns:a="http://schemas.openxmlformats.org/drawingml/2006/main">
              <a:ext uri="{FF2B5EF4-FFF2-40B4-BE49-F238E27FC236}">
                <a16:creationId xmlns:a16="http://schemas.microsoft.com/office/drawing/2014/main" id="{42073E9D-0F39-4829-A52B-8B869D62A1EC}"/>
              </a:ext>
            </a:extLst>
          </p:cNvPr>
          <p:cNvSpPr>
            <a:spLocks xmlns:a="http://schemas.openxmlformats.org/drawingml/2006/main" noGrp="1"/>
          </p:cNvSpPr>
          <p:nvPr/>
        </p:nvSpPr>
        <p:spPr>
          <a:xfrm xmlns:a="http://schemas.openxmlformats.org/drawingml/2006/main">
            <a:off x="6477000" y="2286000"/>
            <a:ext cx="49530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buNone/>
            </a:pPr>
            <a:r>
              <a:rPr sz="1300" b="1" i="0" u="none">
                <a:solidFill>
                  <a:srgbClr val="374151"/>
                </a:solidFill>
                <a:latin typeface="Noto Sans SC"/>
                <a:ea typeface="Noto Sans SC"/>
                <a:cs typeface="Noto Sans SC"/>
              </a:rPr>
              <a:t>• 推荐结果容易被目标岗位关键词主导，同类岗位重复占位。</a:t>
            </a:r>
          </a:p>
          <a:p xmlns:a="http://schemas.openxmlformats.org/drawingml/2006/main">
            <a:pPr indent="0" algn="l">
              <a:lnSpc>
                <a:spcPct val="117000"/>
              </a:lnSpc>
              <a:buNone/>
            </a:pPr>
            <a:r>
              <a:rPr sz="1300" b="1" i="0" u="none">
                <a:solidFill>
                  <a:srgbClr val="374151"/>
                </a:solidFill>
                <a:latin typeface="Noto Sans SC"/>
                <a:ea typeface="Noto Sans SC"/>
                <a:cs typeface="Noto Sans SC"/>
              </a:rPr>
              <a:t>• 远程模型串行调用使首屏等待过长，结果也难以稳定复用。</a:t>
            </a:r>
          </a:p>
        </p:txBody>
      </p:sp>
      <p:sp>
        <p:nvSpPr>
          <p:cNvPr id="13" name="AutoShape 13">
            <a:extLst xmlns:a="http://schemas.openxmlformats.org/drawingml/2006/main">
              <a:ext uri="{FF2B5EF4-FFF2-40B4-BE49-F238E27FC236}">
                <a16:creationId xmlns:a16="http://schemas.microsoft.com/office/drawing/2014/main" id="{7F8A1C49-DE4B-46CC-AA35-506FB0A223C4}"/>
              </a:ext>
            </a:extLst>
          </p:cNvPr>
          <p:cNvSpPr>
            <a:spLocks xmlns:a="http://schemas.openxmlformats.org/drawingml/2006/main" noGrp="1"/>
          </p:cNvSpPr>
          <p:nvPr/>
        </p:nvSpPr>
        <p:spPr>
          <a:xfrm xmlns:a="http://schemas.openxmlformats.org/drawingml/2006/main">
            <a:off x="508000" y="4064000"/>
            <a:ext cx="5461000" cy="2413000"/>
          </a:xfrm>
          <a:prstGeom xmlns:a="http://schemas.openxmlformats.org/drawingml/2006/main" prst="roundRect">
            <a:avLst>
              <a:gd name="adj" fmla="val 6315"/>
            </a:avLst>
          </a:prstGeom>
          <a:solidFill xmlns:a="http://schemas.openxmlformats.org/drawingml/2006/main">
            <a:srgbClr val="FFFFFF">
              <a:alpha val="95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1a5667a703054273"/>
          <a:stretch xmlns:a="http://schemas.openxmlformats.org/drawingml/2006/main">
            <a:fillRect l="0" t="0" r="0" b="0"/>
          </a:stretch>
        </p:blipFill>
        <p:spPr>
          <a:xfrm xmlns:a="http://schemas.openxmlformats.org/drawingml/2006/main">
            <a:off x="762000" y="4318000"/>
            <a:ext cx="355600" cy="355600"/>
          </a:xfrm>
          <a:prstGeom xmlns:a="http://schemas.openxmlformats.org/drawingml/2006/main" prst="rect">
            <a:avLst/>
          </a:prstGeom>
        </p:spPr>
      </p:pic>
      <p:sp>
        <p:nvSpPr>
          <p:cNvPr id="15" name="AutoShape 15">
            <a:extLst xmlns:a="http://schemas.openxmlformats.org/drawingml/2006/main">
              <a:ext uri="{FF2B5EF4-FFF2-40B4-BE49-F238E27FC236}">
                <a16:creationId xmlns:a16="http://schemas.microsoft.com/office/drawing/2014/main" id="{DCE2DF23-3127-4014-95A7-6F4364156209}"/>
              </a:ext>
            </a:extLst>
          </p:cNvPr>
          <p:cNvSpPr>
            <a:spLocks xmlns:a="http://schemas.openxmlformats.org/drawingml/2006/main" noGrp="1"/>
          </p:cNvSpPr>
          <p:nvPr/>
        </p:nvSpPr>
        <p:spPr>
          <a:xfrm xmlns:a="http://schemas.openxmlformats.org/drawingml/2006/main">
            <a:off x="1270000" y="4292600"/>
            <a:ext cx="4318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900" b="1" i="0" u="none">
                <a:solidFill>
                  <a:srgbClr val="F59E0B"/>
                </a:solidFill>
                <a:latin typeface="Noto Sans SC"/>
                <a:ea typeface="Noto Sans SC"/>
                <a:cs typeface="Noto Sans SC"/>
              </a:rPr>
              <a:t>系统建设挑战</a:t>
            </a:r>
          </a:p>
        </p:txBody>
      </p:sp>
      <p:sp>
        <p:nvSpPr>
          <p:cNvPr id="16" name="AutoShape 16">
            <a:extLst xmlns:a="http://schemas.openxmlformats.org/drawingml/2006/main">
              <a:ext uri="{FF2B5EF4-FFF2-40B4-BE49-F238E27FC236}">
                <a16:creationId xmlns:a16="http://schemas.microsoft.com/office/drawing/2014/main" id="{415580D4-2C84-418E-9F80-BE4EF585F954}"/>
              </a:ext>
            </a:extLst>
          </p:cNvPr>
          <p:cNvSpPr>
            <a:spLocks xmlns:a="http://schemas.openxmlformats.org/drawingml/2006/main" noGrp="1"/>
          </p:cNvSpPr>
          <p:nvPr/>
        </p:nvSpPr>
        <p:spPr>
          <a:xfrm xmlns:a="http://schemas.openxmlformats.org/drawingml/2006/main">
            <a:off x="762000" y="4953000"/>
            <a:ext cx="49530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buNone/>
            </a:pPr>
            <a:r>
              <a:rPr sz="1300" b="0" i="0" u="none">
                <a:solidFill>
                  <a:srgbClr val="374151"/>
                </a:solidFill>
                <a:latin typeface="Noto Sans SC"/>
                <a:ea typeface="Noto Sans SC"/>
                <a:cs typeface="Noto Sans SC"/>
              </a:rPr>
              <a:t>• 同时满足可解释评分、语义理解、工作流展示和低时延。</a:t>
            </a:r>
          </a:p>
          <a:p xmlns:a="http://schemas.openxmlformats.org/drawingml/2006/main">
            <a:pPr indent="0" algn="l">
              <a:lnSpc>
                <a:spcPct val="117000"/>
              </a:lnSpc>
              <a:buNone/>
            </a:pPr>
            <a:r>
              <a:rPr sz="1300" b="0" i="0" u="none">
                <a:solidFill>
                  <a:srgbClr val="374151"/>
                </a:solidFill>
                <a:latin typeface="Noto Sans SC"/>
                <a:ea typeface="Noto Sans SC"/>
                <a:cs typeface="Noto Sans SC"/>
              </a:rPr>
              <a:t>• 将非结构化岗位文本转为可计算知识，并保证缓存版本一致。</a:t>
            </a:r>
          </a:p>
        </p:txBody>
      </p:sp>
      <p:sp>
        <p:nvSpPr>
          <p:cNvPr id="17" name="AutoShape 17">
            <a:extLst xmlns:a="http://schemas.openxmlformats.org/drawingml/2006/main">
              <a:ext uri="{FF2B5EF4-FFF2-40B4-BE49-F238E27FC236}">
                <a16:creationId xmlns:a16="http://schemas.microsoft.com/office/drawing/2014/main" id="{EAB85529-645D-4C0E-8B65-EA8560A94DF8}"/>
              </a:ext>
            </a:extLst>
          </p:cNvPr>
          <p:cNvSpPr>
            <a:spLocks xmlns:a="http://schemas.openxmlformats.org/drawingml/2006/main" noGrp="1"/>
          </p:cNvSpPr>
          <p:nvPr/>
        </p:nvSpPr>
        <p:spPr>
          <a:xfrm xmlns:a="http://schemas.openxmlformats.org/drawingml/2006/main">
            <a:off x="6223000" y="4064000"/>
            <a:ext cx="5461000" cy="2413000"/>
          </a:xfrm>
          <a:prstGeom xmlns:a="http://schemas.openxmlformats.org/drawingml/2006/main" prst="roundRect">
            <a:avLst>
              <a:gd name="adj" fmla="val 6315"/>
            </a:avLst>
          </a:prstGeom>
          <a:solidFill xmlns:a="http://schemas.openxmlformats.org/drawingml/2006/main">
            <a:srgbClr val="FFFFFF">
              <a:alpha val="95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8" name="Picture 18"/>
          <p:cNvPicPr>
            <a:picLocks xmlns:a="http://schemas.openxmlformats.org/drawingml/2006/main" noChangeAspect="1"/>
          </p:cNvPicPr>
          <p:nvPr/>
        </p:nvPicPr>
        <p:blipFill>
          <a:blip xmlns:r="http://schemas.openxmlformats.org/officeDocument/2006/relationships" xmlns:a="http://schemas.openxmlformats.org/drawingml/2006/main" r:embed="Rcfabda883d51422f"/>
          <a:stretch xmlns:a="http://schemas.openxmlformats.org/drawingml/2006/main">
            <a:fillRect l="0" t="0" r="0" b="0"/>
          </a:stretch>
        </p:blipFill>
        <p:spPr>
          <a:xfrm xmlns:a="http://schemas.openxmlformats.org/drawingml/2006/main">
            <a:off x="6477000" y="4318000"/>
            <a:ext cx="355600" cy="355600"/>
          </a:xfrm>
          <a:prstGeom xmlns:a="http://schemas.openxmlformats.org/drawingml/2006/main" prst="rect">
            <a:avLst/>
          </a:prstGeom>
        </p:spPr>
      </p:pic>
      <p:sp>
        <p:nvSpPr>
          <p:cNvPr id="19" name="AutoShape 19">
            <a:extLst xmlns:a="http://schemas.openxmlformats.org/drawingml/2006/main">
              <a:ext uri="{FF2B5EF4-FFF2-40B4-BE49-F238E27FC236}">
                <a16:creationId xmlns:a16="http://schemas.microsoft.com/office/drawing/2014/main" id="{3C26601D-E292-4F78-B398-84783681231D}"/>
              </a:ext>
            </a:extLst>
          </p:cNvPr>
          <p:cNvSpPr>
            <a:spLocks xmlns:a="http://schemas.openxmlformats.org/drawingml/2006/main" noGrp="1"/>
          </p:cNvSpPr>
          <p:nvPr/>
        </p:nvSpPr>
        <p:spPr>
          <a:xfrm xmlns:a="http://schemas.openxmlformats.org/drawingml/2006/main">
            <a:off x="6985000" y="4292600"/>
            <a:ext cx="4318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900" b="1" i="0" u="none">
                <a:solidFill>
                  <a:srgbClr val="DC2626"/>
                </a:solidFill>
                <a:latin typeface="Noto Sans SC"/>
                <a:ea typeface="Noto Sans SC"/>
                <a:cs typeface="Noto Sans SC"/>
              </a:rPr>
              <a:t>本项目核心目标</a:t>
            </a:r>
          </a:p>
        </p:txBody>
      </p:sp>
      <p:sp>
        <p:nvSpPr>
          <p:cNvPr id="20" name="AutoShape 20">
            <a:extLst xmlns:a="http://schemas.openxmlformats.org/drawingml/2006/main">
              <a:ext uri="{FF2B5EF4-FFF2-40B4-BE49-F238E27FC236}">
                <a16:creationId xmlns:a16="http://schemas.microsoft.com/office/drawing/2014/main" id="{3C4EFF49-60AF-48B9-96AE-BD13D3BA5E44}"/>
              </a:ext>
            </a:extLst>
          </p:cNvPr>
          <p:cNvSpPr>
            <a:spLocks xmlns:a="http://schemas.openxmlformats.org/drawingml/2006/main" noGrp="1"/>
          </p:cNvSpPr>
          <p:nvPr/>
        </p:nvSpPr>
        <p:spPr>
          <a:xfrm xmlns:a="http://schemas.openxmlformats.org/drawingml/2006/main">
            <a:off x="6477000" y="4953000"/>
            <a:ext cx="49530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17000"/>
              </a:lnSpc>
              <a:buNone/>
            </a:pPr>
            <a:r>
              <a:rPr sz="1300" b="0" i="0" u="none">
                <a:solidFill>
                  <a:srgbClr val="374151"/>
                </a:solidFill>
                <a:latin typeface="Noto Sans SC"/>
                <a:ea typeface="Noto Sans SC"/>
                <a:cs typeface="Noto Sans SC"/>
              </a:rPr>
              <a:t>构建“学生材料 → 四维画像 → 岗位召回 → 可解释评分 → AI 精排 → 成长建议”的闭环系统，让诊断有证据、推荐有依据、行动可执行。</a:t>
            </a:r>
          </a:p>
        </p:txBody>
      </p:sp>
    </p:spTree>
    <p:extLst>
      <p:ext uri="{BB962C8B-B14F-4D97-AF65-F5344CB8AC3E}">
        <p14:creationId xmlns:p14="http://schemas.microsoft.com/office/powerpoint/2010/main" val="472514064"/>
      </p:ext>
    </p:extLst>
  </p:cSld>
</p:sld>
</file>

<file path=ppt/slides/slide5.xml><?xml version="1.0" encoding="utf-8"?>
<p:sld xmlns:p="http://schemas.openxmlformats.org/presentationml/2006/main">
  <p:cSld>
    <p:bg>
      <p:bgPr>
        <a:blipFill xmlns:a="http://schemas.openxmlformats.org/drawingml/2006/main">
          <a:blip xmlns:r="http://schemas.openxmlformats.org/officeDocument/2006/relationships" r:embed="R55d633e4ef524b6b"/>
          <a:srcRect l="0" t="0" r="0" b="0"/>
          <a:stretch>
            <a:fillRect l="-61" t="0" r="-61" b="0"/>
          </a:stretch>
        </a:blipFill>
      </p:bgPr>
    </p:bg>
    <p:spTree>
      <p:nvGrpSpPr>
        <p:cNvPr id="1" name=""/>
        <p:cNvGrpSpPr/>
        <p:nvPr/>
      </p:nvGrpSpPr>
      <p:grpSpPr>
        <a:xfrm xmlns:a="http://schemas.openxmlformats.org/drawingml/2006/main"/>
      </p:grpSpPr>
      <p:sp>
        <p:nvSpPr>
          <p:cNvPr id="3" name="AutoShape 3">
            <a:extLst xmlns:a="http://schemas.openxmlformats.org/drawingml/2006/main">
              <a:ext uri="{FF2B5EF4-FFF2-40B4-BE49-F238E27FC236}">
                <a16:creationId xmlns:a16="http://schemas.microsoft.com/office/drawing/2014/main" id="{13C449BE-7DDF-4883-96DA-6CE2B853D255}"/>
              </a:ext>
            </a:extLst>
          </p:cNvPr>
          <p:cNvSpPr>
            <a:spLocks xmlns:a="http://schemas.openxmlformats.org/drawingml/2006/main" noGrp="1"/>
          </p:cNvSpPr>
          <p:nvPr/>
        </p:nvSpPr>
        <p:spPr>
          <a:xfrm xmlns:a="http://schemas.openxmlformats.org/drawingml/2006/main">
            <a:off x="-2695575" y="81026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200" b="1" i="0" u="none">
                <a:solidFill>
                  <a:srgbClr val="104862"/>
                </a:solidFill>
                <a:latin typeface="Noto Sans SC"/>
                <a:ea typeface="Noto Sans SC"/>
                <a:cs typeface="Noto Sans SC"/>
              </a:rPr>
              <a:t>02 技术难点与核心创新</a:t>
            </a:r>
          </a:p>
        </p:txBody>
      </p:sp>
      <p:sp>
        <p:nvSpPr>
          <p:cNvPr id="4" name="AutoShape 4">
            <a:extLst xmlns:a="http://schemas.openxmlformats.org/drawingml/2006/main">
              <a:ext uri="{FF2B5EF4-FFF2-40B4-BE49-F238E27FC236}">
                <a16:creationId xmlns:a16="http://schemas.microsoft.com/office/drawing/2014/main" id="{786D2C28-7E61-4617-9265-04FB84330BEA}"/>
              </a:ext>
            </a:extLst>
          </p:cNvPr>
          <p:cNvSpPr>
            <a:spLocks xmlns:a="http://schemas.openxmlformats.org/drawingml/2006/main" noGrp="1"/>
          </p:cNvSpPr>
          <p:nvPr/>
        </p:nvSpPr>
        <p:spPr>
          <a:xfrm xmlns:a="http://schemas.openxmlformats.org/drawingml/2006/main">
            <a:off x="508000" y="1572260"/>
            <a:ext cx="5461000" cy="4953000"/>
          </a:xfrm>
          <a:prstGeom xmlns:a="http://schemas.openxmlformats.org/drawingml/2006/main" prst="roundRect">
            <a:avLst>
              <a:gd name="adj" fmla="val 3076"/>
            </a:avLst>
          </a:prstGeom>
          <a:solidFill xmlns:a="http://schemas.openxmlformats.org/drawingml/2006/main">
            <a:srgbClr val="FFFFFF">
              <a:alpha val="100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5" name="AutoShape 5">
            <a:extLst xmlns:a="http://schemas.openxmlformats.org/drawingml/2006/main">
              <a:ext uri="{FF2B5EF4-FFF2-40B4-BE49-F238E27FC236}">
                <a16:creationId xmlns:a16="http://schemas.microsoft.com/office/drawing/2014/main" id="{57E14B2B-4598-409E-8494-45BFBDF22DA4}"/>
              </a:ext>
            </a:extLst>
          </p:cNvPr>
          <p:cNvSpPr>
            <a:spLocks xmlns:a="http://schemas.openxmlformats.org/drawingml/2006/main" noGrp="1"/>
          </p:cNvSpPr>
          <p:nvPr/>
        </p:nvSpPr>
        <p:spPr>
          <a:xfrm xmlns:a="http://schemas.openxmlformats.org/drawingml/2006/main">
            <a:off x="762000" y="1651000"/>
            <a:ext cx="4953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DC2626"/>
                </a:solidFill>
                <a:latin typeface="Noto Sans SC"/>
                <a:ea typeface="Noto Sans SC"/>
                <a:cs typeface="Noto Sans SC"/>
              </a:rPr>
              <a:t>▌ 三大建设难点</a:t>
            </a:r>
          </a:p>
        </p:txBody>
      </p:sp>
      <p:sp>
        <p:nvSpPr>
          <p:cNvPr id="6" name="AutoShape 6">
            <a:extLst xmlns:a="http://schemas.openxmlformats.org/drawingml/2006/main">
              <a:ext uri="{FF2B5EF4-FFF2-40B4-BE49-F238E27FC236}">
                <a16:creationId xmlns:a16="http://schemas.microsoft.com/office/drawing/2014/main" id="{10F1672B-0712-4C0E-9DE0-6732D31BF63F}"/>
              </a:ext>
            </a:extLst>
          </p:cNvPr>
          <p:cNvSpPr>
            <a:spLocks xmlns:a="http://schemas.openxmlformats.org/drawingml/2006/main" noGrp="1"/>
          </p:cNvSpPr>
          <p:nvPr/>
        </p:nvSpPr>
        <p:spPr>
          <a:xfrm xmlns:a="http://schemas.openxmlformats.org/drawingml/2006/main">
            <a:off x="762000" y="2413000"/>
            <a:ext cx="4953000" cy="1143000"/>
          </a:xfrm>
          <a:prstGeom xmlns:a="http://schemas.openxmlformats.org/drawingml/2006/main" prst="roundRect">
            <a:avLst>
              <a:gd name="adj" fmla="val 8888"/>
            </a:avLst>
          </a:prstGeom>
          <a:solidFill xmlns:a="http://schemas.openxmlformats.org/drawingml/2006/main">
            <a:srgbClr val="FEF2F2">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7" name="Picture 7"/>
          <p:cNvPicPr>
            <a:picLocks xmlns:a="http://schemas.openxmlformats.org/drawingml/2006/main" noChangeAspect="1"/>
          </p:cNvPicPr>
          <p:nvPr/>
        </p:nvPicPr>
        <p:blipFill>
          <a:blip xmlns:r="http://schemas.openxmlformats.org/officeDocument/2006/relationships" xmlns:a="http://schemas.openxmlformats.org/drawingml/2006/main" r:embed="R02dfc1afe9244c46"/>
          <a:stretch xmlns:a="http://schemas.openxmlformats.org/drawingml/2006/main">
            <a:fillRect l="0" t="0" r="0" b="0"/>
          </a:stretch>
        </p:blipFill>
        <p:spPr>
          <a:xfrm xmlns:a="http://schemas.openxmlformats.org/drawingml/2006/main">
            <a:off x="952500" y="2667000"/>
            <a:ext cx="355600" cy="355600"/>
          </a:xfrm>
          <a:prstGeom xmlns:a="http://schemas.openxmlformats.org/drawingml/2006/main" prst="rect">
            <a:avLst/>
          </a:prstGeom>
        </p:spPr>
      </p:pic>
      <p:sp>
        <p:nvSpPr>
          <p:cNvPr id="8" name="AutoShape 8">
            <a:extLst xmlns:a="http://schemas.openxmlformats.org/drawingml/2006/main">
              <a:ext uri="{FF2B5EF4-FFF2-40B4-BE49-F238E27FC236}">
                <a16:creationId xmlns:a16="http://schemas.microsoft.com/office/drawing/2014/main" id="{7D70782F-34AB-415A-9406-01ABDA4828F5}"/>
              </a:ext>
            </a:extLst>
          </p:cNvPr>
          <p:cNvSpPr>
            <a:spLocks xmlns:a="http://schemas.openxmlformats.org/drawingml/2006/main" noGrp="1"/>
          </p:cNvSpPr>
          <p:nvPr/>
        </p:nvSpPr>
        <p:spPr>
          <a:xfrm xmlns:a="http://schemas.openxmlformats.org/drawingml/2006/main">
            <a:off x="1524000" y="2540000"/>
            <a:ext cx="39370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500" b="1" i="0" u="none">
                <a:solidFill>
                  <a:srgbClr val="1F2937"/>
                </a:solidFill>
                <a:latin typeface="Noto Sans SC"/>
                <a:ea typeface="Noto Sans SC"/>
                <a:cs typeface="Noto Sans SC"/>
              </a:rPr>
              <a:t>多源材料结构不统一</a:t>
            </a:r>
          </a:p>
          <a:p xmlns:a="http://schemas.openxmlformats.org/drawingml/2006/main">
            <a:pPr indent="0" algn="l">
              <a:lnSpc>
                <a:spcPct val="108000"/>
              </a:lnSpc>
              <a:spcBef>
                <a:spcPts val="600"/>
              </a:spcBef>
              <a:buNone/>
            </a:pPr>
            <a:r>
              <a:rPr sz="1200" b="0" i="0" u="none">
                <a:solidFill>
                  <a:srgbClr val="4B5563"/>
                </a:solidFill>
                <a:latin typeface="Noto Sans SC"/>
                <a:ea typeface="Noto Sans SC"/>
                <a:cs typeface="Noto Sans SC"/>
              </a:rPr>
              <a:t>简历、表单、PDF 与课程记录格式差异大，基础信息、技能和项目证据容易遗漏。</a:t>
            </a:r>
          </a:p>
        </p:txBody>
      </p:sp>
      <p:sp>
        <p:nvSpPr>
          <p:cNvPr id="9" name="AutoShape 9">
            <a:extLst xmlns:a="http://schemas.openxmlformats.org/drawingml/2006/main">
              <a:ext uri="{FF2B5EF4-FFF2-40B4-BE49-F238E27FC236}">
                <a16:creationId xmlns:a16="http://schemas.microsoft.com/office/drawing/2014/main" id="{9EB0179C-B78F-4951-83AD-9BBF56E7DF70}"/>
              </a:ext>
            </a:extLst>
          </p:cNvPr>
          <p:cNvSpPr>
            <a:spLocks xmlns:a="http://schemas.openxmlformats.org/drawingml/2006/main" noGrp="1"/>
          </p:cNvSpPr>
          <p:nvPr/>
        </p:nvSpPr>
        <p:spPr>
          <a:xfrm xmlns:a="http://schemas.openxmlformats.org/drawingml/2006/main">
            <a:off x="762000" y="3746500"/>
            <a:ext cx="4953000" cy="1143000"/>
          </a:xfrm>
          <a:prstGeom xmlns:a="http://schemas.openxmlformats.org/drawingml/2006/main" prst="roundRect">
            <a:avLst>
              <a:gd name="adj" fmla="val 8888"/>
            </a:avLst>
          </a:prstGeom>
          <a:solidFill xmlns:a="http://schemas.openxmlformats.org/drawingml/2006/main">
            <a:srgbClr val="FEF2F2">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0" name="Picture 10"/>
          <p:cNvPicPr>
            <a:picLocks xmlns:a="http://schemas.openxmlformats.org/drawingml/2006/main" noChangeAspect="1"/>
          </p:cNvPicPr>
          <p:nvPr/>
        </p:nvPicPr>
        <p:blipFill>
          <a:blip xmlns:r="http://schemas.openxmlformats.org/officeDocument/2006/relationships" xmlns:a="http://schemas.openxmlformats.org/drawingml/2006/main" r:embed="R2c301fac8df54991"/>
          <a:stretch xmlns:a="http://schemas.openxmlformats.org/drawingml/2006/main">
            <a:fillRect l="0" t="0" r="0" b="0"/>
          </a:stretch>
        </p:blipFill>
        <p:spPr>
          <a:xfrm xmlns:a="http://schemas.openxmlformats.org/drawingml/2006/main">
            <a:off x="952500" y="4000500"/>
            <a:ext cx="355600" cy="355600"/>
          </a:xfrm>
          <a:prstGeom xmlns:a="http://schemas.openxmlformats.org/drawingml/2006/main" prst="rect">
            <a:avLst/>
          </a:prstGeom>
        </p:spPr>
      </p:pic>
      <p:sp>
        <p:nvSpPr>
          <p:cNvPr id="11" name="AutoShape 11">
            <a:extLst xmlns:a="http://schemas.openxmlformats.org/drawingml/2006/main">
              <a:ext uri="{FF2B5EF4-FFF2-40B4-BE49-F238E27FC236}">
                <a16:creationId xmlns:a16="http://schemas.microsoft.com/office/drawing/2014/main" id="{4DC4925F-38F6-4EAD-9A3C-C1E5AC87D9CD}"/>
              </a:ext>
            </a:extLst>
          </p:cNvPr>
          <p:cNvSpPr>
            <a:spLocks xmlns:a="http://schemas.openxmlformats.org/drawingml/2006/main" noGrp="1"/>
          </p:cNvSpPr>
          <p:nvPr/>
        </p:nvSpPr>
        <p:spPr>
          <a:xfrm xmlns:a="http://schemas.openxmlformats.org/drawingml/2006/main">
            <a:off x="1524000" y="3873500"/>
            <a:ext cx="39370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500" b="1" i="0" u="none">
                <a:solidFill>
                  <a:srgbClr val="1F2937"/>
                </a:solidFill>
                <a:latin typeface="Noto Sans SC"/>
                <a:ea typeface="Noto Sans SC"/>
                <a:cs typeface="Noto Sans SC"/>
              </a:rPr>
              <a:t>智能质量与响应速度矛盾</a:t>
            </a:r>
          </a:p>
          <a:p xmlns:a="http://schemas.openxmlformats.org/drawingml/2006/main">
            <a:pPr indent="0" algn="l">
              <a:lnSpc>
                <a:spcPct val="108000"/>
              </a:lnSpc>
              <a:spcBef>
                <a:spcPts val="600"/>
              </a:spcBef>
              <a:buNone/>
            </a:pPr>
            <a:r>
              <a:rPr sz="1200" b="0" i="0" u="none">
                <a:solidFill>
                  <a:srgbClr val="4B5563"/>
                </a:solidFill>
                <a:latin typeface="Noto Sans SC"/>
                <a:ea typeface="Noto Sans SC"/>
                <a:cs typeface="Noto Sans SC"/>
              </a:rPr>
              <a:t>多次 LLM 串行调用虽然语义丰富，但会显著拉长画像生成和岗位匹配时间。</a:t>
            </a:r>
          </a:p>
        </p:txBody>
      </p:sp>
      <p:sp>
        <p:nvSpPr>
          <p:cNvPr id="12" name="AutoShape 12">
            <a:extLst xmlns:a="http://schemas.openxmlformats.org/drawingml/2006/main">
              <a:ext uri="{FF2B5EF4-FFF2-40B4-BE49-F238E27FC236}">
                <a16:creationId xmlns:a16="http://schemas.microsoft.com/office/drawing/2014/main" id="{17660C9F-9177-4DED-97DE-05F05D6A3D3E}"/>
              </a:ext>
            </a:extLst>
          </p:cNvPr>
          <p:cNvSpPr>
            <a:spLocks xmlns:a="http://schemas.openxmlformats.org/drawingml/2006/main" noGrp="1"/>
          </p:cNvSpPr>
          <p:nvPr/>
        </p:nvSpPr>
        <p:spPr>
          <a:xfrm xmlns:a="http://schemas.openxmlformats.org/drawingml/2006/main">
            <a:off x="762000" y="5080000"/>
            <a:ext cx="4953000" cy="1143000"/>
          </a:xfrm>
          <a:prstGeom xmlns:a="http://schemas.openxmlformats.org/drawingml/2006/main" prst="roundRect">
            <a:avLst>
              <a:gd name="adj" fmla="val 8888"/>
            </a:avLst>
          </a:prstGeom>
          <a:solidFill xmlns:a="http://schemas.openxmlformats.org/drawingml/2006/main">
            <a:srgbClr val="FEF2F2">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3" name="Picture 13"/>
          <p:cNvPicPr>
            <a:picLocks xmlns:a="http://schemas.openxmlformats.org/drawingml/2006/main" noChangeAspect="1"/>
          </p:cNvPicPr>
          <p:nvPr/>
        </p:nvPicPr>
        <p:blipFill>
          <a:blip xmlns:r="http://schemas.openxmlformats.org/officeDocument/2006/relationships" xmlns:a="http://schemas.openxmlformats.org/drawingml/2006/main" r:embed="R366cb7ee5f16421e"/>
          <a:stretch xmlns:a="http://schemas.openxmlformats.org/drawingml/2006/main">
            <a:fillRect l="0" t="0" r="0" b="0"/>
          </a:stretch>
        </p:blipFill>
        <p:spPr>
          <a:xfrm xmlns:a="http://schemas.openxmlformats.org/drawingml/2006/main">
            <a:off x="952500" y="5334000"/>
            <a:ext cx="355600" cy="355600"/>
          </a:xfrm>
          <a:prstGeom xmlns:a="http://schemas.openxmlformats.org/drawingml/2006/main" prst="rect">
            <a:avLst/>
          </a:prstGeom>
        </p:spPr>
      </p:pic>
      <p:sp>
        <p:nvSpPr>
          <p:cNvPr id="14" name="AutoShape 14">
            <a:extLst xmlns:a="http://schemas.openxmlformats.org/drawingml/2006/main">
              <a:ext uri="{FF2B5EF4-FFF2-40B4-BE49-F238E27FC236}">
                <a16:creationId xmlns:a16="http://schemas.microsoft.com/office/drawing/2014/main" id="{E4ECFC40-472D-48A8-AFD7-BBB96A7DDCCB}"/>
              </a:ext>
            </a:extLst>
          </p:cNvPr>
          <p:cNvSpPr>
            <a:spLocks xmlns:a="http://schemas.openxmlformats.org/drawingml/2006/main" noGrp="1"/>
          </p:cNvSpPr>
          <p:nvPr/>
        </p:nvSpPr>
        <p:spPr>
          <a:xfrm xmlns:a="http://schemas.openxmlformats.org/drawingml/2006/main">
            <a:off x="1524000" y="5207000"/>
            <a:ext cx="39370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500" b="1" i="0" u="none">
                <a:solidFill>
                  <a:srgbClr val="1F2937"/>
                </a:solidFill>
                <a:latin typeface="Noto Sans SC"/>
                <a:ea typeface="Noto Sans SC"/>
                <a:cs typeface="Noto Sans SC"/>
              </a:rPr>
              <a:t>岗位推荐同质化</a:t>
            </a:r>
          </a:p>
          <a:p xmlns:a="http://schemas.openxmlformats.org/drawingml/2006/main">
            <a:pPr indent="0" algn="l">
              <a:lnSpc>
                <a:spcPct val="108000"/>
              </a:lnSpc>
              <a:spcBef>
                <a:spcPts val="600"/>
              </a:spcBef>
              <a:buNone/>
            </a:pPr>
            <a:r>
              <a:rPr sz="1200" b="0" i="0" u="none">
                <a:solidFill>
                  <a:srgbClr val="4B5563"/>
                </a:solidFill>
                <a:latin typeface="Noto Sans SC"/>
                <a:ea typeface="Noto Sans SC"/>
                <a:cs typeface="Noto Sans SC"/>
              </a:rPr>
              <a:t>标题近义、技能高度重叠的岗位会重复进入 TOP5，降低结果覆盖面与决策价值。</a:t>
            </a:r>
          </a:p>
        </p:txBody>
      </p:sp>
      <p:sp>
        <p:nvSpPr>
          <p:cNvPr id="15" name="AutoShape 15">
            <a:extLst xmlns:a="http://schemas.openxmlformats.org/drawingml/2006/main">
              <a:ext uri="{FF2B5EF4-FFF2-40B4-BE49-F238E27FC236}">
                <a16:creationId xmlns:a16="http://schemas.microsoft.com/office/drawing/2014/main" id="{20C1DA0F-D40D-451A-A5CB-0BE0607DDA37}"/>
              </a:ext>
            </a:extLst>
          </p:cNvPr>
          <p:cNvSpPr>
            <a:spLocks xmlns:a="http://schemas.openxmlformats.org/drawingml/2006/main" noGrp="1"/>
          </p:cNvSpPr>
          <p:nvPr/>
        </p:nvSpPr>
        <p:spPr>
          <a:xfrm xmlns:a="http://schemas.openxmlformats.org/drawingml/2006/main">
            <a:off x="6223000" y="1572260"/>
            <a:ext cx="5461000" cy="4953000"/>
          </a:xfrm>
          <a:prstGeom xmlns:a="http://schemas.openxmlformats.org/drawingml/2006/main" prst="roundRect">
            <a:avLst>
              <a:gd name="adj" fmla="val 3076"/>
            </a:avLst>
          </a:prstGeom>
          <a:solidFill xmlns:a="http://schemas.openxmlformats.org/drawingml/2006/main">
            <a:srgbClr val="FFFFFF">
              <a:alpha val="100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6" name="AutoShape 16">
            <a:extLst xmlns:a="http://schemas.openxmlformats.org/drawingml/2006/main">
              <a:ext uri="{FF2B5EF4-FFF2-40B4-BE49-F238E27FC236}">
                <a16:creationId xmlns:a16="http://schemas.microsoft.com/office/drawing/2014/main" id="{4B401B7B-8A56-4257-B901-027BB9BF9AD0}"/>
              </a:ext>
            </a:extLst>
          </p:cNvPr>
          <p:cNvSpPr>
            <a:spLocks xmlns:a="http://schemas.openxmlformats.org/drawingml/2006/main" noGrp="1"/>
          </p:cNvSpPr>
          <p:nvPr/>
        </p:nvSpPr>
        <p:spPr>
          <a:xfrm xmlns:a="http://schemas.openxmlformats.org/drawingml/2006/main">
            <a:off x="6477000" y="1651000"/>
            <a:ext cx="4953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2563EB"/>
                </a:solidFill>
                <a:latin typeface="Noto Sans SC"/>
                <a:ea typeface="Noto Sans SC"/>
                <a:cs typeface="Noto Sans SC"/>
              </a:rPr>
              <a:t>▌ 四项核心创新</a:t>
            </a:r>
          </a:p>
        </p:txBody>
      </p:sp>
      <p:sp>
        <p:nvSpPr>
          <p:cNvPr id="17" name="AutoShape 17">
            <a:extLst xmlns:a="http://schemas.openxmlformats.org/drawingml/2006/main">
              <a:ext uri="{FF2B5EF4-FFF2-40B4-BE49-F238E27FC236}">
                <a16:creationId xmlns:a16="http://schemas.microsoft.com/office/drawing/2014/main" id="{1B14114F-878E-4D74-AA59-58C5A49383ED}"/>
              </a:ext>
            </a:extLst>
          </p:cNvPr>
          <p:cNvSpPr>
            <a:spLocks xmlns:a="http://schemas.openxmlformats.org/drawingml/2006/main" noGrp="1"/>
          </p:cNvSpPr>
          <p:nvPr/>
        </p:nvSpPr>
        <p:spPr>
          <a:xfrm xmlns:a="http://schemas.openxmlformats.org/drawingml/2006/main">
            <a:off x="6477000" y="2413000"/>
            <a:ext cx="2413000" cy="1778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8" name="Picture 18"/>
          <p:cNvPicPr>
            <a:picLocks xmlns:a="http://schemas.openxmlformats.org/drawingml/2006/main" noChangeAspect="1"/>
          </p:cNvPicPr>
          <p:nvPr/>
        </p:nvPicPr>
        <p:blipFill>
          <a:blip xmlns:r="http://schemas.openxmlformats.org/officeDocument/2006/relationships" xmlns:a="http://schemas.openxmlformats.org/drawingml/2006/main" r:embed="Rb0102b7b8d514695"/>
          <a:stretch xmlns:a="http://schemas.openxmlformats.org/drawingml/2006/main">
            <a:fillRect l="0" t="0" r="0" b="0"/>
          </a:stretch>
        </p:blipFill>
        <p:spPr>
          <a:xfrm xmlns:a="http://schemas.openxmlformats.org/drawingml/2006/main">
            <a:off x="6629400" y="2603500"/>
            <a:ext cx="304800" cy="304800"/>
          </a:xfrm>
          <a:prstGeom xmlns:a="http://schemas.openxmlformats.org/drawingml/2006/main" prst="rect">
            <a:avLst/>
          </a:prstGeom>
        </p:spPr>
      </p:pic>
      <p:sp>
        <p:nvSpPr>
          <p:cNvPr id="19" name="AutoShape 19">
            <a:extLst xmlns:a="http://schemas.openxmlformats.org/drawingml/2006/main">
              <a:ext uri="{FF2B5EF4-FFF2-40B4-BE49-F238E27FC236}">
                <a16:creationId xmlns:a16="http://schemas.microsoft.com/office/drawing/2014/main" id="{6D4C64D1-FC45-4E4D-A33A-FD3957464921}"/>
              </a:ext>
            </a:extLst>
          </p:cNvPr>
          <p:cNvSpPr>
            <a:spLocks xmlns:a="http://schemas.openxmlformats.org/drawingml/2006/main" noGrp="1"/>
          </p:cNvSpPr>
          <p:nvPr/>
        </p:nvSpPr>
        <p:spPr>
          <a:xfrm xmlns:a="http://schemas.openxmlformats.org/drawingml/2006/main">
            <a:off x="7048500" y="2565400"/>
            <a:ext cx="1714500" cy="1397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400" b="1" i="0" u="none">
                <a:solidFill>
                  <a:srgbClr val="1F2937"/>
                </a:solidFill>
                <a:latin typeface="Noto Sans SC"/>
                <a:ea typeface="Noto Sans SC"/>
                <a:cs typeface="Noto Sans SC"/>
              </a:rPr>
              <a:t>四维画像证据化</a:t>
            </a:r>
          </a:p>
          <a:p xmlns:a="http://schemas.openxmlformats.org/drawingml/2006/main">
            <a:pPr indent="0" algn="l">
              <a:lnSpc>
                <a:spcPct val="117000"/>
              </a:lnSpc>
              <a:spcBef>
                <a:spcPts val="800"/>
              </a:spcBef>
              <a:buNone/>
            </a:pPr>
            <a:r>
              <a:rPr sz="1100" b="0" i="0" u="none">
                <a:solidFill>
                  <a:srgbClr val="4B5563"/>
                </a:solidFill>
                <a:latin typeface="Noto Sans SC"/>
                <a:ea typeface="Noto Sans SC"/>
                <a:cs typeface="Noto Sans SC"/>
              </a:rPr>
              <a:t>专业、实践、工具、职业四维评分绑定证据卡和行动项，避免不可解释综合分。</a:t>
            </a:r>
          </a:p>
        </p:txBody>
      </p:sp>
      <p:sp>
        <p:nvSpPr>
          <p:cNvPr id="20" name="AutoShape 20">
            <a:extLst xmlns:a="http://schemas.openxmlformats.org/drawingml/2006/main">
              <a:ext uri="{FF2B5EF4-FFF2-40B4-BE49-F238E27FC236}">
                <a16:creationId xmlns:a16="http://schemas.microsoft.com/office/drawing/2014/main" id="{484B77B8-D168-4EF2-9B93-F924F9000D41}"/>
              </a:ext>
            </a:extLst>
          </p:cNvPr>
          <p:cNvSpPr>
            <a:spLocks xmlns:a="http://schemas.openxmlformats.org/drawingml/2006/main" noGrp="1"/>
          </p:cNvSpPr>
          <p:nvPr/>
        </p:nvSpPr>
        <p:spPr>
          <a:xfrm xmlns:a="http://schemas.openxmlformats.org/drawingml/2006/main">
            <a:off x="9017000" y="2413000"/>
            <a:ext cx="2413000" cy="1778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21" name="Picture 21"/>
          <p:cNvPicPr>
            <a:picLocks xmlns:a="http://schemas.openxmlformats.org/drawingml/2006/main" noChangeAspect="1"/>
          </p:cNvPicPr>
          <p:nvPr/>
        </p:nvPicPr>
        <p:blipFill>
          <a:blip xmlns:r="http://schemas.openxmlformats.org/officeDocument/2006/relationships" xmlns:a="http://schemas.openxmlformats.org/drawingml/2006/main" r:embed="R7b23b2356e734582"/>
          <a:stretch xmlns:a="http://schemas.openxmlformats.org/drawingml/2006/main">
            <a:fillRect l="0" t="0" r="0" b="0"/>
          </a:stretch>
        </p:blipFill>
        <p:spPr>
          <a:xfrm xmlns:a="http://schemas.openxmlformats.org/drawingml/2006/main">
            <a:off x="9169400" y="2603500"/>
            <a:ext cx="304800" cy="304800"/>
          </a:xfrm>
          <a:prstGeom xmlns:a="http://schemas.openxmlformats.org/drawingml/2006/main" prst="rect">
            <a:avLst/>
          </a:prstGeom>
        </p:spPr>
      </p:pic>
      <p:sp>
        <p:nvSpPr>
          <p:cNvPr id="22" name="AutoShape 22">
            <a:extLst xmlns:a="http://schemas.openxmlformats.org/drawingml/2006/main">
              <a:ext uri="{FF2B5EF4-FFF2-40B4-BE49-F238E27FC236}">
                <a16:creationId xmlns:a16="http://schemas.microsoft.com/office/drawing/2014/main" id="{F0C5808F-44AC-4587-9D91-764E7324F1F3}"/>
              </a:ext>
            </a:extLst>
          </p:cNvPr>
          <p:cNvSpPr>
            <a:spLocks xmlns:a="http://schemas.openxmlformats.org/drawingml/2006/main" noGrp="1"/>
          </p:cNvSpPr>
          <p:nvPr/>
        </p:nvSpPr>
        <p:spPr>
          <a:xfrm xmlns:a="http://schemas.openxmlformats.org/drawingml/2006/main">
            <a:off x="9588500" y="2565400"/>
            <a:ext cx="1714500" cy="1397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400" b="1" i="0" u="none">
                <a:solidFill>
                  <a:srgbClr val="1F2937"/>
                </a:solidFill>
                <a:latin typeface="Noto Sans SC"/>
                <a:ea typeface="Noto Sans SC"/>
                <a:cs typeface="Noto Sans SC"/>
              </a:rPr>
              <a:t>单次 LLM + 多工具复核</a:t>
            </a:r>
          </a:p>
          <a:p xmlns:a="http://schemas.openxmlformats.org/drawingml/2006/main">
            <a:pPr indent="0" algn="l">
              <a:lnSpc>
                <a:spcPct val="117000"/>
              </a:lnSpc>
              <a:spcBef>
                <a:spcPts val="800"/>
              </a:spcBef>
              <a:buNone/>
            </a:pPr>
            <a:r>
              <a:rPr sz="1100" b="0" i="0" u="none">
                <a:solidFill>
                  <a:srgbClr val="4B5563"/>
                </a:solidFill>
                <a:latin typeface="Noto Sans SC"/>
                <a:ea typeface="Noto Sans SC"/>
                <a:cs typeface="Noto Sans SC"/>
              </a:rPr>
              <a:t>一次语义生成保留五类专家角色、七次工具调用和完整交接日志。</a:t>
            </a:r>
          </a:p>
        </p:txBody>
      </p:sp>
      <p:sp>
        <p:nvSpPr>
          <p:cNvPr id="23" name="AutoShape 23">
            <a:extLst xmlns:a="http://schemas.openxmlformats.org/drawingml/2006/main">
              <a:ext uri="{FF2B5EF4-FFF2-40B4-BE49-F238E27FC236}">
                <a16:creationId xmlns:a16="http://schemas.microsoft.com/office/drawing/2014/main" id="{04F33965-87C5-49F5-A86F-2F7850EC529C}"/>
              </a:ext>
            </a:extLst>
          </p:cNvPr>
          <p:cNvSpPr>
            <a:spLocks xmlns:a="http://schemas.openxmlformats.org/drawingml/2006/main" noGrp="1"/>
          </p:cNvSpPr>
          <p:nvPr/>
        </p:nvSpPr>
        <p:spPr>
          <a:xfrm xmlns:a="http://schemas.openxmlformats.org/drawingml/2006/main">
            <a:off x="6477000" y="4381500"/>
            <a:ext cx="2413000" cy="1778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24" name="Picture 24"/>
          <p:cNvPicPr>
            <a:picLocks xmlns:a="http://schemas.openxmlformats.org/drawingml/2006/main" noChangeAspect="1"/>
          </p:cNvPicPr>
          <p:nvPr/>
        </p:nvPicPr>
        <p:blipFill>
          <a:blip xmlns:r="http://schemas.openxmlformats.org/officeDocument/2006/relationships" xmlns:a="http://schemas.openxmlformats.org/drawingml/2006/main" r:embed="Rf489cb459f104fca"/>
          <a:stretch xmlns:a="http://schemas.openxmlformats.org/drawingml/2006/main">
            <a:fillRect l="0" t="0" r="0" b="0"/>
          </a:stretch>
        </p:blipFill>
        <p:spPr>
          <a:xfrm xmlns:a="http://schemas.openxmlformats.org/drawingml/2006/main">
            <a:off x="6629400" y="4572000"/>
            <a:ext cx="304800" cy="304800"/>
          </a:xfrm>
          <a:prstGeom xmlns:a="http://schemas.openxmlformats.org/drawingml/2006/main" prst="rect">
            <a:avLst/>
          </a:prstGeom>
        </p:spPr>
      </p:pic>
      <p:sp>
        <p:nvSpPr>
          <p:cNvPr id="25" name="AutoShape 25">
            <a:extLst xmlns:a="http://schemas.openxmlformats.org/drawingml/2006/main">
              <a:ext uri="{FF2B5EF4-FFF2-40B4-BE49-F238E27FC236}">
                <a16:creationId xmlns:a16="http://schemas.microsoft.com/office/drawing/2014/main" id="{CE92AD90-CE59-46F2-8D56-B39B79EB0E8F}"/>
              </a:ext>
            </a:extLst>
          </p:cNvPr>
          <p:cNvSpPr>
            <a:spLocks xmlns:a="http://schemas.openxmlformats.org/drawingml/2006/main" noGrp="1"/>
          </p:cNvSpPr>
          <p:nvPr/>
        </p:nvSpPr>
        <p:spPr>
          <a:xfrm xmlns:a="http://schemas.openxmlformats.org/drawingml/2006/main">
            <a:off x="7048500" y="4533900"/>
            <a:ext cx="1714500" cy="1397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400" b="1" i="0" u="none">
                <a:solidFill>
                  <a:srgbClr val="1F2937"/>
                </a:solidFill>
                <a:latin typeface="Noto Sans SC"/>
                <a:ea typeface="Noto Sans SC"/>
                <a:cs typeface="Noto Sans SC"/>
              </a:rPr>
              <a:t>本地召回与双向精排</a:t>
            </a:r>
          </a:p>
          <a:p xmlns:a="http://schemas.openxmlformats.org/drawingml/2006/main">
            <a:pPr indent="0" algn="l">
              <a:lnSpc>
                <a:spcPct val="117000"/>
              </a:lnSpc>
              <a:spcBef>
                <a:spcPts val="800"/>
              </a:spcBef>
              <a:buNone/>
            </a:pPr>
            <a:r>
              <a:rPr sz="1100" b="0" i="0" u="none">
                <a:solidFill>
                  <a:srgbClr val="4B5563"/>
                </a:solidFill>
                <a:latin typeface="Noto Sans SC"/>
                <a:ea typeface="Noto Sans SC"/>
                <a:cs typeface="Noto Sans SC"/>
              </a:rPr>
              <a:t>先本地稀疏召回和规则评分，再以学生适岗分与岗位适生分完成 AI 增强。</a:t>
            </a:r>
          </a:p>
        </p:txBody>
      </p:sp>
      <p:sp>
        <p:nvSpPr>
          <p:cNvPr id="26" name="AutoShape 26">
            <a:extLst xmlns:a="http://schemas.openxmlformats.org/drawingml/2006/main">
              <a:ext uri="{FF2B5EF4-FFF2-40B4-BE49-F238E27FC236}">
                <a16:creationId xmlns:a16="http://schemas.microsoft.com/office/drawing/2014/main" id="{2418360F-60AB-4E5F-8337-0AF68E941C54}"/>
              </a:ext>
            </a:extLst>
          </p:cNvPr>
          <p:cNvSpPr>
            <a:spLocks xmlns:a="http://schemas.openxmlformats.org/drawingml/2006/main" noGrp="1"/>
          </p:cNvSpPr>
          <p:nvPr/>
        </p:nvSpPr>
        <p:spPr>
          <a:xfrm xmlns:a="http://schemas.openxmlformats.org/drawingml/2006/main">
            <a:off x="9017000" y="4381500"/>
            <a:ext cx="2413000" cy="1778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27" name="Picture 27"/>
          <p:cNvPicPr>
            <a:picLocks xmlns:a="http://schemas.openxmlformats.org/drawingml/2006/main" noChangeAspect="1"/>
          </p:cNvPicPr>
          <p:nvPr/>
        </p:nvPicPr>
        <p:blipFill>
          <a:blip xmlns:r="http://schemas.openxmlformats.org/officeDocument/2006/relationships" xmlns:a="http://schemas.openxmlformats.org/drawingml/2006/main" r:embed="R9c3aec69b85f48eb"/>
          <a:stretch xmlns:a="http://schemas.openxmlformats.org/drawingml/2006/main">
            <a:fillRect l="0" t="0" r="0" b="0"/>
          </a:stretch>
        </p:blipFill>
        <p:spPr>
          <a:xfrm xmlns:a="http://schemas.openxmlformats.org/drawingml/2006/main">
            <a:off x="9169400" y="4572000"/>
            <a:ext cx="304800" cy="304800"/>
          </a:xfrm>
          <a:prstGeom xmlns:a="http://schemas.openxmlformats.org/drawingml/2006/main" prst="rect">
            <a:avLst/>
          </a:prstGeom>
        </p:spPr>
      </p:pic>
      <p:sp>
        <p:nvSpPr>
          <p:cNvPr id="28" name="AutoShape 28">
            <a:extLst xmlns:a="http://schemas.openxmlformats.org/drawingml/2006/main">
              <a:ext uri="{FF2B5EF4-FFF2-40B4-BE49-F238E27FC236}">
                <a16:creationId xmlns:a16="http://schemas.microsoft.com/office/drawing/2014/main" id="{E4197C94-2453-426D-8AB7-CDC3ADB0E053}"/>
              </a:ext>
            </a:extLst>
          </p:cNvPr>
          <p:cNvSpPr>
            <a:spLocks xmlns:a="http://schemas.openxmlformats.org/drawingml/2006/main" noGrp="1"/>
          </p:cNvSpPr>
          <p:nvPr/>
        </p:nvSpPr>
        <p:spPr>
          <a:xfrm xmlns:a="http://schemas.openxmlformats.org/drawingml/2006/main">
            <a:off x="9588500" y="4533900"/>
            <a:ext cx="1714500" cy="1397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400" b="1" i="0" u="none">
                <a:solidFill>
                  <a:srgbClr val="1F2937"/>
                </a:solidFill>
                <a:latin typeface="Noto Sans SC"/>
                <a:ea typeface="Noto Sans SC"/>
                <a:cs typeface="Noto Sans SC"/>
              </a:rPr>
              <a:t>版本化持久缓存</a:t>
            </a:r>
          </a:p>
          <a:p xmlns:a="http://schemas.openxmlformats.org/drawingml/2006/main">
            <a:pPr indent="0" algn="l">
              <a:lnSpc>
                <a:spcPct val="117000"/>
              </a:lnSpc>
              <a:spcBef>
                <a:spcPts val="800"/>
              </a:spcBef>
              <a:buNone/>
            </a:pPr>
            <a:r>
              <a:rPr sz="1100" b="0" i="0" u="none">
                <a:solidFill>
                  <a:srgbClr val="4B5563"/>
                </a:solidFill>
                <a:latin typeface="Noto Sans SC"/>
                <a:ea typeface="Noto Sans SC"/>
                <a:cs typeface="Noto Sans SC"/>
              </a:rPr>
              <a:t>以诊断、岗位库和算法版本生成缓存键，应用重启后仍可复用匹配结果。</a:t>
            </a:r>
          </a:p>
        </p:txBody>
      </p:sp>
    </p:spTree>
    <p:extLst>
      <p:ext uri="{BB962C8B-B14F-4D97-AF65-F5344CB8AC3E}">
        <p14:creationId xmlns:p14="http://schemas.microsoft.com/office/powerpoint/2010/main" val="491587697"/>
      </p:ext>
    </p:extLst>
  </p:cSld>
</p:sld>
</file>

<file path=ppt/slides/slide6.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40cfe32ead2e4c7a"/>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FBB6E4B3-00C0-4A25-97E0-9EC31B0270CC}"/>
              </a:ext>
            </a:extLst>
          </p:cNvPr>
          <p:cNvSpPr>
            <a:spLocks xmlns:a="http://schemas.openxmlformats.org/drawingml/2006/main" noGrp="1"/>
          </p:cNvSpPr>
          <p:nvPr/>
        </p:nvSpPr>
        <p:spPr>
          <a:xfrm xmlns:a="http://schemas.openxmlformats.org/drawingml/2006/main">
            <a:off x="0" y="1778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E3A8A"/>
                </a:solidFill>
                <a:latin typeface="微软雅黑"/>
                <a:ea typeface="微软雅黑"/>
                <a:cs typeface="微软雅黑"/>
              </a:rPr>
              <a:t>02</a:t>
            </a:r>
          </a:p>
        </p:txBody>
      </p:sp>
      <p:sp>
        <p:nvSpPr>
          <p:cNvPr id="4" name="AutoShape 4">
            <a:extLst xmlns:a="http://schemas.openxmlformats.org/drawingml/2006/main">
              <a:ext uri="{FF2B5EF4-FFF2-40B4-BE49-F238E27FC236}">
                <a16:creationId xmlns:a16="http://schemas.microsoft.com/office/drawing/2014/main" id="{9BEE188C-4FB8-44CF-BA6C-0096B9412922}"/>
              </a:ext>
            </a:extLst>
          </p:cNvPr>
          <p:cNvSpPr>
            <a:spLocks xmlns:a="http://schemas.openxmlformats.org/drawingml/2006/main" noGrp="1"/>
          </p:cNvSpPr>
          <p:nvPr/>
        </p:nvSpPr>
        <p:spPr>
          <a:xfrm xmlns:a="http://schemas.openxmlformats.org/drawingml/2006/main">
            <a:off x="0" y="3556000"/>
            <a:ext cx="120015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000" b="1" i="0" u="none">
                <a:solidFill>
                  <a:srgbClr val="111827"/>
                </a:solidFill>
                <a:latin typeface="Noto Sans SC"/>
                <a:ea typeface="Noto Sans SC"/>
                <a:cs typeface="Noto Sans SC"/>
              </a:rPr>
              <a:t>系统设计与智能体协作</a:t>
            </a:r>
          </a:p>
        </p:txBody>
      </p:sp>
      <p:sp>
        <p:nvSpPr>
          <p:cNvPr id="5" name="AutoShape 5">
            <a:extLst xmlns:a="http://schemas.openxmlformats.org/drawingml/2006/main">
              <a:ext uri="{FF2B5EF4-FFF2-40B4-BE49-F238E27FC236}">
                <a16:creationId xmlns:a16="http://schemas.microsoft.com/office/drawing/2014/main" id="{9F8682E0-B030-46D2-A9AD-876D9E7AB453}"/>
              </a:ext>
            </a:extLst>
          </p:cNvPr>
          <p:cNvSpPr>
            <a:spLocks xmlns:a="http://schemas.openxmlformats.org/drawingml/2006/main" noGrp="1"/>
          </p:cNvSpPr>
          <p:nvPr/>
        </p:nvSpPr>
        <p:spPr>
          <a:xfrm xmlns:a="http://schemas.openxmlformats.org/drawingml/2006/main">
            <a:off x="0" y="5080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800" b="0" i="0" u="none">
                <a:solidFill>
                  <a:srgbClr val="4B5563"/>
                </a:solidFill>
                <a:latin typeface="Noto Sans SC"/>
                <a:ea typeface="Noto Sans SC"/>
                <a:cs typeface="Noto Sans SC"/>
              </a:rPr>
              <a:t>总体技术路线 | 系统架构 | 四维画像 | 单次 LLM 与工具复核</a:t>
            </a:r>
          </a:p>
        </p:txBody>
      </p:sp>
    </p:spTree>
    <p:extLst>
      <p:ext uri="{BB962C8B-B14F-4D97-AF65-F5344CB8AC3E}">
        <p14:creationId xmlns:p14="http://schemas.microsoft.com/office/powerpoint/2010/main" val="984794999"/>
      </p:ext>
    </p:extLst>
  </p:cSld>
</p:sld>
</file>

<file path=ppt/slides/slide7.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fbe930e7229e47b5"/>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9E557BF2-4F9E-4884-BF62-D61217A8FBC9}"/>
              </a:ext>
            </a:extLst>
          </p:cNvPr>
          <p:cNvSpPr>
            <a:spLocks xmlns:a="http://schemas.openxmlformats.org/drawingml/2006/main" noGrp="1"/>
          </p:cNvSpPr>
          <p:nvPr/>
        </p:nvSpPr>
        <p:spPr>
          <a:xfrm xmlns:a="http://schemas.openxmlformats.org/drawingml/2006/main">
            <a:off x="0" y="508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01 总体技术路线</a:t>
            </a:r>
          </a:p>
        </p:txBody>
      </p:sp>
      <p:sp>
        <p:nvSpPr>
          <p:cNvPr id="4" name="AutoShape 4">
            <a:extLst xmlns:a="http://schemas.openxmlformats.org/drawingml/2006/main">
              <a:ext uri="{FF2B5EF4-FFF2-40B4-BE49-F238E27FC236}">
                <a16:creationId xmlns:a16="http://schemas.microsoft.com/office/drawing/2014/main" id="{787A86AA-7243-4CE1-80A1-1C334D5A67A5}"/>
              </a:ext>
            </a:extLst>
          </p:cNvPr>
          <p:cNvSpPr>
            <a:spLocks xmlns:a="http://schemas.openxmlformats.org/drawingml/2006/main" noGrp="1"/>
          </p:cNvSpPr>
          <p:nvPr/>
        </p:nvSpPr>
        <p:spPr>
          <a:xfrm xmlns:a="http://schemas.openxmlformats.org/drawingml/2006/main">
            <a:off x="533400" y="1524000"/>
            <a:ext cx="10934700" cy="889000"/>
          </a:xfrm>
          <a:prstGeom xmlns:a="http://schemas.openxmlformats.org/drawingml/2006/main" prst="roundRect">
            <a:avLst>
              <a:gd name="adj" fmla="val 14285"/>
            </a:avLst>
          </a:prstGeom>
          <a:solidFill xmlns:a="http://schemas.openxmlformats.org/drawingml/2006/main">
            <a:srgbClr val="FFFFFF">
              <a:alpha val="85000"/>
            </a:srgbClr>
          </a:solidFill>
          <a:ln xmlns:a="http://schemas.openxmlformats.org/drawingml/2006/main" w="12700" cmpd="sng">
            <a:solidFill>
              <a:srgbClr val="10368D">
                <a:alpha val="4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5" name="AutoShape 5">
            <a:extLst xmlns:a="http://schemas.openxmlformats.org/drawingml/2006/main">
              <a:ext uri="{FF2B5EF4-FFF2-40B4-BE49-F238E27FC236}">
                <a16:creationId xmlns:a16="http://schemas.microsoft.com/office/drawing/2014/main" id="{3478B8BE-4C04-44F1-85DE-A1503339B064}"/>
              </a:ext>
            </a:extLst>
          </p:cNvPr>
          <p:cNvSpPr>
            <a:spLocks xmlns:a="http://schemas.openxmlformats.org/drawingml/2006/main" noGrp="1"/>
          </p:cNvSpPr>
          <p:nvPr/>
        </p:nvSpPr>
        <p:spPr>
          <a:xfrm xmlns:a="http://schemas.openxmlformats.org/drawingml/2006/main">
            <a:off x="660400" y="1651000"/>
            <a:ext cx="10680700" cy="635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600" b="1" i="0" u="none">
                <a:solidFill>
                  <a:srgbClr val="1F2329"/>
                </a:solidFill>
                <a:latin typeface="Noto Sans SC"/>
                <a:ea typeface="Noto Sans SC"/>
                <a:cs typeface="Noto Sans SC"/>
              </a:rPr>
              <a:t>核心思想：让“结构化本地算法”和“语义增强大模型”各自承担最擅长的环节</a:t>
            </a:r>
          </a:p>
        </p:txBody>
      </p:sp>
      <p:sp>
        <p:nvSpPr>
          <p:cNvPr id="6" name="AutoShape 6">
            <a:extLst xmlns:a="http://schemas.openxmlformats.org/drawingml/2006/main">
              <a:ext uri="{FF2B5EF4-FFF2-40B4-BE49-F238E27FC236}">
                <a16:creationId xmlns:a16="http://schemas.microsoft.com/office/drawing/2014/main" id="{FB89432A-4789-47FA-A5B5-9729765EFBBF}"/>
              </a:ext>
            </a:extLst>
          </p:cNvPr>
          <p:cNvSpPr>
            <a:spLocks xmlns:a="http://schemas.openxmlformats.org/drawingml/2006/main" noGrp="1"/>
          </p:cNvSpPr>
          <p:nvPr/>
        </p:nvSpPr>
        <p:spPr>
          <a:xfrm xmlns:a="http://schemas.openxmlformats.org/drawingml/2006/main">
            <a:off x="444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D620B1A7-07F6-47B3-8FD5-D39CBE8007C3}"/>
              </a:ext>
            </a:extLst>
          </p:cNvPr>
          <p:cNvSpPr>
            <a:spLocks xmlns:a="http://schemas.openxmlformats.org/drawingml/2006/main" noGrp="1"/>
          </p:cNvSpPr>
          <p:nvPr/>
        </p:nvSpPr>
        <p:spPr>
          <a:xfrm xmlns:a="http://schemas.openxmlformats.org/drawingml/2006/main">
            <a:off x="571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D97706"/>
                </a:solidFill>
                <a:latin typeface="Noto Sans SC"/>
                <a:ea typeface="Noto Sans SC"/>
                <a:cs typeface="Noto Sans SC"/>
              </a:rPr>
              <a:t>01</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材料接入</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接收简历、表单、PDF/DOCX/TXT，提取姓名、专业、年级、技能与项目。</a:t>
            </a:r>
          </a:p>
        </p:txBody>
      </p:sp>
      <p:sp>
        <p:nvSpPr>
          <p:cNvPr id="8" name="AutoShape 8">
            <a:extLst xmlns:a="http://schemas.openxmlformats.org/drawingml/2006/main">
              <a:ext uri="{FF2B5EF4-FFF2-40B4-BE49-F238E27FC236}">
                <a16:creationId xmlns:a16="http://schemas.microsoft.com/office/drawing/2014/main" id="{F4F1E8CE-4F4B-463A-875F-585E954C208C}"/>
              </a:ext>
            </a:extLst>
          </p:cNvPr>
          <p:cNvSpPr>
            <a:spLocks xmlns:a="http://schemas.openxmlformats.org/drawingml/2006/main" noGrp="1"/>
          </p:cNvSpPr>
          <p:nvPr/>
        </p:nvSpPr>
        <p:spPr>
          <a:xfrm xmlns:a="http://schemas.openxmlformats.org/drawingml/2006/main">
            <a:off x="27940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930EE548-8D57-4D66-B176-7FE15AACAA62}"/>
              </a:ext>
            </a:extLst>
          </p:cNvPr>
          <p:cNvSpPr>
            <a:spLocks xmlns:a="http://schemas.openxmlformats.org/drawingml/2006/main" noGrp="1"/>
          </p:cNvSpPr>
          <p:nvPr/>
        </p:nvSpPr>
        <p:spPr>
          <a:xfrm xmlns:a="http://schemas.openxmlformats.org/drawingml/2006/main">
            <a:off x="29210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10B981"/>
                </a:solidFill>
                <a:latin typeface="Noto Sans SC"/>
                <a:ea typeface="Noto Sans SC"/>
                <a:cs typeface="Noto Sans SC"/>
              </a:rPr>
              <a:t>02</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能力诊断</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通过本地 Rubric 计算四维分数，给出稳定评分边界与证据来源。</a:t>
            </a:r>
          </a:p>
        </p:txBody>
      </p:sp>
      <p:sp>
        <p:nvSpPr>
          <p:cNvPr id="10" name="AutoShape 10">
            <a:extLst xmlns:a="http://schemas.openxmlformats.org/drawingml/2006/main">
              <a:ext uri="{FF2B5EF4-FFF2-40B4-BE49-F238E27FC236}">
                <a16:creationId xmlns:a16="http://schemas.microsoft.com/office/drawing/2014/main" id="{AFA2B949-F77B-4CC5-AA6E-B15734FFBB8C}"/>
              </a:ext>
            </a:extLst>
          </p:cNvPr>
          <p:cNvSpPr>
            <a:spLocks xmlns:a="http://schemas.openxmlformats.org/drawingml/2006/main" noGrp="1"/>
          </p:cNvSpPr>
          <p:nvPr/>
        </p:nvSpPr>
        <p:spPr>
          <a:xfrm xmlns:a="http://schemas.openxmlformats.org/drawingml/2006/main">
            <a:off x="5143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4794678C-B08C-48C9-BCA3-826366F097C0}"/>
              </a:ext>
            </a:extLst>
          </p:cNvPr>
          <p:cNvSpPr>
            <a:spLocks xmlns:a="http://schemas.openxmlformats.org/drawingml/2006/main" noGrp="1"/>
          </p:cNvSpPr>
          <p:nvPr/>
        </p:nvSpPr>
        <p:spPr>
          <a:xfrm xmlns:a="http://schemas.openxmlformats.org/drawingml/2006/main">
            <a:off x="5270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3B82F6"/>
                </a:solidFill>
                <a:latin typeface="Noto Sans SC"/>
                <a:ea typeface="Noto Sans SC"/>
                <a:cs typeface="Noto Sans SC"/>
              </a:rPr>
              <a:t>03</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智能体协作</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LangGraph 编排五类专家角色，一次 LLM 生成共享草案，多工具完成复核。</a:t>
            </a:r>
          </a:p>
        </p:txBody>
      </p:sp>
      <p:sp>
        <p:nvSpPr>
          <p:cNvPr id="12" name="AutoShape 12">
            <a:extLst xmlns:a="http://schemas.openxmlformats.org/drawingml/2006/main">
              <a:ext uri="{FF2B5EF4-FFF2-40B4-BE49-F238E27FC236}">
                <a16:creationId xmlns:a16="http://schemas.microsoft.com/office/drawing/2014/main" id="{B9597AD8-6448-4D53-9AB1-6B5338CAB443}"/>
              </a:ext>
            </a:extLst>
          </p:cNvPr>
          <p:cNvSpPr>
            <a:spLocks xmlns:a="http://schemas.openxmlformats.org/drawingml/2006/main" noGrp="1"/>
          </p:cNvSpPr>
          <p:nvPr/>
        </p:nvSpPr>
        <p:spPr>
          <a:xfrm xmlns:a="http://schemas.openxmlformats.org/drawingml/2006/main">
            <a:off x="74930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E4261BEB-538F-4172-B367-F90A750DC530}"/>
              </a:ext>
            </a:extLst>
          </p:cNvPr>
          <p:cNvSpPr>
            <a:spLocks xmlns:a="http://schemas.openxmlformats.org/drawingml/2006/main" noGrp="1"/>
          </p:cNvSpPr>
          <p:nvPr/>
        </p:nvSpPr>
        <p:spPr>
          <a:xfrm xmlns:a="http://schemas.openxmlformats.org/drawingml/2006/main">
            <a:off x="76200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8B5CF6"/>
                </a:solidFill>
                <a:latin typeface="Noto Sans SC"/>
                <a:ea typeface="Noto Sans SC"/>
                <a:cs typeface="Noto Sans SC"/>
              </a:rPr>
              <a:t>04</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岗位匹配</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对 679 条岗位执行本地召回、规则评分、多样性控制和可选 AI 精排。</a:t>
            </a:r>
          </a:p>
        </p:txBody>
      </p:sp>
      <p:sp>
        <p:nvSpPr>
          <p:cNvPr id="14" name="AutoShape 14">
            <a:extLst xmlns:a="http://schemas.openxmlformats.org/drawingml/2006/main">
              <a:ext uri="{FF2B5EF4-FFF2-40B4-BE49-F238E27FC236}">
                <a16:creationId xmlns:a16="http://schemas.microsoft.com/office/drawing/2014/main" id="{993A69F5-79D5-47E2-BD3D-6511A270C6CE}"/>
              </a:ext>
            </a:extLst>
          </p:cNvPr>
          <p:cNvSpPr>
            <a:spLocks xmlns:a="http://schemas.openxmlformats.org/drawingml/2006/main" noGrp="1"/>
          </p:cNvSpPr>
          <p:nvPr/>
        </p:nvSpPr>
        <p:spPr>
          <a:xfrm xmlns:a="http://schemas.openxmlformats.org/drawingml/2006/main">
            <a:off x="9842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1A63F9CC-66AA-4EAF-B1B6-F03746FA8766}"/>
              </a:ext>
            </a:extLst>
          </p:cNvPr>
          <p:cNvSpPr>
            <a:spLocks xmlns:a="http://schemas.openxmlformats.org/drawingml/2006/main" noGrp="1"/>
          </p:cNvSpPr>
          <p:nvPr/>
        </p:nvSpPr>
        <p:spPr>
          <a:xfrm xmlns:a="http://schemas.openxmlformats.org/drawingml/2006/main">
            <a:off x="9969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EC4899"/>
                </a:solidFill>
                <a:latin typeface="Noto Sans SC"/>
                <a:ea typeface="Noto Sans SC"/>
                <a:cs typeface="Noto Sans SC"/>
              </a:rPr>
              <a:t>05</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结果闭环</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生成成长建议、课程映射和岗位路径，并将结果写入 MySQL 持久化缓存。</a:t>
            </a:r>
          </a:p>
        </p:txBody>
      </p:sp>
    </p:spTree>
    <p:extLst>
      <p:ext uri="{BB962C8B-B14F-4D97-AF65-F5344CB8AC3E}">
        <p14:creationId xmlns:p14="http://schemas.microsoft.com/office/powerpoint/2010/main" val="263247952"/>
      </p:ext>
    </p:extLst>
  </p:cSld>
</p:sld>
</file>

<file path=ppt/slides/slide8.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ecff4020174d48f0"/>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9E557BF2-4F9E-4884-BF62-D61217A8FBC9}"/>
              </a:ext>
            </a:extLst>
          </p:cNvPr>
          <p:cNvSpPr>
            <a:spLocks xmlns:a="http://schemas.openxmlformats.org/drawingml/2006/main" noGrp="1"/>
          </p:cNvSpPr>
          <p:nvPr/>
        </p:nvSpPr>
        <p:spPr>
          <a:xfrm xmlns:a="http://schemas.openxmlformats.org/drawingml/2006/main">
            <a:off x="0" y="508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02 系统总体架构</a:t>
            </a:r>
          </a:p>
        </p:txBody>
      </p:sp>
      <p:sp>
        <p:nvSpPr>
          <p:cNvPr id="4" name="AutoShape 4">
            <a:extLst xmlns:a="http://schemas.openxmlformats.org/drawingml/2006/main">
              <a:ext uri="{FF2B5EF4-FFF2-40B4-BE49-F238E27FC236}">
                <a16:creationId xmlns:a16="http://schemas.microsoft.com/office/drawing/2014/main" id="{787A86AA-7243-4CE1-80A1-1C334D5A67A5}"/>
              </a:ext>
            </a:extLst>
          </p:cNvPr>
          <p:cNvSpPr>
            <a:spLocks xmlns:a="http://schemas.openxmlformats.org/drawingml/2006/main" noGrp="1"/>
          </p:cNvSpPr>
          <p:nvPr/>
        </p:nvSpPr>
        <p:spPr>
          <a:xfrm xmlns:a="http://schemas.openxmlformats.org/drawingml/2006/main">
            <a:off x="533400" y="1524000"/>
            <a:ext cx="10934700" cy="889000"/>
          </a:xfrm>
          <a:prstGeom xmlns:a="http://schemas.openxmlformats.org/drawingml/2006/main" prst="roundRect">
            <a:avLst>
              <a:gd name="adj" fmla="val 14285"/>
            </a:avLst>
          </a:prstGeom>
          <a:solidFill xmlns:a="http://schemas.openxmlformats.org/drawingml/2006/main">
            <a:srgbClr val="FFFFFF">
              <a:alpha val="85000"/>
            </a:srgbClr>
          </a:solidFill>
          <a:ln xmlns:a="http://schemas.openxmlformats.org/drawingml/2006/main" w="12700" cmpd="sng">
            <a:solidFill>
              <a:srgbClr val="10368D">
                <a:alpha val="4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5" name="AutoShape 5">
            <a:extLst xmlns:a="http://schemas.openxmlformats.org/drawingml/2006/main">
              <a:ext uri="{FF2B5EF4-FFF2-40B4-BE49-F238E27FC236}">
                <a16:creationId xmlns:a16="http://schemas.microsoft.com/office/drawing/2014/main" id="{3478B8BE-4C04-44F1-85DE-A1503339B064}"/>
              </a:ext>
            </a:extLst>
          </p:cNvPr>
          <p:cNvSpPr>
            <a:spLocks xmlns:a="http://schemas.openxmlformats.org/drawingml/2006/main" noGrp="1"/>
          </p:cNvSpPr>
          <p:nvPr/>
        </p:nvSpPr>
        <p:spPr>
          <a:xfrm xmlns:a="http://schemas.openxmlformats.org/drawingml/2006/main">
            <a:off x="660400" y="1651000"/>
            <a:ext cx="10680700" cy="635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600" b="1" i="0" u="none">
                <a:solidFill>
                  <a:srgbClr val="1F2329"/>
                </a:solidFill>
                <a:latin typeface="Noto Sans SC"/>
                <a:ea typeface="Noto Sans SC"/>
                <a:cs typeface="Noto Sans SC"/>
              </a:rPr>
              <a:t>架构分层：表现层 → 业务编排层 → 智能体与算法层 → 数据访问层 → 数据资源层</a:t>
            </a:r>
          </a:p>
        </p:txBody>
      </p:sp>
      <p:sp>
        <p:nvSpPr>
          <p:cNvPr id="6" name="AutoShape 6">
            <a:extLst xmlns:a="http://schemas.openxmlformats.org/drawingml/2006/main">
              <a:ext uri="{FF2B5EF4-FFF2-40B4-BE49-F238E27FC236}">
                <a16:creationId xmlns:a16="http://schemas.microsoft.com/office/drawing/2014/main" id="{FB89432A-4789-47FA-A5B5-9729765EFBBF}"/>
              </a:ext>
            </a:extLst>
          </p:cNvPr>
          <p:cNvSpPr>
            <a:spLocks xmlns:a="http://schemas.openxmlformats.org/drawingml/2006/main" noGrp="1"/>
          </p:cNvSpPr>
          <p:nvPr/>
        </p:nvSpPr>
        <p:spPr>
          <a:xfrm xmlns:a="http://schemas.openxmlformats.org/drawingml/2006/main">
            <a:off x="444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D620B1A7-07F6-47B3-8FD5-D39CBE8007C3}"/>
              </a:ext>
            </a:extLst>
          </p:cNvPr>
          <p:cNvSpPr>
            <a:spLocks xmlns:a="http://schemas.openxmlformats.org/drawingml/2006/main" noGrp="1"/>
          </p:cNvSpPr>
          <p:nvPr/>
        </p:nvSpPr>
        <p:spPr>
          <a:xfrm xmlns:a="http://schemas.openxmlformats.org/drawingml/2006/main">
            <a:off x="571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D97706"/>
                </a:solidFill>
                <a:latin typeface="Noto Sans SC"/>
                <a:ea typeface="Noto Sans SC"/>
                <a:cs typeface="Noto Sans SC"/>
              </a:rPr>
              <a:t>01</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表现层</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智能体聊天、能力画像、岗位匹配、课程映射、简历优化和历史记录。</a:t>
            </a:r>
          </a:p>
        </p:txBody>
      </p:sp>
      <p:sp>
        <p:nvSpPr>
          <p:cNvPr id="8" name="AutoShape 8">
            <a:extLst xmlns:a="http://schemas.openxmlformats.org/drawingml/2006/main">
              <a:ext uri="{FF2B5EF4-FFF2-40B4-BE49-F238E27FC236}">
                <a16:creationId xmlns:a16="http://schemas.microsoft.com/office/drawing/2014/main" id="{F4F1E8CE-4F4B-463A-875F-585E954C208C}"/>
              </a:ext>
            </a:extLst>
          </p:cNvPr>
          <p:cNvSpPr>
            <a:spLocks xmlns:a="http://schemas.openxmlformats.org/drawingml/2006/main" noGrp="1"/>
          </p:cNvSpPr>
          <p:nvPr/>
        </p:nvSpPr>
        <p:spPr>
          <a:xfrm xmlns:a="http://schemas.openxmlformats.org/drawingml/2006/main">
            <a:off x="27940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930EE548-8D57-4D66-B176-7FE15AACAA62}"/>
              </a:ext>
            </a:extLst>
          </p:cNvPr>
          <p:cNvSpPr>
            <a:spLocks xmlns:a="http://schemas.openxmlformats.org/drawingml/2006/main" noGrp="1"/>
          </p:cNvSpPr>
          <p:nvPr/>
        </p:nvSpPr>
        <p:spPr>
          <a:xfrm xmlns:a="http://schemas.openxmlformats.org/drawingml/2006/main">
            <a:off x="29210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10B981"/>
                </a:solidFill>
                <a:latin typeface="Noto Sans SC"/>
                <a:ea typeface="Noto Sans SC"/>
                <a:cs typeface="Noto Sans SC"/>
              </a:rPr>
              <a:t>02</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业务编排层</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FastAPI 提供路由与服务编排，统一会话、诊断、导出与异常降级。</a:t>
            </a:r>
          </a:p>
        </p:txBody>
      </p:sp>
      <p:sp>
        <p:nvSpPr>
          <p:cNvPr id="10" name="AutoShape 10">
            <a:extLst xmlns:a="http://schemas.openxmlformats.org/drawingml/2006/main">
              <a:ext uri="{FF2B5EF4-FFF2-40B4-BE49-F238E27FC236}">
                <a16:creationId xmlns:a16="http://schemas.microsoft.com/office/drawing/2014/main" id="{AFA2B949-F77B-4CC5-AA6E-B15734FFBB8C}"/>
              </a:ext>
            </a:extLst>
          </p:cNvPr>
          <p:cNvSpPr>
            <a:spLocks xmlns:a="http://schemas.openxmlformats.org/drawingml/2006/main" noGrp="1"/>
          </p:cNvSpPr>
          <p:nvPr/>
        </p:nvSpPr>
        <p:spPr>
          <a:xfrm xmlns:a="http://schemas.openxmlformats.org/drawingml/2006/main">
            <a:off x="5143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4794678C-B08C-48C9-BCA3-826366F097C0}"/>
              </a:ext>
            </a:extLst>
          </p:cNvPr>
          <p:cNvSpPr>
            <a:spLocks xmlns:a="http://schemas.openxmlformats.org/drawingml/2006/main" noGrp="1"/>
          </p:cNvSpPr>
          <p:nvPr/>
        </p:nvSpPr>
        <p:spPr>
          <a:xfrm xmlns:a="http://schemas.openxmlformats.org/drawingml/2006/main">
            <a:off x="5270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3B82F6"/>
                </a:solidFill>
                <a:latin typeface="Noto Sans SC"/>
                <a:ea typeface="Noto Sans SC"/>
                <a:cs typeface="Noto Sans SC"/>
              </a:rPr>
              <a:t>03</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智能体与算法层</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LangGraph 工作流、本地 Rubric、稀疏向量召回、规则精排与 AI 双向精排。</a:t>
            </a:r>
          </a:p>
        </p:txBody>
      </p:sp>
      <p:sp>
        <p:nvSpPr>
          <p:cNvPr id="12" name="AutoShape 12">
            <a:extLst xmlns:a="http://schemas.openxmlformats.org/drawingml/2006/main">
              <a:ext uri="{FF2B5EF4-FFF2-40B4-BE49-F238E27FC236}">
                <a16:creationId xmlns:a16="http://schemas.microsoft.com/office/drawing/2014/main" id="{B9597AD8-6448-4D53-9AB1-6B5338CAB443}"/>
              </a:ext>
            </a:extLst>
          </p:cNvPr>
          <p:cNvSpPr>
            <a:spLocks xmlns:a="http://schemas.openxmlformats.org/drawingml/2006/main" noGrp="1"/>
          </p:cNvSpPr>
          <p:nvPr/>
        </p:nvSpPr>
        <p:spPr>
          <a:xfrm xmlns:a="http://schemas.openxmlformats.org/drawingml/2006/main">
            <a:off x="74930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E4261BEB-538F-4172-B367-F90A750DC530}"/>
              </a:ext>
            </a:extLst>
          </p:cNvPr>
          <p:cNvSpPr>
            <a:spLocks xmlns:a="http://schemas.openxmlformats.org/drawingml/2006/main" noGrp="1"/>
          </p:cNvSpPr>
          <p:nvPr/>
        </p:nvSpPr>
        <p:spPr>
          <a:xfrm xmlns:a="http://schemas.openxmlformats.org/drawingml/2006/main">
            <a:off x="76200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8B5CF6"/>
                </a:solidFill>
                <a:latin typeface="Noto Sans SC"/>
                <a:ea typeface="Noto Sans SC"/>
                <a:cs typeface="Noto Sans SC"/>
              </a:rPr>
              <a:t>04</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数据访问层</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SQLAlchemy 管理事务、查询、缓存命中和版本校验，保证结果一致性。</a:t>
            </a:r>
          </a:p>
        </p:txBody>
      </p:sp>
      <p:sp>
        <p:nvSpPr>
          <p:cNvPr id="14" name="AutoShape 14">
            <a:extLst xmlns:a="http://schemas.openxmlformats.org/drawingml/2006/main">
              <a:ext uri="{FF2B5EF4-FFF2-40B4-BE49-F238E27FC236}">
                <a16:creationId xmlns:a16="http://schemas.microsoft.com/office/drawing/2014/main" id="{993A69F5-79D5-47E2-BD3D-6511A270C6CE}"/>
              </a:ext>
            </a:extLst>
          </p:cNvPr>
          <p:cNvSpPr>
            <a:spLocks xmlns:a="http://schemas.openxmlformats.org/drawingml/2006/main" noGrp="1"/>
          </p:cNvSpPr>
          <p:nvPr/>
        </p:nvSpPr>
        <p:spPr>
          <a:xfrm xmlns:a="http://schemas.openxmlformats.org/drawingml/2006/main">
            <a:off x="9842500" y="2794000"/>
            <a:ext cx="2095500" cy="3429000"/>
          </a:xfrm>
          <a:prstGeom xmlns:a="http://schemas.openxmlformats.org/drawingml/2006/main" prst="roundRect">
            <a:avLst>
              <a:gd name="adj" fmla="val 6060"/>
            </a:avLst>
          </a:prstGeom>
          <a:solidFill xmlns:a="http://schemas.openxmlformats.org/drawingml/2006/main">
            <a:srgbClr val="FFFFFF">
              <a:alpha val="95000"/>
            </a:srgbClr>
          </a:solidFill>
          <a:ln xmlns:a="http://schemas.openxmlformats.org/drawingml/2006/main" w="25400" cmpd="sng">
            <a:no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1A63F9CC-66AA-4EAF-B1B6-F03746FA8766}"/>
              </a:ext>
            </a:extLst>
          </p:cNvPr>
          <p:cNvSpPr>
            <a:spLocks xmlns:a="http://schemas.openxmlformats.org/drawingml/2006/main" noGrp="1"/>
          </p:cNvSpPr>
          <p:nvPr/>
        </p:nvSpPr>
        <p:spPr>
          <a:xfrm xmlns:a="http://schemas.openxmlformats.org/drawingml/2006/main">
            <a:off x="9969500" y="3048000"/>
            <a:ext cx="1841500" cy="2921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92000"/>
              </a:lnSpc>
              <a:buNone/>
            </a:pPr>
            <a:r>
              <a:rPr sz="3200" b="1" i="0" u="none">
                <a:solidFill>
                  <a:srgbClr val="EC4899"/>
                </a:solidFill>
                <a:latin typeface="Noto Sans SC"/>
                <a:ea typeface="Noto Sans SC"/>
                <a:cs typeface="Noto Sans SC"/>
              </a:rPr>
              <a:t>05</a:t>
            </a:r>
          </a:p>
          <a:p xmlns:a="http://schemas.openxmlformats.org/drawingml/2006/main">
            <a:pPr indent="0" algn="ctr">
              <a:lnSpc>
                <a:spcPct val="100000"/>
              </a:lnSpc>
              <a:spcBef>
                <a:spcPts val="1000"/>
              </a:spcBef>
              <a:buNone/>
            </a:pPr>
            <a:r>
              <a:rPr sz="1800" b="1" i="0" u="none">
                <a:solidFill>
                  <a:srgbClr val="111827"/>
                </a:solidFill>
                <a:latin typeface="Noto Sans SC"/>
                <a:ea typeface="Noto Sans SC"/>
                <a:cs typeface="Noto Sans SC"/>
              </a:rPr>
              <a:t>数据资源层</a:t>
            </a:r>
          </a:p>
          <a:p xmlns:a="http://schemas.openxmlformats.org/drawingml/2006/main">
            <a:pPr indent="0" algn="ctr">
              <a:lnSpc>
                <a:spcPct val="117000"/>
              </a:lnSpc>
              <a:spcBef>
                <a:spcPts val="1200"/>
              </a:spcBef>
              <a:buNone/>
            </a:pPr>
            <a:r>
              <a:rPr sz="1200" b="0" i="0" u="none">
                <a:solidFill>
                  <a:srgbClr val="4B5563"/>
                </a:solidFill>
                <a:latin typeface="Noto Sans SC"/>
                <a:ea typeface="Noto Sans SC"/>
                <a:cs typeface="Noto Sans SC"/>
              </a:rPr>
              <a:t>MySQL 保存用户、诊断、岗位知识、课程映射、工具日志与匹配缓存。</a:t>
            </a:r>
          </a:p>
        </p:txBody>
      </p:sp>
    </p:spTree>
    <p:extLst>
      <p:ext uri="{BB962C8B-B14F-4D97-AF65-F5344CB8AC3E}">
        <p14:creationId xmlns:p14="http://schemas.microsoft.com/office/powerpoint/2010/main" val="263247952"/>
      </p:ext>
    </p:extLst>
  </p:cSld>
</p:sld>
</file>

<file path=ppt/slides/slide9.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89ffbcf0d0c1495c"/>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D818D2A2-094A-4244-84E6-6F3DDBFE9CDF}"/>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0C3671"/>
                </a:solidFill>
                <a:latin typeface="微软雅黑"/>
                <a:ea typeface="微软雅黑"/>
                <a:cs typeface="微软雅黑"/>
              </a:rPr>
              <a:t>03 学生能力画像生成流程</a:t>
            </a:r>
          </a:p>
        </p:txBody>
      </p:sp>
      <p:sp>
        <p:nvSpPr>
          <p:cNvPr id="4" name="文本框 3">
            <a:extLst xmlns:a="http://schemas.openxmlformats.org/drawingml/2006/main">
              <a:ext uri="{FF2B5EF4-FFF2-40B4-BE49-F238E27FC236}">
                <a16:creationId xmlns:a16="http://schemas.microsoft.com/office/drawing/2014/main" id="{E69ACDD2-8D8B-468D-B6E4-37C63D894E26}"/>
              </a:ext>
            </a:extLst>
          </p:cNvPr>
          <p:cNvSpPr>
            <a:spLocks xmlns:a="http://schemas.openxmlformats.org/drawingml/2006/main" noGrp="1"/>
          </p:cNvSpPr>
          <p:nvPr/>
        </p:nvSpPr>
        <p:spPr>
          <a:xfrm xmlns:a="http://schemas.openxmlformats.org/drawingml/2006/main">
            <a:off x="817880" y="1270000"/>
            <a:ext cx="766191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rgbClr val="5D6B7F"/>
                </a:solidFill>
                <a:latin typeface="微软雅黑"/>
                <a:ea typeface="微软雅黑"/>
                <a:cs typeface="微软雅黑"/>
              </a:rPr>
              <a:t>从多源材料出发，形成“可评分、可追溯、可继续行动”的结构化能力画像</a:t>
            </a:r>
          </a:p>
        </p:txBody>
      </p:sp>
      <p:sp>
        <p:nvSpPr>
          <p:cNvPr id="6" name="Shape 4">
            <a:extLst xmlns:a="http://schemas.openxmlformats.org/drawingml/2006/main">
              <a:ext uri="{FF2B5EF4-FFF2-40B4-BE49-F238E27FC236}">
                <a16:creationId xmlns:a16="http://schemas.microsoft.com/office/drawing/2014/main" id="{BB3344FD-2EAE-4A2F-8385-20DE6DC81FA1}"/>
              </a:ext>
            </a:extLst>
          </p:cNvPr>
          <p:cNvSpPr>
            <a:spLocks xmlns:a="http://schemas.openxmlformats.org/drawingml/2006/main" noGrp="1"/>
          </p:cNvSpPr>
          <p:nvPr/>
        </p:nvSpPr>
        <p:spPr>
          <a:xfrm xmlns:a="http://schemas.openxmlformats.org/drawingml/2006/main">
            <a:off x="594360" y="1828800"/>
            <a:ext cx="1444752" cy="438912"/>
          </a:xfrm>
          <a:prstGeom xmlns:a="http://schemas.openxmlformats.org/drawingml/2006/main" prst="roundRect">
            <a:avLst>
              <a:gd name="adj" fmla="val 25000"/>
            </a:avLst>
          </a:prstGeom>
          <a:solidFill xmlns:a="http://schemas.openxmlformats.org/drawingml/2006/main">
            <a:srgbClr val="1E5AA8"/>
          </a:solidFill>
          <a:ln xmlns:a="http://schemas.openxmlformats.org/drawingml/2006/main" w="12700">
            <a:solidFill>
              <a:srgbClr val="1E5AA8"/>
            </a:solidFill>
            <a:prstDash val="solid"/>
          </a:ln>
        </p:spPr>
      </p:sp>
      <p:sp>
        <p:nvSpPr>
          <p:cNvPr id="7" name="Text 5">
            <a:extLst xmlns:a="http://schemas.openxmlformats.org/drawingml/2006/main">
              <a:ext uri="{FF2B5EF4-FFF2-40B4-BE49-F238E27FC236}">
                <a16:creationId xmlns:a16="http://schemas.microsoft.com/office/drawing/2014/main" id="{FD742A28-345A-4D86-95D6-0C7C50501980}"/>
              </a:ext>
            </a:extLst>
          </p:cNvPr>
          <p:cNvSpPr>
            <a:spLocks xmlns:a="http://schemas.openxmlformats.org/drawingml/2006/main" noGrp="1"/>
          </p:cNvSpPr>
          <p:nvPr/>
        </p:nvSpPr>
        <p:spPr>
          <a:xfrm xmlns:a="http://schemas.openxmlformats.org/drawingml/2006/main">
            <a:off x="667512"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输入标准化</a:t>
            </a:r>
          </a:p>
        </p:txBody>
      </p:sp>
      <p:sp>
        <p:nvSpPr>
          <p:cNvPr id="8" name="Shape 6">
            <a:extLst xmlns:a="http://schemas.openxmlformats.org/drawingml/2006/main">
              <a:ext uri="{FF2B5EF4-FFF2-40B4-BE49-F238E27FC236}">
                <a16:creationId xmlns:a16="http://schemas.microsoft.com/office/drawing/2014/main" id="{FC026633-3F74-4DDE-9188-D03B86CAAFAB}"/>
              </a:ext>
            </a:extLst>
          </p:cNvPr>
          <p:cNvSpPr>
            <a:spLocks xmlns:a="http://schemas.openxmlformats.org/drawingml/2006/main" noGrp="1"/>
          </p:cNvSpPr>
          <p:nvPr/>
        </p:nvSpPr>
        <p:spPr>
          <a:xfrm xmlns:a="http://schemas.openxmlformats.org/drawingml/2006/main">
            <a:off x="594360"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1E5AA8"/>
            </a:solidFill>
            <a:prstDash val="solid"/>
          </a:ln>
        </p:spPr>
      </p:sp>
      <p:sp>
        <p:nvSpPr>
          <p:cNvPr id="9" name="Text 7">
            <a:extLst xmlns:a="http://schemas.openxmlformats.org/drawingml/2006/main">
              <a:ext uri="{FF2B5EF4-FFF2-40B4-BE49-F238E27FC236}">
                <a16:creationId xmlns:a16="http://schemas.microsoft.com/office/drawing/2014/main" id="{1F89A958-703C-444C-AD6C-21929559DD46}"/>
              </a:ext>
            </a:extLst>
          </p:cNvPr>
          <p:cNvSpPr>
            <a:spLocks xmlns:a="http://schemas.openxmlformats.org/drawingml/2006/main" noGrp="1"/>
          </p:cNvSpPr>
          <p:nvPr/>
        </p:nvSpPr>
        <p:spPr>
          <a:xfrm xmlns:a="http://schemas.openxmlformats.org/drawingml/2006/main">
            <a:off x="649224"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简历 / 表单 / PDF</a:t>
            </a:r>
          </a:p>
        </p:txBody>
      </p:sp>
      <p:sp>
        <p:nvSpPr>
          <p:cNvPr id="10" name="Shape 8">
            <a:extLst xmlns:a="http://schemas.openxmlformats.org/drawingml/2006/main">
              <a:ext uri="{FF2B5EF4-FFF2-40B4-BE49-F238E27FC236}">
                <a16:creationId xmlns:a16="http://schemas.microsoft.com/office/drawing/2014/main" id="{523040A9-E86E-4C89-9D84-02A84C51D948}"/>
              </a:ext>
            </a:extLst>
          </p:cNvPr>
          <p:cNvSpPr>
            <a:spLocks xmlns:a="http://schemas.openxmlformats.org/drawingml/2006/main" noGrp="1"/>
          </p:cNvSpPr>
          <p:nvPr/>
        </p:nvSpPr>
        <p:spPr>
          <a:xfrm xmlns:a="http://schemas.openxmlformats.org/drawingml/2006/main">
            <a:off x="2084832"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11" name="Shape 9">
            <a:extLst xmlns:a="http://schemas.openxmlformats.org/drawingml/2006/main">
              <a:ext uri="{FF2B5EF4-FFF2-40B4-BE49-F238E27FC236}">
                <a16:creationId xmlns:a16="http://schemas.microsoft.com/office/drawing/2014/main" id="{A6E38ED8-8097-4208-B485-6C7C3439EB48}"/>
              </a:ext>
            </a:extLst>
          </p:cNvPr>
          <p:cNvSpPr>
            <a:spLocks xmlns:a="http://schemas.openxmlformats.org/drawingml/2006/main" noGrp="1"/>
          </p:cNvSpPr>
          <p:nvPr/>
        </p:nvSpPr>
        <p:spPr>
          <a:xfrm xmlns:a="http://schemas.openxmlformats.org/drawingml/2006/main">
            <a:off x="2441448" y="1828800"/>
            <a:ext cx="1444752" cy="438912"/>
          </a:xfrm>
          <a:prstGeom xmlns:a="http://schemas.openxmlformats.org/drawingml/2006/main" prst="roundRect">
            <a:avLst>
              <a:gd name="adj" fmla="val 25000"/>
            </a:avLst>
          </a:prstGeom>
          <a:solidFill xmlns:a="http://schemas.openxmlformats.org/drawingml/2006/main">
            <a:srgbClr val="1E5AA8"/>
          </a:solidFill>
          <a:ln xmlns:a="http://schemas.openxmlformats.org/drawingml/2006/main" w="12700">
            <a:solidFill>
              <a:srgbClr val="1E5AA8"/>
            </a:solidFill>
            <a:prstDash val="solid"/>
          </a:ln>
        </p:spPr>
      </p:sp>
      <p:sp>
        <p:nvSpPr>
          <p:cNvPr id="12" name="Text 10">
            <a:extLst xmlns:a="http://schemas.openxmlformats.org/drawingml/2006/main">
              <a:ext uri="{FF2B5EF4-FFF2-40B4-BE49-F238E27FC236}">
                <a16:creationId xmlns:a16="http://schemas.microsoft.com/office/drawing/2014/main" id="{2BEB5352-5009-45DB-8906-B370D6C448AD}"/>
              </a:ext>
            </a:extLst>
          </p:cNvPr>
          <p:cNvSpPr>
            <a:spLocks xmlns:a="http://schemas.openxmlformats.org/drawingml/2006/main" noGrp="1"/>
          </p:cNvSpPr>
          <p:nvPr/>
        </p:nvSpPr>
        <p:spPr>
          <a:xfrm xmlns:a="http://schemas.openxmlformats.org/drawingml/2006/main">
            <a:off x="2514600"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画像采集</a:t>
            </a:r>
          </a:p>
        </p:txBody>
      </p:sp>
      <p:sp>
        <p:nvSpPr>
          <p:cNvPr id="13" name="Shape 11">
            <a:extLst xmlns:a="http://schemas.openxmlformats.org/drawingml/2006/main">
              <a:ext uri="{FF2B5EF4-FFF2-40B4-BE49-F238E27FC236}">
                <a16:creationId xmlns:a16="http://schemas.microsoft.com/office/drawing/2014/main" id="{73D444C5-B09A-48E9-BFB6-31D7C0AF6981}"/>
              </a:ext>
            </a:extLst>
          </p:cNvPr>
          <p:cNvSpPr>
            <a:spLocks xmlns:a="http://schemas.openxmlformats.org/drawingml/2006/main" noGrp="1"/>
          </p:cNvSpPr>
          <p:nvPr/>
        </p:nvSpPr>
        <p:spPr>
          <a:xfrm xmlns:a="http://schemas.openxmlformats.org/drawingml/2006/main">
            <a:off x="2441448"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1E5AA8"/>
            </a:solidFill>
            <a:prstDash val="solid"/>
          </a:ln>
        </p:spPr>
      </p:sp>
      <p:sp>
        <p:nvSpPr>
          <p:cNvPr id="14" name="Text 12">
            <a:extLst xmlns:a="http://schemas.openxmlformats.org/drawingml/2006/main">
              <a:ext uri="{FF2B5EF4-FFF2-40B4-BE49-F238E27FC236}">
                <a16:creationId xmlns:a16="http://schemas.microsoft.com/office/drawing/2014/main" id="{E8923CD3-E572-4599-B26A-7FF0E20BE133}"/>
              </a:ext>
            </a:extLst>
          </p:cNvPr>
          <p:cNvSpPr>
            <a:spLocks xmlns:a="http://schemas.openxmlformats.org/drawingml/2006/main" noGrp="1"/>
          </p:cNvSpPr>
          <p:nvPr/>
        </p:nvSpPr>
        <p:spPr>
          <a:xfrm xmlns:a="http://schemas.openxmlformats.org/drawingml/2006/main">
            <a:off x="2496312"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姓名、专业、年级、技能、项目、竞赛、证书</a:t>
            </a:r>
          </a:p>
        </p:txBody>
      </p:sp>
      <p:sp>
        <p:nvSpPr>
          <p:cNvPr id="15" name="Shape 13">
            <a:extLst xmlns:a="http://schemas.openxmlformats.org/drawingml/2006/main">
              <a:ext uri="{FF2B5EF4-FFF2-40B4-BE49-F238E27FC236}">
                <a16:creationId xmlns:a16="http://schemas.microsoft.com/office/drawing/2014/main" id="{BD86E709-269E-491F-8889-9DE8E6D6FC14}"/>
              </a:ext>
            </a:extLst>
          </p:cNvPr>
          <p:cNvSpPr>
            <a:spLocks xmlns:a="http://schemas.openxmlformats.org/drawingml/2006/main" noGrp="1"/>
          </p:cNvSpPr>
          <p:nvPr/>
        </p:nvSpPr>
        <p:spPr>
          <a:xfrm xmlns:a="http://schemas.openxmlformats.org/drawingml/2006/main">
            <a:off x="3931920"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16" name="Shape 14">
            <a:extLst xmlns:a="http://schemas.openxmlformats.org/drawingml/2006/main">
              <a:ext uri="{FF2B5EF4-FFF2-40B4-BE49-F238E27FC236}">
                <a16:creationId xmlns:a16="http://schemas.microsoft.com/office/drawing/2014/main" id="{9CE93AF2-D2CD-446D-A5FF-53B6D360E2C8}"/>
              </a:ext>
            </a:extLst>
          </p:cNvPr>
          <p:cNvSpPr>
            <a:spLocks xmlns:a="http://schemas.openxmlformats.org/drawingml/2006/main" noGrp="1"/>
          </p:cNvSpPr>
          <p:nvPr/>
        </p:nvSpPr>
        <p:spPr>
          <a:xfrm xmlns:a="http://schemas.openxmlformats.org/drawingml/2006/main">
            <a:off x="4288536" y="1828800"/>
            <a:ext cx="1444752" cy="438912"/>
          </a:xfrm>
          <a:prstGeom xmlns:a="http://schemas.openxmlformats.org/drawingml/2006/main" prst="roundRect">
            <a:avLst>
              <a:gd name="adj" fmla="val 25000"/>
            </a:avLst>
          </a:prstGeom>
          <a:solidFill xmlns:a="http://schemas.openxmlformats.org/drawingml/2006/main">
            <a:srgbClr val="27C7CF"/>
          </a:solidFill>
          <a:ln xmlns:a="http://schemas.openxmlformats.org/drawingml/2006/main" w="12700">
            <a:solidFill>
              <a:srgbClr val="27C7CF"/>
            </a:solidFill>
            <a:prstDash val="solid"/>
          </a:ln>
        </p:spPr>
      </p:sp>
      <p:sp>
        <p:nvSpPr>
          <p:cNvPr id="17" name="Text 15">
            <a:extLst xmlns:a="http://schemas.openxmlformats.org/drawingml/2006/main">
              <a:ext uri="{FF2B5EF4-FFF2-40B4-BE49-F238E27FC236}">
                <a16:creationId xmlns:a16="http://schemas.microsoft.com/office/drawing/2014/main" id="{7FE1F244-A802-45A3-A1A0-D743A5AB7A05}"/>
              </a:ext>
            </a:extLst>
          </p:cNvPr>
          <p:cNvSpPr>
            <a:spLocks xmlns:a="http://schemas.openxmlformats.org/drawingml/2006/main" noGrp="1"/>
          </p:cNvSpPr>
          <p:nvPr/>
        </p:nvSpPr>
        <p:spPr>
          <a:xfrm xmlns:a="http://schemas.openxmlformats.org/drawingml/2006/main">
            <a:off x="4361688"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四维评分</a:t>
            </a:r>
          </a:p>
        </p:txBody>
      </p:sp>
      <p:sp>
        <p:nvSpPr>
          <p:cNvPr id="5" name="Shape 16">
            <a:extLst xmlns:a="http://schemas.openxmlformats.org/drawingml/2006/main">
              <a:ext uri="{FF2B5EF4-FFF2-40B4-BE49-F238E27FC236}">
                <a16:creationId xmlns:a16="http://schemas.microsoft.com/office/drawing/2014/main" id="{C83F7C66-9931-48B7-A6E5-526FEB21F1AE}"/>
              </a:ext>
            </a:extLst>
          </p:cNvPr>
          <p:cNvSpPr>
            <a:spLocks xmlns:a="http://schemas.openxmlformats.org/drawingml/2006/main" noGrp="1"/>
          </p:cNvSpPr>
          <p:nvPr/>
        </p:nvSpPr>
        <p:spPr>
          <a:xfrm xmlns:a="http://schemas.openxmlformats.org/drawingml/2006/main">
            <a:off x="4288536"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27C7CF"/>
            </a:solidFill>
            <a:prstDash val="solid"/>
          </a:ln>
        </p:spPr>
      </p:sp>
      <p:sp>
        <p:nvSpPr>
          <p:cNvPr id="19" name="Text 17">
            <a:extLst xmlns:a="http://schemas.openxmlformats.org/drawingml/2006/main">
              <a:ext uri="{FF2B5EF4-FFF2-40B4-BE49-F238E27FC236}">
                <a16:creationId xmlns:a16="http://schemas.microsoft.com/office/drawing/2014/main" id="{817D9BA8-A882-4915-B944-0F1231A18AFE}"/>
              </a:ext>
            </a:extLst>
          </p:cNvPr>
          <p:cNvSpPr>
            <a:spLocks xmlns:a="http://schemas.openxmlformats.org/drawingml/2006/main" noGrp="1"/>
          </p:cNvSpPr>
          <p:nvPr/>
        </p:nvSpPr>
        <p:spPr>
          <a:xfrm xmlns:a="http://schemas.openxmlformats.org/drawingml/2006/main">
            <a:off x="4343400"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专业 / 实践 / 工具 / 职业</a:t>
            </a:r>
          </a:p>
        </p:txBody>
      </p:sp>
      <p:sp>
        <p:nvSpPr>
          <p:cNvPr id="20" name="Shape 18">
            <a:extLst xmlns:a="http://schemas.openxmlformats.org/drawingml/2006/main">
              <a:ext uri="{FF2B5EF4-FFF2-40B4-BE49-F238E27FC236}">
                <a16:creationId xmlns:a16="http://schemas.microsoft.com/office/drawing/2014/main" id="{8140CEFA-5D20-4446-82D7-35E7FF6505B1}"/>
              </a:ext>
            </a:extLst>
          </p:cNvPr>
          <p:cNvSpPr>
            <a:spLocks xmlns:a="http://schemas.openxmlformats.org/drawingml/2006/main" noGrp="1"/>
          </p:cNvSpPr>
          <p:nvPr/>
        </p:nvSpPr>
        <p:spPr>
          <a:xfrm xmlns:a="http://schemas.openxmlformats.org/drawingml/2006/main">
            <a:off x="5779008"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21" name="Shape 19">
            <a:extLst xmlns:a="http://schemas.openxmlformats.org/drawingml/2006/main">
              <a:ext uri="{FF2B5EF4-FFF2-40B4-BE49-F238E27FC236}">
                <a16:creationId xmlns:a16="http://schemas.microsoft.com/office/drawing/2014/main" id="{9E9A332E-2CC5-4028-8984-436EE4AA7401}"/>
              </a:ext>
            </a:extLst>
          </p:cNvPr>
          <p:cNvSpPr>
            <a:spLocks xmlns:a="http://schemas.openxmlformats.org/drawingml/2006/main" noGrp="1"/>
          </p:cNvSpPr>
          <p:nvPr/>
        </p:nvSpPr>
        <p:spPr>
          <a:xfrm xmlns:a="http://schemas.openxmlformats.org/drawingml/2006/main">
            <a:off x="6135624" y="1828800"/>
            <a:ext cx="1444752" cy="438912"/>
          </a:xfrm>
          <a:prstGeom xmlns:a="http://schemas.openxmlformats.org/drawingml/2006/main" prst="roundRect">
            <a:avLst>
              <a:gd name="adj" fmla="val 25000"/>
            </a:avLst>
          </a:prstGeom>
          <a:solidFill xmlns:a="http://schemas.openxmlformats.org/drawingml/2006/main">
            <a:srgbClr val="27C7CF"/>
          </a:solidFill>
          <a:ln xmlns:a="http://schemas.openxmlformats.org/drawingml/2006/main" w="12700">
            <a:solidFill>
              <a:srgbClr val="27C7CF"/>
            </a:solidFill>
            <a:prstDash val="solid"/>
          </a:ln>
        </p:spPr>
      </p:sp>
      <p:sp>
        <p:nvSpPr>
          <p:cNvPr id="22" name="Text 20">
            <a:extLst xmlns:a="http://schemas.openxmlformats.org/drawingml/2006/main">
              <a:ext uri="{FF2B5EF4-FFF2-40B4-BE49-F238E27FC236}">
                <a16:creationId xmlns:a16="http://schemas.microsoft.com/office/drawing/2014/main" id="{88A29C00-BDB5-46CC-8C90-44F988A6A597}"/>
              </a:ext>
            </a:extLst>
          </p:cNvPr>
          <p:cNvSpPr>
            <a:spLocks xmlns:a="http://schemas.openxmlformats.org/drawingml/2006/main" noGrp="1"/>
          </p:cNvSpPr>
          <p:nvPr/>
        </p:nvSpPr>
        <p:spPr>
          <a:xfrm xmlns:a="http://schemas.openxmlformats.org/drawingml/2006/main">
            <a:off x="6208776"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证据抽取</a:t>
            </a:r>
          </a:p>
        </p:txBody>
      </p:sp>
      <p:sp>
        <p:nvSpPr>
          <p:cNvPr id="23" name="Shape 21">
            <a:extLst xmlns:a="http://schemas.openxmlformats.org/drawingml/2006/main">
              <a:ext uri="{FF2B5EF4-FFF2-40B4-BE49-F238E27FC236}">
                <a16:creationId xmlns:a16="http://schemas.microsoft.com/office/drawing/2014/main" id="{2B55F619-EA25-4379-9DAD-7D1BD0BE614D}"/>
              </a:ext>
            </a:extLst>
          </p:cNvPr>
          <p:cNvSpPr>
            <a:spLocks xmlns:a="http://schemas.openxmlformats.org/drawingml/2006/main" noGrp="1"/>
          </p:cNvSpPr>
          <p:nvPr/>
        </p:nvSpPr>
        <p:spPr>
          <a:xfrm xmlns:a="http://schemas.openxmlformats.org/drawingml/2006/main">
            <a:off x="6135624"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27C7CF"/>
            </a:solidFill>
            <a:prstDash val="solid"/>
          </a:ln>
        </p:spPr>
      </p:sp>
      <p:sp>
        <p:nvSpPr>
          <p:cNvPr id="24" name="Text 22">
            <a:extLst xmlns:a="http://schemas.openxmlformats.org/drawingml/2006/main">
              <a:ext uri="{FF2B5EF4-FFF2-40B4-BE49-F238E27FC236}">
                <a16:creationId xmlns:a16="http://schemas.microsoft.com/office/drawing/2014/main" id="{5BBE0262-C36D-421A-AADB-DE753DF65C6D}"/>
              </a:ext>
            </a:extLst>
          </p:cNvPr>
          <p:cNvSpPr>
            <a:spLocks xmlns:a="http://schemas.openxmlformats.org/drawingml/2006/main" noGrp="1"/>
          </p:cNvSpPr>
          <p:nvPr/>
        </p:nvSpPr>
        <p:spPr>
          <a:xfrm xmlns:a="http://schemas.openxmlformats.org/drawingml/2006/main">
            <a:off x="6190488"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项目、技能和经历引用</a:t>
            </a:r>
          </a:p>
        </p:txBody>
      </p:sp>
      <p:sp>
        <p:nvSpPr>
          <p:cNvPr id="25" name="Shape 23">
            <a:extLst xmlns:a="http://schemas.openxmlformats.org/drawingml/2006/main">
              <a:ext uri="{FF2B5EF4-FFF2-40B4-BE49-F238E27FC236}">
                <a16:creationId xmlns:a16="http://schemas.microsoft.com/office/drawing/2014/main" id="{73BB9A66-7DD1-4EA4-8C28-7F80E98837B0}"/>
              </a:ext>
            </a:extLst>
          </p:cNvPr>
          <p:cNvSpPr>
            <a:spLocks xmlns:a="http://schemas.openxmlformats.org/drawingml/2006/main" noGrp="1"/>
          </p:cNvSpPr>
          <p:nvPr/>
        </p:nvSpPr>
        <p:spPr>
          <a:xfrm xmlns:a="http://schemas.openxmlformats.org/drawingml/2006/main">
            <a:off x="7626096"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26" name="Shape 24">
            <a:extLst xmlns:a="http://schemas.openxmlformats.org/drawingml/2006/main">
              <a:ext uri="{FF2B5EF4-FFF2-40B4-BE49-F238E27FC236}">
                <a16:creationId xmlns:a16="http://schemas.microsoft.com/office/drawing/2014/main" id="{FEDC8CE9-8CA8-435E-A9F8-507910901DF6}"/>
              </a:ext>
            </a:extLst>
          </p:cNvPr>
          <p:cNvSpPr>
            <a:spLocks xmlns:a="http://schemas.openxmlformats.org/drawingml/2006/main" noGrp="1"/>
          </p:cNvSpPr>
          <p:nvPr/>
        </p:nvSpPr>
        <p:spPr>
          <a:xfrm xmlns:a="http://schemas.openxmlformats.org/drawingml/2006/main">
            <a:off x="7982712" y="1828800"/>
            <a:ext cx="1444752"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27" name="Text 25">
            <a:extLst xmlns:a="http://schemas.openxmlformats.org/drawingml/2006/main">
              <a:ext uri="{FF2B5EF4-FFF2-40B4-BE49-F238E27FC236}">
                <a16:creationId xmlns:a16="http://schemas.microsoft.com/office/drawing/2014/main" id="{39B9C639-2919-4AF0-BDE6-E9BA09FBFBA5}"/>
              </a:ext>
            </a:extLst>
          </p:cNvPr>
          <p:cNvSpPr>
            <a:spLocks xmlns:a="http://schemas.openxmlformats.org/drawingml/2006/main" noGrp="1"/>
          </p:cNvSpPr>
          <p:nvPr/>
        </p:nvSpPr>
        <p:spPr>
          <a:xfrm xmlns:a="http://schemas.openxmlformats.org/drawingml/2006/main">
            <a:off x="8055864"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能力归因</a:t>
            </a:r>
          </a:p>
        </p:txBody>
      </p:sp>
      <p:sp>
        <p:nvSpPr>
          <p:cNvPr id="28" name="Shape 26">
            <a:extLst xmlns:a="http://schemas.openxmlformats.org/drawingml/2006/main">
              <a:ext uri="{FF2B5EF4-FFF2-40B4-BE49-F238E27FC236}">
                <a16:creationId xmlns:a16="http://schemas.microsoft.com/office/drawing/2014/main" id="{1935BADF-A237-4EDD-AD7F-DCC27F72CD2F}"/>
              </a:ext>
            </a:extLst>
          </p:cNvPr>
          <p:cNvSpPr>
            <a:spLocks xmlns:a="http://schemas.openxmlformats.org/drawingml/2006/main" noGrp="1"/>
          </p:cNvSpPr>
          <p:nvPr/>
        </p:nvSpPr>
        <p:spPr>
          <a:xfrm xmlns:a="http://schemas.openxmlformats.org/drawingml/2006/main">
            <a:off x="7982712"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47B881"/>
            </a:solidFill>
            <a:prstDash val="solid"/>
          </a:ln>
        </p:spPr>
      </p:sp>
      <p:sp>
        <p:nvSpPr>
          <p:cNvPr id="29" name="Text 27">
            <a:extLst xmlns:a="http://schemas.openxmlformats.org/drawingml/2006/main">
              <a:ext uri="{FF2B5EF4-FFF2-40B4-BE49-F238E27FC236}">
                <a16:creationId xmlns:a16="http://schemas.microsoft.com/office/drawing/2014/main" id="{347A0478-5F91-4F88-B591-467115996D26}"/>
              </a:ext>
            </a:extLst>
          </p:cNvPr>
          <p:cNvSpPr>
            <a:spLocks xmlns:a="http://schemas.openxmlformats.org/drawingml/2006/main" noGrp="1"/>
          </p:cNvSpPr>
          <p:nvPr/>
        </p:nvSpPr>
        <p:spPr>
          <a:xfrm xmlns:a="http://schemas.openxmlformats.org/drawingml/2006/main">
            <a:off x="8037576"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优势、短板与维度行动项</a:t>
            </a:r>
          </a:p>
        </p:txBody>
      </p:sp>
      <p:sp>
        <p:nvSpPr>
          <p:cNvPr id="30" name="Shape 28">
            <a:extLst xmlns:a="http://schemas.openxmlformats.org/drawingml/2006/main">
              <a:ext uri="{FF2B5EF4-FFF2-40B4-BE49-F238E27FC236}">
                <a16:creationId xmlns:a16="http://schemas.microsoft.com/office/drawing/2014/main" id="{48FE6723-2E83-4CE8-AEB9-2AFAC7AE8A99}"/>
              </a:ext>
            </a:extLst>
          </p:cNvPr>
          <p:cNvSpPr>
            <a:spLocks xmlns:a="http://schemas.openxmlformats.org/drawingml/2006/main" noGrp="1"/>
          </p:cNvSpPr>
          <p:nvPr/>
        </p:nvSpPr>
        <p:spPr>
          <a:xfrm xmlns:a="http://schemas.openxmlformats.org/drawingml/2006/main">
            <a:off x="9473184"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31" name="Shape 29">
            <a:extLst xmlns:a="http://schemas.openxmlformats.org/drawingml/2006/main">
              <a:ext uri="{FF2B5EF4-FFF2-40B4-BE49-F238E27FC236}">
                <a16:creationId xmlns:a16="http://schemas.microsoft.com/office/drawing/2014/main" id="{2787716B-212F-4885-A109-306A0528AB0A}"/>
              </a:ext>
            </a:extLst>
          </p:cNvPr>
          <p:cNvSpPr>
            <a:spLocks xmlns:a="http://schemas.openxmlformats.org/drawingml/2006/main" noGrp="1"/>
          </p:cNvSpPr>
          <p:nvPr/>
        </p:nvSpPr>
        <p:spPr>
          <a:xfrm xmlns:a="http://schemas.openxmlformats.org/drawingml/2006/main">
            <a:off x="9829800" y="1828800"/>
            <a:ext cx="1444752"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32" name="Text 30">
            <a:extLst xmlns:a="http://schemas.openxmlformats.org/drawingml/2006/main">
              <a:ext uri="{FF2B5EF4-FFF2-40B4-BE49-F238E27FC236}">
                <a16:creationId xmlns:a16="http://schemas.microsoft.com/office/drawing/2014/main" id="{4B9E7E91-3B33-4AC5-8EBF-F1CC6305F672}"/>
              </a:ext>
            </a:extLst>
          </p:cNvPr>
          <p:cNvSpPr>
            <a:spLocks xmlns:a="http://schemas.openxmlformats.org/drawingml/2006/main" noGrp="1"/>
          </p:cNvSpPr>
          <p:nvPr/>
        </p:nvSpPr>
        <p:spPr>
          <a:xfrm xmlns:a="http://schemas.openxmlformats.org/drawingml/2006/main">
            <a:off x="9902952"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质量复核</a:t>
            </a:r>
          </a:p>
        </p:txBody>
      </p:sp>
      <p:sp>
        <p:nvSpPr>
          <p:cNvPr id="33" name="Shape 31">
            <a:extLst xmlns:a="http://schemas.openxmlformats.org/drawingml/2006/main">
              <a:ext uri="{FF2B5EF4-FFF2-40B4-BE49-F238E27FC236}">
                <a16:creationId xmlns:a16="http://schemas.microsoft.com/office/drawing/2014/main" id="{EFC4B289-53D5-4155-B7FA-387ED0CFA08D}"/>
              </a:ext>
            </a:extLst>
          </p:cNvPr>
          <p:cNvSpPr>
            <a:spLocks xmlns:a="http://schemas.openxmlformats.org/drawingml/2006/main" noGrp="1"/>
          </p:cNvSpPr>
          <p:nvPr/>
        </p:nvSpPr>
        <p:spPr>
          <a:xfrm xmlns:a="http://schemas.openxmlformats.org/drawingml/2006/main">
            <a:off x="9829800"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47B881"/>
            </a:solidFill>
            <a:prstDash val="solid"/>
          </a:ln>
        </p:spPr>
      </p:sp>
      <p:sp>
        <p:nvSpPr>
          <p:cNvPr id="34" name="Text 32">
            <a:extLst xmlns:a="http://schemas.openxmlformats.org/drawingml/2006/main">
              <a:ext uri="{FF2B5EF4-FFF2-40B4-BE49-F238E27FC236}">
                <a16:creationId xmlns:a16="http://schemas.microsoft.com/office/drawing/2014/main" id="{49B9D79D-2F82-43C5-8DC5-48B344D9E026}"/>
              </a:ext>
            </a:extLst>
          </p:cNvPr>
          <p:cNvSpPr>
            <a:spLocks xmlns:a="http://schemas.openxmlformats.org/drawingml/2006/main" noGrp="1"/>
          </p:cNvSpPr>
          <p:nvPr/>
        </p:nvSpPr>
        <p:spPr>
          <a:xfrm xmlns:a="http://schemas.openxmlformats.org/drawingml/2006/main">
            <a:off x="9884664"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字段完整性与评分一致性</a:t>
            </a:r>
          </a:p>
        </p:txBody>
      </p:sp>
      <p:sp>
        <p:nvSpPr>
          <p:cNvPr id="35" name="Shape 33">
            <a:extLst xmlns:a="http://schemas.openxmlformats.org/drawingml/2006/main">
              <a:ext uri="{FF2B5EF4-FFF2-40B4-BE49-F238E27FC236}">
                <a16:creationId xmlns:a16="http://schemas.microsoft.com/office/drawing/2014/main" id="{7232C241-1AFF-4695-940A-53116F6B6B5C}"/>
              </a:ext>
            </a:extLst>
          </p:cNvPr>
          <p:cNvSpPr>
            <a:spLocks xmlns:a="http://schemas.openxmlformats.org/drawingml/2006/main" noGrp="1"/>
          </p:cNvSpPr>
          <p:nvPr/>
        </p:nvSpPr>
        <p:spPr>
          <a:xfrm xmlns:a="http://schemas.openxmlformats.org/drawingml/2006/main">
            <a:off x="648970" y="3886200"/>
            <a:ext cx="5303520" cy="173736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12700">
            <a:solidFill>
              <a:srgbClr val="D1DDEC"/>
            </a:solidFill>
            <a:prstDash val="solid"/>
          </a:ln>
        </p:spPr>
      </p:sp>
      <p:sp>
        <p:nvSpPr>
          <p:cNvPr id="36" name="Text 34">
            <a:extLst xmlns:a="http://schemas.openxmlformats.org/drawingml/2006/main">
              <a:ext uri="{FF2B5EF4-FFF2-40B4-BE49-F238E27FC236}">
                <a16:creationId xmlns:a16="http://schemas.microsoft.com/office/drawing/2014/main" id="{251C5E74-F237-4C08-AA04-3EFB63B337EF}"/>
              </a:ext>
            </a:extLst>
          </p:cNvPr>
          <p:cNvSpPr>
            <a:spLocks xmlns:a="http://schemas.openxmlformats.org/drawingml/2006/main" noGrp="1"/>
          </p:cNvSpPr>
          <p:nvPr/>
        </p:nvSpPr>
        <p:spPr>
          <a:xfrm xmlns:a="http://schemas.openxmlformats.org/drawingml/2006/main">
            <a:off x="914400" y="4069080"/>
            <a:ext cx="2377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3B7A"/>
                </a:solidFill>
                <a:latin typeface="Noto Sans CJK SC"/>
                <a:ea typeface="Noto Sans CJK SC"/>
                <a:cs typeface="Noto Sans CJK SC"/>
              </a:rPr>
              <a:t>共享工作区</a:t>
            </a:r>
          </a:p>
        </p:txBody>
      </p:sp>
      <p:sp>
        <p:nvSpPr>
          <p:cNvPr id="37" name="Shape 35">
            <a:extLst xmlns:a="http://schemas.openxmlformats.org/drawingml/2006/main">
              <a:ext uri="{FF2B5EF4-FFF2-40B4-BE49-F238E27FC236}">
                <a16:creationId xmlns:a16="http://schemas.microsoft.com/office/drawing/2014/main" id="{0FA1B57D-C7B2-4A51-82F1-9B5B49AE1FC8}"/>
              </a:ext>
            </a:extLst>
          </p:cNvPr>
          <p:cNvSpPr>
            <a:spLocks xmlns:a="http://schemas.openxmlformats.org/drawingml/2006/main" noGrp="1"/>
          </p:cNvSpPr>
          <p:nvPr/>
        </p:nvSpPr>
        <p:spPr>
          <a:xfrm xmlns:a="http://schemas.openxmlformats.org/drawingml/2006/main">
            <a:off x="960120"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38" name="Text 36">
            <a:extLst xmlns:a="http://schemas.openxmlformats.org/drawingml/2006/main">
              <a:ext uri="{FF2B5EF4-FFF2-40B4-BE49-F238E27FC236}">
                <a16:creationId xmlns:a16="http://schemas.microsoft.com/office/drawing/2014/main" id="{6241471D-5C50-49E1-A5E7-28D4CA2A4B79}"/>
              </a:ext>
            </a:extLst>
          </p:cNvPr>
          <p:cNvSpPr>
            <a:spLocks xmlns:a="http://schemas.openxmlformats.org/drawingml/2006/main" noGrp="1"/>
          </p:cNvSpPr>
          <p:nvPr/>
        </p:nvSpPr>
        <p:spPr>
          <a:xfrm xmlns:a="http://schemas.openxmlformats.org/drawingml/2006/main">
            <a:off x="1014984"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专家角色</a:t>
            </a:r>
          </a:p>
          <a:p xmlns:a="http://schemas.openxmlformats.org/drawingml/2006/main">
            <a:pPr marL="0" indent="0" algn="ctr">
              <a:buNone/>
            </a:pPr>
            <a:r>
              <a:rPr sz="1230">
                <a:solidFill>
                  <a:srgbClr val="1D2A3A"/>
                </a:solidFill>
                <a:latin typeface="Noto Sans CJK SC"/>
                <a:ea typeface="Noto Sans CJK SC"/>
                <a:cs typeface="Noto Sans CJK SC"/>
              </a:rPr>
              <a:t>5 个</a:t>
            </a:r>
          </a:p>
        </p:txBody>
      </p:sp>
      <p:sp>
        <p:nvSpPr>
          <p:cNvPr id="39" name="Shape 37">
            <a:extLst xmlns:a="http://schemas.openxmlformats.org/drawingml/2006/main">
              <a:ext uri="{FF2B5EF4-FFF2-40B4-BE49-F238E27FC236}">
                <a16:creationId xmlns:a16="http://schemas.microsoft.com/office/drawing/2014/main" id="{3738182C-8F49-4224-A165-6CC6E3FA0D02}"/>
              </a:ext>
            </a:extLst>
          </p:cNvPr>
          <p:cNvSpPr>
            <a:spLocks xmlns:a="http://schemas.openxmlformats.org/drawingml/2006/main" noGrp="1"/>
          </p:cNvSpPr>
          <p:nvPr/>
        </p:nvSpPr>
        <p:spPr>
          <a:xfrm xmlns:a="http://schemas.openxmlformats.org/drawingml/2006/main">
            <a:off x="1947672"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0" name="Shape 38">
            <a:extLst xmlns:a="http://schemas.openxmlformats.org/drawingml/2006/main">
              <a:ext uri="{FF2B5EF4-FFF2-40B4-BE49-F238E27FC236}">
                <a16:creationId xmlns:a16="http://schemas.microsoft.com/office/drawing/2014/main" id="{1CBD05FA-1A70-457C-BB15-1D40E9039999}"/>
              </a:ext>
            </a:extLst>
          </p:cNvPr>
          <p:cNvSpPr>
            <a:spLocks xmlns:a="http://schemas.openxmlformats.org/drawingml/2006/main" noGrp="1"/>
          </p:cNvSpPr>
          <p:nvPr/>
        </p:nvSpPr>
        <p:spPr>
          <a:xfrm xmlns:a="http://schemas.openxmlformats.org/drawingml/2006/main">
            <a:off x="2176272"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41" name="Text 39">
            <a:extLst xmlns:a="http://schemas.openxmlformats.org/drawingml/2006/main">
              <a:ext uri="{FF2B5EF4-FFF2-40B4-BE49-F238E27FC236}">
                <a16:creationId xmlns:a16="http://schemas.microsoft.com/office/drawing/2014/main" id="{5277E478-306F-4A7E-96C6-3FB2E8DD070A}"/>
              </a:ext>
            </a:extLst>
          </p:cNvPr>
          <p:cNvSpPr>
            <a:spLocks xmlns:a="http://schemas.openxmlformats.org/drawingml/2006/main" noGrp="1"/>
          </p:cNvSpPr>
          <p:nvPr/>
        </p:nvSpPr>
        <p:spPr>
          <a:xfrm xmlns:a="http://schemas.openxmlformats.org/drawingml/2006/main">
            <a:off x="2231136"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工具调用</a:t>
            </a:r>
          </a:p>
          <a:p xmlns:a="http://schemas.openxmlformats.org/drawingml/2006/main">
            <a:pPr marL="0" indent="0" algn="ctr">
              <a:buNone/>
            </a:pPr>
            <a:r>
              <a:rPr sz="1230">
                <a:solidFill>
                  <a:srgbClr val="1D2A3A"/>
                </a:solidFill>
                <a:latin typeface="Noto Sans CJK SC"/>
                <a:ea typeface="Noto Sans CJK SC"/>
                <a:cs typeface="Noto Sans CJK SC"/>
              </a:rPr>
              <a:t>7 次</a:t>
            </a:r>
          </a:p>
        </p:txBody>
      </p:sp>
      <p:sp>
        <p:nvSpPr>
          <p:cNvPr id="42" name="Shape 40">
            <a:extLst xmlns:a="http://schemas.openxmlformats.org/drawingml/2006/main">
              <a:ext uri="{FF2B5EF4-FFF2-40B4-BE49-F238E27FC236}">
                <a16:creationId xmlns:a16="http://schemas.microsoft.com/office/drawing/2014/main" id="{D7ED0C04-B8AB-4761-A6EB-CFF9A5E74268}"/>
              </a:ext>
            </a:extLst>
          </p:cNvPr>
          <p:cNvSpPr>
            <a:spLocks xmlns:a="http://schemas.openxmlformats.org/drawingml/2006/main" noGrp="1"/>
          </p:cNvSpPr>
          <p:nvPr/>
        </p:nvSpPr>
        <p:spPr>
          <a:xfrm xmlns:a="http://schemas.openxmlformats.org/drawingml/2006/main">
            <a:off x="3163824"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3" name="Shape 41">
            <a:extLst xmlns:a="http://schemas.openxmlformats.org/drawingml/2006/main">
              <a:ext uri="{FF2B5EF4-FFF2-40B4-BE49-F238E27FC236}">
                <a16:creationId xmlns:a16="http://schemas.microsoft.com/office/drawing/2014/main" id="{6966471E-FC8E-473B-B854-4AD919B49CDD}"/>
              </a:ext>
            </a:extLst>
          </p:cNvPr>
          <p:cNvSpPr>
            <a:spLocks xmlns:a="http://schemas.openxmlformats.org/drawingml/2006/main" noGrp="1"/>
          </p:cNvSpPr>
          <p:nvPr/>
        </p:nvSpPr>
        <p:spPr>
          <a:xfrm xmlns:a="http://schemas.openxmlformats.org/drawingml/2006/main">
            <a:off x="3392424"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44" name="Text 42">
            <a:extLst xmlns:a="http://schemas.openxmlformats.org/drawingml/2006/main">
              <a:ext uri="{FF2B5EF4-FFF2-40B4-BE49-F238E27FC236}">
                <a16:creationId xmlns:a16="http://schemas.microsoft.com/office/drawing/2014/main" id="{137BBBBC-4D96-455E-812A-A473E6B75518}"/>
              </a:ext>
            </a:extLst>
          </p:cNvPr>
          <p:cNvSpPr>
            <a:spLocks xmlns:a="http://schemas.openxmlformats.org/drawingml/2006/main" noGrp="1"/>
          </p:cNvSpPr>
          <p:nvPr/>
        </p:nvSpPr>
        <p:spPr>
          <a:xfrm xmlns:a="http://schemas.openxmlformats.org/drawingml/2006/main">
            <a:off x="3447288"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交接记录</a:t>
            </a:r>
          </a:p>
          <a:p xmlns:a="http://schemas.openxmlformats.org/drawingml/2006/main">
            <a:pPr marL="0" indent="0" algn="ctr">
              <a:buNone/>
            </a:pPr>
            <a:r>
              <a:rPr sz="1230">
                <a:solidFill>
                  <a:srgbClr val="1D2A3A"/>
                </a:solidFill>
                <a:latin typeface="Noto Sans CJK SC"/>
                <a:ea typeface="Noto Sans CJK SC"/>
                <a:cs typeface="Noto Sans CJK SC"/>
              </a:rPr>
              <a:t>5 次</a:t>
            </a:r>
          </a:p>
        </p:txBody>
      </p:sp>
      <p:sp>
        <p:nvSpPr>
          <p:cNvPr id="45" name="Shape 43">
            <a:extLst xmlns:a="http://schemas.openxmlformats.org/drawingml/2006/main">
              <a:ext uri="{FF2B5EF4-FFF2-40B4-BE49-F238E27FC236}">
                <a16:creationId xmlns:a16="http://schemas.microsoft.com/office/drawing/2014/main" id="{F291A8EE-29E6-421C-947F-27F8F2B23BB2}"/>
              </a:ext>
            </a:extLst>
          </p:cNvPr>
          <p:cNvSpPr>
            <a:spLocks xmlns:a="http://schemas.openxmlformats.org/drawingml/2006/main" noGrp="1"/>
          </p:cNvSpPr>
          <p:nvPr/>
        </p:nvSpPr>
        <p:spPr>
          <a:xfrm xmlns:a="http://schemas.openxmlformats.org/drawingml/2006/main">
            <a:off x="4379976"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6" name="Shape 44">
            <a:extLst xmlns:a="http://schemas.openxmlformats.org/drawingml/2006/main">
              <a:ext uri="{FF2B5EF4-FFF2-40B4-BE49-F238E27FC236}">
                <a16:creationId xmlns:a16="http://schemas.microsoft.com/office/drawing/2014/main" id="{72420D5A-AF71-44C5-8F45-154FF5BDB87A}"/>
              </a:ext>
            </a:extLst>
          </p:cNvPr>
          <p:cNvSpPr>
            <a:spLocks xmlns:a="http://schemas.openxmlformats.org/drawingml/2006/main" noGrp="1"/>
          </p:cNvSpPr>
          <p:nvPr/>
        </p:nvSpPr>
        <p:spPr>
          <a:xfrm xmlns:a="http://schemas.openxmlformats.org/drawingml/2006/main">
            <a:off x="4608576" y="4526280"/>
            <a:ext cx="987552" cy="713232"/>
          </a:xfrm>
          <a:prstGeom xmlns:a="http://schemas.openxmlformats.org/drawingml/2006/main" prst="roundRect">
            <a:avLst>
              <a:gd name="adj" fmla="val 10256"/>
            </a:avLst>
          </a:prstGeom>
          <a:solidFill xmlns:a="http://schemas.openxmlformats.org/drawingml/2006/main">
            <a:srgbClr val="DDF9F5"/>
          </a:solidFill>
          <a:ln xmlns:a="http://schemas.openxmlformats.org/drawingml/2006/main" w="12700">
            <a:solidFill>
              <a:srgbClr val="27C7CF"/>
            </a:solidFill>
            <a:prstDash val="solid"/>
          </a:ln>
        </p:spPr>
      </p:sp>
      <p:sp>
        <p:nvSpPr>
          <p:cNvPr id="47" name="Text 45">
            <a:extLst xmlns:a="http://schemas.openxmlformats.org/drawingml/2006/main">
              <a:ext uri="{FF2B5EF4-FFF2-40B4-BE49-F238E27FC236}">
                <a16:creationId xmlns:a16="http://schemas.microsoft.com/office/drawing/2014/main" id="{0B355D0D-BC14-4FFC-BB4D-70E498B3784D}"/>
              </a:ext>
            </a:extLst>
          </p:cNvPr>
          <p:cNvSpPr>
            <a:spLocks xmlns:a="http://schemas.openxmlformats.org/drawingml/2006/main" noGrp="1"/>
          </p:cNvSpPr>
          <p:nvPr/>
        </p:nvSpPr>
        <p:spPr>
          <a:xfrm xmlns:a="http://schemas.openxmlformats.org/drawingml/2006/main">
            <a:off x="4663440"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b="1">
                <a:solidFill>
                  <a:srgbClr val="1D2A3A"/>
                </a:solidFill>
                <a:latin typeface="Noto Sans CJK SC"/>
                <a:ea typeface="Noto Sans CJK SC"/>
                <a:cs typeface="Noto Sans CJK SC"/>
              </a:rPr>
              <a:t>LLM 请求</a:t>
            </a:r>
          </a:p>
          <a:p xmlns:a="http://schemas.openxmlformats.org/drawingml/2006/main">
            <a:pPr marL="0" indent="0" algn="ctr">
              <a:buNone/>
            </a:pPr>
            <a:r>
              <a:rPr sz="1230" b="1">
                <a:solidFill>
                  <a:srgbClr val="1D2A3A"/>
                </a:solidFill>
                <a:latin typeface="Noto Sans CJK SC"/>
                <a:ea typeface="Noto Sans CJK SC"/>
                <a:cs typeface="Noto Sans CJK SC"/>
              </a:rPr>
              <a:t>1 次</a:t>
            </a:r>
          </a:p>
        </p:txBody>
      </p:sp>
      <p:sp>
        <p:nvSpPr>
          <p:cNvPr id="48" name="Shape 46">
            <a:extLst xmlns:a="http://schemas.openxmlformats.org/drawingml/2006/main">
              <a:ext uri="{FF2B5EF4-FFF2-40B4-BE49-F238E27FC236}">
                <a16:creationId xmlns:a16="http://schemas.microsoft.com/office/drawing/2014/main" id="{F8CF2C81-37F2-4F42-96CA-860624D24B84}"/>
              </a:ext>
            </a:extLst>
          </p:cNvPr>
          <p:cNvSpPr>
            <a:spLocks xmlns:a="http://schemas.openxmlformats.org/drawingml/2006/main" noGrp="1"/>
          </p:cNvSpPr>
          <p:nvPr/>
        </p:nvSpPr>
        <p:spPr>
          <a:xfrm xmlns:a="http://schemas.openxmlformats.org/drawingml/2006/main">
            <a:off x="6446520" y="3886200"/>
            <a:ext cx="4800600" cy="804672"/>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5240">
            <a:solidFill>
              <a:srgbClr val="47B881"/>
            </a:solidFill>
            <a:prstDash val="solid"/>
          </a:ln>
        </p:spPr>
      </p:sp>
      <p:sp>
        <p:nvSpPr>
          <p:cNvPr id="49" name="Text 47">
            <a:extLst xmlns:a="http://schemas.openxmlformats.org/drawingml/2006/main">
              <a:ext uri="{FF2B5EF4-FFF2-40B4-BE49-F238E27FC236}">
                <a16:creationId xmlns:a16="http://schemas.microsoft.com/office/drawing/2014/main" id="{74CE1633-D207-424F-B42A-8006EA8F2D1F}"/>
              </a:ext>
            </a:extLst>
          </p:cNvPr>
          <p:cNvSpPr>
            <a:spLocks xmlns:a="http://schemas.openxmlformats.org/drawingml/2006/main" noGrp="1"/>
          </p:cNvSpPr>
          <p:nvPr/>
        </p:nvSpPr>
        <p:spPr>
          <a:xfrm xmlns:a="http://schemas.openxmlformats.org/drawingml/2006/main">
            <a:off x="6611112" y="4005072"/>
            <a:ext cx="4471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47B881"/>
                </a:solidFill>
                <a:latin typeface="Noto Sans CJK SC"/>
                <a:ea typeface="Noto Sans CJK SC"/>
                <a:cs typeface="Noto Sans CJK SC"/>
              </a:rPr>
              <a:t>工具复核机制</a:t>
            </a:r>
          </a:p>
        </p:txBody>
      </p:sp>
      <p:sp>
        <p:nvSpPr>
          <p:cNvPr id="50" name="Text 48">
            <a:extLst xmlns:a="http://schemas.openxmlformats.org/drawingml/2006/main">
              <a:ext uri="{FF2B5EF4-FFF2-40B4-BE49-F238E27FC236}">
                <a16:creationId xmlns:a16="http://schemas.microsoft.com/office/drawing/2014/main" id="{415421C3-9196-49CC-BEF4-1B99103EBBB1}"/>
              </a:ext>
            </a:extLst>
          </p:cNvPr>
          <p:cNvSpPr>
            <a:spLocks xmlns:a="http://schemas.openxmlformats.org/drawingml/2006/main" noGrp="1"/>
          </p:cNvSpPr>
          <p:nvPr/>
        </p:nvSpPr>
        <p:spPr>
          <a:xfrm xmlns:a="http://schemas.openxmlformats.org/drawingml/2006/main">
            <a:off x="6611112" y="4325112"/>
            <a:ext cx="4471416" cy="2560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21647"/>
          </a:bodyPr>
          <a:lstStyle xmlns:a="http://schemas.openxmlformats.org/drawingml/2006/main"/>
          <a:p xmlns:a="http://schemas.openxmlformats.org/drawingml/2006/main">
            <a:pPr marL="0" indent="0">
              <a:buNone/>
            </a:pPr>
            <a:r>
              <a:rPr sz="4665">
                <a:solidFill>
                  <a:srgbClr val="1D2A3A"/>
                </a:solidFill>
                <a:latin typeface="微软雅黑"/>
                <a:ea typeface="微软雅黑"/>
                <a:cs typeface="微软雅黑"/>
              </a:rPr>
              <a:t>标准化、关键词扫描、Rubric 计算、证据矩阵和最终审计均由本地工具完成。</a:t>
            </a:r>
          </a:p>
        </p:txBody>
      </p:sp>
      <p:sp>
        <p:nvSpPr>
          <p:cNvPr id="51" name="Shape 49">
            <a:extLst xmlns:a="http://schemas.openxmlformats.org/drawingml/2006/main">
              <a:ext uri="{FF2B5EF4-FFF2-40B4-BE49-F238E27FC236}">
                <a16:creationId xmlns:a16="http://schemas.microsoft.com/office/drawing/2014/main" id="{890A199A-4631-4C12-9378-11DC632392F4}"/>
              </a:ext>
            </a:extLst>
          </p:cNvPr>
          <p:cNvSpPr>
            <a:spLocks xmlns:a="http://schemas.openxmlformats.org/drawingml/2006/main" noGrp="1"/>
          </p:cNvSpPr>
          <p:nvPr/>
        </p:nvSpPr>
        <p:spPr>
          <a:xfrm xmlns:a="http://schemas.openxmlformats.org/drawingml/2006/main">
            <a:off x="6446520" y="4892040"/>
            <a:ext cx="4800600" cy="804672"/>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5240">
            <a:solidFill>
              <a:srgbClr val="27C7CF"/>
            </a:solidFill>
            <a:prstDash val="solid"/>
          </a:ln>
        </p:spPr>
      </p:sp>
      <p:sp>
        <p:nvSpPr>
          <p:cNvPr id="52" name="Text 50">
            <a:extLst xmlns:a="http://schemas.openxmlformats.org/drawingml/2006/main">
              <a:ext uri="{FF2B5EF4-FFF2-40B4-BE49-F238E27FC236}">
                <a16:creationId xmlns:a16="http://schemas.microsoft.com/office/drawing/2014/main" id="{23EA6227-DB85-4B67-B77A-7BBD1381CACC}"/>
              </a:ext>
            </a:extLst>
          </p:cNvPr>
          <p:cNvSpPr>
            <a:spLocks xmlns:a="http://schemas.openxmlformats.org/drawingml/2006/main" noGrp="1"/>
          </p:cNvSpPr>
          <p:nvPr/>
        </p:nvSpPr>
        <p:spPr>
          <a:xfrm xmlns:a="http://schemas.openxmlformats.org/drawingml/2006/main">
            <a:off x="6611112" y="5010912"/>
            <a:ext cx="4471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7C7CF"/>
                </a:solidFill>
                <a:latin typeface="Noto Sans CJK SC"/>
                <a:ea typeface="Noto Sans CJK SC"/>
                <a:cs typeface="Noto Sans CJK SC"/>
              </a:rPr>
              <a:t>质量控制</a:t>
            </a:r>
          </a:p>
        </p:txBody>
      </p:sp>
      <p:sp>
        <p:nvSpPr>
          <p:cNvPr id="53" name="Text 51">
            <a:extLst xmlns:a="http://schemas.openxmlformats.org/drawingml/2006/main">
              <a:ext uri="{FF2B5EF4-FFF2-40B4-BE49-F238E27FC236}">
                <a16:creationId xmlns:a16="http://schemas.microsoft.com/office/drawing/2014/main" id="{174248B4-C213-42DA-9D79-221C360377E3}"/>
              </a:ext>
            </a:extLst>
          </p:cNvPr>
          <p:cNvSpPr>
            <a:spLocks xmlns:a="http://schemas.openxmlformats.org/drawingml/2006/main" noGrp="1"/>
          </p:cNvSpPr>
          <p:nvPr/>
        </p:nvSpPr>
        <p:spPr>
          <a:xfrm xmlns:a="http://schemas.openxmlformats.org/drawingml/2006/main">
            <a:off x="6611112" y="5330952"/>
            <a:ext cx="4471416" cy="2560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7971"/>
          </a:bodyPr>
          <a:lstStyle xmlns:a="http://schemas.openxmlformats.org/drawingml/2006/main"/>
          <a:p xmlns:a="http://schemas.openxmlformats.org/drawingml/2006/main">
            <a:pPr marL="0" indent="0">
              <a:buNone/>
            </a:pPr>
            <a:r>
              <a:rPr sz="4665">
                <a:solidFill>
                  <a:srgbClr val="1D2A3A"/>
                </a:solidFill>
                <a:latin typeface="微软雅黑"/>
                <a:ea typeface="微软雅黑"/>
                <a:cs typeface="微软雅黑"/>
              </a:rPr>
              <a:t>保留 shared_workspace、tool_calls、collaboration_log 与 quality_notes，便于复盘和答辩展示。</a:t>
            </a:r>
          </a:p>
        </p:txBody>
      </p:sp>
    </p:spTree>
    <p:extLst>
      <p:ext uri="{BB962C8B-B14F-4D97-AF65-F5344CB8AC3E}">
        <p14:creationId xmlns:p14="http://schemas.microsoft.com/office/powerpoint/2010/main" val="1392975319"/>
      </p:ext>
    </p:extLst>
  </p:cSld>
</p:sld>
</file>

<file path=ppt/slides/slide10.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23676bfb41bc40ff"/>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D3C99DB1-B00D-4DBC-B138-CCF1369662F7}"/>
              </a:ext>
            </a:extLst>
          </p:cNvPr>
          <p:cNvSpPr>
            <a:spLocks xmlns:a="http://schemas.openxmlformats.org/drawingml/2006/main" noGrp="1"/>
          </p:cNvSpPr>
          <p:nvPr/>
        </p:nvSpPr>
        <p:spPr>
          <a:xfrm xmlns:a="http://schemas.openxmlformats.org/drawingml/2006/main">
            <a:off x="508000" y="469265"/>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200" b="1" i="0" u="none">
                <a:solidFill>
                  <a:srgbClr val="104862"/>
                </a:solidFill>
                <a:latin typeface="Noto Sans SC"/>
                <a:ea typeface="Noto Sans SC"/>
                <a:cs typeface="Noto Sans SC"/>
              </a:rPr>
              <a:t>04 四维能力画像模型</a:t>
            </a:r>
          </a:p>
        </p:txBody>
      </p:sp>
      <p:sp>
        <p:nvSpPr>
          <p:cNvPr id="5" name="AutoShape 5">
            <a:extLst xmlns:a="http://schemas.openxmlformats.org/drawingml/2006/main">
              <a:ext uri="{FF2B5EF4-FFF2-40B4-BE49-F238E27FC236}">
                <a16:creationId xmlns:a16="http://schemas.microsoft.com/office/drawing/2014/main" id="{DD3B9BEF-39D2-4429-A6EA-E0EEA3446D37}"/>
              </a:ext>
            </a:extLst>
          </p:cNvPr>
          <p:cNvSpPr>
            <a:spLocks xmlns:a="http://schemas.openxmlformats.org/drawingml/2006/main" noGrp="1"/>
          </p:cNvSpPr>
          <p:nvPr/>
        </p:nvSpPr>
        <p:spPr>
          <a:xfrm xmlns:a="http://schemas.openxmlformats.org/drawingml/2006/main">
            <a:off x="508000" y="1397000"/>
            <a:ext cx="5461000" cy="2032000"/>
          </a:xfrm>
          <a:prstGeom xmlns:a="http://schemas.openxmlformats.org/drawingml/2006/main" prst="roundRect">
            <a:avLst>
              <a:gd name="adj" fmla="val 7500"/>
            </a:avLst>
          </a:prstGeom>
          <a:solidFill xmlns:a="http://schemas.openxmlformats.org/drawingml/2006/main">
            <a:srgbClr val="FFFFFF">
              <a:alpha val="95000"/>
            </a:srgbClr>
          </a:solidFill>
          <a:ln xmlns:a="http://schemas.openxmlformats.org/drawingml/2006/main" w="12700" cmpd="sng">
            <a:solidFill>
              <a:srgbClr val="DEE0E3">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6" name="AutoShape 6">
            <a:extLst xmlns:a="http://schemas.openxmlformats.org/drawingml/2006/main">
              <a:ext uri="{FF2B5EF4-FFF2-40B4-BE49-F238E27FC236}">
                <a16:creationId xmlns:a16="http://schemas.microsoft.com/office/drawing/2014/main" id="{0BD26DFE-58FC-4211-9505-CB80F121A04A}"/>
              </a:ext>
            </a:extLst>
          </p:cNvPr>
          <p:cNvSpPr>
            <a:spLocks xmlns:a="http://schemas.openxmlformats.org/drawingml/2006/main" noGrp="1"/>
          </p:cNvSpPr>
          <p:nvPr/>
        </p:nvSpPr>
        <p:spPr>
          <a:xfrm xmlns:a="http://schemas.openxmlformats.org/drawingml/2006/main">
            <a:off x="508000" y="1397000"/>
            <a:ext cx="76200" cy="2032000"/>
          </a:xfrm>
          <a:prstGeom xmlns:a="http://schemas.openxmlformats.org/drawingml/2006/main" prst="roundRect">
            <a:avLst>
              <a:gd name="adj" fmla="val 0"/>
            </a:avLst>
          </a:prstGeom>
          <a:solidFill xmlns:a="http://schemas.openxmlformats.org/drawingml/2006/main">
            <a:srgbClr val="3B82F6">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A07E0464-46BF-4ED5-B9D4-E26A4259E289}"/>
              </a:ext>
            </a:extLst>
          </p:cNvPr>
          <p:cNvSpPr>
            <a:spLocks xmlns:a="http://schemas.openxmlformats.org/drawingml/2006/main" noGrp="1"/>
          </p:cNvSpPr>
          <p:nvPr/>
        </p:nvSpPr>
        <p:spPr>
          <a:xfrm xmlns:a="http://schemas.openxmlformats.org/drawingml/2006/main">
            <a:off x="762000" y="1524000"/>
            <a:ext cx="49530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800" b="1" i="0" u="none">
                <a:solidFill>
                  <a:srgbClr val="1F2329"/>
                </a:solidFill>
                <a:latin typeface="Noto Sans SC"/>
                <a:ea typeface="Noto Sans SC"/>
                <a:cs typeface="Noto Sans SC"/>
              </a:rPr>
              <a:t>专业基础能力</a:t>
            </a:r>
          </a:p>
          <a:p xmlns:a="http://schemas.openxmlformats.org/drawingml/2006/main">
            <a:pPr indent="0" algn="l">
              <a:lnSpc>
                <a:spcPct val="108000"/>
              </a:lnSpc>
              <a:spcBef>
                <a:spcPts val="800"/>
              </a:spcBef>
              <a:buNone/>
            </a:pPr>
            <a:r>
              <a:rPr sz="1200" b="1" i="0" u="none">
                <a:solidFill>
                  <a:srgbClr val="646A73"/>
                </a:solidFill>
                <a:latin typeface="Noto Sans SC"/>
                <a:ea typeface="Noto Sans SC"/>
                <a:cs typeface="Noto Sans SC"/>
              </a:rPr>
              <a:t>来源：课程知识、专业概念、核心技能、证书和知识体系完整度。</a:t>
            </a:r>
          </a:p>
          <a:p xmlns:a="http://schemas.openxmlformats.org/drawingml/2006/main">
            <a:pPr indent="0" algn="l">
              <a:lnSpc>
                <a:spcPct val="108000"/>
              </a:lnSpc>
              <a:buNone/>
            </a:pPr>
            <a:r>
              <a:rPr sz="1200" b="1" i="0" u="none">
                <a:solidFill>
                  <a:srgbClr val="10B981"/>
                </a:solidFill>
                <a:latin typeface="Noto Sans SC"/>
                <a:ea typeface="Noto Sans SC"/>
                <a:cs typeface="Noto Sans SC"/>
              </a:rPr>
              <a:t>展示：分数、证据卡和针对性补强建议。</a:t>
            </a:r>
          </a:p>
        </p:txBody>
      </p:sp>
      <p:sp>
        <p:nvSpPr>
          <p:cNvPr id="8" name="AutoShape 8">
            <a:extLst xmlns:a="http://schemas.openxmlformats.org/drawingml/2006/main">
              <a:ext uri="{FF2B5EF4-FFF2-40B4-BE49-F238E27FC236}">
                <a16:creationId xmlns:a16="http://schemas.microsoft.com/office/drawing/2014/main" id="{8AD8AF92-3165-4641-B038-8B43CCB774BA}"/>
              </a:ext>
            </a:extLst>
          </p:cNvPr>
          <p:cNvSpPr>
            <a:spLocks xmlns:a="http://schemas.openxmlformats.org/drawingml/2006/main" noGrp="1"/>
          </p:cNvSpPr>
          <p:nvPr/>
        </p:nvSpPr>
        <p:spPr>
          <a:xfrm xmlns:a="http://schemas.openxmlformats.org/drawingml/2006/main">
            <a:off x="6223000" y="1397000"/>
            <a:ext cx="5461000" cy="2032000"/>
          </a:xfrm>
          <a:prstGeom xmlns:a="http://schemas.openxmlformats.org/drawingml/2006/main" prst="roundRect">
            <a:avLst>
              <a:gd name="adj" fmla="val 7500"/>
            </a:avLst>
          </a:prstGeom>
          <a:solidFill xmlns:a="http://schemas.openxmlformats.org/drawingml/2006/main">
            <a:srgbClr val="FFFFFF">
              <a:alpha val="95000"/>
            </a:srgbClr>
          </a:solidFill>
          <a:ln xmlns:a="http://schemas.openxmlformats.org/drawingml/2006/main" w="12700" cmpd="sng">
            <a:solidFill>
              <a:srgbClr val="DEE0E3">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F99A97AE-50E9-4C4B-AA39-9EE77A6CE0E1}"/>
              </a:ext>
            </a:extLst>
          </p:cNvPr>
          <p:cNvSpPr>
            <a:spLocks xmlns:a="http://schemas.openxmlformats.org/drawingml/2006/main" noGrp="1"/>
          </p:cNvSpPr>
          <p:nvPr/>
        </p:nvSpPr>
        <p:spPr>
          <a:xfrm xmlns:a="http://schemas.openxmlformats.org/drawingml/2006/main">
            <a:off x="6223000" y="1397000"/>
            <a:ext cx="76200" cy="2032000"/>
          </a:xfrm>
          <a:prstGeom xmlns:a="http://schemas.openxmlformats.org/drawingml/2006/main" prst="roundRect">
            <a:avLst>
              <a:gd name="adj" fmla="val 0"/>
            </a:avLst>
          </a:prstGeom>
          <a:solidFill xmlns:a="http://schemas.openxmlformats.org/drawingml/2006/main">
            <a:srgbClr val="10B981">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0" name="AutoShape 10">
            <a:extLst xmlns:a="http://schemas.openxmlformats.org/drawingml/2006/main">
              <a:ext uri="{FF2B5EF4-FFF2-40B4-BE49-F238E27FC236}">
                <a16:creationId xmlns:a16="http://schemas.microsoft.com/office/drawing/2014/main" id="{130A6FE9-6F45-4AFF-B126-A64C59C9BD09}"/>
              </a:ext>
            </a:extLst>
          </p:cNvPr>
          <p:cNvSpPr>
            <a:spLocks xmlns:a="http://schemas.openxmlformats.org/drawingml/2006/main" noGrp="1"/>
          </p:cNvSpPr>
          <p:nvPr/>
        </p:nvSpPr>
        <p:spPr>
          <a:xfrm xmlns:a="http://schemas.openxmlformats.org/drawingml/2006/main">
            <a:off x="6477000" y="1524000"/>
            <a:ext cx="49530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800" b="1" i="0" u="none">
                <a:solidFill>
                  <a:srgbClr val="1F2329"/>
                </a:solidFill>
                <a:latin typeface="Noto Sans SC"/>
                <a:ea typeface="Noto Sans SC"/>
                <a:cs typeface="Noto Sans SC"/>
              </a:rPr>
              <a:t>技术实践能力</a:t>
            </a:r>
          </a:p>
          <a:p xmlns:a="http://schemas.openxmlformats.org/drawingml/2006/main">
            <a:pPr indent="0" algn="l">
              <a:lnSpc>
                <a:spcPct val="108000"/>
              </a:lnSpc>
              <a:spcBef>
                <a:spcPts val="800"/>
              </a:spcBef>
              <a:buNone/>
            </a:pPr>
            <a:r>
              <a:rPr sz="1200" b="1" i="0" u="none">
                <a:solidFill>
                  <a:srgbClr val="646A73"/>
                </a:solidFill>
                <a:latin typeface="Noto Sans SC"/>
                <a:ea typeface="Noto Sans SC"/>
                <a:cs typeface="Noto Sans SC"/>
              </a:rPr>
              <a:t>来源：项目、实习、竞赛、可交付作品和工程闭环。</a:t>
            </a:r>
          </a:p>
          <a:p xmlns:a="http://schemas.openxmlformats.org/drawingml/2006/main">
            <a:pPr indent="0" algn="l">
              <a:lnSpc>
                <a:spcPct val="108000"/>
              </a:lnSpc>
              <a:buNone/>
            </a:pPr>
            <a:r>
              <a:rPr sz="1200" b="1" i="0" u="none">
                <a:solidFill>
                  <a:srgbClr val="10B981"/>
                </a:solidFill>
                <a:latin typeface="Noto Sans SC"/>
                <a:ea typeface="Noto Sans SC"/>
                <a:cs typeface="Noto Sans SC"/>
              </a:rPr>
              <a:t>展示：实践深度、角色贡献和成果证据。</a:t>
            </a:r>
          </a:p>
        </p:txBody>
      </p:sp>
      <p:sp>
        <p:nvSpPr>
          <p:cNvPr id="11" name="AutoShape 11">
            <a:extLst xmlns:a="http://schemas.openxmlformats.org/drawingml/2006/main">
              <a:ext uri="{FF2B5EF4-FFF2-40B4-BE49-F238E27FC236}">
                <a16:creationId xmlns:a16="http://schemas.microsoft.com/office/drawing/2014/main" id="{63A9BD71-3C18-459C-B05B-34FA6CB3C5D1}"/>
              </a:ext>
            </a:extLst>
          </p:cNvPr>
          <p:cNvSpPr>
            <a:spLocks xmlns:a="http://schemas.openxmlformats.org/drawingml/2006/main" noGrp="1"/>
          </p:cNvSpPr>
          <p:nvPr/>
        </p:nvSpPr>
        <p:spPr>
          <a:xfrm xmlns:a="http://schemas.openxmlformats.org/drawingml/2006/main">
            <a:off x="508000" y="3683000"/>
            <a:ext cx="5461000" cy="2032000"/>
          </a:xfrm>
          <a:prstGeom xmlns:a="http://schemas.openxmlformats.org/drawingml/2006/main" prst="roundRect">
            <a:avLst>
              <a:gd name="adj" fmla="val 7500"/>
            </a:avLst>
          </a:prstGeom>
          <a:solidFill xmlns:a="http://schemas.openxmlformats.org/drawingml/2006/main">
            <a:srgbClr val="FFFFFF">
              <a:alpha val="95000"/>
            </a:srgbClr>
          </a:solidFill>
          <a:ln xmlns:a="http://schemas.openxmlformats.org/drawingml/2006/main" w="12700" cmpd="sng">
            <a:solidFill>
              <a:srgbClr val="DEE0E3">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2" name="AutoShape 12">
            <a:extLst xmlns:a="http://schemas.openxmlformats.org/drawingml/2006/main">
              <a:ext uri="{FF2B5EF4-FFF2-40B4-BE49-F238E27FC236}">
                <a16:creationId xmlns:a16="http://schemas.microsoft.com/office/drawing/2014/main" id="{BD89A119-0C86-47A7-954D-D8499DE14851}"/>
              </a:ext>
            </a:extLst>
          </p:cNvPr>
          <p:cNvSpPr>
            <a:spLocks xmlns:a="http://schemas.openxmlformats.org/drawingml/2006/main" noGrp="1"/>
          </p:cNvSpPr>
          <p:nvPr/>
        </p:nvSpPr>
        <p:spPr>
          <a:xfrm xmlns:a="http://schemas.openxmlformats.org/drawingml/2006/main">
            <a:off x="508000" y="3683000"/>
            <a:ext cx="76200" cy="2032000"/>
          </a:xfrm>
          <a:prstGeom xmlns:a="http://schemas.openxmlformats.org/drawingml/2006/main" prst="roundRect">
            <a:avLst>
              <a:gd name="adj" fmla="val 0"/>
            </a:avLst>
          </a:prstGeom>
          <a:solidFill xmlns:a="http://schemas.openxmlformats.org/drawingml/2006/main">
            <a:srgbClr val="F59E0B">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DCF46226-5E83-4B3A-B650-0E7359C9149F}"/>
              </a:ext>
            </a:extLst>
          </p:cNvPr>
          <p:cNvSpPr>
            <a:spLocks xmlns:a="http://schemas.openxmlformats.org/drawingml/2006/main" noGrp="1"/>
          </p:cNvSpPr>
          <p:nvPr/>
        </p:nvSpPr>
        <p:spPr>
          <a:xfrm xmlns:a="http://schemas.openxmlformats.org/drawingml/2006/main">
            <a:off x="762000" y="3810000"/>
            <a:ext cx="49530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800" b="1" i="0" u="none">
                <a:solidFill>
                  <a:srgbClr val="1F2329"/>
                </a:solidFill>
                <a:latin typeface="Noto Sans SC"/>
                <a:ea typeface="Noto Sans SC"/>
                <a:cs typeface="Noto Sans SC"/>
              </a:rPr>
              <a:t>工具技能能力</a:t>
            </a:r>
          </a:p>
          <a:p xmlns:a="http://schemas.openxmlformats.org/drawingml/2006/main">
            <a:pPr indent="0" algn="l">
              <a:lnSpc>
                <a:spcPct val="108000"/>
              </a:lnSpc>
              <a:spcBef>
                <a:spcPts val="800"/>
              </a:spcBef>
              <a:buNone/>
            </a:pPr>
            <a:r>
              <a:rPr sz="1200" b="1" i="0" u="none">
                <a:solidFill>
                  <a:srgbClr val="646A73"/>
                </a:solidFill>
                <a:latin typeface="Noto Sans SC"/>
                <a:ea typeface="Noto Sans SC"/>
                <a:cs typeface="Noto Sans SC"/>
              </a:rPr>
              <a:t>来源：语言、框架、数据库、中间件、部署工具和 AI 工具。</a:t>
            </a:r>
          </a:p>
          <a:p xmlns:a="http://schemas.openxmlformats.org/drawingml/2006/main">
            <a:pPr indent="0" algn="l">
              <a:lnSpc>
                <a:spcPct val="108000"/>
              </a:lnSpc>
              <a:buNone/>
            </a:pPr>
            <a:r>
              <a:rPr sz="1200" b="1" i="0" u="none">
                <a:solidFill>
                  <a:srgbClr val="10B981"/>
                </a:solidFill>
                <a:latin typeface="Noto Sans SC"/>
                <a:ea typeface="Noto Sans SC"/>
                <a:cs typeface="Noto Sans SC"/>
              </a:rPr>
              <a:t>展示：技能覆盖率、熟练度和缺口。</a:t>
            </a:r>
          </a:p>
        </p:txBody>
      </p:sp>
      <p:sp>
        <p:nvSpPr>
          <p:cNvPr id="14" name="AutoShape 14">
            <a:extLst xmlns:a="http://schemas.openxmlformats.org/drawingml/2006/main">
              <a:ext uri="{FF2B5EF4-FFF2-40B4-BE49-F238E27FC236}">
                <a16:creationId xmlns:a16="http://schemas.microsoft.com/office/drawing/2014/main" id="{857BEC61-59AC-45D1-A28C-8828E796E9CF}"/>
              </a:ext>
            </a:extLst>
          </p:cNvPr>
          <p:cNvSpPr>
            <a:spLocks xmlns:a="http://schemas.openxmlformats.org/drawingml/2006/main" noGrp="1"/>
          </p:cNvSpPr>
          <p:nvPr/>
        </p:nvSpPr>
        <p:spPr>
          <a:xfrm xmlns:a="http://schemas.openxmlformats.org/drawingml/2006/main">
            <a:off x="6223000" y="3683000"/>
            <a:ext cx="5461000" cy="2032000"/>
          </a:xfrm>
          <a:prstGeom xmlns:a="http://schemas.openxmlformats.org/drawingml/2006/main" prst="roundRect">
            <a:avLst>
              <a:gd name="adj" fmla="val 7500"/>
            </a:avLst>
          </a:prstGeom>
          <a:solidFill xmlns:a="http://schemas.openxmlformats.org/drawingml/2006/main">
            <a:srgbClr val="EFF6FF">
              <a:alpha val="100000"/>
            </a:srgbClr>
          </a:solidFill>
          <a:ln xmlns:a="http://schemas.openxmlformats.org/drawingml/2006/main" w="25400" cmpd="sng">
            <a:solidFill>
              <a:srgbClr val="3B82F6">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5" name="AutoShape 15">
            <a:extLst xmlns:a="http://schemas.openxmlformats.org/drawingml/2006/main">
              <a:ext uri="{FF2B5EF4-FFF2-40B4-BE49-F238E27FC236}">
                <a16:creationId xmlns:a16="http://schemas.microsoft.com/office/drawing/2014/main" id="{4CC5FB31-9F32-4D54-84FB-6CF10B9E871F}"/>
              </a:ext>
            </a:extLst>
          </p:cNvPr>
          <p:cNvSpPr>
            <a:spLocks xmlns:a="http://schemas.openxmlformats.org/drawingml/2006/main" noGrp="1"/>
          </p:cNvSpPr>
          <p:nvPr/>
        </p:nvSpPr>
        <p:spPr>
          <a:xfrm xmlns:a="http://schemas.openxmlformats.org/drawingml/2006/main">
            <a:off x="6477000" y="3810000"/>
            <a:ext cx="49530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r>
              <a:rPr sz="1800" b="1" i="0" u="none">
                <a:solidFill>
                  <a:srgbClr val="103A7E"/>
                </a:solidFill>
                <a:latin typeface="Noto Sans SC"/>
                <a:ea typeface="Noto Sans SC"/>
                <a:cs typeface="Noto Sans SC"/>
              </a:rPr>
              <a:t>职业发展能力</a:t>
            </a:r>
          </a:p>
          <a:p xmlns:a="http://schemas.openxmlformats.org/drawingml/2006/main">
            <a:pPr indent="0" algn="l">
              <a:lnSpc>
                <a:spcPct val="108000"/>
              </a:lnSpc>
              <a:spcBef>
                <a:spcPts val="800"/>
              </a:spcBef>
              <a:buNone/>
            </a:pPr>
            <a:r>
              <a:rPr sz="1200" b="1" i="0" u="none">
                <a:solidFill>
                  <a:srgbClr val="646A73"/>
                </a:solidFill>
                <a:latin typeface="Noto Sans SC"/>
                <a:ea typeface="Noto Sans SC"/>
                <a:cs typeface="Noto Sans SC"/>
              </a:rPr>
              <a:t>来源：目标清晰度、材料表达、岗位认知、面试准备和软技能。</a:t>
            </a:r>
          </a:p>
          <a:p xmlns:a="http://schemas.openxmlformats.org/drawingml/2006/main">
            <a:pPr indent="0" algn="l">
              <a:lnSpc>
                <a:spcPct val="108000"/>
              </a:lnSpc>
              <a:buNone/>
            </a:pPr>
            <a:r>
              <a:rPr sz="1200" b="1" i="0" u="none">
                <a:solidFill>
                  <a:srgbClr val="10B981"/>
                </a:solidFill>
                <a:latin typeface="Noto Sans SC"/>
                <a:ea typeface="Noto Sans SC"/>
                <a:cs typeface="Noto Sans SC"/>
              </a:rPr>
              <a:t>展示：方向适配、风险提示与行动清单。</a:t>
            </a:r>
          </a:p>
        </p:txBody>
      </p:sp>
      <p:sp>
        <p:nvSpPr>
          <p:cNvPr id="16" name="AutoShape 16">
            <a:extLst xmlns:a="http://schemas.openxmlformats.org/drawingml/2006/main">
              <a:ext uri="{FF2B5EF4-FFF2-40B4-BE49-F238E27FC236}">
                <a16:creationId xmlns:a16="http://schemas.microsoft.com/office/drawing/2014/main" id="{04777B96-A8F5-433E-A11E-CECCDF5FF1BB}"/>
              </a:ext>
            </a:extLst>
          </p:cNvPr>
          <p:cNvSpPr>
            <a:spLocks xmlns:a="http://schemas.openxmlformats.org/drawingml/2006/main" noGrp="1"/>
          </p:cNvSpPr>
          <p:nvPr/>
        </p:nvSpPr>
        <p:spPr>
          <a:xfrm xmlns:a="http://schemas.openxmlformats.org/drawingml/2006/main">
            <a:off x="584200" y="5796915"/>
            <a:ext cx="11045190" cy="634365"/>
          </a:xfrm>
          <a:prstGeom xmlns:a="http://schemas.openxmlformats.org/drawingml/2006/main" prst="roundRect">
            <a:avLst>
              <a:gd name="adj" fmla="val 13333"/>
            </a:avLst>
          </a:prstGeom>
          <a:solidFill xmlns:a="http://schemas.openxmlformats.org/drawingml/2006/main">
            <a:srgbClr val="103A7E">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7" name="Picture 17"/>
          <p:cNvPicPr>
            <a:picLocks xmlns:a="http://schemas.openxmlformats.org/drawingml/2006/main" noChangeAspect="1"/>
          </p:cNvPicPr>
          <p:nvPr/>
        </p:nvPicPr>
        <p:blipFill>
          <a:blip xmlns:r="http://schemas.openxmlformats.org/officeDocument/2006/relationships" xmlns:a="http://schemas.openxmlformats.org/drawingml/2006/main" r:embed="R0975dbc51cd044f1"/>
          <a:stretch xmlns:a="http://schemas.openxmlformats.org/drawingml/2006/main">
            <a:fillRect l="0" t="0" r="0" b="0"/>
          </a:stretch>
        </p:blipFill>
        <p:spPr>
          <a:xfrm xmlns:a="http://schemas.openxmlformats.org/drawingml/2006/main">
            <a:off x="762000" y="5923280"/>
            <a:ext cx="508000" cy="508000"/>
          </a:xfrm>
          <a:prstGeom xmlns:a="http://schemas.openxmlformats.org/drawingml/2006/main" prst="rect">
            <a:avLst/>
          </a:prstGeom>
        </p:spPr>
      </p:pic>
      <p:sp>
        <p:nvSpPr>
          <p:cNvPr id="18" name="AutoShape 18">
            <a:extLst xmlns:a="http://schemas.openxmlformats.org/drawingml/2006/main">
              <a:ext uri="{FF2B5EF4-FFF2-40B4-BE49-F238E27FC236}">
                <a16:creationId xmlns:a16="http://schemas.microsoft.com/office/drawing/2014/main" id="{890CDA20-E954-4D10-AAE4-5CF0BA3C9F8F}"/>
              </a:ext>
            </a:extLst>
          </p:cNvPr>
          <p:cNvSpPr>
            <a:spLocks xmlns:a="http://schemas.openxmlformats.org/drawingml/2006/main" noGrp="1"/>
          </p:cNvSpPr>
          <p:nvPr/>
        </p:nvSpPr>
        <p:spPr>
          <a:xfrm xmlns:a="http://schemas.openxmlformats.org/drawingml/2006/main">
            <a:off x="1401445" y="5796915"/>
            <a:ext cx="9906000" cy="635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600" b="1" i="0" u="none">
                <a:solidFill>
                  <a:srgbClr val="FFFFFF"/>
                </a:solidFill>
                <a:latin typeface="Noto Sans SC"/>
                <a:ea typeface="Noto Sans SC"/>
                <a:cs typeface="Noto Sans SC"/>
              </a:rPr>
              <a:t>最终决策：四个维度分别给出评分边界、证据来源和下一步动作，避免只输出一个无法解释的综合分。</a:t>
            </a:r>
          </a:p>
        </p:txBody>
      </p:sp>
    </p:spTree>
    <p:extLst>
      <p:ext uri="{BB962C8B-B14F-4D97-AF65-F5344CB8AC3E}">
        <p14:creationId xmlns:p14="http://schemas.microsoft.com/office/powerpoint/2010/main" val="1532732123"/>
      </p:ext>
    </p:extLst>
  </p:cSld>
</p:sld>
</file>

<file path=ppt/slides/slide11.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7f0862742d3140e2"/>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044ED10B-DA06-414E-A944-A8DD05ED4444}"/>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05 多智能体角色与职责</a:t>
            </a:r>
          </a:p>
        </p:txBody>
      </p:sp>
      <p:sp>
        <p:nvSpPr>
          <p:cNvPr id="5" name="AutoShape 5">
            <a:extLst xmlns:a="http://schemas.openxmlformats.org/drawingml/2006/main">
              <a:ext uri="{FF2B5EF4-FFF2-40B4-BE49-F238E27FC236}">
                <a16:creationId xmlns:a16="http://schemas.microsoft.com/office/drawing/2014/main" id="{2D05FD6E-AFA7-4E3B-B17D-CB9C4F05194E}"/>
              </a:ext>
            </a:extLst>
          </p:cNvPr>
          <p:cNvSpPr>
            <a:spLocks xmlns:a="http://schemas.openxmlformats.org/drawingml/2006/main" noGrp="1"/>
          </p:cNvSpPr>
          <p:nvPr/>
        </p:nvSpPr>
        <p:spPr>
          <a:xfrm xmlns:a="http://schemas.openxmlformats.org/drawingml/2006/main">
            <a:off x="508000" y="1651000"/>
            <a:ext cx="2667000" cy="4572000"/>
          </a:xfrm>
          <a:prstGeom xmlns:a="http://schemas.openxmlformats.org/drawingml/2006/main" prst="roundRect">
            <a:avLst>
              <a:gd name="adj" fmla="val 5714"/>
            </a:avLst>
          </a:prstGeom>
          <a:solidFill xmlns:a="http://schemas.openxmlformats.org/drawingml/2006/main">
            <a:srgbClr val="EFF6FF">
              <a:alpha val="100000"/>
            </a:srgbClr>
          </a:solidFill>
          <a:ln xmlns:a="http://schemas.openxmlformats.org/drawingml/2006/main" w="12700" cmpd="sng">
            <a:solidFill>
              <a:srgbClr val="BFDBFE">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6" name="Picture 6"/>
          <p:cNvPicPr>
            <a:picLocks xmlns:a="http://schemas.openxmlformats.org/drawingml/2006/main" noChangeAspect="1"/>
          </p:cNvPicPr>
          <p:nvPr/>
        </p:nvPicPr>
        <p:blipFill>
          <a:blip xmlns:r="http://schemas.openxmlformats.org/officeDocument/2006/relationships" xmlns:a="http://schemas.openxmlformats.org/drawingml/2006/main" r:embed="R99d5965c37f04cd3"/>
          <a:stretch xmlns:a="http://schemas.openxmlformats.org/drawingml/2006/main">
            <a:fillRect l="0" t="0" r="0" b="0"/>
          </a:stretch>
        </p:blipFill>
        <p:spPr>
          <a:xfrm xmlns:a="http://schemas.openxmlformats.org/drawingml/2006/main">
            <a:off x="698500" y="1905000"/>
            <a:ext cx="355600" cy="355600"/>
          </a:xfrm>
          <a:prstGeom xmlns:a="http://schemas.openxmlformats.org/drawingml/2006/main" prst="rect">
            <a:avLst/>
          </a:prstGeom>
        </p:spPr>
      </p:pic>
      <p:sp>
        <p:nvSpPr>
          <p:cNvPr id="7" name="AutoShape 7">
            <a:extLst xmlns:a="http://schemas.openxmlformats.org/drawingml/2006/main">
              <a:ext uri="{FF2B5EF4-FFF2-40B4-BE49-F238E27FC236}">
                <a16:creationId xmlns:a16="http://schemas.microsoft.com/office/drawing/2014/main" id="{62B83116-DB7B-4034-ADFC-6EB9A5BA5DC1}"/>
              </a:ext>
            </a:extLst>
          </p:cNvPr>
          <p:cNvSpPr>
            <a:spLocks xmlns:a="http://schemas.openxmlformats.org/drawingml/2006/main" noGrp="1"/>
          </p:cNvSpPr>
          <p:nvPr/>
        </p:nvSpPr>
        <p:spPr>
          <a:xfrm xmlns:a="http://schemas.openxmlformats.org/drawingml/2006/main">
            <a:off x="1143000" y="1879600"/>
            <a:ext cx="18415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000" b="1" i="0" u="none">
                <a:solidFill>
                  <a:srgbClr val="1E40AF"/>
                </a:solidFill>
                <a:latin typeface="Noto Sans SC"/>
                <a:ea typeface="Noto Sans SC"/>
                <a:cs typeface="Noto Sans SC"/>
              </a:rPr>
              <a:t>画像采集智能体</a:t>
            </a:r>
          </a:p>
        </p:txBody>
      </p:sp>
      <p:sp>
        <p:nvSpPr>
          <p:cNvPr id="8" name="AutoShape 8">
            <a:extLst xmlns:a="http://schemas.openxmlformats.org/drawingml/2006/main">
              <a:ext uri="{FF2B5EF4-FFF2-40B4-BE49-F238E27FC236}">
                <a16:creationId xmlns:a16="http://schemas.microsoft.com/office/drawing/2014/main" id="{89778761-EB9C-4FC4-BE13-DECF66007E74}"/>
              </a:ext>
            </a:extLst>
          </p:cNvPr>
          <p:cNvSpPr>
            <a:spLocks xmlns:a="http://schemas.openxmlformats.org/drawingml/2006/main" noGrp="1"/>
          </p:cNvSpPr>
          <p:nvPr/>
        </p:nvSpPr>
        <p:spPr>
          <a:xfrm xmlns:a="http://schemas.openxmlformats.org/drawingml/2006/main">
            <a:off x="698500" y="2667000"/>
            <a:ext cx="2286000" cy="304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300" b="0" i="0" u="none">
                <a:solidFill>
                  <a:srgbClr val="374151"/>
                </a:solidFill>
                <a:latin typeface="Noto Sans SC"/>
                <a:ea typeface="Noto Sans SC"/>
                <a:cs typeface="Noto Sans SC"/>
              </a:rPr>
              <a:t>清洗学生基础信息，统一字段并识别显性技能、项目和经历。</a:t>
            </a:r>
          </a:p>
        </p:txBody>
      </p:sp>
      <p:sp>
        <p:nvSpPr>
          <p:cNvPr id="9" name="AutoShape 9">
            <a:extLst xmlns:a="http://schemas.openxmlformats.org/drawingml/2006/main">
              <a:ext uri="{FF2B5EF4-FFF2-40B4-BE49-F238E27FC236}">
                <a16:creationId xmlns:a16="http://schemas.microsoft.com/office/drawing/2014/main" id="{7630D132-1A82-4289-9B88-6876EEECCD65}"/>
              </a:ext>
            </a:extLst>
          </p:cNvPr>
          <p:cNvSpPr>
            <a:spLocks xmlns:a="http://schemas.openxmlformats.org/drawingml/2006/main" noGrp="1"/>
          </p:cNvSpPr>
          <p:nvPr/>
        </p:nvSpPr>
        <p:spPr>
          <a:xfrm xmlns:a="http://schemas.openxmlformats.org/drawingml/2006/main">
            <a:off x="3429000" y="1651000"/>
            <a:ext cx="2667000" cy="4572000"/>
          </a:xfrm>
          <a:prstGeom xmlns:a="http://schemas.openxmlformats.org/drawingml/2006/main" prst="roundRect">
            <a:avLst>
              <a:gd name="adj" fmla="val 5714"/>
            </a:avLst>
          </a:prstGeom>
          <a:solidFill xmlns:a="http://schemas.openxmlformats.org/drawingml/2006/main">
            <a:srgbClr val="F0FDF4">
              <a:alpha val="100000"/>
            </a:srgbClr>
          </a:solidFill>
          <a:ln xmlns:a="http://schemas.openxmlformats.org/drawingml/2006/main" w="12700" cmpd="sng">
            <a:solidFill>
              <a:srgbClr val="BBF7D0">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0" name="Picture 10"/>
          <p:cNvPicPr>
            <a:picLocks xmlns:a="http://schemas.openxmlformats.org/drawingml/2006/main" noChangeAspect="1"/>
          </p:cNvPicPr>
          <p:nvPr/>
        </p:nvPicPr>
        <p:blipFill>
          <a:blip xmlns:r="http://schemas.openxmlformats.org/officeDocument/2006/relationships" xmlns:a="http://schemas.openxmlformats.org/drawingml/2006/main" r:embed="Rbcd604b0b66545af"/>
          <a:stretch xmlns:a="http://schemas.openxmlformats.org/drawingml/2006/main">
            <a:fillRect l="0" t="0" r="0" b="0"/>
          </a:stretch>
        </p:blipFill>
        <p:spPr>
          <a:xfrm xmlns:a="http://schemas.openxmlformats.org/drawingml/2006/main">
            <a:off x="3619500" y="1905000"/>
            <a:ext cx="355600" cy="355600"/>
          </a:xfrm>
          <a:prstGeom xmlns:a="http://schemas.openxmlformats.org/drawingml/2006/main" prst="rect">
            <a:avLst/>
          </a:prstGeom>
        </p:spPr>
      </p:pic>
      <p:sp>
        <p:nvSpPr>
          <p:cNvPr id="11" name="AutoShape 11">
            <a:extLst xmlns:a="http://schemas.openxmlformats.org/drawingml/2006/main">
              <a:ext uri="{FF2B5EF4-FFF2-40B4-BE49-F238E27FC236}">
                <a16:creationId xmlns:a16="http://schemas.microsoft.com/office/drawing/2014/main" id="{5BDB7DC5-70CD-4FBB-82BF-73A2B4561154}"/>
              </a:ext>
            </a:extLst>
          </p:cNvPr>
          <p:cNvSpPr>
            <a:spLocks xmlns:a="http://schemas.openxmlformats.org/drawingml/2006/main" noGrp="1"/>
          </p:cNvSpPr>
          <p:nvPr/>
        </p:nvSpPr>
        <p:spPr>
          <a:xfrm xmlns:a="http://schemas.openxmlformats.org/drawingml/2006/main">
            <a:off x="4064000" y="1879600"/>
            <a:ext cx="18415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000" b="1" i="0" u="none">
                <a:solidFill>
                  <a:srgbClr val="14532D"/>
                </a:solidFill>
                <a:latin typeface="Noto Sans SC"/>
                <a:ea typeface="Noto Sans SC"/>
                <a:cs typeface="Noto Sans SC"/>
              </a:rPr>
              <a:t>四维评分智能体</a:t>
            </a:r>
          </a:p>
        </p:txBody>
      </p:sp>
      <p:sp>
        <p:nvSpPr>
          <p:cNvPr id="12" name="AutoShape 12">
            <a:extLst xmlns:a="http://schemas.openxmlformats.org/drawingml/2006/main">
              <a:ext uri="{FF2B5EF4-FFF2-40B4-BE49-F238E27FC236}">
                <a16:creationId xmlns:a16="http://schemas.microsoft.com/office/drawing/2014/main" id="{78E0F4DC-8B9D-456B-9C15-4B5418F480F9}"/>
              </a:ext>
            </a:extLst>
          </p:cNvPr>
          <p:cNvSpPr>
            <a:spLocks xmlns:a="http://schemas.openxmlformats.org/drawingml/2006/main" noGrp="1"/>
          </p:cNvSpPr>
          <p:nvPr/>
        </p:nvSpPr>
        <p:spPr>
          <a:xfrm xmlns:a="http://schemas.openxmlformats.org/drawingml/2006/main">
            <a:off x="3619500" y="2667000"/>
            <a:ext cx="2286000" cy="304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300" b="0" i="0" u="none">
                <a:solidFill>
                  <a:srgbClr val="374151"/>
                </a:solidFill>
                <a:latin typeface="Noto Sans SC"/>
                <a:ea typeface="Noto Sans SC"/>
                <a:cs typeface="Noto Sans SC"/>
              </a:rPr>
              <a:t>调用本地 Rubric 计算四维能力分数，绑定评分证据与边界。</a:t>
            </a:r>
          </a:p>
        </p:txBody>
      </p:sp>
      <p:sp>
        <p:nvSpPr>
          <p:cNvPr id="13" name="AutoShape 13">
            <a:extLst xmlns:a="http://schemas.openxmlformats.org/drawingml/2006/main">
              <a:ext uri="{FF2B5EF4-FFF2-40B4-BE49-F238E27FC236}">
                <a16:creationId xmlns:a16="http://schemas.microsoft.com/office/drawing/2014/main" id="{DFF0C8E6-9783-4B4E-A4CE-D3F3AAB2C5A6}"/>
              </a:ext>
            </a:extLst>
          </p:cNvPr>
          <p:cNvSpPr>
            <a:spLocks xmlns:a="http://schemas.openxmlformats.org/drawingml/2006/main" noGrp="1"/>
          </p:cNvSpPr>
          <p:nvPr/>
        </p:nvSpPr>
        <p:spPr>
          <a:xfrm xmlns:a="http://schemas.openxmlformats.org/drawingml/2006/main">
            <a:off x="6350000" y="1651000"/>
            <a:ext cx="2667000" cy="4572000"/>
          </a:xfrm>
          <a:prstGeom xmlns:a="http://schemas.openxmlformats.org/drawingml/2006/main" prst="roundRect">
            <a:avLst>
              <a:gd name="adj" fmla="val 5714"/>
            </a:avLst>
          </a:prstGeom>
          <a:solidFill xmlns:a="http://schemas.openxmlformats.org/drawingml/2006/main">
            <a:srgbClr val="FFFBEB">
              <a:alpha val="100000"/>
            </a:srgbClr>
          </a:solidFill>
          <a:ln xmlns:a="http://schemas.openxmlformats.org/drawingml/2006/main" w="12700" cmpd="sng">
            <a:solidFill>
              <a:srgbClr val="FDE68A">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1e95c0ba40e8445a"/>
          <a:stretch xmlns:a="http://schemas.openxmlformats.org/drawingml/2006/main">
            <a:fillRect l="0" t="0" r="0" b="0"/>
          </a:stretch>
        </p:blipFill>
        <p:spPr>
          <a:xfrm xmlns:a="http://schemas.openxmlformats.org/drawingml/2006/main">
            <a:off x="6540500" y="1905000"/>
            <a:ext cx="355600" cy="355600"/>
          </a:xfrm>
          <a:prstGeom xmlns:a="http://schemas.openxmlformats.org/drawingml/2006/main" prst="rect">
            <a:avLst/>
          </a:prstGeom>
        </p:spPr>
      </p:pic>
      <p:sp>
        <p:nvSpPr>
          <p:cNvPr id="15" name="AutoShape 15">
            <a:extLst xmlns:a="http://schemas.openxmlformats.org/drawingml/2006/main">
              <a:ext uri="{FF2B5EF4-FFF2-40B4-BE49-F238E27FC236}">
                <a16:creationId xmlns:a16="http://schemas.microsoft.com/office/drawing/2014/main" id="{43BB6E44-D982-47A4-BF41-2BF15F41F8DE}"/>
              </a:ext>
            </a:extLst>
          </p:cNvPr>
          <p:cNvSpPr>
            <a:spLocks xmlns:a="http://schemas.openxmlformats.org/drawingml/2006/main" noGrp="1"/>
          </p:cNvSpPr>
          <p:nvPr/>
        </p:nvSpPr>
        <p:spPr>
          <a:xfrm xmlns:a="http://schemas.openxmlformats.org/drawingml/2006/main">
            <a:off x="6985000" y="1879600"/>
            <a:ext cx="18415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000" b="1" i="0" u="none">
                <a:solidFill>
                  <a:srgbClr val="92400E"/>
                </a:solidFill>
                <a:latin typeface="Noto Sans SC"/>
                <a:ea typeface="Noto Sans SC"/>
                <a:cs typeface="Noto Sans SC"/>
              </a:rPr>
              <a:t>证据归因智能体</a:t>
            </a:r>
          </a:p>
        </p:txBody>
      </p:sp>
      <p:sp>
        <p:nvSpPr>
          <p:cNvPr id="16" name="AutoShape 16">
            <a:extLst xmlns:a="http://schemas.openxmlformats.org/drawingml/2006/main">
              <a:ext uri="{FF2B5EF4-FFF2-40B4-BE49-F238E27FC236}">
                <a16:creationId xmlns:a16="http://schemas.microsoft.com/office/drawing/2014/main" id="{995025B0-BC12-45F5-B98A-8756DD03806F}"/>
              </a:ext>
            </a:extLst>
          </p:cNvPr>
          <p:cNvSpPr>
            <a:spLocks xmlns:a="http://schemas.openxmlformats.org/drawingml/2006/main" noGrp="1"/>
          </p:cNvSpPr>
          <p:nvPr/>
        </p:nvSpPr>
        <p:spPr>
          <a:xfrm xmlns:a="http://schemas.openxmlformats.org/drawingml/2006/main">
            <a:off x="6540500" y="2667000"/>
            <a:ext cx="2286000" cy="304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300" b="0" i="0" u="none">
                <a:solidFill>
                  <a:srgbClr val="374151"/>
                </a:solidFill>
                <a:latin typeface="Noto Sans SC"/>
                <a:ea typeface="Noto Sans SC"/>
                <a:cs typeface="Noto Sans SC"/>
              </a:rPr>
              <a:t>构建技能与项目证据矩阵，识别优势、短板和风险来源。</a:t>
            </a:r>
          </a:p>
        </p:txBody>
      </p:sp>
      <p:sp>
        <p:nvSpPr>
          <p:cNvPr id="17" name="AutoShape 17">
            <a:extLst xmlns:a="http://schemas.openxmlformats.org/drawingml/2006/main">
              <a:ext uri="{FF2B5EF4-FFF2-40B4-BE49-F238E27FC236}">
                <a16:creationId xmlns:a16="http://schemas.microsoft.com/office/drawing/2014/main" id="{456BE40B-51A3-4F74-ABC9-9E855FDD32BE}"/>
              </a:ext>
            </a:extLst>
          </p:cNvPr>
          <p:cNvSpPr>
            <a:spLocks xmlns:a="http://schemas.openxmlformats.org/drawingml/2006/main" noGrp="1"/>
          </p:cNvSpPr>
          <p:nvPr/>
        </p:nvSpPr>
        <p:spPr>
          <a:xfrm xmlns:a="http://schemas.openxmlformats.org/drawingml/2006/main">
            <a:off x="9207500" y="1651000"/>
            <a:ext cx="2667000" cy="4572000"/>
          </a:xfrm>
          <a:prstGeom xmlns:a="http://schemas.openxmlformats.org/drawingml/2006/main" prst="roundRect">
            <a:avLst>
              <a:gd name="adj" fmla="val 5714"/>
            </a:avLst>
          </a:prstGeom>
          <a:solidFill xmlns:a="http://schemas.openxmlformats.org/drawingml/2006/main">
            <a:srgbClr val="FEF2F2">
              <a:alpha val="100000"/>
            </a:srgbClr>
          </a:solidFill>
          <a:ln xmlns:a="http://schemas.openxmlformats.org/drawingml/2006/main" w="12700" cmpd="sng">
            <a:solidFill>
              <a:srgbClr val="FECACA">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8" name="Picture 18"/>
          <p:cNvPicPr>
            <a:picLocks xmlns:a="http://schemas.openxmlformats.org/drawingml/2006/main" noChangeAspect="1"/>
          </p:cNvPicPr>
          <p:nvPr/>
        </p:nvPicPr>
        <p:blipFill>
          <a:blip xmlns:r="http://schemas.openxmlformats.org/officeDocument/2006/relationships" xmlns:a="http://schemas.openxmlformats.org/drawingml/2006/main" r:embed="R76412e07dd614525"/>
          <a:stretch xmlns:a="http://schemas.openxmlformats.org/drawingml/2006/main">
            <a:fillRect l="0" t="0" r="0" b="0"/>
          </a:stretch>
        </p:blipFill>
        <p:spPr>
          <a:xfrm xmlns:a="http://schemas.openxmlformats.org/drawingml/2006/main">
            <a:off x="9398000" y="1905000"/>
            <a:ext cx="355600" cy="355600"/>
          </a:xfrm>
          <a:prstGeom xmlns:a="http://schemas.openxmlformats.org/drawingml/2006/main" prst="rect">
            <a:avLst/>
          </a:prstGeom>
        </p:spPr>
      </p:pic>
      <p:sp>
        <p:nvSpPr>
          <p:cNvPr id="19" name="AutoShape 19">
            <a:extLst xmlns:a="http://schemas.openxmlformats.org/drawingml/2006/main">
              <a:ext uri="{FF2B5EF4-FFF2-40B4-BE49-F238E27FC236}">
                <a16:creationId xmlns:a16="http://schemas.microsoft.com/office/drawing/2014/main" id="{326B17B4-B00F-47AD-9E5A-5552547851FC}"/>
              </a:ext>
            </a:extLst>
          </p:cNvPr>
          <p:cNvSpPr>
            <a:spLocks xmlns:a="http://schemas.openxmlformats.org/drawingml/2006/main" noGrp="1"/>
          </p:cNvSpPr>
          <p:nvPr/>
        </p:nvSpPr>
        <p:spPr>
          <a:xfrm xmlns:a="http://schemas.openxmlformats.org/drawingml/2006/main">
            <a:off x="9842500" y="1879600"/>
            <a:ext cx="1905000" cy="4064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000" b="1" i="0" u="none">
                <a:solidFill>
                  <a:srgbClr val="991B1B"/>
                </a:solidFill>
                <a:latin typeface="Noto Sans SC"/>
                <a:ea typeface="Noto Sans SC"/>
                <a:cs typeface="Noto Sans SC"/>
              </a:rPr>
              <a:t>质量复核智能体</a:t>
            </a:r>
          </a:p>
        </p:txBody>
      </p:sp>
      <p:sp>
        <p:nvSpPr>
          <p:cNvPr id="20" name="AutoShape 20">
            <a:extLst xmlns:a="http://schemas.openxmlformats.org/drawingml/2006/main">
              <a:ext uri="{FF2B5EF4-FFF2-40B4-BE49-F238E27FC236}">
                <a16:creationId xmlns:a16="http://schemas.microsoft.com/office/drawing/2014/main" id="{5BC9AF92-5B2C-4C43-92D1-203978D5E030}"/>
              </a:ext>
            </a:extLst>
          </p:cNvPr>
          <p:cNvSpPr>
            <a:spLocks xmlns:a="http://schemas.openxmlformats.org/drawingml/2006/main" noGrp="1"/>
          </p:cNvSpPr>
          <p:nvPr/>
        </p:nvSpPr>
        <p:spPr>
          <a:xfrm xmlns:a="http://schemas.openxmlformats.org/drawingml/2006/main">
            <a:off x="9398000" y="2667000"/>
            <a:ext cx="2286000" cy="304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300" b="0" i="0" u="none">
                <a:solidFill>
                  <a:srgbClr val="374151"/>
                </a:solidFill>
                <a:latin typeface="Noto Sans SC"/>
                <a:ea typeface="Noto Sans SC"/>
                <a:cs typeface="Noto Sans SC"/>
              </a:rPr>
              <a:t>检查字段完整性、评分一致性、工具链记录和最终 JSON 结构。</a:t>
            </a:r>
          </a:p>
        </p:txBody>
      </p:sp>
    </p:spTree>
    <p:extLst>
      <p:ext uri="{BB962C8B-B14F-4D97-AF65-F5344CB8AC3E}">
        <p14:creationId xmlns:p14="http://schemas.microsoft.com/office/powerpoint/2010/main" val="15722258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a74318260c684454"/>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2AD09B6B-4753-4749-87D0-12E95ACF386F}"/>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100" b="1">
                <a:solidFill>
                  <a:srgbClr val="093A5A"/>
                </a:solidFill>
                <a:latin typeface="微软雅黑"/>
                <a:ea typeface="微软雅黑"/>
                <a:cs typeface="微软雅黑"/>
              </a:rPr>
              <a:t>06 单次 LLM 与多工具复核</a:t>
            </a:r>
          </a:p>
        </p:txBody>
      </p:sp>
      <p:sp>
        <p:nvSpPr>
          <p:cNvPr id="5" name="TextBox 4">
            <a:extLst xmlns:a="http://schemas.openxmlformats.org/drawingml/2006/main">
              <a:ext uri="{FF2B5EF4-FFF2-40B4-BE49-F238E27FC236}">
                <a16:creationId xmlns:a16="http://schemas.microsoft.com/office/drawing/2014/main" id="{D133773F-27A6-4469-B2EA-44DC24F00D1C}"/>
              </a:ext>
            </a:extLst>
          </p:cNvPr>
          <p:cNvSpPr>
            <a:spLocks xmlns:a="http://schemas.openxmlformats.org/drawingml/2006/main" noGrp="1"/>
          </p:cNvSpPr>
          <p:nvPr/>
        </p:nvSpPr>
        <p:spPr>
          <a:xfrm xmlns:a="http://schemas.openxmlformats.org/drawingml/2006/main">
            <a:off x="777240" y="1207008"/>
            <a:ext cx="10515600" cy="332994"/>
          </a:xfrm>
          <a:prstGeom xmlns:a="http://schemas.openxmlformats.org/drawingml/2006/main" prst="rect">
            <a:avLst/>
          </a:prstGeom>
          <a:noFill xmlns:a="http://schemas.openxmlformats.org/drawingml/2006/main"/>
        </p:spPr>
        <p:txBody>
          <a:bodyPr xmlns:a="http://schemas.openxmlformats.org/drawingml/2006/main" wrap="none" tIns="36576" bIns="36576" anchor="ctr">
            <a:spAutoFit/>
          </a:bodyPr>
          <a:lstStyle xmlns:a="http://schemas.openxmlformats.org/drawingml/2006/main"/>
          <a:p xmlns:a="http://schemas.openxmlformats.org/drawingml/2006/main">
            <a:pPr algn="ctr">
              <a:lnSpc>
                <a:spcPct val="110000"/>
              </a:lnSpc>
              <a:buNone/>
            </a:pPr>
            <a:r>
              <a:rPr sz="1550" b="0">
                <a:solidFill>
                  <a:srgbClr val="2C3E50"/>
                </a:solidFill>
                <a:latin typeface="微软雅黑"/>
                <a:ea typeface="微软雅黑"/>
                <a:cs typeface="微软雅黑"/>
              </a:rPr>
              <a:t>核心思想：一次 LLM 负责语义草案，本地工具负责计算、审计和留痕，兼顾协作展示与响应效率。</a:t>
            </a:r>
          </a:p>
        </p:txBody>
      </p:sp>
      <p:sp>
        <p:nvSpPr>
          <p:cNvPr id="6" name="Rounded Rectangle 5">
            <a:extLst xmlns:a="http://schemas.openxmlformats.org/drawingml/2006/main">
              <a:ext uri="{FF2B5EF4-FFF2-40B4-BE49-F238E27FC236}">
                <a16:creationId xmlns:a16="http://schemas.microsoft.com/office/drawing/2014/main" id="{F749303C-8543-4A74-A18C-4368AD1F6501}"/>
              </a:ext>
            </a:extLst>
          </p:cNvPr>
          <p:cNvSpPr>
            <a:spLocks xmlns:a="http://schemas.openxmlformats.org/drawingml/2006/main" noGrp="1"/>
          </p:cNvSpPr>
          <p:nvPr/>
        </p:nvSpPr>
        <p:spPr>
          <a:xfrm xmlns:a="http://schemas.openxmlformats.org/drawingml/2006/main">
            <a:off x="658368" y="1664208"/>
            <a:ext cx="5349240" cy="1609344"/>
          </a:xfrm>
          <a:prstGeom xmlns:a="http://schemas.openxmlformats.org/drawingml/2006/main" prst="roundRect">
            <a:avLst/>
          </a:prstGeom>
          <a:solidFill xmlns:a="http://schemas.openxmlformats.org/drawingml/2006/main">
            <a:srgbClr val="F3F8FF"/>
          </a:solidFill>
          <a:ln xmlns:a="http://schemas.openxmlformats.org/drawingml/2006/main" w="19050">
            <a:solidFill>
              <a:srgbClr val="96C0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109728" rIns="146304" bIns="91440" anchor="t"/>
          <a:lstStyle xmlns:a="http://schemas.openxmlformats.org/drawingml/2006/main"/>
          <a:p xmlns:a="http://schemas.openxmlformats.org/drawingml/2006/main">
            <a:pPr algn="l">
              <a:buNone/>
            </a:pPr>
            <a:r>
              <a:rPr sz="2100" b="1">
                <a:solidFill>
                  <a:srgbClr val="093A5A"/>
                </a:solidFill>
                <a:latin typeface="微软雅黑"/>
                <a:ea typeface="微软雅黑"/>
                <a:cs typeface="微软雅黑"/>
              </a:rPr>
              <a:t>一、共享草案</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LLM 一次输出 ability_scores、score_evidence、recognized_skills、advantages、weaknesses 和行动项。</a:t>
            </a:r>
          </a:p>
        </p:txBody>
      </p:sp>
      <p:sp>
        <p:nvSpPr>
          <p:cNvPr id="7" name="Rounded Rectangle 6">
            <a:extLst xmlns:a="http://schemas.openxmlformats.org/drawingml/2006/main">
              <a:ext uri="{FF2B5EF4-FFF2-40B4-BE49-F238E27FC236}">
                <a16:creationId xmlns:a16="http://schemas.microsoft.com/office/drawing/2014/main" id="{C3D73CCD-4EE7-442F-9A61-EA01453E3636}"/>
              </a:ext>
            </a:extLst>
          </p:cNvPr>
          <p:cNvSpPr>
            <a:spLocks xmlns:a="http://schemas.openxmlformats.org/drawingml/2006/main" noGrp="1"/>
          </p:cNvSpPr>
          <p:nvPr/>
        </p:nvSpPr>
        <p:spPr>
          <a:xfrm xmlns:a="http://schemas.openxmlformats.org/drawingml/2006/main">
            <a:off x="6199632" y="1664208"/>
            <a:ext cx="5349240" cy="1609344"/>
          </a:xfrm>
          <a:prstGeom xmlns:a="http://schemas.openxmlformats.org/drawingml/2006/main" prst="roundRect">
            <a:avLst/>
          </a:prstGeom>
          <a:solidFill xmlns:a="http://schemas.openxmlformats.org/drawingml/2006/main">
            <a:srgbClr val="F0FBFB"/>
          </a:solidFill>
          <a:ln xmlns:a="http://schemas.openxmlformats.org/drawingml/2006/main" w="19050">
            <a:solidFill>
              <a:srgbClr val="68C9C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109728" rIns="146304" bIns="91440" anchor="t"/>
          <a:lstStyle xmlns:a="http://schemas.openxmlformats.org/drawingml/2006/main"/>
          <a:p xmlns:a="http://schemas.openxmlformats.org/drawingml/2006/main">
            <a:pPr algn="l">
              <a:buNone/>
            </a:pPr>
            <a:r>
              <a:rPr sz="2100" b="1">
                <a:solidFill>
                  <a:srgbClr val="007682"/>
                </a:solidFill>
                <a:latin typeface="微软雅黑"/>
                <a:ea typeface="微软雅黑"/>
                <a:cs typeface="微软雅黑"/>
              </a:rPr>
              <a:t>二、本地评分</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RubricScoreCalculator 根据关键词覆盖、项目经历、材料完整度和目标岗位给出稳定边界。</a:t>
            </a:r>
          </a:p>
        </p:txBody>
      </p:sp>
      <p:sp>
        <p:nvSpPr>
          <p:cNvPr id="8" name="Rounded Rectangle 7">
            <a:extLst xmlns:a="http://schemas.openxmlformats.org/drawingml/2006/main">
              <a:ext uri="{FF2B5EF4-FFF2-40B4-BE49-F238E27FC236}">
                <a16:creationId xmlns:a16="http://schemas.microsoft.com/office/drawing/2014/main" id="{D7677F8E-B552-4734-8091-C6A3392D8B9B}"/>
              </a:ext>
            </a:extLst>
          </p:cNvPr>
          <p:cNvSpPr>
            <a:spLocks xmlns:a="http://schemas.openxmlformats.org/drawingml/2006/main" noGrp="1"/>
          </p:cNvSpPr>
          <p:nvPr/>
        </p:nvSpPr>
        <p:spPr>
          <a:xfrm xmlns:a="http://schemas.openxmlformats.org/drawingml/2006/main">
            <a:off x="658368" y="3529584"/>
            <a:ext cx="5349240" cy="1554480"/>
          </a:xfrm>
          <a:prstGeom xmlns:a="http://schemas.openxmlformats.org/drawingml/2006/main" prst="roundRect">
            <a:avLst/>
          </a:prstGeom>
          <a:solidFill xmlns:a="http://schemas.openxmlformats.org/drawingml/2006/main">
            <a:srgbClr val="FAFCFF"/>
          </a:solidFill>
          <a:ln xmlns:a="http://schemas.openxmlformats.org/drawingml/2006/main" w="19050">
            <a:solidFill>
              <a:srgbClr val="96C0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109728" rIns="146304" bIns="91440" anchor="t"/>
          <a:lstStyle xmlns:a="http://schemas.openxmlformats.org/drawingml/2006/main"/>
          <a:p xmlns:a="http://schemas.openxmlformats.org/drawingml/2006/main">
            <a:pPr algn="l">
              <a:buNone/>
            </a:pPr>
            <a:r>
              <a:rPr sz="2100" b="1">
                <a:solidFill>
                  <a:srgbClr val="093A5A"/>
                </a:solidFill>
                <a:latin typeface="微软雅黑"/>
                <a:ea typeface="微软雅黑"/>
                <a:cs typeface="微软雅黑"/>
              </a:rPr>
              <a:t>三、工具复核</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标准化器、技能扫描器、证据矩阵、维度审计和最终审计依次校验共享结果。</a:t>
            </a:r>
          </a:p>
        </p:txBody>
      </p:sp>
      <p:sp>
        <p:nvSpPr>
          <p:cNvPr id="9" name="Rounded Rectangle 8">
            <a:extLst xmlns:a="http://schemas.openxmlformats.org/drawingml/2006/main">
              <a:ext uri="{FF2B5EF4-FFF2-40B4-BE49-F238E27FC236}">
                <a16:creationId xmlns:a16="http://schemas.microsoft.com/office/drawing/2014/main" id="{6F5C47EF-3960-4A79-8996-63E528201DE3}"/>
              </a:ext>
            </a:extLst>
          </p:cNvPr>
          <p:cNvSpPr>
            <a:spLocks xmlns:a="http://schemas.openxmlformats.org/drawingml/2006/main" noGrp="1"/>
          </p:cNvSpPr>
          <p:nvPr/>
        </p:nvSpPr>
        <p:spPr>
          <a:xfrm xmlns:a="http://schemas.openxmlformats.org/drawingml/2006/main">
            <a:off x="6199632" y="3529584"/>
            <a:ext cx="5349240" cy="1554480"/>
          </a:xfrm>
          <a:prstGeom xmlns:a="http://schemas.openxmlformats.org/drawingml/2006/main" prst="roundRect">
            <a:avLst/>
          </a:prstGeom>
          <a:solidFill xmlns:a="http://schemas.openxmlformats.org/drawingml/2006/main">
            <a:srgbClr val="FFF6EF"/>
          </a:solidFill>
          <a:ln xmlns:a="http://schemas.openxmlformats.org/drawingml/2006/main" w="19050">
            <a:solidFill>
              <a:srgbClr val="F29A6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109728" rIns="146304" bIns="91440" anchor="t"/>
          <a:lstStyle xmlns:a="http://schemas.openxmlformats.org/drawingml/2006/main"/>
          <a:p xmlns:a="http://schemas.openxmlformats.org/drawingml/2006/main">
            <a:pPr algn="l">
              <a:buNone/>
            </a:pPr>
            <a:r>
              <a:rPr sz="2100" b="1">
                <a:solidFill>
                  <a:srgbClr val="E95D0C"/>
                </a:solidFill>
                <a:latin typeface="微软雅黑"/>
                <a:ea typeface="微软雅黑"/>
                <a:cs typeface="微软雅黑"/>
              </a:rPr>
              <a:t>四、协作留痕</a:t>
            </a:r>
          </a:p>
          <a:p xmlns:a="http://schemas.openxmlformats.org/drawingml/2006/main">
            <a:pPr algn="l">
              <a:lnSpc>
                <a:spcPct val="102000"/>
              </a:lnSpc>
              <a:spcBef>
                <a:spcPts val="400"/>
              </a:spcBef>
              <a:buNone/>
            </a:pPr>
            <a:r>
              <a:rPr sz="1310" b="0">
                <a:solidFill>
                  <a:srgbClr val="192B3E"/>
                </a:solidFill>
                <a:latin typeface="微软雅黑"/>
                <a:ea typeface="微软雅黑"/>
                <a:cs typeface="微软雅黑"/>
              </a:rPr>
              <a:t>保留五次专家交接、七次工具调用、共享工作区和质量备注，支持过程可视化。</a:t>
            </a:r>
          </a:p>
        </p:txBody>
      </p:sp>
      <p:sp>
        <p:nvSpPr>
          <p:cNvPr id="10" name="TextBox 9">
            <a:extLst xmlns:a="http://schemas.openxmlformats.org/drawingml/2006/main">
              <a:ext uri="{FF2B5EF4-FFF2-40B4-BE49-F238E27FC236}">
                <a16:creationId xmlns:a16="http://schemas.microsoft.com/office/drawing/2014/main" id="{29FD0D79-FC3D-4EC7-9F05-77CDB7370D03}"/>
              </a:ext>
            </a:extLst>
          </p:cNvPr>
          <p:cNvSpPr>
            <a:spLocks xmlns:a="http://schemas.openxmlformats.org/drawingml/2006/main" noGrp="1"/>
          </p:cNvSpPr>
          <p:nvPr/>
        </p:nvSpPr>
        <p:spPr>
          <a:xfrm xmlns:a="http://schemas.openxmlformats.org/drawingml/2006/main">
            <a:off x="868680" y="5157216"/>
            <a:ext cx="10424160" cy="228600"/>
          </a:xfrm>
          <a:prstGeom xmlns:a="http://schemas.openxmlformats.org/drawingml/2006/main" prst="rect">
            <a:avLst/>
          </a:prstGeom>
          <a:noFill xmlns:a="http://schemas.openxmlformats.org/drawingml/2006/main"/>
        </p:spPr>
        <p:txBody>
          <a:bodyPr xmlns:a="http://schemas.openxmlformats.org/drawingml/2006/main" wrap="none" lIns="0" rIns="0">
            <a:spAutoFit/>
          </a:bodyPr>
          <a:lstStyle xmlns:a="http://schemas.openxmlformats.org/drawingml/2006/main"/>
          <a:p xmlns:a="http://schemas.openxmlformats.org/drawingml/2006/main">
            <a:pPr algn="ctr">
              <a:buNone/>
            </a:pPr>
            <a:r>
              <a:rPr sz="1350" b="0">
                <a:solidFill>
                  <a:srgbClr val="235078"/>
                </a:solidFill>
                <a:latin typeface="微软雅黑"/>
                <a:ea typeface="微软雅黑"/>
                <a:cs typeface="微软雅黑"/>
              </a:rPr>
              <a:t>协作链：Normalize → SkillScan → Rubric → EvidenceMatrix → ConsistencyAudit → FinalAudit</a:t>
            </a:r>
          </a:p>
        </p:txBody>
      </p:sp>
      <p:sp>
        <p:nvSpPr>
          <p:cNvPr id="11" name="Rounded Rectangle 10">
            <a:extLst xmlns:a="http://schemas.openxmlformats.org/drawingml/2006/main">
              <a:ext uri="{FF2B5EF4-FFF2-40B4-BE49-F238E27FC236}">
                <a16:creationId xmlns:a16="http://schemas.microsoft.com/office/drawing/2014/main" id="{54BAE2F3-D7D9-4A00-B4D1-0F461B3ABB70}"/>
              </a:ext>
            </a:extLst>
          </p:cNvPr>
          <p:cNvSpPr>
            <a:spLocks xmlns:a="http://schemas.openxmlformats.org/drawingml/2006/main" noGrp="1"/>
          </p:cNvSpPr>
          <p:nvPr/>
        </p:nvSpPr>
        <p:spPr>
          <a:xfrm xmlns:a="http://schemas.openxmlformats.org/drawingml/2006/main">
            <a:off x="777240" y="5532120"/>
            <a:ext cx="10652760" cy="457200"/>
          </a:xfrm>
          <a:prstGeom xmlns:a="http://schemas.openxmlformats.org/drawingml/2006/main" prst="roundRect">
            <a:avLst/>
          </a:prstGeom>
          <a:solidFill xmlns:a="http://schemas.openxmlformats.org/drawingml/2006/main">
            <a:srgbClr val="EEFAFF"/>
          </a:solidFill>
          <a:ln xmlns:a="http://schemas.openxmlformats.org/drawingml/2006/main" w="15240">
            <a:solidFill>
              <a:srgbClr val="62B6D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64592" tIns="36576" rIns="164592" bIns="36576" anchor="ctr"/>
          <a:lstStyle xmlns:a="http://schemas.openxmlformats.org/drawingml/2006/main"/>
          <a:p xmlns:a="http://schemas.openxmlformats.org/drawingml/2006/main">
            <a:pPr algn="ctr">
              <a:buNone/>
            </a:pPr>
            <a:r>
              <a:rPr sz="1450" b="1">
                <a:solidFill>
                  <a:srgbClr val="002F5E"/>
                </a:solidFill>
                <a:latin typeface="微软雅黑"/>
                <a:ea typeface="微软雅黑"/>
                <a:cs typeface="微软雅黑"/>
              </a:rPr>
              <a:t>最终目标：把多次远程调用压缩为一次请求，同时保留可解释、可复核、可展示的智能体工作流。</a:t>
            </a:r>
          </a:p>
        </p:txBody>
      </p:sp>
    </p:spTree>
    <p:extLst>
      <p:ext uri="{BB962C8B-B14F-4D97-AF65-F5344CB8AC3E}">
        <p14:creationId xmlns:p14="http://schemas.microsoft.com/office/powerpoint/2010/main" val="1742850402"/>
      </p:ext>
    </p:extLst>
  </p:cSld>
</p:sld>
</file>

<file path=ppt/slides/slide13.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dd0bb09602c14ec4"/>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0B6C5735-C592-48BF-926F-49AF49D43ABE}"/>
              </a:ext>
            </a:extLst>
          </p:cNvPr>
          <p:cNvSpPr>
            <a:spLocks xmlns:a="http://schemas.openxmlformats.org/drawingml/2006/main" noGrp="1"/>
          </p:cNvSpPr>
          <p:nvPr/>
        </p:nvSpPr>
        <p:spPr>
          <a:xfrm xmlns:a="http://schemas.openxmlformats.org/drawingml/2006/main">
            <a:off x="0" y="1905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0387B"/>
                </a:solidFill>
                <a:latin typeface="微软雅黑"/>
                <a:ea typeface="微软雅黑"/>
                <a:cs typeface="微软雅黑"/>
              </a:rPr>
              <a:t>03</a:t>
            </a:r>
          </a:p>
        </p:txBody>
      </p:sp>
      <p:sp>
        <p:nvSpPr>
          <p:cNvPr id="4" name="AutoShape 4">
            <a:extLst xmlns:a="http://schemas.openxmlformats.org/drawingml/2006/main">
              <a:ext uri="{FF2B5EF4-FFF2-40B4-BE49-F238E27FC236}">
                <a16:creationId xmlns:a16="http://schemas.microsoft.com/office/drawing/2014/main" id="{B103CDC9-90E8-4563-B45F-9FCA11C8ED8E}"/>
              </a:ext>
            </a:extLst>
          </p:cNvPr>
          <p:cNvSpPr>
            <a:spLocks xmlns:a="http://schemas.openxmlformats.org/drawingml/2006/main" noGrp="1"/>
          </p:cNvSpPr>
          <p:nvPr/>
        </p:nvSpPr>
        <p:spPr>
          <a:xfrm xmlns:a="http://schemas.openxmlformats.org/drawingml/2006/main">
            <a:off x="0" y="3683000"/>
            <a:ext cx="120015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800" b="1" i="0" u="none">
                <a:solidFill>
                  <a:srgbClr val="1F2937"/>
                </a:solidFill>
                <a:latin typeface="Noto Sans SC"/>
                <a:ea typeface="Noto Sans SC"/>
                <a:cs typeface="Noto Sans SC"/>
              </a:rPr>
              <a:t>岗位匹配与性能优化</a:t>
            </a:r>
          </a:p>
        </p:txBody>
      </p:sp>
      <p:sp>
        <p:nvSpPr>
          <p:cNvPr id="5" name="AutoShape 5">
            <a:extLst xmlns:a="http://schemas.openxmlformats.org/drawingml/2006/main">
              <a:ext uri="{FF2B5EF4-FFF2-40B4-BE49-F238E27FC236}">
                <a16:creationId xmlns:a16="http://schemas.microsoft.com/office/drawing/2014/main" id="{A07DF74B-BF51-4B91-BF8C-7BEB7F4FF11D}"/>
              </a:ext>
            </a:extLst>
          </p:cNvPr>
          <p:cNvSpPr>
            <a:spLocks xmlns:a="http://schemas.openxmlformats.org/drawingml/2006/main" noGrp="1"/>
          </p:cNvSpPr>
          <p:nvPr/>
        </p:nvSpPr>
        <p:spPr>
          <a:xfrm xmlns:a="http://schemas.openxmlformats.org/drawingml/2006/main">
            <a:off x="0" y="5207000"/>
            <a:ext cx="12001500" cy="635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a:solidFill>
                  <a:srgbClr val="4B5563"/>
                </a:solidFill>
                <a:latin typeface="Noto Sans SC"/>
                <a:ea typeface="Noto Sans SC"/>
                <a:cs typeface="Noto Sans SC"/>
              </a:rPr>
              <a:t>岗位知识库 | 本地召回与评分 | 多样性控制 | AI 精排 | 持久化缓存</a:t>
            </a:r>
          </a:p>
        </p:txBody>
      </p:sp>
    </p:spTree>
    <p:extLst>
      <p:ext uri="{BB962C8B-B14F-4D97-AF65-F5344CB8AC3E}">
        <p14:creationId xmlns:p14="http://schemas.microsoft.com/office/powerpoint/2010/main" val="967040674"/>
      </p:ext>
    </p:extLst>
  </p:cSld>
</p:sld>
</file>

<file path=ppt/slides/slide14.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78873cd1c296424c"/>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D818D2A2-094A-4244-84E6-6F3DDBFE9CDF}"/>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0C3671"/>
                </a:solidFill>
                <a:latin typeface="微软雅黑"/>
                <a:ea typeface="微软雅黑"/>
                <a:cs typeface="微软雅黑"/>
              </a:rPr>
              <a:t>01 岗位匹配数据流程</a:t>
            </a:r>
          </a:p>
        </p:txBody>
      </p:sp>
      <p:sp>
        <p:nvSpPr>
          <p:cNvPr id="4" name="文本框 3">
            <a:extLst xmlns:a="http://schemas.openxmlformats.org/drawingml/2006/main">
              <a:ext uri="{FF2B5EF4-FFF2-40B4-BE49-F238E27FC236}">
                <a16:creationId xmlns:a16="http://schemas.microsoft.com/office/drawing/2014/main" id="{E69ACDD2-8D8B-468D-B6E4-37C63D894E26}"/>
              </a:ext>
            </a:extLst>
          </p:cNvPr>
          <p:cNvSpPr>
            <a:spLocks xmlns:a="http://schemas.openxmlformats.org/drawingml/2006/main" noGrp="1"/>
          </p:cNvSpPr>
          <p:nvPr/>
        </p:nvSpPr>
        <p:spPr>
          <a:xfrm xmlns:a="http://schemas.openxmlformats.org/drawingml/2006/main">
            <a:off x="817880" y="1270000"/>
            <a:ext cx="766191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rgbClr val="5D6B7F"/>
                </a:solidFill>
                <a:latin typeface="微软雅黑"/>
                <a:ea typeface="微软雅黑"/>
                <a:cs typeface="微软雅黑"/>
              </a:rPr>
              <a:t>把非结构化招聘文本转为可计算岗位画像，再完成召回、评分、精排和成长关联</a:t>
            </a:r>
          </a:p>
        </p:txBody>
      </p:sp>
      <p:sp>
        <p:nvSpPr>
          <p:cNvPr id="6" name="Shape 4">
            <a:extLst xmlns:a="http://schemas.openxmlformats.org/drawingml/2006/main">
              <a:ext uri="{FF2B5EF4-FFF2-40B4-BE49-F238E27FC236}">
                <a16:creationId xmlns:a16="http://schemas.microsoft.com/office/drawing/2014/main" id="{BB3344FD-2EAE-4A2F-8385-20DE6DC81FA1}"/>
              </a:ext>
            </a:extLst>
          </p:cNvPr>
          <p:cNvSpPr>
            <a:spLocks xmlns:a="http://schemas.openxmlformats.org/drawingml/2006/main" noGrp="1"/>
          </p:cNvSpPr>
          <p:nvPr/>
        </p:nvSpPr>
        <p:spPr>
          <a:xfrm xmlns:a="http://schemas.openxmlformats.org/drawingml/2006/main">
            <a:off x="594360" y="1828800"/>
            <a:ext cx="1444752" cy="438912"/>
          </a:xfrm>
          <a:prstGeom xmlns:a="http://schemas.openxmlformats.org/drawingml/2006/main" prst="roundRect">
            <a:avLst>
              <a:gd name="adj" fmla="val 25000"/>
            </a:avLst>
          </a:prstGeom>
          <a:solidFill xmlns:a="http://schemas.openxmlformats.org/drawingml/2006/main">
            <a:srgbClr val="1E5AA8"/>
          </a:solidFill>
          <a:ln xmlns:a="http://schemas.openxmlformats.org/drawingml/2006/main" w="12700">
            <a:solidFill>
              <a:srgbClr val="1E5AA8"/>
            </a:solidFill>
            <a:prstDash val="solid"/>
          </a:ln>
        </p:spPr>
      </p:sp>
      <p:sp>
        <p:nvSpPr>
          <p:cNvPr id="7" name="Text 5">
            <a:extLst xmlns:a="http://schemas.openxmlformats.org/drawingml/2006/main">
              <a:ext uri="{FF2B5EF4-FFF2-40B4-BE49-F238E27FC236}">
                <a16:creationId xmlns:a16="http://schemas.microsoft.com/office/drawing/2014/main" id="{FD742A28-345A-4D86-95D6-0C7C50501980}"/>
              </a:ext>
            </a:extLst>
          </p:cNvPr>
          <p:cNvSpPr>
            <a:spLocks xmlns:a="http://schemas.openxmlformats.org/drawingml/2006/main" noGrp="1"/>
          </p:cNvSpPr>
          <p:nvPr/>
        </p:nvSpPr>
        <p:spPr>
          <a:xfrm xmlns:a="http://schemas.openxmlformats.org/drawingml/2006/main">
            <a:off x="667512"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岗位记录</a:t>
            </a:r>
          </a:p>
        </p:txBody>
      </p:sp>
      <p:sp>
        <p:nvSpPr>
          <p:cNvPr id="8" name="Shape 6">
            <a:extLst xmlns:a="http://schemas.openxmlformats.org/drawingml/2006/main">
              <a:ext uri="{FF2B5EF4-FFF2-40B4-BE49-F238E27FC236}">
                <a16:creationId xmlns:a16="http://schemas.microsoft.com/office/drawing/2014/main" id="{FC026633-3F74-4DDE-9188-D03B86CAAFAB}"/>
              </a:ext>
            </a:extLst>
          </p:cNvPr>
          <p:cNvSpPr>
            <a:spLocks xmlns:a="http://schemas.openxmlformats.org/drawingml/2006/main" noGrp="1"/>
          </p:cNvSpPr>
          <p:nvPr/>
        </p:nvSpPr>
        <p:spPr>
          <a:xfrm xmlns:a="http://schemas.openxmlformats.org/drawingml/2006/main">
            <a:off x="594360"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1E5AA8"/>
            </a:solidFill>
            <a:prstDash val="solid"/>
          </a:ln>
        </p:spPr>
      </p:sp>
      <p:sp>
        <p:nvSpPr>
          <p:cNvPr id="9" name="Text 7">
            <a:extLst xmlns:a="http://schemas.openxmlformats.org/drawingml/2006/main">
              <a:ext uri="{FF2B5EF4-FFF2-40B4-BE49-F238E27FC236}">
                <a16:creationId xmlns:a16="http://schemas.microsoft.com/office/drawing/2014/main" id="{1F89A958-703C-444C-AD6C-21929559DD46}"/>
              </a:ext>
            </a:extLst>
          </p:cNvPr>
          <p:cNvSpPr>
            <a:spLocks xmlns:a="http://schemas.openxmlformats.org/drawingml/2006/main" noGrp="1"/>
          </p:cNvSpPr>
          <p:nvPr/>
        </p:nvSpPr>
        <p:spPr>
          <a:xfrm xmlns:a="http://schemas.openxmlformats.org/drawingml/2006/main">
            <a:off x="649224"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679 条真实岗位数据</a:t>
            </a:r>
          </a:p>
        </p:txBody>
      </p:sp>
      <p:sp>
        <p:nvSpPr>
          <p:cNvPr id="10" name="Shape 8">
            <a:extLst xmlns:a="http://schemas.openxmlformats.org/drawingml/2006/main">
              <a:ext uri="{FF2B5EF4-FFF2-40B4-BE49-F238E27FC236}">
                <a16:creationId xmlns:a16="http://schemas.microsoft.com/office/drawing/2014/main" id="{523040A9-E86E-4C89-9D84-02A84C51D948}"/>
              </a:ext>
            </a:extLst>
          </p:cNvPr>
          <p:cNvSpPr>
            <a:spLocks xmlns:a="http://schemas.openxmlformats.org/drawingml/2006/main" noGrp="1"/>
          </p:cNvSpPr>
          <p:nvPr/>
        </p:nvSpPr>
        <p:spPr>
          <a:xfrm xmlns:a="http://schemas.openxmlformats.org/drawingml/2006/main">
            <a:off x="2084832"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11" name="Shape 9">
            <a:extLst xmlns:a="http://schemas.openxmlformats.org/drawingml/2006/main">
              <a:ext uri="{FF2B5EF4-FFF2-40B4-BE49-F238E27FC236}">
                <a16:creationId xmlns:a16="http://schemas.microsoft.com/office/drawing/2014/main" id="{A6E38ED8-8097-4208-B485-6C7C3439EB48}"/>
              </a:ext>
            </a:extLst>
          </p:cNvPr>
          <p:cNvSpPr>
            <a:spLocks xmlns:a="http://schemas.openxmlformats.org/drawingml/2006/main" noGrp="1"/>
          </p:cNvSpPr>
          <p:nvPr/>
        </p:nvSpPr>
        <p:spPr>
          <a:xfrm xmlns:a="http://schemas.openxmlformats.org/drawingml/2006/main">
            <a:off x="2441448" y="1828800"/>
            <a:ext cx="1444752" cy="438912"/>
          </a:xfrm>
          <a:prstGeom xmlns:a="http://schemas.openxmlformats.org/drawingml/2006/main" prst="roundRect">
            <a:avLst>
              <a:gd name="adj" fmla="val 25000"/>
            </a:avLst>
          </a:prstGeom>
          <a:solidFill xmlns:a="http://schemas.openxmlformats.org/drawingml/2006/main">
            <a:srgbClr val="1E5AA8"/>
          </a:solidFill>
          <a:ln xmlns:a="http://schemas.openxmlformats.org/drawingml/2006/main" w="12700">
            <a:solidFill>
              <a:srgbClr val="1E5AA8"/>
            </a:solidFill>
            <a:prstDash val="solid"/>
          </a:ln>
        </p:spPr>
      </p:sp>
      <p:sp>
        <p:nvSpPr>
          <p:cNvPr id="12" name="Text 10">
            <a:extLst xmlns:a="http://schemas.openxmlformats.org/drawingml/2006/main">
              <a:ext uri="{FF2B5EF4-FFF2-40B4-BE49-F238E27FC236}">
                <a16:creationId xmlns:a16="http://schemas.microsoft.com/office/drawing/2014/main" id="{2BEB5352-5009-45DB-8906-B370D6C448AD}"/>
              </a:ext>
            </a:extLst>
          </p:cNvPr>
          <p:cNvSpPr>
            <a:spLocks xmlns:a="http://schemas.openxmlformats.org/drawingml/2006/main" noGrp="1"/>
          </p:cNvSpPr>
          <p:nvPr/>
        </p:nvSpPr>
        <p:spPr>
          <a:xfrm xmlns:a="http://schemas.openxmlformats.org/drawingml/2006/main">
            <a:off x="2514600"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文本清洗</a:t>
            </a:r>
          </a:p>
        </p:txBody>
      </p:sp>
      <p:sp>
        <p:nvSpPr>
          <p:cNvPr id="13" name="Shape 11">
            <a:extLst xmlns:a="http://schemas.openxmlformats.org/drawingml/2006/main">
              <a:ext uri="{FF2B5EF4-FFF2-40B4-BE49-F238E27FC236}">
                <a16:creationId xmlns:a16="http://schemas.microsoft.com/office/drawing/2014/main" id="{73D444C5-B09A-48E9-BFB6-31D7C0AF6981}"/>
              </a:ext>
            </a:extLst>
          </p:cNvPr>
          <p:cNvSpPr>
            <a:spLocks xmlns:a="http://schemas.openxmlformats.org/drawingml/2006/main" noGrp="1"/>
          </p:cNvSpPr>
          <p:nvPr/>
        </p:nvSpPr>
        <p:spPr>
          <a:xfrm xmlns:a="http://schemas.openxmlformats.org/drawingml/2006/main">
            <a:off x="2441448"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1E5AA8"/>
            </a:solidFill>
            <a:prstDash val="solid"/>
          </a:ln>
        </p:spPr>
      </p:sp>
      <p:sp>
        <p:nvSpPr>
          <p:cNvPr id="14" name="Text 12">
            <a:extLst xmlns:a="http://schemas.openxmlformats.org/drawingml/2006/main">
              <a:ext uri="{FF2B5EF4-FFF2-40B4-BE49-F238E27FC236}">
                <a16:creationId xmlns:a16="http://schemas.microsoft.com/office/drawing/2014/main" id="{E8923CD3-E572-4599-B26A-7FF0E20BE133}"/>
              </a:ext>
            </a:extLst>
          </p:cNvPr>
          <p:cNvSpPr>
            <a:spLocks xmlns:a="http://schemas.openxmlformats.org/drawingml/2006/main" noGrp="1"/>
          </p:cNvSpPr>
          <p:nvPr/>
        </p:nvSpPr>
        <p:spPr>
          <a:xfrm xmlns:a="http://schemas.openxmlformats.org/drawingml/2006/main">
            <a:off x="2496312"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中英文分词、标题归一化</a:t>
            </a:r>
          </a:p>
        </p:txBody>
      </p:sp>
      <p:sp>
        <p:nvSpPr>
          <p:cNvPr id="15" name="Shape 13">
            <a:extLst xmlns:a="http://schemas.openxmlformats.org/drawingml/2006/main">
              <a:ext uri="{FF2B5EF4-FFF2-40B4-BE49-F238E27FC236}">
                <a16:creationId xmlns:a16="http://schemas.microsoft.com/office/drawing/2014/main" id="{BD86E709-269E-491F-8889-9DE8E6D6FC14}"/>
              </a:ext>
            </a:extLst>
          </p:cNvPr>
          <p:cNvSpPr>
            <a:spLocks xmlns:a="http://schemas.openxmlformats.org/drawingml/2006/main" noGrp="1"/>
          </p:cNvSpPr>
          <p:nvPr/>
        </p:nvSpPr>
        <p:spPr>
          <a:xfrm xmlns:a="http://schemas.openxmlformats.org/drawingml/2006/main">
            <a:off x="3931920"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16" name="Shape 14">
            <a:extLst xmlns:a="http://schemas.openxmlformats.org/drawingml/2006/main">
              <a:ext uri="{FF2B5EF4-FFF2-40B4-BE49-F238E27FC236}">
                <a16:creationId xmlns:a16="http://schemas.microsoft.com/office/drawing/2014/main" id="{9CE93AF2-D2CD-446D-A5FF-53B6D360E2C8}"/>
              </a:ext>
            </a:extLst>
          </p:cNvPr>
          <p:cNvSpPr>
            <a:spLocks xmlns:a="http://schemas.openxmlformats.org/drawingml/2006/main" noGrp="1"/>
          </p:cNvSpPr>
          <p:nvPr/>
        </p:nvSpPr>
        <p:spPr>
          <a:xfrm xmlns:a="http://schemas.openxmlformats.org/drawingml/2006/main">
            <a:off x="4288536" y="1828800"/>
            <a:ext cx="1444752" cy="438912"/>
          </a:xfrm>
          <a:prstGeom xmlns:a="http://schemas.openxmlformats.org/drawingml/2006/main" prst="roundRect">
            <a:avLst>
              <a:gd name="adj" fmla="val 25000"/>
            </a:avLst>
          </a:prstGeom>
          <a:solidFill xmlns:a="http://schemas.openxmlformats.org/drawingml/2006/main">
            <a:srgbClr val="27C7CF"/>
          </a:solidFill>
          <a:ln xmlns:a="http://schemas.openxmlformats.org/drawingml/2006/main" w="12700">
            <a:solidFill>
              <a:srgbClr val="27C7CF"/>
            </a:solidFill>
            <a:prstDash val="solid"/>
          </a:ln>
        </p:spPr>
      </p:sp>
      <p:sp>
        <p:nvSpPr>
          <p:cNvPr id="17" name="Text 15">
            <a:extLst xmlns:a="http://schemas.openxmlformats.org/drawingml/2006/main">
              <a:ext uri="{FF2B5EF4-FFF2-40B4-BE49-F238E27FC236}">
                <a16:creationId xmlns:a16="http://schemas.microsoft.com/office/drawing/2014/main" id="{7FE1F244-A802-45A3-A1A0-D743A5AB7A05}"/>
              </a:ext>
            </a:extLst>
          </p:cNvPr>
          <p:cNvSpPr>
            <a:spLocks xmlns:a="http://schemas.openxmlformats.org/drawingml/2006/main" noGrp="1"/>
          </p:cNvSpPr>
          <p:nvPr/>
        </p:nvSpPr>
        <p:spPr>
          <a:xfrm xmlns:a="http://schemas.openxmlformats.org/drawingml/2006/main">
            <a:off x="4361688"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稀疏向量</a:t>
            </a:r>
          </a:p>
        </p:txBody>
      </p:sp>
      <p:sp>
        <p:nvSpPr>
          <p:cNvPr id="5" name="Shape 16">
            <a:extLst xmlns:a="http://schemas.openxmlformats.org/drawingml/2006/main">
              <a:ext uri="{FF2B5EF4-FFF2-40B4-BE49-F238E27FC236}">
                <a16:creationId xmlns:a16="http://schemas.microsoft.com/office/drawing/2014/main" id="{C83F7C66-9931-48B7-A6E5-526FEB21F1AE}"/>
              </a:ext>
            </a:extLst>
          </p:cNvPr>
          <p:cNvSpPr>
            <a:spLocks xmlns:a="http://schemas.openxmlformats.org/drawingml/2006/main" noGrp="1"/>
          </p:cNvSpPr>
          <p:nvPr/>
        </p:nvSpPr>
        <p:spPr>
          <a:xfrm xmlns:a="http://schemas.openxmlformats.org/drawingml/2006/main">
            <a:off x="4288536"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27C7CF"/>
            </a:solidFill>
            <a:prstDash val="solid"/>
          </a:ln>
        </p:spPr>
      </p:sp>
      <p:sp>
        <p:nvSpPr>
          <p:cNvPr id="19" name="Text 17">
            <a:extLst xmlns:a="http://schemas.openxmlformats.org/drawingml/2006/main">
              <a:ext uri="{FF2B5EF4-FFF2-40B4-BE49-F238E27FC236}">
                <a16:creationId xmlns:a16="http://schemas.microsoft.com/office/drawing/2014/main" id="{817D9BA8-A882-4915-B944-0F1231A18AFE}"/>
              </a:ext>
            </a:extLst>
          </p:cNvPr>
          <p:cNvSpPr>
            <a:spLocks xmlns:a="http://schemas.openxmlformats.org/drawingml/2006/main" noGrp="1"/>
          </p:cNvSpPr>
          <p:nvPr/>
        </p:nvSpPr>
        <p:spPr>
          <a:xfrm xmlns:a="http://schemas.openxmlformats.org/drawingml/2006/main">
            <a:off x="4343400"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n-gram 与词频权重</a:t>
            </a:r>
          </a:p>
        </p:txBody>
      </p:sp>
      <p:sp>
        <p:nvSpPr>
          <p:cNvPr id="20" name="Shape 18">
            <a:extLst xmlns:a="http://schemas.openxmlformats.org/drawingml/2006/main">
              <a:ext uri="{FF2B5EF4-FFF2-40B4-BE49-F238E27FC236}">
                <a16:creationId xmlns:a16="http://schemas.microsoft.com/office/drawing/2014/main" id="{8140CEFA-5D20-4446-82D7-35E7FF6505B1}"/>
              </a:ext>
            </a:extLst>
          </p:cNvPr>
          <p:cNvSpPr>
            <a:spLocks xmlns:a="http://schemas.openxmlformats.org/drawingml/2006/main" noGrp="1"/>
          </p:cNvSpPr>
          <p:nvPr/>
        </p:nvSpPr>
        <p:spPr>
          <a:xfrm xmlns:a="http://schemas.openxmlformats.org/drawingml/2006/main">
            <a:off x="5779008"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21" name="Shape 19">
            <a:extLst xmlns:a="http://schemas.openxmlformats.org/drawingml/2006/main">
              <a:ext uri="{FF2B5EF4-FFF2-40B4-BE49-F238E27FC236}">
                <a16:creationId xmlns:a16="http://schemas.microsoft.com/office/drawing/2014/main" id="{9E9A332E-2CC5-4028-8984-436EE4AA7401}"/>
              </a:ext>
            </a:extLst>
          </p:cNvPr>
          <p:cNvSpPr>
            <a:spLocks xmlns:a="http://schemas.openxmlformats.org/drawingml/2006/main" noGrp="1"/>
          </p:cNvSpPr>
          <p:nvPr/>
        </p:nvSpPr>
        <p:spPr>
          <a:xfrm xmlns:a="http://schemas.openxmlformats.org/drawingml/2006/main">
            <a:off x="6135624" y="1828800"/>
            <a:ext cx="1444752" cy="438912"/>
          </a:xfrm>
          <a:prstGeom xmlns:a="http://schemas.openxmlformats.org/drawingml/2006/main" prst="roundRect">
            <a:avLst>
              <a:gd name="adj" fmla="val 25000"/>
            </a:avLst>
          </a:prstGeom>
          <a:solidFill xmlns:a="http://schemas.openxmlformats.org/drawingml/2006/main">
            <a:srgbClr val="27C7CF"/>
          </a:solidFill>
          <a:ln xmlns:a="http://schemas.openxmlformats.org/drawingml/2006/main" w="12700">
            <a:solidFill>
              <a:srgbClr val="27C7CF"/>
            </a:solidFill>
            <a:prstDash val="solid"/>
          </a:ln>
        </p:spPr>
      </p:sp>
      <p:sp>
        <p:nvSpPr>
          <p:cNvPr id="22" name="Text 20">
            <a:extLst xmlns:a="http://schemas.openxmlformats.org/drawingml/2006/main">
              <a:ext uri="{FF2B5EF4-FFF2-40B4-BE49-F238E27FC236}">
                <a16:creationId xmlns:a16="http://schemas.microsoft.com/office/drawing/2014/main" id="{88A29C00-BDB5-46CC-8C90-44F988A6A597}"/>
              </a:ext>
            </a:extLst>
          </p:cNvPr>
          <p:cNvSpPr>
            <a:spLocks xmlns:a="http://schemas.openxmlformats.org/drawingml/2006/main" noGrp="1"/>
          </p:cNvSpPr>
          <p:nvPr/>
        </p:nvSpPr>
        <p:spPr>
          <a:xfrm xmlns:a="http://schemas.openxmlformats.org/drawingml/2006/main">
            <a:off x="6208776"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本地召回</a:t>
            </a:r>
          </a:p>
        </p:txBody>
      </p:sp>
      <p:sp>
        <p:nvSpPr>
          <p:cNvPr id="23" name="Shape 21">
            <a:extLst xmlns:a="http://schemas.openxmlformats.org/drawingml/2006/main">
              <a:ext uri="{FF2B5EF4-FFF2-40B4-BE49-F238E27FC236}">
                <a16:creationId xmlns:a16="http://schemas.microsoft.com/office/drawing/2014/main" id="{2B55F619-EA25-4379-9DAD-7D1BD0BE614D}"/>
              </a:ext>
            </a:extLst>
          </p:cNvPr>
          <p:cNvSpPr>
            <a:spLocks xmlns:a="http://schemas.openxmlformats.org/drawingml/2006/main" noGrp="1"/>
          </p:cNvSpPr>
          <p:nvPr/>
        </p:nvSpPr>
        <p:spPr>
          <a:xfrm xmlns:a="http://schemas.openxmlformats.org/drawingml/2006/main">
            <a:off x="6135624"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27C7CF"/>
            </a:solidFill>
            <a:prstDash val="solid"/>
          </a:ln>
        </p:spPr>
      </p:sp>
      <p:sp>
        <p:nvSpPr>
          <p:cNvPr id="24" name="Text 22">
            <a:extLst xmlns:a="http://schemas.openxmlformats.org/drawingml/2006/main">
              <a:ext uri="{FF2B5EF4-FFF2-40B4-BE49-F238E27FC236}">
                <a16:creationId xmlns:a16="http://schemas.microsoft.com/office/drawing/2014/main" id="{5BBE0262-C36D-421A-AADB-DE753DF65C6D}"/>
              </a:ext>
            </a:extLst>
          </p:cNvPr>
          <p:cNvSpPr>
            <a:spLocks xmlns:a="http://schemas.openxmlformats.org/drawingml/2006/main" noGrp="1"/>
          </p:cNvSpPr>
          <p:nvPr/>
        </p:nvSpPr>
        <p:spPr>
          <a:xfrm xmlns:a="http://schemas.openxmlformats.org/drawingml/2006/main">
            <a:off x="6190488"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快速获得 TOP30 候选</a:t>
            </a:r>
          </a:p>
        </p:txBody>
      </p:sp>
      <p:sp>
        <p:nvSpPr>
          <p:cNvPr id="25" name="Shape 23">
            <a:extLst xmlns:a="http://schemas.openxmlformats.org/drawingml/2006/main">
              <a:ext uri="{FF2B5EF4-FFF2-40B4-BE49-F238E27FC236}">
                <a16:creationId xmlns:a16="http://schemas.microsoft.com/office/drawing/2014/main" id="{73BB9A66-7DD1-4EA4-8C28-7F80E98837B0}"/>
              </a:ext>
            </a:extLst>
          </p:cNvPr>
          <p:cNvSpPr>
            <a:spLocks xmlns:a="http://schemas.openxmlformats.org/drawingml/2006/main" noGrp="1"/>
          </p:cNvSpPr>
          <p:nvPr/>
        </p:nvSpPr>
        <p:spPr>
          <a:xfrm xmlns:a="http://schemas.openxmlformats.org/drawingml/2006/main">
            <a:off x="7626096"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26" name="Shape 24">
            <a:extLst xmlns:a="http://schemas.openxmlformats.org/drawingml/2006/main">
              <a:ext uri="{FF2B5EF4-FFF2-40B4-BE49-F238E27FC236}">
                <a16:creationId xmlns:a16="http://schemas.microsoft.com/office/drawing/2014/main" id="{FEDC8CE9-8CA8-435E-A9F8-507910901DF6}"/>
              </a:ext>
            </a:extLst>
          </p:cNvPr>
          <p:cNvSpPr>
            <a:spLocks xmlns:a="http://schemas.openxmlformats.org/drawingml/2006/main" noGrp="1"/>
          </p:cNvSpPr>
          <p:nvPr/>
        </p:nvSpPr>
        <p:spPr>
          <a:xfrm xmlns:a="http://schemas.openxmlformats.org/drawingml/2006/main">
            <a:off x="7982712" y="1828800"/>
            <a:ext cx="1444752"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27" name="Text 25">
            <a:extLst xmlns:a="http://schemas.openxmlformats.org/drawingml/2006/main">
              <a:ext uri="{FF2B5EF4-FFF2-40B4-BE49-F238E27FC236}">
                <a16:creationId xmlns:a16="http://schemas.microsoft.com/office/drawing/2014/main" id="{39B9C639-2919-4AF0-BDE6-E9BA09FBFBA5}"/>
              </a:ext>
            </a:extLst>
          </p:cNvPr>
          <p:cNvSpPr>
            <a:spLocks xmlns:a="http://schemas.openxmlformats.org/drawingml/2006/main" noGrp="1"/>
          </p:cNvSpPr>
          <p:nvPr/>
        </p:nvSpPr>
        <p:spPr>
          <a:xfrm xmlns:a="http://schemas.openxmlformats.org/drawingml/2006/main">
            <a:off x="8055864"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规则评分</a:t>
            </a:r>
          </a:p>
        </p:txBody>
      </p:sp>
      <p:sp>
        <p:nvSpPr>
          <p:cNvPr id="28" name="Shape 26">
            <a:extLst xmlns:a="http://schemas.openxmlformats.org/drawingml/2006/main">
              <a:ext uri="{FF2B5EF4-FFF2-40B4-BE49-F238E27FC236}">
                <a16:creationId xmlns:a16="http://schemas.microsoft.com/office/drawing/2014/main" id="{1935BADF-A237-4EDD-AD7F-DCC27F72CD2F}"/>
              </a:ext>
            </a:extLst>
          </p:cNvPr>
          <p:cNvSpPr>
            <a:spLocks xmlns:a="http://schemas.openxmlformats.org/drawingml/2006/main" noGrp="1"/>
          </p:cNvSpPr>
          <p:nvPr/>
        </p:nvSpPr>
        <p:spPr>
          <a:xfrm xmlns:a="http://schemas.openxmlformats.org/drawingml/2006/main">
            <a:off x="7982712"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47B881"/>
            </a:solidFill>
            <a:prstDash val="solid"/>
          </a:ln>
        </p:spPr>
      </p:sp>
      <p:sp>
        <p:nvSpPr>
          <p:cNvPr id="29" name="Text 27">
            <a:extLst xmlns:a="http://schemas.openxmlformats.org/drawingml/2006/main">
              <a:ext uri="{FF2B5EF4-FFF2-40B4-BE49-F238E27FC236}">
                <a16:creationId xmlns:a16="http://schemas.microsoft.com/office/drawing/2014/main" id="{347A0478-5F91-4F88-B591-467115996D26}"/>
              </a:ext>
            </a:extLst>
          </p:cNvPr>
          <p:cNvSpPr>
            <a:spLocks xmlns:a="http://schemas.openxmlformats.org/drawingml/2006/main" noGrp="1"/>
          </p:cNvSpPr>
          <p:nvPr/>
        </p:nvSpPr>
        <p:spPr>
          <a:xfrm xmlns:a="http://schemas.openxmlformats.org/drawingml/2006/main">
            <a:off x="8037576"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技能、项目、画像与约束</a:t>
            </a:r>
          </a:p>
        </p:txBody>
      </p:sp>
      <p:sp>
        <p:nvSpPr>
          <p:cNvPr id="30" name="Shape 28">
            <a:extLst xmlns:a="http://schemas.openxmlformats.org/drawingml/2006/main">
              <a:ext uri="{FF2B5EF4-FFF2-40B4-BE49-F238E27FC236}">
                <a16:creationId xmlns:a16="http://schemas.microsoft.com/office/drawing/2014/main" id="{48FE6723-2E83-4CE8-AEB9-2AFAC7AE8A99}"/>
              </a:ext>
            </a:extLst>
          </p:cNvPr>
          <p:cNvSpPr>
            <a:spLocks xmlns:a="http://schemas.openxmlformats.org/drawingml/2006/main" noGrp="1"/>
          </p:cNvSpPr>
          <p:nvPr/>
        </p:nvSpPr>
        <p:spPr>
          <a:xfrm xmlns:a="http://schemas.openxmlformats.org/drawingml/2006/main">
            <a:off x="9473184" y="2834640"/>
            <a:ext cx="283464" cy="0"/>
          </a:xfrm>
          <a:prstGeom xmlns:a="http://schemas.openxmlformats.org/drawingml/2006/main" prst="line">
            <a:avLst/>
          </a:prstGeom>
          <a:noFill xmlns:a="http://schemas.openxmlformats.org/drawingml/2006/main"/>
          <a:ln xmlns:a="http://schemas.openxmlformats.org/drawingml/2006/main" w="13970">
            <a:solidFill>
              <a:srgbClr val="9BB3CF"/>
            </a:solidFill>
            <a:prstDash val="solid"/>
          </a:ln>
        </p:spPr>
      </p:sp>
      <p:sp>
        <p:nvSpPr>
          <p:cNvPr id="31" name="Shape 29">
            <a:extLst xmlns:a="http://schemas.openxmlformats.org/drawingml/2006/main">
              <a:ext uri="{FF2B5EF4-FFF2-40B4-BE49-F238E27FC236}">
                <a16:creationId xmlns:a16="http://schemas.microsoft.com/office/drawing/2014/main" id="{2787716B-212F-4885-A109-306A0528AB0A}"/>
              </a:ext>
            </a:extLst>
          </p:cNvPr>
          <p:cNvSpPr>
            <a:spLocks xmlns:a="http://schemas.openxmlformats.org/drawingml/2006/main" noGrp="1"/>
          </p:cNvSpPr>
          <p:nvPr/>
        </p:nvSpPr>
        <p:spPr>
          <a:xfrm xmlns:a="http://schemas.openxmlformats.org/drawingml/2006/main">
            <a:off x="9829800" y="1828800"/>
            <a:ext cx="1444752"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32" name="Text 30">
            <a:extLst xmlns:a="http://schemas.openxmlformats.org/drawingml/2006/main">
              <a:ext uri="{FF2B5EF4-FFF2-40B4-BE49-F238E27FC236}">
                <a16:creationId xmlns:a16="http://schemas.microsoft.com/office/drawing/2014/main" id="{4B9E7E91-3B33-4AC5-8EBF-F1CC6305F672}"/>
              </a:ext>
            </a:extLst>
          </p:cNvPr>
          <p:cNvSpPr>
            <a:spLocks xmlns:a="http://schemas.openxmlformats.org/drawingml/2006/main" noGrp="1"/>
          </p:cNvSpPr>
          <p:nvPr/>
        </p:nvSpPr>
        <p:spPr>
          <a:xfrm xmlns:a="http://schemas.openxmlformats.org/drawingml/2006/main">
            <a:off x="9902952" y="1856232"/>
            <a:ext cx="1298448"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AI 精排</a:t>
            </a:r>
          </a:p>
        </p:txBody>
      </p:sp>
      <p:sp>
        <p:nvSpPr>
          <p:cNvPr id="33" name="Shape 31">
            <a:extLst xmlns:a="http://schemas.openxmlformats.org/drawingml/2006/main">
              <a:ext uri="{FF2B5EF4-FFF2-40B4-BE49-F238E27FC236}">
                <a16:creationId xmlns:a16="http://schemas.microsoft.com/office/drawing/2014/main" id="{EFC4B289-53D5-4155-B7FA-387ED0CFA08D}"/>
              </a:ext>
            </a:extLst>
          </p:cNvPr>
          <p:cNvSpPr>
            <a:spLocks xmlns:a="http://schemas.openxmlformats.org/drawingml/2006/main" noGrp="1"/>
          </p:cNvSpPr>
          <p:nvPr/>
        </p:nvSpPr>
        <p:spPr>
          <a:xfrm xmlns:a="http://schemas.openxmlformats.org/drawingml/2006/main">
            <a:off x="9829800" y="2423160"/>
            <a:ext cx="1444752" cy="969264"/>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12700">
            <a:solidFill>
              <a:srgbClr val="47B881"/>
            </a:solidFill>
            <a:prstDash val="solid"/>
          </a:ln>
        </p:spPr>
      </p:sp>
      <p:sp>
        <p:nvSpPr>
          <p:cNvPr id="34" name="Text 32">
            <a:extLst xmlns:a="http://schemas.openxmlformats.org/drawingml/2006/main">
              <a:ext uri="{FF2B5EF4-FFF2-40B4-BE49-F238E27FC236}">
                <a16:creationId xmlns:a16="http://schemas.microsoft.com/office/drawing/2014/main" id="{49B9D79D-2F82-43C5-8DC5-48B344D9E026}"/>
              </a:ext>
            </a:extLst>
          </p:cNvPr>
          <p:cNvSpPr>
            <a:spLocks xmlns:a="http://schemas.openxmlformats.org/drawingml/2006/main" noGrp="1"/>
          </p:cNvSpPr>
          <p:nvPr/>
        </p:nvSpPr>
        <p:spPr>
          <a:xfrm xmlns:a="http://schemas.openxmlformats.org/drawingml/2006/main">
            <a:off x="9884664" y="2459736"/>
            <a:ext cx="1335024" cy="896112"/>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80">
                <a:solidFill>
                  <a:srgbClr val="1D2A3A"/>
                </a:solidFill>
                <a:latin typeface="Noto Sans CJK SC"/>
                <a:ea typeface="Noto Sans CJK SC"/>
                <a:cs typeface="Noto Sans CJK SC"/>
              </a:rPr>
              <a:t>TOP10 输入，输出 TOP5</a:t>
            </a:r>
          </a:p>
        </p:txBody>
      </p:sp>
      <p:sp>
        <p:nvSpPr>
          <p:cNvPr id="35" name="Shape 33">
            <a:extLst xmlns:a="http://schemas.openxmlformats.org/drawingml/2006/main">
              <a:ext uri="{FF2B5EF4-FFF2-40B4-BE49-F238E27FC236}">
                <a16:creationId xmlns:a16="http://schemas.microsoft.com/office/drawing/2014/main" id="{7232C241-1AFF-4695-940A-53116F6B6B5C}"/>
              </a:ext>
            </a:extLst>
          </p:cNvPr>
          <p:cNvSpPr>
            <a:spLocks xmlns:a="http://schemas.openxmlformats.org/drawingml/2006/main" noGrp="1"/>
          </p:cNvSpPr>
          <p:nvPr/>
        </p:nvSpPr>
        <p:spPr>
          <a:xfrm xmlns:a="http://schemas.openxmlformats.org/drawingml/2006/main">
            <a:off x="648970" y="3886200"/>
            <a:ext cx="5303520" cy="173736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12700">
            <a:solidFill>
              <a:srgbClr val="D1DDEC"/>
            </a:solidFill>
            <a:prstDash val="solid"/>
          </a:ln>
        </p:spPr>
      </p:sp>
      <p:sp>
        <p:nvSpPr>
          <p:cNvPr id="36" name="Text 34">
            <a:extLst xmlns:a="http://schemas.openxmlformats.org/drawingml/2006/main">
              <a:ext uri="{FF2B5EF4-FFF2-40B4-BE49-F238E27FC236}">
                <a16:creationId xmlns:a16="http://schemas.microsoft.com/office/drawing/2014/main" id="{251C5E74-F237-4C08-AA04-3EFB63B337EF}"/>
              </a:ext>
            </a:extLst>
          </p:cNvPr>
          <p:cNvSpPr>
            <a:spLocks xmlns:a="http://schemas.openxmlformats.org/drawingml/2006/main" noGrp="1"/>
          </p:cNvSpPr>
          <p:nvPr/>
        </p:nvSpPr>
        <p:spPr>
          <a:xfrm xmlns:a="http://schemas.openxmlformats.org/drawingml/2006/main">
            <a:off x="914400" y="4069080"/>
            <a:ext cx="2377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3B7A"/>
                </a:solidFill>
                <a:latin typeface="Noto Sans CJK SC"/>
                <a:ea typeface="Noto Sans CJK SC"/>
                <a:cs typeface="Noto Sans CJK SC"/>
              </a:rPr>
              <a:t>岗位画像字段</a:t>
            </a:r>
          </a:p>
        </p:txBody>
      </p:sp>
      <p:sp>
        <p:nvSpPr>
          <p:cNvPr id="37" name="Shape 35">
            <a:extLst xmlns:a="http://schemas.openxmlformats.org/drawingml/2006/main">
              <a:ext uri="{FF2B5EF4-FFF2-40B4-BE49-F238E27FC236}">
                <a16:creationId xmlns:a16="http://schemas.microsoft.com/office/drawing/2014/main" id="{0FA1B57D-C7B2-4A51-82F1-9B5B49AE1FC8}"/>
              </a:ext>
            </a:extLst>
          </p:cNvPr>
          <p:cNvSpPr>
            <a:spLocks xmlns:a="http://schemas.openxmlformats.org/drawingml/2006/main" noGrp="1"/>
          </p:cNvSpPr>
          <p:nvPr/>
        </p:nvSpPr>
        <p:spPr>
          <a:xfrm xmlns:a="http://schemas.openxmlformats.org/drawingml/2006/main">
            <a:off x="960120"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38" name="Text 36">
            <a:extLst xmlns:a="http://schemas.openxmlformats.org/drawingml/2006/main">
              <a:ext uri="{FF2B5EF4-FFF2-40B4-BE49-F238E27FC236}">
                <a16:creationId xmlns:a16="http://schemas.microsoft.com/office/drawing/2014/main" id="{6241471D-5C50-49E1-A5E7-28D4CA2A4B79}"/>
              </a:ext>
            </a:extLst>
          </p:cNvPr>
          <p:cNvSpPr>
            <a:spLocks xmlns:a="http://schemas.openxmlformats.org/drawingml/2006/main" noGrp="1"/>
          </p:cNvSpPr>
          <p:nvPr/>
        </p:nvSpPr>
        <p:spPr>
          <a:xfrm xmlns:a="http://schemas.openxmlformats.org/drawingml/2006/main">
            <a:off x="1014984"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岗位名称</a:t>
            </a:r>
          </a:p>
          <a:p xmlns:a="http://schemas.openxmlformats.org/drawingml/2006/main">
            <a:pPr marL="0" indent="0" algn="ctr">
              <a:buNone/>
            </a:pPr>
            <a:r>
              <a:rPr sz="1230">
                <a:solidFill>
                  <a:srgbClr val="1D2A3A"/>
                </a:solidFill>
                <a:latin typeface="Noto Sans CJK SC"/>
                <a:ea typeface="Noto Sans CJK SC"/>
                <a:cs typeface="Noto Sans CJK SC"/>
              </a:rPr>
              <a:t>与描述</a:t>
            </a:r>
          </a:p>
        </p:txBody>
      </p:sp>
      <p:sp>
        <p:nvSpPr>
          <p:cNvPr id="39" name="Shape 37">
            <a:extLst xmlns:a="http://schemas.openxmlformats.org/drawingml/2006/main">
              <a:ext uri="{FF2B5EF4-FFF2-40B4-BE49-F238E27FC236}">
                <a16:creationId xmlns:a16="http://schemas.microsoft.com/office/drawing/2014/main" id="{3738182C-8F49-4224-A165-6CC6E3FA0D02}"/>
              </a:ext>
            </a:extLst>
          </p:cNvPr>
          <p:cNvSpPr>
            <a:spLocks xmlns:a="http://schemas.openxmlformats.org/drawingml/2006/main" noGrp="1"/>
          </p:cNvSpPr>
          <p:nvPr/>
        </p:nvSpPr>
        <p:spPr>
          <a:xfrm xmlns:a="http://schemas.openxmlformats.org/drawingml/2006/main">
            <a:off x="1947672"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0" name="Shape 38">
            <a:extLst xmlns:a="http://schemas.openxmlformats.org/drawingml/2006/main">
              <a:ext uri="{FF2B5EF4-FFF2-40B4-BE49-F238E27FC236}">
                <a16:creationId xmlns:a16="http://schemas.microsoft.com/office/drawing/2014/main" id="{1CBD05FA-1A70-457C-BB15-1D40E9039999}"/>
              </a:ext>
            </a:extLst>
          </p:cNvPr>
          <p:cNvSpPr>
            <a:spLocks xmlns:a="http://schemas.openxmlformats.org/drawingml/2006/main" noGrp="1"/>
          </p:cNvSpPr>
          <p:nvPr/>
        </p:nvSpPr>
        <p:spPr>
          <a:xfrm xmlns:a="http://schemas.openxmlformats.org/drawingml/2006/main">
            <a:off x="2176272"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41" name="Text 39">
            <a:extLst xmlns:a="http://schemas.openxmlformats.org/drawingml/2006/main">
              <a:ext uri="{FF2B5EF4-FFF2-40B4-BE49-F238E27FC236}">
                <a16:creationId xmlns:a16="http://schemas.microsoft.com/office/drawing/2014/main" id="{5277E478-306F-4A7E-96C6-3FB2E8DD070A}"/>
              </a:ext>
            </a:extLst>
          </p:cNvPr>
          <p:cNvSpPr>
            <a:spLocks xmlns:a="http://schemas.openxmlformats.org/drawingml/2006/main" noGrp="1"/>
          </p:cNvSpPr>
          <p:nvPr/>
        </p:nvSpPr>
        <p:spPr>
          <a:xfrm xmlns:a="http://schemas.openxmlformats.org/drawingml/2006/main">
            <a:off x="2231136"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技能要求</a:t>
            </a:r>
          </a:p>
          <a:p xmlns:a="http://schemas.openxmlformats.org/drawingml/2006/main">
            <a:pPr marL="0" indent="0" algn="ctr">
              <a:buNone/>
            </a:pPr>
            <a:r>
              <a:rPr sz="1230">
                <a:solidFill>
                  <a:srgbClr val="1D2A3A"/>
                </a:solidFill>
                <a:latin typeface="Noto Sans CJK SC"/>
                <a:ea typeface="Noto Sans CJK SC"/>
                <a:cs typeface="Noto Sans CJK SC"/>
              </a:rPr>
              <a:t>与项目线索</a:t>
            </a:r>
          </a:p>
        </p:txBody>
      </p:sp>
      <p:sp>
        <p:nvSpPr>
          <p:cNvPr id="42" name="Shape 40">
            <a:extLst xmlns:a="http://schemas.openxmlformats.org/drawingml/2006/main">
              <a:ext uri="{FF2B5EF4-FFF2-40B4-BE49-F238E27FC236}">
                <a16:creationId xmlns:a16="http://schemas.microsoft.com/office/drawing/2014/main" id="{D7ED0C04-B8AB-4761-A6EB-CFF9A5E74268}"/>
              </a:ext>
            </a:extLst>
          </p:cNvPr>
          <p:cNvSpPr>
            <a:spLocks xmlns:a="http://schemas.openxmlformats.org/drawingml/2006/main" noGrp="1"/>
          </p:cNvSpPr>
          <p:nvPr/>
        </p:nvSpPr>
        <p:spPr>
          <a:xfrm xmlns:a="http://schemas.openxmlformats.org/drawingml/2006/main">
            <a:off x="3163824"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3" name="Shape 41">
            <a:extLst xmlns:a="http://schemas.openxmlformats.org/drawingml/2006/main">
              <a:ext uri="{FF2B5EF4-FFF2-40B4-BE49-F238E27FC236}">
                <a16:creationId xmlns:a16="http://schemas.microsoft.com/office/drawing/2014/main" id="{6966471E-FC8E-473B-B854-4AD919B49CDD}"/>
              </a:ext>
            </a:extLst>
          </p:cNvPr>
          <p:cNvSpPr>
            <a:spLocks xmlns:a="http://schemas.openxmlformats.org/drawingml/2006/main" noGrp="1"/>
          </p:cNvSpPr>
          <p:nvPr/>
        </p:nvSpPr>
        <p:spPr>
          <a:xfrm xmlns:a="http://schemas.openxmlformats.org/drawingml/2006/main">
            <a:off x="3392424" y="4526280"/>
            <a:ext cx="987552" cy="713232"/>
          </a:xfrm>
          <a:prstGeom xmlns:a="http://schemas.openxmlformats.org/drawingml/2006/main" prst="roundRect">
            <a:avLst>
              <a:gd name="adj" fmla="val 10256"/>
            </a:avLst>
          </a:prstGeom>
          <a:solidFill xmlns:a="http://schemas.openxmlformats.org/drawingml/2006/main">
            <a:srgbClr val="F6F9FC"/>
          </a:solidFill>
          <a:ln xmlns:a="http://schemas.openxmlformats.org/drawingml/2006/main" w="12700">
            <a:solidFill>
              <a:srgbClr val="D1DDEC"/>
            </a:solidFill>
            <a:prstDash val="solid"/>
          </a:ln>
        </p:spPr>
      </p:sp>
      <p:sp>
        <p:nvSpPr>
          <p:cNvPr id="44" name="Text 42">
            <a:extLst xmlns:a="http://schemas.openxmlformats.org/drawingml/2006/main">
              <a:ext uri="{FF2B5EF4-FFF2-40B4-BE49-F238E27FC236}">
                <a16:creationId xmlns:a16="http://schemas.microsoft.com/office/drawing/2014/main" id="{137BBBBC-4D96-455E-812A-A473E6B75518}"/>
              </a:ext>
            </a:extLst>
          </p:cNvPr>
          <p:cNvSpPr>
            <a:spLocks xmlns:a="http://schemas.openxmlformats.org/drawingml/2006/main" noGrp="1"/>
          </p:cNvSpPr>
          <p:nvPr/>
        </p:nvSpPr>
        <p:spPr>
          <a:xfrm xmlns:a="http://schemas.openxmlformats.org/drawingml/2006/main">
            <a:off x="3447288"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a:solidFill>
                  <a:srgbClr val="1D2A3A"/>
                </a:solidFill>
                <a:latin typeface="Noto Sans CJK SC"/>
                <a:ea typeface="Noto Sans CJK SC"/>
                <a:cs typeface="Noto Sans CJK SC"/>
              </a:rPr>
              <a:t>培养关联</a:t>
            </a:r>
          </a:p>
          <a:p xmlns:a="http://schemas.openxmlformats.org/drawingml/2006/main">
            <a:pPr marL="0" indent="0" algn="ctr">
              <a:buNone/>
            </a:pPr>
            <a:r>
              <a:rPr sz="1230">
                <a:solidFill>
                  <a:srgbClr val="1D2A3A"/>
                </a:solidFill>
                <a:latin typeface="Noto Sans CJK SC"/>
                <a:ea typeface="Noto Sans CJK SC"/>
                <a:cs typeface="Noto Sans CJK SC"/>
              </a:rPr>
              <a:t>课程与证书</a:t>
            </a:r>
          </a:p>
        </p:txBody>
      </p:sp>
      <p:sp>
        <p:nvSpPr>
          <p:cNvPr id="45" name="Shape 43">
            <a:extLst xmlns:a="http://schemas.openxmlformats.org/drawingml/2006/main">
              <a:ext uri="{FF2B5EF4-FFF2-40B4-BE49-F238E27FC236}">
                <a16:creationId xmlns:a16="http://schemas.microsoft.com/office/drawing/2014/main" id="{F291A8EE-29E6-421C-947F-27F8F2B23BB2}"/>
              </a:ext>
            </a:extLst>
          </p:cNvPr>
          <p:cNvSpPr>
            <a:spLocks xmlns:a="http://schemas.openxmlformats.org/drawingml/2006/main" noGrp="1"/>
          </p:cNvSpPr>
          <p:nvPr/>
        </p:nvSpPr>
        <p:spPr>
          <a:xfrm xmlns:a="http://schemas.openxmlformats.org/drawingml/2006/main">
            <a:off x="4379976" y="4882896"/>
            <a:ext cx="201168" cy="0"/>
          </a:xfrm>
          <a:prstGeom xmlns:a="http://schemas.openxmlformats.org/drawingml/2006/main" prst="line">
            <a:avLst/>
          </a:prstGeom>
          <a:noFill xmlns:a="http://schemas.openxmlformats.org/drawingml/2006/main"/>
          <a:ln xmlns:a="http://schemas.openxmlformats.org/drawingml/2006/main" w="10160">
            <a:solidFill>
              <a:srgbClr val="C2D2E6"/>
            </a:solidFill>
            <a:prstDash val="solid"/>
          </a:ln>
        </p:spPr>
      </p:sp>
      <p:sp>
        <p:nvSpPr>
          <p:cNvPr id="46" name="Shape 44">
            <a:extLst xmlns:a="http://schemas.openxmlformats.org/drawingml/2006/main">
              <a:ext uri="{FF2B5EF4-FFF2-40B4-BE49-F238E27FC236}">
                <a16:creationId xmlns:a16="http://schemas.microsoft.com/office/drawing/2014/main" id="{72420D5A-AF71-44C5-8F45-154FF5BDB87A}"/>
              </a:ext>
            </a:extLst>
          </p:cNvPr>
          <p:cNvSpPr>
            <a:spLocks xmlns:a="http://schemas.openxmlformats.org/drawingml/2006/main" noGrp="1"/>
          </p:cNvSpPr>
          <p:nvPr/>
        </p:nvSpPr>
        <p:spPr>
          <a:xfrm xmlns:a="http://schemas.openxmlformats.org/drawingml/2006/main">
            <a:off x="4608576" y="4526280"/>
            <a:ext cx="987552" cy="713232"/>
          </a:xfrm>
          <a:prstGeom xmlns:a="http://schemas.openxmlformats.org/drawingml/2006/main" prst="roundRect">
            <a:avLst>
              <a:gd name="adj" fmla="val 10256"/>
            </a:avLst>
          </a:prstGeom>
          <a:solidFill xmlns:a="http://schemas.openxmlformats.org/drawingml/2006/main">
            <a:srgbClr val="DDF9F5"/>
          </a:solidFill>
          <a:ln xmlns:a="http://schemas.openxmlformats.org/drawingml/2006/main" w="12700">
            <a:solidFill>
              <a:srgbClr val="27C7CF"/>
            </a:solidFill>
            <a:prstDash val="solid"/>
          </a:ln>
        </p:spPr>
      </p:sp>
      <p:sp>
        <p:nvSpPr>
          <p:cNvPr id="47" name="Text 45">
            <a:extLst xmlns:a="http://schemas.openxmlformats.org/drawingml/2006/main">
              <a:ext uri="{FF2B5EF4-FFF2-40B4-BE49-F238E27FC236}">
                <a16:creationId xmlns:a16="http://schemas.microsoft.com/office/drawing/2014/main" id="{0B355D0D-BC14-4FFC-BB4D-70E498B3784D}"/>
              </a:ext>
            </a:extLst>
          </p:cNvPr>
          <p:cNvSpPr>
            <a:spLocks xmlns:a="http://schemas.openxmlformats.org/drawingml/2006/main" noGrp="1"/>
          </p:cNvSpPr>
          <p:nvPr/>
        </p:nvSpPr>
        <p:spPr>
          <a:xfrm xmlns:a="http://schemas.openxmlformats.org/drawingml/2006/main">
            <a:off x="4663440" y="4562856"/>
            <a:ext cx="877824"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b="1">
                <a:solidFill>
                  <a:srgbClr val="1D2A3A"/>
                </a:solidFill>
                <a:latin typeface="Noto Sans CJK SC"/>
                <a:ea typeface="Noto Sans CJK SC"/>
                <a:cs typeface="Noto Sans CJK SC"/>
              </a:rPr>
              <a:t>匹配约束</a:t>
            </a:r>
          </a:p>
          <a:p xmlns:a="http://schemas.openxmlformats.org/drawingml/2006/main">
            <a:pPr marL="0" indent="0" algn="ctr">
              <a:buNone/>
            </a:pPr>
            <a:r>
              <a:rPr sz="1230" b="1">
                <a:solidFill>
                  <a:srgbClr val="1D2A3A"/>
                </a:solidFill>
                <a:latin typeface="Noto Sans CJK SC"/>
                <a:ea typeface="Noto Sans CJK SC"/>
                <a:cs typeface="Noto Sans CJK SC"/>
              </a:rPr>
              <a:t>学历与方向</a:t>
            </a:r>
          </a:p>
        </p:txBody>
      </p:sp>
      <p:sp>
        <p:nvSpPr>
          <p:cNvPr id="48" name="Shape 46">
            <a:extLst xmlns:a="http://schemas.openxmlformats.org/drawingml/2006/main">
              <a:ext uri="{FF2B5EF4-FFF2-40B4-BE49-F238E27FC236}">
                <a16:creationId xmlns:a16="http://schemas.microsoft.com/office/drawing/2014/main" id="{F8CF2C81-37F2-4F42-96CA-860624D24B84}"/>
              </a:ext>
            </a:extLst>
          </p:cNvPr>
          <p:cNvSpPr>
            <a:spLocks xmlns:a="http://schemas.openxmlformats.org/drawingml/2006/main" noGrp="1"/>
          </p:cNvSpPr>
          <p:nvPr/>
        </p:nvSpPr>
        <p:spPr>
          <a:xfrm xmlns:a="http://schemas.openxmlformats.org/drawingml/2006/main">
            <a:off x="6446520" y="3886200"/>
            <a:ext cx="4800600" cy="804672"/>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5240">
            <a:solidFill>
              <a:srgbClr val="47B881"/>
            </a:solidFill>
            <a:prstDash val="solid"/>
          </a:ln>
        </p:spPr>
      </p:sp>
      <p:sp>
        <p:nvSpPr>
          <p:cNvPr id="49" name="Text 47">
            <a:extLst xmlns:a="http://schemas.openxmlformats.org/drawingml/2006/main">
              <a:ext uri="{FF2B5EF4-FFF2-40B4-BE49-F238E27FC236}">
                <a16:creationId xmlns:a16="http://schemas.microsoft.com/office/drawing/2014/main" id="{74CE1633-D207-424F-B42A-8006EA8F2D1F}"/>
              </a:ext>
            </a:extLst>
          </p:cNvPr>
          <p:cNvSpPr>
            <a:spLocks xmlns:a="http://schemas.openxmlformats.org/drawingml/2006/main" noGrp="1"/>
          </p:cNvSpPr>
          <p:nvPr/>
        </p:nvSpPr>
        <p:spPr>
          <a:xfrm xmlns:a="http://schemas.openxmlformats.org/drawingml/2006/main">
            <a:off x="6611112" y="4005072"/>
            <a:ext cx="4471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47B881"/>
                </a:solidFill>
                <a:latin typeface="Noto Sans CJK SC"/>
                <a:ea typeface="Noto Sans CJK SC"/>
                <a:cs typeface="Noto Sans CJK SC"/>
              </a:rPr>
              <a:t>多样性控制</a:t>
            </a:r>
          </a:p>
        </p:txBody>
      </p:sp>
      <p:sp>
        <p:nvSpPr>
          <p:cNvPr id="50" name="Text 48">
            <a:extLst xmlns:a="http://schemas.openxmlformats.org/drawingml/2006/main">
              <a:ext uri="{FF2B5EF4-FFF2-40B4-BE49-F238E27FC236}">
                <a16:creationId xmlns:a16="http://schemas.microsoft.com/office/drawing/2014/main" id="{415421C3-9196-49CC-BEF4-1B99103EBBB1}"/>
              </a:ext>
            </a:extLst>
          </p:cNvPr>
          <p:cNvSpPr>
            <a:spLocks xmlns:a="http://schemas.openxmlformats.org/drawingml/2006/main" noGrp="1"/>
          </p:cNvSpPr>
          <p:nvPr/>
        </p:nvSpPr>
        <p:spPr>
          <a:xfrm xmlns:a="http://schemas.openxmlformats.org/drawingml/2006/main">
            <a:off x="6611112" y="4325112"/>
            <a:ext cx="4471416" cy="2560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25490"/>
          </a:bodyPr>
          <a:lstStyle xmlns:a="http://schemas.openxmlformats.org/drawingml/2006/main"/>
          <a:p xmlns:a="http://schemas.openxmlformats.org/drawingml/2006/main">
            <a:pPr marL="0" indent="0">
              <a:buNone/>
            </a:pPr>
            <a:r>
              <a:rPr sz="4665">
                <a:solidFill>
                  <a:srgbClr val="1D2A3A"/>
                </a:solidFill>
                <a:latin typeface="微软雅黑"/>
                <a:ea typeface="微软雅黑"/>
                <a:cs typeface="微软雅黑"/>
              </a:rPr>
              <a:t>标题归一化、岗位族配额和分数阈值共同限制同类岗位重复占位。</a:t>
            </a:r>
          </a:p>
        </p:txBody>
      </p:sp>
      <p:sp>
        <p:nvSpPr>
          <p:cNvPr id="51" name="Shape 49">
            <a:extLst xmlns:a="http://schemas.openxmlformats.org/drawingml/2006/main">
              <a:ext uri="{FF2B5EF4-FFF2-40B4-BE49-F238E27FC236}">
                <a16:creationId xmlns:a16="http://schemas.microsoft.com/office/drawing/2014/main" id="{890A199A-4631-4C12-9378-11DC632392F4}"/>
              </a:ext>
            </a:extLst>
          </p:cNvPr>
          <p:cNvSpPr>
            <a:spLocks xmlns:a="http://schemas.openxmlformats.org/drawingml/2006/main" noGrp="1"/>
          </p:cNvSpPr>
          <p:nvPr/>
        </p:nvSpPr>
        <p:spPr>
          <a:xfrm xmlns:a="http://schemas.openxmlformats.org/drawingml/2006/main">
            <a:off x="6446520" y="4892040"/>
            <a:ext cx="4800600" cy="804672"/>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5240">
            <a:solidFill>
              <a:srgbClr val="27C7CF"/>
            </a:solidFill>
            <a:prstDash val="solid"/>
          </a:ln>
        </p:spPr>
      </p:sp>
      <p:sp>
        <p:nvSpPr>
          <p:cNvPr id="52" name="Text 50">
            <a:extLst xmlns:a="http://schemas.openxmlformats.org/drawingml/2006/main">
              <a:ext uri="{FF2B5EF4-FFF2-40B4-BE49-F238E27FC236}">
                <a16:creationId xmlns:a16="http://schemas.microsoft.com/office/drawing/2014/main" id="{23EA6227-DB85-4B67-B77A-7BBD1381CACC}"/>
              </a:ext>
            </a:extLst>
          </p:cNvPr>
          <p:cNvSpPr>
            <a:spLocks xmlns:a="http://schemas.openxmlformats.org/drawingml/2006/main" noGrp="1"/>
          </p:cNvSpPr>
          <p:nvPr/>
        </p:nvSpPr>
        <p:spPr>
          <a:xfrm xmlns:a="http://schemas.openxmlformats.org/drawingml/2006/main">
            <a:off x="6611112" y="5010912"/>
            <a:ext cx="44714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7C7CF"/>
                </a:solidFill>
                <a:latin typeface="Noto Sans CJK SC"/>
                <a:ea typeface="Noto Sans CJK SC"/>
                <a:cs typeface="Noto Sans CJK SC"/>
              </a:rPr>
              <a:t>成长关联</a:t>
            </a:r>
          </a:p>
        </p:txBody>
      </p:sp>
      <p:sp>
        <p:nvSpPr>
          <p:cNvPr id="53" name="Text 51">
            <a:extLst xmlns:a="http://schemas.openxmlformats.org/drawingml/2006/main">
              <a:ext uri="{FF2B5EF4-FFF2-40B4-BE49-F238E27FC236}">
                <a16:creationId xmlns:a16="http://schemas.microsoft.com/office/drawing/2014/main" id="{174248B4-C213-42DA-9D79-221C360377E3}"/>
              </a:ext>
            </a:extLst>
          </p:cNvPr>
          <p:cNvSpPr>
            <a:spLocks xmlns:a="http://schemas.openxmlformats.org/drawingml/2006/main" noGrp="1"/>
          </p:cNvSpPr>
          <p:nvPr/>
        </p:nvSpPr>
        <p:spPr>
          <a:xfrm xmlns:a="http://schemas.openxmlformats.org/drawingml/2006/main">
            <a:off x="6611112" y="5330952"/>
            <a:ext cx="4471416" cy="25603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9459"/>
          </a:bodyPr>
          <a:lstStyle xmlns:a="http://schemas.openxmlformats.org/drawingml/2006/main"/>
          <a:p xmlns:a="http://schemas.openxmlformats.org/drawingml/2006/main">
            <a:pPr marL="0" indent="0">
              <a:buNone/>
            </a:pPr>
            <a:r>
              <a:rPr sz="4665">
                <a:solidFill>
                  <a:srgbClr val="1D2A3A"/>
                </a:solidFill>
                <a:latin typeface="微软雅黑"/>
                <a:ea typeface="微软雅黑"/>
                <a:cs typeface="微软雅黑"/>
              </a:rPr>
              <a:t>每个推荐岗位同时输出已匹配技能、待补技能、推荐理由和可按需生成的个性化路径。</a:t>
            </a:r>
          </a:p>
        </p:txBody>
      </p:sp>
    </p:spTree>
    <p:extLst>
      <p:ext uri="{BB962C8B-B14F-4D97-AF65-F5344CB8AC3E}">
        <p14:creationId xmlns:p14="http://schemas.microsoft.com/office/powerpoint/2010/main" val="139297531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d8f0e7a24065412b"/>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22BACF05-AD34-42ED-A02E-9765DAE2FA9B}"/>
              </a:ext>
            </a:extLst>
          </p:cNvPr>
          <p:cNvSpPr>
            <a:spLocks xmlns:a="http://schemas.openxmlformats.org/drawingml/2006/main" noGrp="1"/>
          </p:cNvSpPr>
          <p:nvPr/>
        </p:nvSpPr>
        <p:spPr>
          <a:xfrm xmlns:a="http://schemas.openxmlformats.org/drawingml/2006/main">
            <a:off x="0" y="3810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104862"/>
                </a:solidFill>
                <a:latin typeface="Noto Sans SC"/>
                <a:ea typeface="Noto Sans SC"/>
                <a:cs typeface="Noto Sans SC"/>
              </a:rPr>
              <a:t>02 本地召回与可解释评分</a:t>
            </a:r>
          </a:p>
        </p:txBody>
      </p:sp>
      <p:sp>
        <p:nvSpPr>
          <p:cNvPr id="4" name="AutoShape 4">
            <a:extLst xmlns:a="http://schemas.openxmlformats.org/drawingml/2006/main">
              <a:ext uri="{FF2B5EF4-FFF2-40B4-BE49-F238E27FC236}">
                <a16:creationId xmlns:a16="http://schemas.microsoft.com/office/drawing/2014/main" id="{C43E563B-74B1-4DE9-85C9-13F96E210EF5}"/>
              </a:ext>
            </a:extLst>
          </p:cNvPr>
          <p:cNvSpPr>
            <a:spLocks xmlns:a="http://schemas.openxmlformats.org/drawingml/2006/main" noGrp="1"/>
          </p:cNvSpPr>
          <p:nvPr/>
        </p:nvSpPr>
        <p:spPr>
          <a:xfrm xmlns:a="http://schemas.openxmlformats.org/drawingml/2006/main">
            <a:off x="508000" y="1397000"/>
            <a:ext cx="10985500" cy="1143000"/>
          </a:xfrm>
          <a:prstGeom xmlns:a="http://schemas.openxmlformats.org/drawingml/2006/main" prst="roundRect">
            <a:avLst>
              <a:gd name="adj" fmla="val 13333"/>
            </a:avLst>
          </a:prstGeom>
          <a:solidFill xmlns:a="http://schemas.openxmlformats.org/drawingml/2006/main">
            <a:srgbClr val="FFFFFF">
              <a:alpha val="90000"/>
            </a:srgbClr>
          </a:solidFill>
          <a:ln xmlns:a="http://schemas.openxmlformats.org/drawingml/2006/main" w="12700" cmpd="sng">
            <a:solidFill>
              <a:srgbClr val="103A6E">
                <a:alpha val="2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5" name="AutoShape 5">
            <a:extLst xmlns:a="http://schemas.openxmlformats.org/drawingml/2006/main">
              <a:ext uri="{FF2B5EF4-FFF2-40B4-BE49-F238E27FC236}">
                <a16:creationId xmlns:a16="http://schemas.microsoft.com/office/drawing/2014/main" id="{67684FBF-D05A-4B54-9584-C623B89A0D3A}"/>
              </a:ext>
            </a:extLst>
          </p:cNvPr>
          <p:cNvSpPr>
            <a:spLocks xmlns:a="http://schemas.openxmlformats.org/drawingml/2006/main" noGrp="1"/>
          </p:cNvSpPr>
          <p:nvPr/>
        </p:nvSpPr>
        <p:spPr>
          <a:xfrm xmlns:a="http://schemas.openxmlformats.org/drawingml/2006/main">
            <a:off x="698500" y="1524000"/>
            <a:ext cx="10604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800" b="1" i="0" u="none">
                <a:solidFill>
                  <a:srgbClr val="103A6E"/>
                </a:solidFill>
                <a:latin typeface="微软雅黑"/>
                <a:ea typeface="微软雅黑"/>
                <a:cs typeface="微软雅黑"/>
              </a:rPr>
              <a:t>基本思想：先用稀疏词袋向量快速缩小候选集，再用技能覆盖率、项目证据和四维画像完成规则精排。</a:t>
            </a:r>
          </a:p>
        </p:txBody>
      </p:sp>
      <p:sp>
        <p:nvSpPr>
          <p:cNvPr id="6" name="AutoShape 6">
            <a:extLst xmlns:a="http://schemas.openxmlformats.org/drawingml/2006/main">
              <a:ext uri="{FF2B5EF4-FFF2-40B4-BE49-F238E27FC236}">
                <a16:creationId xmlns:a16="http://schemas.microsoft.com/office/drawing/2014/main" id="{C788D568-491F-47B3-91CD-CE0D4D6B44C6}"/>
              </a:ext>
            </a:extLst>
          </p:cNvPr>
          <p:cNvSpPr>
            <a:spLocks xmlns:a="http://schemas.openxmlformats.org/drawingml/2006/main" noGrp="1"/>
          </p:cNvSpPr>
          <p:nvPr/>
        </p:nvSpPr>
        <p:spPr>
          <a:xfrm xmlns:a="http://schemas.openxmlformats.org/drawingml/2006/main">
            <a:off x="527050" y="2675255"/>
            <a:ext cx="7396480" cy="2205355"/>
          </a:xfrm>
          <a:prstGeom xmlns:a="http://schemas.openxmlformats.org/drawingml/2006/main" prst="roundRect">
            <a:avLst>
              <a:gd name="adj" fmla="val 6451"/>
            </a:avLst>
          </a:prstGeom>
          <a:solidFill xmlns:a="http://schemas.openxmlformats.org/drawingml/2006/main">
            <a:srgbClr val="F8FAFC">
              <a:alpha val="95000"/>
            </a:srgbClr>
          </a:solidFill>
          <a:ln xmlns:a="http://schemas.openxmlformats.org/drawingml/2006/main" w="12700" cmpd="sng">
            <a:solidFill>
              <a:srgbClr val="E2E8F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BD1778D6-5983-4A43-B969-2F4B8C61CC9A}"/>
              </a:ext>
            </a:extLst>
          </p:cNvPr>
          <p:cNvSpPr>
            <a:spLocks xmlns:a="http://schemas.openxmlformats.org/drawingml/2006/main" noGrp="1"/>
          </p:cNvSpPr>
          <p:nvPr/>
        </p:nvSpPr>
        <p:spPr>
          <a:xfrm xmlns:a="http://schemas.openxmlformats.org/drawingml/2006/main">
            <a:off x="698500" y="2794000"/>
            <a:ext cx="7205980" cy="1714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p>
        </p:txBody>
      </p:sp>
      <p:sp>
        <p:nvSpPr>
          <p:cNvPr id="9" name="AutoShape 9">
            <a:extLst xmlns:a="http://schemas.openxmlformats.org/drawingml/2006/main">
              <a:ext uri="{FF2B5EF4-FFF2-40B4-BE49-F238E27FC236}">
                <a16:creationId xmlns:a16="http://schemas.microsoft.com/office/drawing/2014/main" id="{0155A38C-1B76-40EE-ACFA-45931D1C368D}"/>
              </a:ext>
            </a:extLst>
          </p:cNvPr>
          <p:cNvSpPr>
            <a:spLocks xmlns:a="http://schemas.openxmlformats.org/drawingml/2006/main" noGrp="1"/>
          </p:cNvSpPr>
          <p:nvPr/>
        </p:nvSpPr>
        <p:spPr>
          <a:xfrm xmlns:a="http://schemas.openxmlformats.org/drawingml/2006/main">
            <a:off x="4508500" y="3253105"/>
            <a:ext cx="3238500" cy="1714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p>
        </p:txBody>
      </p:sp>
      <p:sp>
        <p:nvSpPr>
          <p:cNvPr id="10" name="AutoShape 10">
            <a:extLst xmlns:a="http://schemas.openxmlformats.org/drawingml/2006/main">
              <a:ext uri="{FF2B5EF4-FFF2-40B4-BE49-F238E27FC236}">
                <a16:creationId xmlns:a16="http://schemas.microsoft.com/office/drawing/2014/main" id="{F6E494DB-3796-431A-9636-1B019922734F}"/>
              </a:ext>
            </a:extLst>
          </p:cNvPr>
          <p:cNvSpPr>
            <a:spLocks xmlns:a="http://schemas.openxmlformats.org/drawingml/2006/main" noGrp="1"/>
          </p:cNvSpPr>
          <p:nvPr/>
        </p:nvSpPr>
        <p:spPr>
          <a:xfrm xmlns:a="http://schemas.openxmlformats.org/drawingml/2006/main">
            <a:off x="7963535" y="2676525"/>
            <a:ext cx="3492500" cy="2203450"/>
          </a:xfrm>
          <a:prstGeom xmlns:a="http://schemas.openxmlformats.org/drawingml/2006/main" prst="roundRect">
            <a:avLst>
              <a:gd name="adj" fmla="val 6451"/>
            </a:avLst>
          </a:prstGeom>
          <a:solidFill xmlns:a="http://schemas.openxmlformats.org/drawingml/2006/main">
            <a:srgbClr val="F8FAFC">
              <a:alpha val="95000"/>
            </a:srgbClr>
          </a:solidFill>
          <a:ln xmlns:a="http://schemas.openxmlformats.org/drawingml/2006/main" w="12700" cmpd="sng">
            <a:solidFill>
              <a:srgbClr val="E2E8F0">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860EA33F-6252-4735-953F-A6BD53DAB837}"/>
              </a:ext>
            </a:extLst>
          </p:cNvPr>
          <p:cNvSpPr>
            <a:spLocks xmlns:a="http://schemas.openxmlformats.org/drawingml/2006/main" noGrp="1"/>
          </p:cNvSpPr>
          <p:nvPr/>
        </p:nvSpPr>
        <p:spPr>
          <a:xfrm xmlns:a="http://schemas.openxmlformats.org/drawingml/2006/main">
            <a:off x="8165465" y="2722245"/>
            <a:ext cx="3238500" cy="2235835"/>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0000"/>
              </a:lnSpc>
              <a:buNone/>
            </a:pPr>
          </a:p>
        </p:txBody>
      </p:sp>
      <p:sp>
        <p:nvSpPr>
          <p:cNvPr id="12" name="AutoShape 12">
            <a:extLst xmlns:a="http://schemas.openxmlformats.org/drawingml/2006/main">
              <a:ext uri="{FF2B5EF4-FFF2-40B4-BE49-F238E27FC236}">
                <a16:creationId xmlns:a16="http://schemas.microsoft.com/office/drawing/2014/main" id="{F713A1BB-CD2C-4E04-B947-09FFC6BAA70D}"/>
              </a:ext>
            </a:extLst>
          </p:cNvPr>
          <p:cNvSpPr>
            <a:spLocks xmlns:a="http://schemas.openxmlformats.org/drawingml/2006/main" noGrp="1"/>
          </p:cNvSpPr>
          <p:nvPr/>
        </p:nvSpPr>
        <p:spPr>
          <a:xfrm xmlns:a="http://schemas.openxmlformats.org/drawingml/2006/main">
            <a:off x="508000" y="5143500"/>
            <a:ext cx="10985500" cy="1270000"/>
          </a:xfrm>
          <a:prstGeom xmlns:a="http://schemas.openxmlformats.org/drawingml/2006/main" prst="roundRect">
            <a:avLst>
              <a:gd name="adj" fmla="val 10909"/>
            </a:avLst>
          </a:prstGeom>
          <a:solidFill xmlns:a="http://schemas.openxmlformats.org/drawingml/2006/main">
            <a:srgbClr val="ECFDF5">
              <a:alpha val="95000"/>
            </a:srgbClr>
          </a:solidFill>
          <a:ln xmlns:a="http://schemas.openxmlformats.org/drawingml/2006/main" w="12700" cmpd="sng">
            <a:solidFill>
              <a:srgbClr val="10B981">
                <a:alpha val="3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9601CF50-5985-461C-A779-FFF5DF690E3E}"/>
              </a:ext>
            </a:extLst>
          </p:cNvPr>
          <p:cNvSpPr>
            <a:spLocks xmlns:a="http://schemas.openxmlformats.org/drawingml/2006/main" noGrp="1"/>
          </p:cNvSpPr>
          <p:nvPr/>
        </p:nvSpPr>
        <p:spPr>
          <a:xfrm xmlns:a="http://schemas.openxmlformats.org/drawingml/2006/main">
            <a:off x="698500" y="5143500"/>
            <a:ext cx="10604500" cy="1143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08000"/>
              </a:lnSpc>
              <a:buNone/>
            </a:pPr>
            <a:r>
              <a:rPr sz="1700" b="1" i="0" u="none">
                <a:solidFill>
                  <a:srgbClr val="047857"/>
                </a:solidFill>
                <a:latin typeface="微软雅黑"/>
                <a:ea typeface="微软雅黑"/>
                <a:cs typeface="微软雅黑"/>
              </a:rPr>
              <a:t>端到端流程</a:t>
            </a:r>
          </a:p>
          <a:p xmlns:a="http://schemas.openxmlformats.org/drawingml/2006/main">
            <a:pPr indent="0" algn="ctr">
              <a:lnSpc>
                <a:spcPct val="125000"/>
              </a:lnSpc>
              <a:spcBef>
                <a:spcPts val="1000"/>
              </a:spcBef>
              <a:buNone/>
            </a:pPr>
            <a:r>
              <a:rPr sz="1400" b="1" i="0" u="none">
                <a:solidFill>
                  <a:srgbClr val="1F2937"/>
                </a:solidFill>
                <a:latin typeface="Noto Sans SC"/>
                <a:ea typeface="Noto Sans SC"/>
                <a:cs typeface="Noto Sans SC"/>
              </a:rPr>
              <a:t>岗位清洗 → 稀疏向量索引 → TOP30 召回 → 本地规则评分 → TOP10 候选</a:t>
            </a:r>
          </a:p>
        </p:txBody>
      </p:sp>
      <p:sp>
        <p:nvSpPr>
          <p:cNvPr id="14" name="文本框 13">
            <a:extLst xmlns:a="http://schemas.openxmlformats.org/drawingml/2006/main">
              <a:ext uri="{FF2B5EF4-FFF2-40B4-BE49-F238E27FC236}">
                <a16:creationId xmlns:a16="http://schemas.microsoft.com/office/drawing/2014/main" id="{90EC2783-5569-4ED7-B05F-81ECB99FB8E4}"/>
              </a:ext>
            </a:extLst>
          </p:cNvPr>
          <p:cNvSpPr>
            <a:spLocks xmlns:a="http://schemas.openxmlformats.org/drawingml/2006/main" noGrp="1"/>
          </p:cNvSpPr>
          <p:nvPr/>
        </p:nvSpPr>
        <p:spPr>
          <a:xfrm xmlns:a="http://schemas.openxmlformats.org/drawingml/2006/main">
            <a:off x="527050" y="2722245"/>
            <a:ext cx="7219950" cy="231775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indent="0" algn="l">
              <a:lnSpc>
                <a:spcPct val="100000"/>
              </a:lnSpc>
              <a:buNone/>
            </a:pPr>
            <a:r>
              <a:rPr b="1">
                <a:solidFill>
                  <a:srgbClr val="103A6E"/>
                </a:solidFill>
                <a:latin typeface="微软雅黑"/>
                <a:ea typeface="微软雅黑"/>
                <a:cs typeface="微软雅黑"/>
              </a:rPr>
              <a:t>稀疏向量召回</a:t>
            </a:r>
          </a:p>
          <a:p xmlns:a="http://schemas.openxmlformats.org/drawingml/2006/main">
            <a:pPr algn="l">
              <a:lnSpc>
                <a:spcPct val="100000"/>
              </a:lnSpc>
              <a:spcBef>
                <a:spcPts val="0"/>
              </a:spcBef>
              <a:spcAft>
                <a:spcPts val="0"/>
              </a:spcAft>
              <a:buNone/>
            </a:pPr>
            <a:r>
              <a:rPr sz="1400" b="0" i="0" u="none">
                <a:solidFill>
                  <a:srgbClr val="374151"/>
                </a:solidFill>
                <a:latin typeface="Noto Sans SC"/>
                <a:ea typeface="Noto Sans SC"/>
                <a:cs typeface="Noto Sans SC"/>
              </a:rPr>
              <a:t>• 英文技术词直接保留，中文使用 n-gram 与关键词补强。</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词频权重 w(t)=1+ln(tf)，通过余弦相似度筛选候选岗位。</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索引只在岗位库变化时重建，避免每次请求重复计算。</a:t>
            </a:r>
          </a:p>
        </p:txBody>
      </p:sp>
      <p:sp>
        <p:nvSpPr>
          <p:cNvPr id="8" name="文本框 7">
            <a:extLst xmlns:a="http://schemas.openxmlformats.org/drawingml/2006/main">
              <a:ext uri="{FF2B5EF4-FFF2-40B4-BE49-F238E27FC236}">
                <a16:creationId xmlns:a16="http://schemas.microsoft.com/office/drawing/2014/main" id="{14CC11F0-05F7-4D23-B8B0-4DE809B5A12A}"/>
              </a:ext>
            </a:extLst>
          </p:cNvPr>
          <p:cNvSpPr>
            <a:spLocks xmlns:a="http://schemas.openxmlformats.org/drawingml/2006/main" noGrp="1"/>
          </p:cNvSpPr>
          <p:nvPr/>
        </p:nvSpPr>
        <p:spPr>
          <a:xfrm xmlns:a="http://schemas.openxmlformats.org/drawingml/2006/main">
            <a:off x="8018780" y="2722245"/>
            <a:ext cx="3284220" cy="1938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indent="0" algn="l">
              <a:lnSpc>
                <a:spcPct val="100000"/>
              </a:lnSpc>
              <a:buNone/>
            </a:pPr>
            <a:r>
              <a:rPr b="1">
                <a:solidFill>
                  <a:srgbClr val="103A6E"/>
                </a:solidFill>
                <a:latin typeface="微软雅黑"/>
                <a:ea typeface="微软雅黑"/>
                <a:cs typeface="微软雅黑"/>
              </a:rPr>
              <a:t>可解释规则评分</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技能覆盖 55%，项目证据 15%，四维画像 15%。</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目标方向 10%，学历适配 3%，证书适配 2%。</a:t>
            </a:r>
          </a:p>
          <a:p xmlns:a="http://schemas.openxmlformats.org/drawingml/2006/main">
            <a:pPr algn="l">
              <a:spcBef>
                <a:spcPts val="0"/>
              </a:spcBef>
              <a:spcAft>
                <a:spcPts val="0"/>
              </a:spcAft>
              <a:buNone/>
            </a:pPr>
            <a:r>
              <a:rPr sz="1400">
                <a:solidFill>
                  <a:srgbClr val="374151"/>
                </a:solidFill>
                <a:latin typeface="Noto Sans SC"/>
                <a:ea typeface="Noto Sans SC"/>
                <a:cs typeface="Noto Sans SC"/>
              </a:rPr>
              <a:t>• 每一项均可追溯到学生材料或岗位字段，便于解释和调参。</a:t>
            </a:r>
          </a:p>
        </p:txBody>
      </p:sp>
    </p:spTree>
    <p:extLst>
      <p:ext uri="{BB962C8B-B14F-4D97-AF65-F5344CB8AC3E}">
        <p14:creationId xmlns:p14="http://schemas.microsoft.com/office/powerpoint/2010/main" val="196598974"/>
      </p:ext>
    </p:extLst>
  </p:cSld>
</p:sld>
</file>

<file path=ppt/slides/slide16.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2a5eb84f1ef24121"/>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6D8E3874-B5A9-4529-B9FC-7669557B5AE5}"/>
              </a:ext>
            </a:extLst>
          </p:cNvPr>
          <p:cNvSpPr>
            <a:spLocks xmlns:a="http://schemas.openxmlformats.org/drawingml/2006/main" noGrp="1"/>
          </p:cNvSpPr>
          <p:nvPr/>
        </p:nvSpPr>
        <p:spPr>
          <a:xfrm xmlns:a="http://schemas.openxmlformats.org/drawingml/2006/main">
            <a:off x="508000" y="508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200" b="1" i="0" u="none">
                <a:solidFill>
                  <a:srgbClr val="0C3671"/>
                </a:solidFill>
                <a:latin typeface="微软雅黑"/>
                <a:ea typeface="微软雅黑"/>
                <a:cs typeface="微软雅黑"/>
              </a:rPr>
              <a:t>03 AI 精排与 MySQL 持久化缓存</a:t>
            </a:r>
          </a:p>
        </p:txBody>
      </p:sp>
      <p:sp>
        <p:nvSpPr>
          <p:cNvPr id="6" name="Shape 4">
            <a:extLst xmlns:a="http://schemas.openxmlformats.org/drawingml/2006/main">
              <a:ext uri="{FF2B5EF4-FFF2-40B4-BE49-F238E27FC236}">
                <a16:creationId xmlns:a16="http://schemas.microsoft.com/office/drawing/2014/main" id="{AAF567E3-F7A1-43C0-8BDF-42B89E70F24A}"/>
              </a:ext>
            </a:extLst>
          </p:cNvPr>
          <p:cNvSpPr>
            <a:spLocks xmlns:a="http://schemas.openxmlformats.org/drawingml/2006/main" noGrp="1"/>
          </p:cNvSpPr>
          <p:nvPr/>
        </p:nvSpPr>
        <p:spPr>
          <a:xfrm xmlns:a="http://schemas.openxmlformats.org/drawingml/2006/main">
            <a:off x="640080" y="1444752"/>
            <a:ext cx="5257800" cy="438912"/>
          </a:xfrm>
          <a:prstGeom xmlns:a="http://schemas.openxmlformats.org/drawingml/2006/main" prst="roundRect">
            <a:avLst>
              <a:gd name="adj" fmla="val 25000"/>
            </a:avLst>
          </a:prstGeom>
          <a:solidFill xmlns:a="http://schemas.openxmlformats.org/drawingml/2006/main">
            <a:srgbClr val="113B7A"/>
          </a:solidFill>
          <a:ln xmlns:a="http://schemas.openxmlformats.org/drawingml/2006/main" w="12700">
            <a:solidFill>
              <a:srgbClr val="113B7A"/>
            </a:solidFill>
            <a:prstDash val="solid"/>
          </a:ln>
        </p:spPr>
      </p:sp>
      <p:sp>
        <p:nvSpPr>
          <p:cNvPr id="7" name="Text 5">
            <a:extLst xmlns:a="http://schemas.openxmlformats.org/drawingml/2006/main">
              <a:ext uri="{FF2B5EF4-FFF2-40B4-BE49-F238E27FC236}">
                <a16:creationId xmlns:a16="http://schemas.microsoft.com/office/drawing/2014/main" id="{800A1613-AA60-4466-A947-68F74DCB4BDC}"/>
              </a:ext>
            </a:extLst>
          </p:cNvPr>
          <p:cNvSpPr>
            <a:spLocks xmlns:a="http://schemas.openxmlformats.org/drawingml/2006/main" noGrp="1"/>
          </p:cNvSpPr>
          <p:nvPr/>
        </p:nvSpPr>
        <p:spPr>
          <a:xfrm xmlns:a="http://schemas.openxmlformats.org/drawingml/2006/main">
            <a:off x="713232" y="1472184"/>
            <a:ext cx="5111496"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双向 AI 精排</a:t>
            </a:r>
          </a:p>
        </p:txBody>
      </p:sp>
      <p:sp>
        <p:nvSpPr>
          <p:cNvPr id="8" name="Shape 6">
            <a:extLst xmlns:a="http://schemas.openxmlformats.org/drawingml/2006/main">
              <a:ext uri="{FF2B5EF4-FFF2-40B4-BE49-F238E27FC236}">
                <a16:creationId xmlns:a16="http://schemas.microsoft.com/office/drawing/2014/main" id="{0C9E322F-CB09-4106-83E7-C341AD80B3B0}"/>
              </a:ext>
            </a:extLst>
          </p:cNvPr>
          <p:cNvSpPr>
            <a:spLocks xmlns:a="http://schemas.openxmlformats.org/drawingml/2006/main" noGrp="1"/>
          </p:cNvSpPr>
          <p:nvPr/>
        </p:nvSpPr>
        <p:spPr>
          <a:xfrm xmlns:a="http://schemas.openxmlformats.org/drawingml/2006/main">
            <a:off x="731520" y="2057400"/>
            <a:ext cx="914400" cy="713232"/>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2700">
            <a:solidFill>
              <a:srgbClr val="9BB3CF"/>
            </a:solidFill>
            <a:prstDash val="solid"/>
          </a:ln>
        </p:spPr>
      </p:sp>
      <p:sp>
        <p:nvSpPr>
          <p:cNvPr id="9" name="Text 7">
            <a:extLst xmlns:a="http://schemas.openxmlformats.org/drawingml/2006/main">
              <a:ext uri="{FF2B5EF4-FFF2-40B4-BE49-F238E27FC236}">
                <a16:creationId xmlns:a16="http://schemas.microsoft.com/office/drawing/2014/main" id="{E1913A12-C01F-4514-AEA6-B3C9B4FAC3E5}"/>
              </a:ext>
            </a:extLst>
          </p:cNvPr>
          <p:cNvSpPr>
            <a:spLocks xmlns:a="http://schemas.openxmlformats.org/drawingml/2006/main" noGrp="1"/>
          </p:cNvSpPr>
          <p:nvPr/>
        </p:nvSpPr>
        <p:spPr>
          <a:xfrm xmlns:a="http://schemas.openxmlformats.org/drawingml/2006/main">
            <a:off x="786384"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TOP10</a:t>
            </a:r>
          </a:p>
          <a:p xmlns:a="http://schemas.openxmlformats.org/drawingml/2006/main">
            <a:pPr marL="0" algn="ctr">
              <a:buNone/>
            </a:pPr>
            <a:r>
              <a:rPr sz="1230" b="1">
                <a:solidFill>
                  <a:srgbClr val="1D2A3A"/>
                </a:solidFill>
                <a:latin typeface="华文宋体"/>
                <a:ea typeface="华文宋体"/>
                <a:cs typeface="华文宋体"/>
              </a:rPr>
              <a:t>本地候选</a:t>
            </a:r>
          </a:p>
        </p:txBody>
      </p:sp>
      <p:sp>
        <p:nvSpPr>
          <p:cNvPr id="10" name="Shape 8">
            <a:extLst xmlns:a="http://schemas.openxmlformats.org/drawingml/2006/main">
              <a:ext uri="{FF2B5EF4-FFF2-40B4-BE49-F238E27FC236}">
                <a16:creationId xmlns:a16="http://schemas.microsoft.com/office/drawing/2014/main" id="{FA3D1C75-54B4-4FE1-BC80-888ED3322F45}"/>
              </a:ext>
            </a:extLst>
          </p:cNvPr>
          <p:cNvSpPr>
            <a:spLocks xmlns:a="http://schemas.openxmlformats.org/drawingml/2006/main" noGrp="1"/>
          </p:cNvSpPr>
          <p:nvPr/>
        </p:nvSpPr>
        <p:spPr>
          <a:xfrm xmlns:a="http://schemas.openxmlformats.org/drawingml/2006/main">
            <a:off x="1664208" y="2414016"/>
            <a:ext cx="118872"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11" name="Shape 9">
            <a:extLst xmlns:a="http://schemas.openxmlformats.org/drawingml/2006/main">
              <a:ext uri="{FF2B5EF4-FFF2-40B4-BE49-F238E27FC236}">
                <a16:creationId xmlns:a16="http://schemas.microsoft.com/office/drawing/2014/main" id="{8EA37EA6-6811-4F46-9694-FFE931170A53}"/>
              </a:ext>
            </a:extLst>
          </p:cNvPr>
          <p:cNvSpPr>
            <a:spLocks xmlns:a="http://schemas.openxmlformats.org/drawingml/2006/main" noGrp="1"/>
          </p:cNvSpPr>
          <p:nvPr/>
        </p:nvSpPr>
        <p:spPr>
          <a:xfrm xmlns:a="http://schemas.openxmlformats.org/drawingml/2006/main">
            <a:off x="1801368" y="2057400"/>
            <a:ext cx="914400" cy="713232"/>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2700">
            <a:solidFill>
              <a:srgbClr val="9BB3CF"/>
            </a:solidFill>
            <a:prstDash val="solid"/>
          </a:ln>
        </p:spPr>
      </p:sp>
      <p:sp>
        <p:nvSpPr>
          <p:cNvPr id="12" name="Text 10">
            <a:extLst xmlns:a="http://schemas.openxmlformats.org/drawingml/2006/main">
              <a:ext uri="{FF2B5EF4-FFF2-40B4-BE49-F238E27FC236}">
                <a16:creationId xmlns:a16="http://schemas.microsoft.com/office/drawing/2014/main" id="{B40964CA-0154-43C1-B2B7-2CFB8B50A798}"/>
              </a:ext>
            </a:extLst>
          </p:cNvPr>
          <p:cNvSpPr>
            <a:spLocks xmlns:a="http://schemas.openxmlformats.org/drawingml/2006/main" noGrp="1"/>
          </p:cNvSpPr>
          <p:nvPr/>
        </p:nvSpPr>
        <p:spPr>
          <a:xfrm xmlns:a="http://schemas.openxmlformats.org/drawingml/2006/main">
            <a:off x="1856232"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学生→岗位</a:t>
            </a:r>
          </a:p>
          <a:p xmlns:a="http://schemas.openxmlformats.org/drawingml/2006/main">
            <a:pPr marL="0" algn="ctr">
              <a:buNone/>
            </a:pPr>
            <a:r>
              <a:rPr sz="1230" b="1">
                <a:solidFill>
                  <a:srgbClr val="1D2A3A"/>
                </a:solidFill>
                <a:latin typeface="华文宋体"/>
                <a:ea typeface="华文宋体"/>
                <a:cs typeface="华文宋体"/>
              </a:rPr>
              <a:t>当前适岗度</a:t>
            </a:r>
          </a:p>
        </p:txBody>
      </p:sp>
      <p:sp>
        <p:nvSpPr>
          <p:cNvPr id="13" name="Shape 11">
            <a:extLst xmlns:a="http://schemas.openxmlformats.org/drawingml/2006/main">
              <a:ext uri="{FF2B5EF4-FFF2-40B4-BE49-F238E27FC236}">
                <a16:creationId xmlns:a16="http://schemas.microsoft.com/office/drawing/2014/main" id="{8CB3C06C-0A42-4569-9304-D688503C9AEE}"/>
              </a:ext>
            </a:extLst>
          </p:cNvPr>
          <p:cNvSpPr>
            <a:spLocks xmlns:a="http://schemas.openxmlformats.org/drawingml/2006/main" noGrp="1"/>
          </p:cNvSpPr>
          <p:nvPr/>
        </p:nvSpPr>
        <p:spPr>
          <a:xfrm xmlns:a="http://schemas.openxmlformats.org/drawingml/2006/main">
            <a:off x="2734056" y="2414016"/>
            <a:ext cx="118872"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14" name="Shape 12">
            <a:extLst xmlns:a="http://schemas.openxmlformats.org/drawingml/2006/main">
              <a:ext uri="{FF2B5EF4-FFF2-40B4-BE49-F238E27FC236}">
                <a16:creationId xmlns:a16="http://schemas.microsoft.com/office/drawing/2014/main" id="{D0C8DCD6-4FBA-4F1D-AE28-B07F9E98DA20}"/>
              </a:ext>
            </a:extLst>
          </p:cNvPr>
          <p:cNvSpPr>
            <a:spLocks xmlns:a="http://schemas.openxmlformats.org/drawingml/2006/main" noGrp="1"/>
          </p:cNvSpPr>
          <p:nvPr/>
        </p:nvSpPr>
        <p:spPr>
          <a:xfrm xmlns:a="http://schemas.openxmlformats.org/drawingml/2006/main">
            <a:off x="2871216" y="2057400"/>
            <a:ext cx="914400" cy="713232"/>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2700">
            <a:solidFill>
              <a:srgbClr val="9BB3CF"/>
            </a:solidFill>
            <a:prstDash val="solid"/>
          </a:ln>
        </p:spPr>
      </p:sp>
      <p:sp>
        <p:nvSpPr>
          <p:cNvPr id="15" name="Text 13">
            <a:extLst xmlns:a="http://schemas.openxmlformats.org/drawingml/2006/main">
              <a:ext uri="{FF2B5EF4-FFF2-40B4-BE49-F238E27FC236}">
                <a16:creationId xmlns:a16="http://schemas.microsoft.com/office/drawing/2014/main" id="{8AB12E46-5899-4E50-8EDA-CD354ECD135F}"/>
              </a:ext>
            </a:extLst>
          </p:cNvPr>
          <p:cNvSpPr>
            <a:spLocks xmlns:a="http://schemas.openxmlformats.org/drawingml/2006/main" noGrp="1"/>
          </p:cNvSpPr>
          <p:nvPr/>
        </p:nvSpPr>
        <p:spPr>
          <a:xfrm xmlns:a="http://schemas.openxmlformats.org/drawingml/2006/main">
            <a:off x="2926080"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岗位→学生</a:t>
            </a:r>
          </a:p>
          <a:p xmlns:a="http://schemas.openxmlformats.org/drawingml/2006/main">
            <a:pPr marL="0" algn="ctr">
              <a:buNone/>
            </a:pPr>
            <a:r>
              <a:rPr sz="1230" b="1">
                <a:solidFill>
                  <a:srgbClr val="1D2A3A"/>
                </a:solidFill>
                <a:latin typeface="华文宋体"/>
                <a:ea typeface="华文宋体"/>
                <a:cs typeface="华文宋体"/>
              </a:rPr>
              <a:t>成长适生度</a:t>
            </a:r>
          </a:p>
        </p:txBody>
      </p:sp>
      <p:sp>
        <p:nvSpPr>
          <p:cNvPr id="16" name="Shape 14">
            <a:extLst xmlns:a="http://schemas.openxmlformats.org/drawingml/2006/main">
              <a:ext uri="{FF2B5EF4-FFF2-40B4-BE49-F238E27FC236}">
                <a16:creationId xmlns:a16="http://schemas.microsoft.com/office/drawing/2014/main" id="{FCEDC04D-7F25-4D44-BDEF-2CBCAB95D99D}"/>
              </a:ext>
            </a:extLst>
          </p:cNvPr>
          <p:cNvSpPr>
            <a:spLocks xmlns:a="http://schemas.openxmlformats.org/drawingml/2006/main" noGrp="1"/>
          </p:cNvSpPr>
          <p:nvPr/>
        </p:nvSpPr>
        <p:spPr>
          <a:xfrm xmlns:a="http://schemas.openxmlformats.org/drawingml/2006/main">
            <a:off x="3803904" y="2414016"/>
            <a:ext cx="118872"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17" name="Shape 15">
            <a:extLst xmlns:a="http://schemas.openxmlformats.org/drawingml/2006/main">
              <a:ext uri="{FF2B5EF4-FFF2-40B4-BE49-F238E27FC236}">
                <a16:creationId xmlns:a16="http://schemas.microsoft.com/office/drawing/2014/main" id="{A9D67B6A-DF5F-4235-B671-E2383E582F1E}"/>
              </a:ext>
            </a:extLst>
          </p:cNvPr>
          <p:cNvSpPr>
            <a:spLocks xmlns:a="http://schemas.openxmlformats.org/drawingml/2006/main" noGrp="1"/>
          </p:cNvSpPr>
          <p:nvPr/>
        </p:nvSpPr>
        <p:spPr>
          <a:xfrm xmlns:a="http://schemas.openxmlformats.org/drawingml/2006/main">
            <a:off x="3941064" y="2057400"/>
            <a:ext cx="914400" cy="713232"/>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2700">
            <a:solidFill>
              <a:srgbClr val="9BB3CF"/>
            </a:solidFill>
            <a:prstDash val="solid"/>
          </a:ln>
        </p:spPr>
      </p:sp>
      <p:sp>
        <p:nvSpPr>
          <p:cNvPr id="18" name="Text 16">
            <a:extLst xmlns:a="http://schemas.openxmlformats.org/drawingml/2006/main">
              <a:ext uri="{FF2B5EF4-FFF2-40B4-BE49-F238E27FC236}">
                <a16:creationId xmlns:a16="http://schemas.microsoft.com/office/drawing/2014/main" id="{EA4A0651-4D76-4411-9D09-C7A0AC35829F}"/>
              </a:ext>
            </a:extLst>
          </p:cNvPr>
          <p:cNvSpPr>
            <a:spLocks xmlns:a="http://schemas.openxmlformats.org/drawingml/2006/main" noGrp="1"/>
          </p:cNvSpPr>
          <p:nvPr/>
        </p:nvSpPr>
        <p:spPr>
          <a:xfrm xmlns:a="http://schemas.openxmlformats.org/drawingml/2006/main">
            <a:off x="3995928"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加权合成</a:t>
            </a:r>
          </a:p>
          <a:p xmlns:a="http://schemas.openxmlformats.org/drawingml/2006/main">
            <a:pPr marL="0" algn="ctr">
              <a:buNone/>
            </a:pPr>
            <a:r>
              <a:rPr sz="1230" b="1">
                <a:solidFill>
                  <a:srgbClr val="1D2A3A"/>
                </a:solidFill>
                <a:latin typeface="华文宋体"/>
                <a:ea typeface="华文宋体"/>
                <a:cs typeface="华文宋体"/>
              </a:rPr>
              <a:t>60% + 40%</a:t>
            </a:r>
          </a:p>
        </p:txBody>
      </p:sp>
      <p:sp>
        <p:nvSpPr>
          <p:cNvPr id="19" name="Shape 17">
            <a:extLst xmlns:a="http://schemas.openxmlformats.org/drawingml/2006/main">
              <a:ext uri="{FF2B5EF4-FFF2-40B4-BE49-F238E27FC236}">
                <a16:creationId xmlns:a16="http://schemas.microsoft.com/office/drawing/2014/main" id="{B2722BAA-8BB7-4007-95BC-5C30B7447E39}"/>
              </a:ext>
            </a:extLst>
          </p:cNvPr>
          <p:cNvSpPr>
            <a:spLocks xmlns:a="http://schemas.openxmlformats.org/drawingml/2006/main" noGrp="1"/>
          </p:cNvSpPr>
          <p:nvPr/>
        </p:nvSpPr>
        <p:spPr>
          <a:xfrm xmlns:a="http://schemas.openxmlformats.org/drawingml/2006/main">
            <a:off x="4873752" y="2414016"/>
            <a:ext cx="118872"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20" name="Shape 18">
            <a:extLst xmlns:a="http://schemas.openxmlformats.org/drawingml/2006/main">
              <a:ext uri="{FF2B5EF4-FFF2-40B4-BE49-F238E27FC236}">
                <a16:creationId xmlns:a16="http://schemas.microsoft.com/office/drawing/2014/main" id="{7415DD32-58A7-43B1-B4E1-6373EF2792FB}"/>
              </a:ext>
            </a:extLst>
          </p:cNvPr>
          <p:cNvSpPr>
            <a:spLocks xmlns:a="http://schemas.openxmlformats.org/drawingml/2006/main" noGrp="1"/>
          </p:cNvSpPr>
          <p:nvPr/>
        </p:nvSpPr>
        <p:spPr>
          <a:xfrm xmlns:a="http://schemas.openxmlformats.org/drawingml/2006/main">
            <a:off x="5010912" y="2057400"/>
            <a:ext cx="914400" cy="713232"/>
          </a:xfrm>
          <a:prstGeom xmlns:a="http://schemas.openxmlformats.org/drawingml/2006/main" prst="roundRect">
            <a:avLst>
              <a:gd name="adj" fmla="val 10256"/>
            </a:avLst>
          </a:prstGeom>
          <a:solidFill xmlns:a="http://schemas.openxmlformats.org/drawingml/2006/main">
            <a:srgbClr val="DDF9F5"/>
          </a:solidFill>
          <a:ln xmlns:a="http://schemas.openxmlformats.org/drawingml/2006/main" w="12700">
            <a:solidFill>
              <a:srgbClr val="27C7CF"/>
            </a:solidFill>
            <a:prstDash val="solid"/>
          </a:ln>
        </p:spPr>
      </p:sp>
      <p:sp>
        <p:nvSpPr>
          <p:cNvPr id="21" name="Text 19">
            <a:extLst xmlns:a="http://schemas.openxmlformats.org/drawingml/2006/main">
              <a:ext uri="{FF2B5EF4-FFF2-40B4-BE49-F238E27FC236}">
                <a16:creationId xmlns:a16="http://schemas.microsoft.com/office/drawing/2014/main" id="{D1D4F8B3-6272-4151-A50E-BBA32AAC52D2}"/>
              </a:ext>
            </a:extLst>
          </p:cNvPr>
          <p:cNvSpPr>
            <a:spLocks xmlns:a="http://schemas.openxmlformats.org/drawingml/2006/main" noGrp="1"/>
          </p:cNvSpPr>
          <p:nvPr/>
        </p:nvSpPr>
        <p:spPr>
          <a:xfrm xmlns:a="http://schemas.openxmlformats.org/drawingml/2006/main">
            <a:off x="5065776" y="2093976"/>
            <a:ext cx="804672" cy="6400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b="1">
                <a:solidFill>
                  <a:srgbClr val="1D2A3A"/>
                </a:solidFill>
                <a:latin typeface="华文宋体"/>
                <a:ea typeface="华文宋体"/>
                <a:cs typeface="华文宋体"/>
              </a:rPr>
              <a:t>TOP5</a:t>
            </a:r>
          </a:p>
          <a:p xmlns:a="http://schemas.openxmlformats.org/drawingml/2006/main">
            <a:pPr marL="0" indent="0" algn="ctr">
              <a:buNone/>
            </a:pPr>
            <a:r>
              <a:rPr sz="1230" b="1">
                <a:solidFill>
                  <a:srgbClr val="1D2A3A"/>
                </a:solidFill>
                <a:latin typeface="华文宋体"/>
                <a:ea typeface="华文宋体"/>
                <a:cs typeface="华文宋体"/>
              </a:rPr>
              <a:t>最终推荐</a:t>
            </a:r>
          </a:p>
        </p:txBody>
      </p:sp>
      <p:sp>
        <p:nvSpPr>
          <p:cNvPr id="23" name="Shape 21">
            <a:extLst xmlns:a="http://schemas.openxmlformats.org/drawingml/2006/main">
              <a:ext uri="{FF2B5EF4-FFF2-40B4-BE49-F238E27FC236}">
                <a16:creationId xmlns:a16="http://schemas.microsoft.com/office/drawing/2014/main" id="{C7582444-2309-47D6-92A3-A9DFC465F069}"/>
              </a:ext>
            </a:extLst>
          </p:cNvPr>
          <p:cNvSpPr>
            <a:spLocks xmlns:a="http://schemas.openxmlformats.org/drawingml/2006/main" noGrp="1"/>
          </p:cNvSpPr>
          <p:nvPr/>
        </p:nvSpPr>
        <p:spPr>
          <a:xfrm xmlns:a="http://schemas.openxmlformats.org/drawingml/2006/main">
            <a:off x="6400800" y="1444752"/>
            <a:ext cx="5166360" cy="438912"/>
          </a:xfrm>
          <a:prstGeom xmlns:a="http://schemas.openxmlformats.org/drawingml/2006/main" prst="roundRect">
            <a:avLst>
              <a:gd name="adj" fmla="val 25000"/>
            </a:avLst>
          </a:prstGeom>
          <a:solidFill xmlns:a="http://schemas.openxmlformats.org/drawingml/2006/main">
            <a:srgbClr val="47B881"/>
          </a:solidFill>
          <a:ln xmlns:a="http://schemas.openxmlformats.org/drawingml/2006/main" w="12700">
            <a:solidFill>
              <a:srgbClr val="47B881"/>
            </a:solidFill>
            <a:prstDash val="solid"/>
          </a:ln>
        </p:spPr>
      </p:sp>
      <p:sp>
        <p:nvSpPr>
          <p:cNvPr id="24" name="Text 22">
            <a:extLst xmlns:a="http://schemas.openxmlformats.org/drawingml/2006/main">
              <a:ext uri="{FF2B5EF4-FFF2-40B4-BE49-F238E27FC236}">
                <a16:creationId xmlns:a16="http://schemas.microsoft.com/office/drawing/2014/main" id="{593E97E3-D0DE-4E4B-BC59-60D7C02B464A}"/>
              </a:ext>
            </a:extLst>
          </p:cNvPr>
          <p:cNvSpPr>
            <a:spLocks xmlns:a="http://schemas.openxmlformats.org/drawingml/2006/main" noGrp="1"/>
          </p:cNvSpPr>
          <p:nvPr/>
        </p:nvSpPr>
        <p:spPr>
          <a:xfrm xmlns:a="http://schemas.openxmlformats.org/drawingml/2006/main">
            <a:off x="6473952" y="1472184"/>
            <a:ext cx="5020056" cy="384048"/>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lgn="ctr">
              <a:buNone/>
            </a:pPr>
            <a:r>
              <a:rPr sz="1600" b="1">
                <a:solidFill>
                  <a:srgbClr val="FFFFFF"/>
                </a:solidFill>
                <a:latin typeface="Noto Sans CJK SC"/>
                <a:ea typeface="Noto Sans CJK SC"/>
                <a:cs typeface="Noto Sans CJK SC"/>
              </a:rPr>
              <a:t>缓存键与复用</a:t>
            </a:r>
          </a:p>
        </p:txBody>
      </p:sp>
      <p:sp>
        <p:nvSpPr>
          <p:cNvPr id="25" name="Shape 23">
            <a:extLst xmlns:a="http://schemas.openxmlformats.org/drawingml/2006/main">
              <a:ext uri="{FF2B5EF4-FFF2-40B4-BE49-F238E27FC236}">
                <a16:creationId xmlns:a16="http://schemas.microsoft.com/office/drawing/2014/main" id="{36E9F337-CEB8-42B6-A080-E6E08D634819}"/>
              </a:ext>
            </a:extLst>
          </p:cNvPr>
          <p:cNvSpPr>
            <a:spLocks xmlns:a="http://schemas.openxmlformats.org/drawingml/2006/main" noGrp="1"/>
          </p:cNvSpPr>
          <p:nvPr/>
        </p:nvSpPr>
        <p:spPr>
          <a:xfrm xmlns:a="http://schemas.openxmlformats.org/drawingml/2006/main">
            <a:off x="6473952" y="2057400"/>
            <a:ext cx="859536" cy="749808"/>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700">
            <a:solidFill>
              <a:srgbClr val="9BB3CF"/>
            </a:solidFill>
            <a:prstDash val="solid"/>
          </a:ln>
        </p:spPr>
      </p:sp>
      <p:sp>
        <p:nvSpPr>
          <p:cNvPr id="26" name="Text 24">
            <a:extLst xmlns:a="http://schemas.openxmlformats.org/drawingml/2006/main">
              <a:ext uri="{FF2B5EF4-FFF2-40B4-BE49-F238E27FC236}">
                <a16:creationId xmlns:a16="http://schemas.microsoft.com/office/drawing/2014/main" id="{3AC3F546-AEFD-44E4-AF59-FDF6A1DF4B9F}"/>
              </a:ext>
            </a:extLst>
          </p:cNvPr>
          <p:cNvSpPr>
            <a:spLocks xmlns:a="http://schemas.openxmlformats.org/drawingml/2006/main" noGrp="1"/>
          </p:cNvSpPr>
          <p:nvPr/>
        </p:nvSpPr>
        <p:spPr>
          <a:xfrm xmlns:a="http://schemas.openxmlformats.org/drawingml/2006/main">
            <a:off x="6528816"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b="1">
                <a:solidFill>
                  <a:srgbClr val="1D2A3A"/>
                </a:solidFill>
                <a:latin typeface="华文宋体"/>
                <a:ea typeface="华文宋体"/>
                <a:cs typeface="华文宋体"/>
              </a:rPr>
              <a:t>诊断记录</a:t>
            </a:r>
          </a:p>
          <a:p xmlns:a="http://schemas.openxmlformats.org/drawingml/2006/main">
            <a:pPr marL="0" indent="0" algn="ctr">
              <a:buNone/>
            </a:pPr>
            <a:r>
              <a:rPr sz="1230" b="1">
                <a:solidFill>
                  <a:srgbClr val="1D2A3A"/>
                </a:solidFill>
                <a:latin typeface="华文宋体"/>
                <a:ea typeface="华文宋体"/>
                <a:cs typeface="华文宋体"/>
              </a:rPr>
              <a:t>ID</a:t>
            </a:r>
          </a:p>
        </p:txBody>
      </p:sp>
      <p:sp>
        <p:nvSpPr>
          <p:cNvPr id="27" name="Shape 25">
            <a:extLst xmlns:a="http://schemas.openxmlformats.org/drawingml/2006/main">
              <a:ext uri="{FF2B5EF4-FFF2-40B4-BE49-F238E27FC236}">
                <a16:creationId xmlns:a16="http://schemas.microsoft.com/office/drawing/2014/main" id="{20A3035F-8FE1-4631-B0F0-85C97D4C4CD5}"/>
              </a:ext>
            </a:extLst>
          </p:cNvPr>
          <p:cNvSpPr>
            <a:spLocks xmlns:a="http://schemas.openxmlformats.org/drawingml/2006/main" noGrp="1"/>
          </p:cNvSpPr>
          <p:nvPr/>
        </p:nvSpPr>
        <p:spPr>
          <a:xfrm xmlns:a="http://schemas.openxmlformats.org/drawingml/2006/main">
            <a:off x="7351776" y="2432304"/>
            <a:ext cx="91440"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28" name="Shape 26">
            <a:extLst xmlns:a="http://schemas.openxmlformats.org/drawingml/2006/main">
              <a:ext uri="{FF2B5EF4-FFF2-40B4-BE49-F238E27FC236}">
                <a16:creationId xmlns:a16="http://schemas.microsoft.com/office/drawing/2014/main" id="{FC091951-74CF-45D0-ACEE-96CA337FFDF0}"/>
              </a:ext>
            </a:extLst>
          </p:cNvPr>
          <p:cNvSpPr>
            <a:spLocks xmlns:a="http://schemas.openxmlformats.org/drawingml/2006/main" noGrp="1"/>
          </p:cNvSpPr>
          <p:nvPr/>
        </p:nvSpPr>
        <p:spPr>
          <a:xfrm xmlns:a="http://schemas.openxmlformats.org/drawingml/2006/main">
            <a:off x="7461504" y="2057400"/>
            <a:ext cx="859536" cy="749808"/>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700">
            <a:solidFill>
              <a:srgbClr val="9BB3CF"/>
            </a:solidFill>
            <a:prstDash val="solid"/>
          </a:ln>
        </p:spPr>
      </p:sp>
      <p:sp>
        <p:nvSpPr>
          <p:cNvPr id="29" name="Text 27">
            <a:extLst xmlns:a="http://schemas.openxmlformats.org/drawingml/2006/main">
              <a:ext uri="{FF2B5EF4-FFF2-40B4-BE49-F238E27FC236}">
                <a16:creationId xmlns:a16="http://schemas.microsoft.com/office/drawing/2014/main" id="{6378ED50-309C-4721-B709-01CDD60462B4}"/>
              </a:ext>
            </a:extLst>
          </p:cNvPr>
          <p:cNvSpPr>
            <a:spLocks xmlns:a="http://schemas.openxmlformats.org/drawingml/2006/main" noGrp="1"/>
          </p:cNvSpPr>
          <p:nvPr/>
        </p:nvSpPr>
        <p:spPr>
          <a:xfrm xmlns:a="http://schemas.openxmlformats.org/drawingml/2006/main">
            <a:off x="7516368"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lnSpcReduction="20000"/>
          </a:bodyPr>
          <a:lstStyle xmlns:a="http://schemas.openxmlformats.org/drawingml/2006/main"/>
          <a:p xmlns:a="http://schemas.openxmlformats.org/drawingml/2006/main">
            <a:pPr marL="0" indent="0" algn="ctr">
              <a:buNone/>
            </a:pPr>
            <a:r>
              <a:rPr sz="1230" b="1">
                <a:solidFill>
                  <a:srgbClr val="1D2A3A"/>
                </a:solidFill>
                <a:latin typeface="华文宋体"/>
                <a:ea typeface="华文宋体"/>
                <a:cs typeface="华文宋体"/>
              </a:rPr>
              <a:t>岗位库</a:t>
            </a:r>
          </a:p>
          <a:p xmlns:a="http://schemas.openxmlformats.org/drawingml/2006/main">
            <a:pPr marL="0" algn="ctr">
              <a:buNone/>
            </a:pPr>
            <a:r>
              <a:rPr sz="1230" b="1">
                <a:solidFill>
                  <a:srgbClr val="1D2A3A"/>
                </a:solidFill>
                <a:latin typeface="华文宋体"/>
                <a:ea typeface="华文宋体"/>
                <a:cs typeface="华文宋体"/>
              </a:rPr>
              <a:t>版本</a:t>
            </a:r>
          </a:p>
        </p:txBody>
      </p:sp>
      <p:sp>
        <p:nvSpPr>
          <p:cNvPr id="30" name="Shape 28">
            <a:extLst xmlns:a="http://schemas.openxmlformats.org/drawingml/2006/main">
              <a:ext uri="{FF2B5EF4-FFF2-40B4-BE49-F238E27FC236}">
                <a16:creationId xmlns:a16="http://schemas.microsoft.com/office/drawing/2014/main" id="{A78AA03C-A2AD-4750-B0A1-2EE5523FEBFD}"/>
              </a:ext>
            </a:extLst>
          </p:cNvPr>
          <p:cNvSpPr>
            <a:spLocks xmlns:a="http://schemas.openxmlformats.org/drawingml/2006/main" noGrp="1"/>
          </p:cNvSpPr>
          <p:nvPr/>
        </p:nvSpPr>
        <p:spPr>
          <a:xfrm xmlns:a="http://schemas.openxmlformats.org/drawingml/2006/main">
            <a:off x="8339328" y="2432304"/>
            <a:ext cx="91440"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31" name="Shape 29">
            <a:extLst xmlns:a="http://schemas.openxmlformats.org/drawingml/2006/main">
              <a:ext uri="{FF2B5EF4-FFF2-40B4-BE49-F238E27FC236}">
                <a16:creationId xmlns:a16="http://schemas.microsoft.com/office/drawing/2014/main" id="{4CD1161A-59AE-4330-9C23-D5D9FB7006DD}"/>
              </a:ext>
            </a:extLst>
          </p:cNvPr>
          <p:cNvSpPr>
            <a:spLocks xmlns:a="http://schemas.openxmlformats.org/drawingml/2006/main" noGrp="1"/>
          </p:cNvSpPr>
          <p:nvPr/>
        </p:nvSpPr>
        <p:spPr>
          <a:xfrm xmlns:a="http://schemas.openxmlformats.org/drawingml/2006/main">
            <a:off x="8449056" y="2057400"/>
            <a:ext cx="859536" cy="749808"/>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700">
            <a:solidFill>
              <a:srgbClr val="9BB3CF"/>
            </a:solidFill>
            <a:prstDash val="solid"/>
          </a:ln>
        </p:spPr>
      </p:sp>
      <p:sp>
        <p:nvSpPr>
          <p:cNvPr id="32" name="Text 30">
            <a:extLst xmlns:a="http://schemas.openxmlformats.org/drawingml/2006/main">
              <a:ext uri="{FF2B5EF4-FFF2-40B4-BE49-F238E27FC236}">
                <a16:creationId xmlns:a16="http://schemas.microsoft.com/office/drawing/2014/main" id="{BFA417CE-B1BC-4E23-B4D9-1750B86C6477}"/>
              </a:ext>
            </a:extLst>
          </p:cNvPr>
          <p:cNvSpPr>
            <a:spLocks xmlns:a="http://schemas.openxmlformats.org/drawingml/2006/main" noGrp="1"/>
          </p:cNvSpPr>
          <p:nvPr/>
        </p:nvSpPr>
        <p:spPr>
          <a:xfrm xmlns:a="http://schemas.openxmlformats.org/drawingml/2006/main">
            <a:off x="8503920"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算法</a:t>
            </a:r>
          </a:p>
          <a:p xmlns:a="http://schemas.openxmlformats.org/drawingml/2006/main">
            <a:pPr marL="0" algn="ctr">
              <a:buNone/>
            </a:pPr>
            <a:r>
              <a:rPr sz="1230" b="1">
                <a:solidFill>
                  <a:srgbClr val="1D2A3A"/>
                </a:solidFill>
                <a:latin typeface="华文宋体"/>
                <a:ea typeface="华文宋体"/>
                <a:cs typeface="华文宋体"/>
              </a:rPr>
              <a:t>版本</a:t>
            </a:r>
          </a:p>
        </p:txBody>
      </p:sp>
      <p:sp>
        <p:nvSpPr>
          <p:cNvPr id="33" name="Shape 31">
            <a:extLst xmlns:a="http://schemas.openxmlformats.org/drawingml/2006/main">
              <a:ext uri="{FF2B5EF4-FFF2-40B4-BE49-F238E27FC236}">
                <a16:creationId xmlns:a16="http://schemas.microsoft.com/office/drawing/2014/main" id="{D153FD44-3E3C-4779-968C-ED37DD8A0290}"/>
              </a:ext>
            </a:extLst>
          </p:cNvPr>
          <p:cNvSpPr>
            <a:spLocks xmlns:a="http://schemas.openxmlformats.org/drawingml/2006/main" noGrp="1"/>
          </p:cNvSpPr>
          <p:nvPr/>
        </p:nvSpPr>
        <p:spPr>
          <a:xfrm xmlns:a="http://schemas.openxmlformats.org/drawingml/2006/main">
            <a:off x="9326880" y="2432304"/>
            <a:ext cx="91440"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34" name="Shape 32">
            <a:extLst xmlns:a="http://schemas.openxmlformats.org/drawingml/2006/main">
              <a:ext uri="{FF2B5EF4-FFF2-40B4-BE49-F238E27FC236}">
                <a16:creationId xmlns:a16="http://schemas.microsoft.com/office/drawing/2014/main" id="{55CB2508-DC62-47AB-86A4-AFB0FFB11C4C}"/>
              </a:ext>
            </a:extLst>
          </p:cNvPr>
          <p:cNvSpPr>
            <a:spLocks xmlns:a="http://schemas.openxmlformats.org/drawingml/2006/main" noGrp="1"/>
          </p:cNvSpPr>
          <p:nvPr/>
        </p:nvSpPr>
        <p:spPr>
          <a:xfrm xmlns:a="http://schemas.openxmlformats.org/drawingml/2006/main">
            <a:off x="9436608" y="2057400"/>
            <a:ext cx="859536" cy="749808"/>
          </a:xfrm>
          <a:prstGeom xmlns:a="http://schemas.openxmlformats.org/drawingml/2006/main" prst="roundRect">
            <a:avLst>
              <a:gd name="adj" fmla="val 9756"/>
            </a:avLst>
          </a:prstGeom>
          <a:solidFill xmlns:a="http://schemas.openxmlformats.org/drawingml/2006/main">
            <a:srgbClr val="DDF9F5"/>
          </a:solidFill>
          <a:ln xmlns:a="http://schemas.openxmlformats.org/drawingml/2006/main" w="12700">
            <a:solidFill>
              <a:srgbClr val="27C7CF"/>
            </a:solidFill>
            <a:prstDash val="solid"/>
          </a:ln>
        </p:spPr>
      </p:sp>
      <p:sp>
        <p:nvSpPr>
          <p:cNvPr id="35" name="Text 33">
            <a:extLst xmlns:a="http://schemas.openxmlformats.org/drawingml/2006/main">
              <a:ext uri="{FF2B5EF4-FFF2-40B4-BE49-F238E27FC236}">
                <a16:creationId xmlns:a16="http://schemas.microsoft.com/office/drawing/2014/main" id="{ACF03488-795F-4A94-A66D-E234A559080D}"/>
              </a:ext>
            </a:extLst>
          </p:cNvPr>
          <p:cNvSpPr>
            <a:spLocks xmlns:a="http://schemas.openxmlformats.org/drawingml/2006/main" noGrp="1"/>
          </p:cNvSpPr>
          <p:nvPr/>
        </p:nvSpPr>
        <p:spPr>
          <a:xfrm xmlns:a="http://schemas.openxmlformats.org/drawingml/2006/main">
            <a:off x="9491472"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a:bodyPr>
          <a:lstStyle xmlns:a="http://schemas.openxmlformats.org/drawingml/2006/main"/>
          <a:p xmlns:a="http://schemas.openxmlformats.org/drawingml/2006/main">
            <a:pPr marL="0" indent="0" algn="ctr">
              <a:buNone/>
            </a:pPr>
            <a:r>
              <a:rPr sz="1230" b="1">
                <a:solidFill>
                  <a:srgbClr val="1D2A3A"/>
                </a:solidFill>
                <a:latin typeface="华文宋体"/>
                <a:ea typeface="华文宋体"/>
                <a:cs typeface="华文宋体"/>
              </a:rPr>
              <a:t>结果</a:t>
            </a:r>
          </a:p>
          <a:p xmlns:a="http://schemas.openxmlformats.org/drawingml/2006/main">
            <a:pPr marL="0" indent="0" algn="ctr">
              <a:buNone/>
            </a:pPr>
            <a:r>
              <a:rPr sz="1230" b="1">
                <a:solidFill>
                  <a:srgbClr val="1D2A3A"/>
                </a:solidFill>
                <a:latin typeface="华文宋体"/>
                <a:ea typeface="华文宋体"/>
                <a:cs typeface="华文宋体"/>
              </a:rPr>
              <a:t>类型</a:t>
            </a:r>
          </a:p>
        </p:txBody>
      </p:sp>
      <p:sp>
        <p:nvSpPr>
          <p:cNvPr id="36" name="Shape 34">
            <a:extLst xmlns:a="http://schemas.openxmlformats.org/drawingml/2006/main">
              <a:ext uri="{FF2B5EF4-FFF2-40B4-BE49-F238E27FC236}">
                <a16:creationId xmlns:a16="http://schemas.microsoft.com/office/drawing/2014/main" id="{2C235047-64F4-4843-8C15-42EE27B898DF}"/>
              </a:ext>
            </a:extLst>
          </p:cNvPr>
          <p:cNvSpPr>
            <a:spLocks xmlns:a="http://schemas.openxmlformats.org/drawingml/2006/main" noGrp="1"/>
          </p:cNvSpPr>
          <p:nvPr/>
        </p:nvSpPr>
        <p:spPr>
          <a:xfrm xmlns:a="http://schemas.openxmlformats.org/drawingml/2006/main">
            <a:off x="10314432" y="2432304"/>
            <a:ext cx="91440" cy="0"/>
          </a:xfrm>
          <a:prstGeom xmlns:a="http://schemas.openxmlformats.org/drawingml/2006/main" prst="line">
            <a:avLst/>
          </a:prstGeom>
          <a:noFill xmlns:a="http://schemas.openxmlformats.org/drawingml/2006/main"/>
          <a:ln xmlns:a="http://schemas.openxmlformats.org/drawingml/2006/main" w="11430">
            <a:solidFill>
              <a:srgbClr val="9BB3CF"/>
            </a:solidFill>
            <a:prstDash val="solid"/>
          </a:ln>
        </p:spPr>
      </p:sp>
      <p:sp>
        <p:nvSpPr>
          <p:cNvPr id="37" name="Shape 35">
            <a:extLst xmlns:a="http://schemas.openxmlformats.org/drawingml/2006/main">
              <a:ext uri="{FF2B5EF4-FFF2-40B4-BE49-F238E27FC236}">
                <a16:creationId xmlns:a16="http://schemas.microsoft.com/office/drawing/2014/main" id="{A49E5AC0-6846-4AC6-AC4F-2FC31E3FFB84}"/>
              </a:ext>
            </a:extLst>
          </p:cNvPr>
          <p:cNvSpPr>
            <a:spLocks xmlns:a="http://schemas.openxmlformats.org/drawingml/2006/main" noGrp="1"/>
          </p:cNvSpPr>
          <p:nvPr/>
        </p:nvSpPr>
        <p:spPr>
          <a:xfrm xmlns:a="http://schemas.openxmlformats.org/drawingml/2006/main">
            <a:off x="10424160" y="2057400"/>
            <a:ext cx="859536" cy="749808"/>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2700">
            <a:solidFill>
              <a:srgbClr val="9BB3CF"/>
            </a:solidFill>
            <a:prstDash val="solid"/>
          </a:ln>
        </p:spPr>
      </p:sp>
      <p:sp>
        <p:nvSpPr>
          <p:cNvPr id="38" name="Text 36">
            <a:extLst xmlns:a="http://schemas.openxmlformats.org/drawingml/2006/main">
              <a:ext uri="{FF2B5EF4-FFF2-40B4-BE49-F238E27FC236}">
                <a16:creationId xmlns:a16="http://schemas.microsoft.com/office/drawing/2014/main" id="{B27EE811-7F3A-491A-BDCF-A2A3C3107302}"/>
              </a:ext>
            </a:extLst>
          </p:cNvPr>
          <p:cNvSpPr>
            <a:spLocks xmlns:a="http://schemas.openxmlformats.org/drawingml/2006/main" noGrp="1"/>
          </p:cNvSpPr>
          <p:nvPr/>
        </p:nvSpPr>
        <p:spPr>
          <a:xfrm xmlns:a="http://schemas.openxmlformats.org/drawingml/2006/main">
            <a:off x="10479024" y="2093976"/>
            <a:ext cx="749808" cy="676656"/>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100000" lnSpcReduction="20000"/>
          </a:bodyPr>
          <a:lstStyle xmlns:a="http://schemas.openxmlformats.org/drawingml/2006/main"/>
          <a:p xmlns:a="http://schemas.openxmlformats.org/drawingml/2006/main">
            <a:pPr marL="0" algn="ctr">
              <a:buNone/>
            </a:pPr>
            <a:r>
              <a:rPr sz="1230" b="1">
                <a:solidFill>
                  <a:srgbClr val="1D2A3A"/>
                </a:solidFill>
                <a:latin typeface="华文宋体"/>
                <a:ea typeface="华文宋体"/>
                <a:cs typeface="华文宋体"/>
              </a:rPr>
              <a:t>SHA-256</a:t>
            </a:r>
          </a:p>
          <a:p xmlns:a="http://schemas.openxmlformats.org/drawingml/2006/main">
            <a:pPr marL="0" algn="ctr">
              <a:buNone/>
            </a:pPr>
            <a:r>
              <a:rPr sz="1230" b="1">
                <a:solidFill>
                  <a:srgbClr val="1D2A3A"/>
                </a:solidFill>
                <a:latin typeface="华文宋体"/>
                <a:ea typeface="华文宋体"/>
                <a:cs typeface="华文宋体"/>
              </a:rPr>
              <a:t>缓存键</a:t>
            </a:r>
          </a:p>
        </p:txBody>
      </p:sp>
      <p:sp>
        <p:nvSpPr>
          <p:cNvPr id="39" name="Shape 37">
            <a:extLst xmlns:a="http://schemas.openxmlformats.org/drawingml/2006/main">
              <a:ext uri="{FF2B5EF4-FFF2-40B4-BE49-F238E27FC236}">
                <a16:creationId xmlns:a16="http://schemas.microsoft.com/office/drawing/2014/main" id="{BD723BFB-BB39-437B-B3CB-2DCEEB6DC12E}"/>
              </a:ext>
            </a:extLst>
          </p:cNvPr>
          <p:cNvSpPr>
            <a:spLocks xmlns:a="http://schemas.openxmlformats.org/drawingml/2006/main" noGrp="1"/>
          </p:cNvSpPr>
          <p:nvPr/>
        </p:nvSpPr>
        <p:spPr>
          <a:xfrm xmlns:a="http://schemas.openxmlformats.org/drawingml/2006/main">
            <a:off x="6492240" y="3127248"/>
            <a:ext cx="4846320" cy="868680"/>
          </a:xfrm>
          <a:prstGeom xmlns:a="http://schemas.openxmlformats.org/drawingml/2006/main" prst="roundRect">
            <a:avLst>
              <a:gd name="adj" fmla="val 12632"/>
            </a:avLst>
          </a:prstGeom>
          <a:solidFill xmlns:a="http://schemas.openxmlformats.org/drawingml/2006/main">
            <a:srgbClr val="FFFFFF"/>
          </a:solidFill>
          <a:ln xmlns:a="http://schemas.openxmlformats.org/drawingml/2006/main" w="15240">
            <a:solidFill>
              <a:srgbClr val="47B881"/>
            </a:solidFill>
            <a:prstDash val="solid"/>
          </a:ln>
        </p:spPr>
      </p:sp>
      <p:sp>
        <p:nvSpPr>
          <p:cNvPr id="40" name="Text 38">
            <a:extLst xmlns:a="http://schemas.openxmlformats.org/drawingml/2006/main">
              <a:ext uri="{FF2B5EF4-FFF2-40B4-BE49-F238E27FC236}">
                <a16:creationId xmlns:a16="http://schemas.microsoft.com/office/drawing/2014/main" id="{F4685E58-A06F-482B-B851-18E7E270B3BF}"/>
              </a:ext>
            </a:extLst>
          </p:cNvPr>
          <p:cNvSpPr>
            <a:spLocks xmlns:a="http://schemas.openxmlformats.org/drawingml/2006/main" noGrp="1"/>
          </p:cNvSpPr>
          <p:nvPr/>
        </p:nvSpPr>
        <p:spPr>
          <a:xfrm xmlns:a="http://schemas.openxmlformats.org/drawingml/2006/main">
            <a:off x="6656832" y="3246120"/>
            <a:ext cx="45171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47B881"/>
                </a:solidFill>
                <a:latin typeface="Noto Sans CJK SC"/>
                <a:ea typeface="Noto Sans CJK SC"/>
                <a:cs typeface="Noto Sans CJK SC"/>
              </a:rPr>
              <a:t>失败保护</a:t>
            </a:r>
          </a:p>
        </p:txBody>
      </p:sp>
      <p:sp>
        <p:nvSpPr>
          <p:cNvPr id="41" name="Text 39">
            <a:extLst xmlns:a="http://schemas.openxmlformats.org/drawingml/2006/main">
              <a:ext uri="{FF2B5EF4-FFF2-40B4-BE49-F238E27FC236}">
                <a16:creationId xmlns:a16="http://schemas.microsoft.com/office/drawing/2014/main" id="{EE02EE3F-E439-47CE-96F1-25FA35CAE187}"/>
              </a:ext>
            </a:extLst>
          </p:cNvPr>
          <p:cNvSpPr>
            <a:spLocks xmlns:a="http://schemas.openxmlformats.org/drawingml/2006/main" noGrp="1"/>
          </p:cNvSpPr>
          <p:nvPr/>
        </p:nvSpPr>
        <p:spPr>
          <a:xfrm xmlns:a="http://schemas.openxmlformats.org/drawingml/2006/main">
            <a:off x="6656832" y="3566160"/>
            <a:ext cx="451713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230" b="1">
                <a:solidFill>
                  <a:srgbClr val="1D2A3A"/>
                </a:solidFill>
                <a:latin typeface="华文宋体"/>
                <a:ea typeface="华文宋体"/>
                <a:cs typeface="华文宋体"/>
              </a:rPr>
              <a:t>岗位页先展示本地结果；AI 异常时重试并保留可解释候选。</a:t>
            </a:r>
          </a:p>
        </p:txBody>
      </p:sp>
      <p:sp>
        <p:nvSpPr>
          <p:cNvPr id="42" name="Shape 40">
            <a:extLst xmlns:a="http://schemas.openxmlformats.org/drawingml/2006/main">
              <a:ext uri="{FF2B5EF4-FFF2-40B4-BE49-F238E27FC236}">
                <a16:creationId xmlns:a16="http://schemas.microsoft.com/office/drawing/2014/main" id="{FC364034-1012-48FF-8D0D-4E7D3579CECC}"/>
              </a:ext>
            </a:extLst>
          </p:cNvPr>
          <p:cNvSpPr>
            <a:spLocks xmlns:a="http://schemas.openxmlformats.org/drawingml/2006/main" noGrp="1"/>
          </p:cNvSpPr>
          <p:nvPr/>
        </p:nvSpPr>
        <p:spPr>
          <a:xfrm xmlns:a="http://schemas.openxmlformats.org/drawingml/2006/main">
            <a:off x="6492240" y="4224528"/>
            <a:ext cx="4846320" cy="777240"/>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15240">
            <a:solidFill>
              <a:srgbClr val="27C7CF"/>
            </a:solidFill>
            <a:prstDash val="solid"/>
          </a:ln>
        </p:spPr>
      </p:sp>
      <p:sp>
        <p:nvSpPr>
          <p:cNvPr id="43" name="Text 41">
            <a:extLst xmlns:a="http://schemas.openxmlformats.org/drawingml/2006/main">
              <a:ext uri="{FF2B5EF4-FFF2-40B4-BE49-F238E27FC236}">
                <a16:creationId xmlns:a16="http://schemas.microsoft.com/office/drawing/2014/main" id="{4FF4512B-21AB-4784-9330-0FBE383E14FC}"/>
              </a:ext>
            </a:extLst>
          </p:cNvPr>
          <p:cNvSpPr>
            <a:spLocks xmlns:a="http://schemas.openxmlformats.org/drawingml/2006/main" noGrp="1"/>
          </p:cNvSpPr>
          <p:nvPr/>
        </p:nvSpPr>
        <p:spPr>
          <a:xfrm xmlns:a="http://schemas.openxmlformats.org/drawingml/2006/main">
            <a:off x="6656832" y="4343400"/>
            <a:ext cx="45171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7C7CF"/>
                </a:solidFill>
                <a:latin typeface="Noto Sans CJK SC"/>
                <a:ea typeface="Noto Sans CJK SC"/>
                <a:cs typeface="Noto Sans CJK SC"/>
              </a:rPr>
              <a:t>持久化价值</a:t>
            </a:r>
          </a:p>
        </p:txBody>
      </p:sp>
      <p:sp>
        <p:nvSpPr>
          <p:cNvPr id="44" name="Text 42">
            <a:extLst xmlns:a="http://schemas.openxmlformats.org/drawingml/2006/main">
              <a:ext uri="{FF2B5EF4-FFF2-40B4-BE49-F238E27FC236}">
                <a16:creationId xmlns:a16="http://schemas.microsoft.com/office/drawing/2014/main" id="{AF33C059-6D35-495D-AB96-7A4D376A95D5}"/>
              </a:ext>
            </a:extLst>
          </p:cNvPr>
          <p:cNvSpPr>
            <a:spLocks xmlns:a="http://schemas.openxmlformats.org/drawingml/2006/main" noGrp="1"/>
          </p:cNvSpPr>
          <p:nvPr/>
        </p:nvSpPr>
        <p:spPr>
          <a:xfrm xmlns:a="http://schemas.openxmlformats.org/drawingml/2006/main">
            <a:off x="6656832" y="4663440"/>
            <a:ext cx="4517136" cy="228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Autofit/>
          </a:bodyPr>
          <a:lstStyle xmlns:a="http://schemas.openxmlformats.org/drawingml/2006/main"/>
          <a:p xmlns:a="http://schemas.openxmlformats.org/drawingml/2006/main">
            <a:pPr marL="0" indent="0">
              <a:buNone/>
            </a:pPr>
            <a:r>
              <a:rPr sz="1100">
                <a:solidFill>
                  <a:srgbClr val="1D2A3A"/>
                </a:solidFill>
                <a:latin typeface="Noto Sans CJK SC"/>
                <a:ea typeface="Noto Sans CJK SC"/>
                <a:cs typeface="Noto Sans CJK SC"/>
              </a:rPr>
              <a:t>结果写入 MySQL，重启后仍可命中；岗位库或算法版本变化时自动失效。</a:t>
            </a:r>
          </a:p>
        </p:txBody>
      </p:sp>
      <p:sp>
        <p:nvSpPr>
          <p:cNvPr id="45" name="Shape 37">
            <a:extLst xmlns:a="http://schemas.openxmlformats.org/drawingml/2006/main">
              <a:ext uri="{FF2B5EF4-FFF2-40B4-BE49-F238E27FC236}">
                <a16:creationId xmlns:a16="http://schemas.microsoft.com/office/drawing/2014/main" id="{2D6ACDCD-7968-47D2-91E8-17EA3C770CA3}"/>
              </a:ext>
            </a:extLst>
          </p:cNvPr>
          <p:cNvSpPr>
            <a:spLocks xmlns:a="http://schemas.openxmlformats.org/drawingml/2006/main" noGrp="1"/>
          </p:cNvSpPr>
          <p:nvPr/>
        </p:nvSpPr>
        <p:spPr>
          <a:xfrm xmlns:a="http://schemas.openxmlformats.org/drawingml/2006/main">
            <a:off x="1051560" y="3127375"/>
            <a:ext cx="4846320" cy="2519680"/>
          </a:xfrm>
          <a:prstGeom xmlns:a="http://schemas.openxmlformats.org/drawingml/2006/main" prst="roundRect">
            <a:avLst>
              <a:gd name="adj" fmla="val 12632"/>
            </a:avLst>
          </a:prstGeom>
          <a:solidFill xmlns:a="http://schemas.openxmlformats.org/drawingml/2006/main">
            <a:srgbClr val="FFFFFF"/>
          </a:solidFill>
          <a:ln xmlns:a="http://schemas.openxmlformats.org/drawingml/2006/main" w="15240">
            <a:solidFill>
              <a:srgbClr val="47B881"/>
            </a:solidFill>
            <a:prstDash val="solid"/>
          </a:ln>
        </p:spPr>
      </p:sp>
      <p:sp>
        <p:nvSpPr>
          <p:cNvPr id="46" name="文本框 45">
            <a:extLst xmlns:a="http://schemas.openxmlformats.org/drawingml/2006/main">
              <a:ext uri="{FF2B5EF4-FFF2-40B4-BE49-F238E27FC236}">
                <a16:creationId xmlns:a16="http://schemas.microsoft.com/office/drawing/2014/main" id="{28497F0F-10C6-4A8C-A9AF-3FDFFFAB5584}"/>
              </a:ext>
            </a:extLst>
          </p:cNvPr>
          <p:cNvSpPr>
            <a:spLocks xmlns:a="http://schemas.openxmlformats.org/drawingml/2006/main" noGrp="1"/>
          </p:cNvSpPr>
          <p:nvPr/>
        </p:nvSpPr>
        <p:spPr>
          <a:xfrm xmlns:a="http://schemas.openxmlformats.org/drawingml/2006/main">
            <a:off x="1245870" y="3246120"/>
            <a:ext cx="4457700" cy="242062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0" indent="0">
              <a:buNone/>
            </a:pPr>
            <a:r>
              <a:rPr b="1">
                <a:solidFill>
                  <a:srgbClr val="113B7A"/>
                </a:solidFill>
                <a:latin typeface="Noto Sans CJK SC"/>
                <a:ea typeface="Noto Sans CJK SC"/>
                <a:cs typeface="Noto Sans CJK SC"/>
              </a:rPr>
              <a:t>核心策略</a:t>
            </a:r>
          </a:p>
          <a:p xmlns:a="http://schemas.openxmlformats.org/drawingml/2006/main">
            <a:pPr marL="0" indent="0">
              <a:buNone/>
            </a:pPr>
            <a:r>
              <a:rPr b="1">
                <a:solidFill>
                  <a:srgbClr val="113B7A"/>
                </a:solidFill>
                <a:latin typeface="Noto Sans CJK SC"/>
                <a:ea typeface="Noto Sans CJK SC"/>
                <a:cs typeface="Noto Sans CJK SC"/>
              </a:rPr>
              <a:t>首屏本地算法保证速度</a:t>
            </a:r>
          </a:p>
          <a:p xmlns:a="http://schemas.openxmlformats.org/drawingml/2006/main">
            <a:pPr marL="0" indent="0">
              <a:buNone/>
            </a:pPr>
            <a:r>
              <a:t>AI 精排提升语义与成长适配</a:t>
            </a:r>
          </a:p>
          <a:p xmlns:a="http://schemas.openxmlformats.org/drawingml/2006/main">
            <a:pPr marL="0" indent="0">
              <a:buNone/>
            </a:pPr>
            <a:r>
              <a:t>MySQL 缓存负责稳定复用</a:t>
            </a:r>
          </a:p>
        </p:txBody>
      </p:sp>
    </p:spTree>
    <p:extLst>
      <p:ext uri="{BB962C8B-B14F-4D97-AF65-F5344CB8AC3E}">
        <p14:creationId xmlns:p14="http://schemas.microsoft.com/office/powerpoint/2010/main" val="158500076"/>
      </p:ext>
    </p:extLst>
  </p:cSld>
</p:sld>
</file>

<file path=ppt/slides/slide17.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15174a1b21274208"/>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17F21468-3079-49D1-8748-71B7983507A0}"/>
              </a:ext>
            </a:extLst>
          </p:cNvPr>
          <p:cNvSpPr>
            <a:spLocks xmlns:a="http://schemas.openxmlformats.org/drawingml/2006/main" noGrp="1"/>
          </p:cNvSpPr>
          <p:nvPr/>
        </p:nvSpPr>
        <p:spPr>
          <a:xfrm xmlns:a="http://schemas.openxmlformats.org/drawingml/2006/main">
            <a:off x="0" y="1778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03A6E"/>
                </a:solidFill>
                <a:latin typeface="微软雅黑"/>
                <a:ea typeface="微软雅黑"/>
                <a:cs typeface="微软雅黑"/>
              </a:rPr>
              <a:t>04</a:t>
            </a:r>
          </a:p>
        </p:txBody>
      </p:sp>
      <p:sp>
        <p:nvSpPr>
          <p:cNvPr id="4" name="AutoShape 4">
            <a:extLst xmlns:a="http://schemas.openxmlformats.org/drawingml/2006/main">
              <a:ext uri="{FF2B5EF4-FFF2-40B4-BE49-F238E27FC236}">
                <a16:creationId xmlns:a16="http://schemas.microsoft.com/office/drawing/2014/main" id="{D40D59E0-10E1-4F02-A00F-E4156F837A5E}"/>
              </a:ext>
            </a:extLst>
          </p:cNvPr>
          <p:cNvSpPr>
            <a:spLocks xmlns:a="http://schemas.openxmlformats.org/drawingml/2006/main" noGrp="1"/>
          </p:cNvSpPr>
          <p:nvPr/>
        </p:nvSpPr>
        <p:spPr>
          <a:xfrm xmlns:a="http://schemas.openxmlformats.org/drawingml/2006/main">
            <a:off x="0" y="3556000"/>
            <a:ext cx="12001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200" b="1" i="0" u="none">
                <a:solidFill>
                  <a:srgbClr val="1F2937"/>
                </a:solidFill>
                <a:latin typeface="Noto Sans SC"/>
                <a:ea typeface="Noto Sans SC"/>
                <a:cs typeface="Noto Sans SC"/>
              </a:rPr>
              <a:t>系统测试与应用成效</a:t>
            </a:r>
          </a:p>
        </p:txBody>
      </p:sp>
      <p:sp>
        <p:nvSpPr>
          <p:cNvPr id="5" name="AutoShape 5">
            <a:extLst xmlns:a="http://schemas.openxmlformats.org/drawingml/2006/main">
              <a:ext uri="{FF2B5EF4-FFF2-40B4-BE49-F238E27FC236}">
                <a16:creationId xmlns:a16="http://schemas.microsoft.com/office/drawing/2014/main" id="{FD0087A4-13E8-456D-BAA8-02C77A28512C}"/>
              </a:ext>
            </a:extLst>
          </p:cNvPr>
          <p:cNvSpPr>
            <a:spLocks xmlns:a="http://schemas.openxmlformats.org/drawingml/2006/main" noGrp="1"/>
          </p:cNvSpPr>
          <p:nvPr/>
        </p:nvSpPr>
        <p:spPr>
          <a:xfrm xmlns:a="http://schemas.openxmlformats.org/drawingml/2006/main">
            <a:off x="0" y="4836795"/>
            <a:ext cx="12001500" cy="624205"/>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800" b="0" i="0" u="none">
                <a:solidFill>
                  <a:srgbClr val="6B7280"/>
                </a:solidFill>
                <a:latin typeface="Noto Sans SC"/>
                <a:ea typeface="Noto Sans SC"/>
                <a:cs typeface="Noto Sans SC"/>
              </a:rPr>
              <a:t>功能验证 | 性能指标 | 优化收益 | 风险与降级策略</a:t>
            </a:r>
          </a:p>
        </p:txBody>
      </p:sp>
    </p:spTree>
    <p:extLst>
      <p:ext uri="{BB962C8B-B14F-4D97-AF65-F5344CB8AC3E}">
        <p14:creationId xmlns:p14="http://schemas.microsoft.com/office/powerpoint/2010/main" val="652830935"/>
      </p:ext>
    </p:extLst>
  </p:cSld>
</p:sld>
</file>

<file path=ppt/slides/slide18.xml><?xml version="1.0" encoding="utf-8"?>
<p:sld xmlns:p="http://schemas.openxmlformats.org/presentationml/2006/main">
  <p:cSld>
    <p:bg>
      <p:bgPr>
        <a:blipFill xmlns:a="http://schemas.openxmlformats.org/drawingml/2006/main">
          <a:blip xmlns:r="http://schemas.openxmlformats.org/officeDocument/2006/relationships" r:embed="R4abfb9cccf724d84"/>
          <a:srcRect l="0" t="0" r="0" b="0"/>
          <a:stretch>
            <a:fillRect l="-61" t="0" r="-61" b="0"/>
          </a:stretch>
        </a:blip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047CDEFB-EE4F-47E2-91F0-65D17B0C230B}"/>
              </a:ext>
            </a:extLst>
          </p:cNvPr>
          <p:cNvSpPr>
            <a:spLocks xmlns:a="http://schemas.openxmlformats.org/drawingml/2006/main" noGrp="1"/>
          </p:cNvSpPr>
          <p:nvPr/>
        </p:nvSpPr>
        <p:spPr>
          <a:xfrm xmlns:a="http://schemas.openxmlformats.org/drawingml/2006/main">
            <a:off x="558800" y="762000"/>
            <a:ext cx="1098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3200" b="1" i="0" u="none">
                <a:solidFill>
                  <a:srgbClr val="0C3671"/>
                </a:solidFill>
                <a:latin typeface="微软雅黑"/>
                <a:ea typeface="微软雅黑"/>
                <a:cs typeface="微软雅黑"/>
              </a:rPr>
              <a:t>01 测试内容与评价指标</a:t>
            </a:r>
          </a:p>
        </p:txBody>
      </p:sp>
      <p:sp>
        <p:nvSpPr>
          <p:cNvPr id="3" name="AutoShape 3">
            <a:extLst xmlns:a="http://schemas.openxmlformats.org/drawingml/2006/main">
              <a:ext uri="{FF2B5EF4-FFF2-40B4-BE49-F238E27FC236}">
                <a16:creationId xmlns:a16="http://schemas.microsoft.com/office/drawing/2014/main" id="{ED5EB599-EB63-455C-9E04-DC68908C0492}"/>
              </a:ext>
            </a:extLst>
          </p:cNvPr>
          <p:cNvSpPr>
            <a:spLocks xmlns:a="http://schemas.openxmlformats.org/drawingml/2006/main" noGrp="1"/>
          </p:cNvSpPr>
          <p:nvPr/>
        </p:nvSpPr>
        <p:spPr>
          <a:xfrm xmlns:a="http://schemas.openxmlformats.org/drawingml/2006/main">
            <a:off x="508000" y="1524000"/>
            <a:ext cx="5334000" cy="4826000"/>
          </a:xfrm>
          <a:prstGeom xmlns:a="http://schemas.openxmlformats.org/drawingml/2006/main" prst="roundRect">
            <a:avLst>
              <a:gd name="adj" fmla="val 3157"/>
            </a:avLst>
          </a:prstGeom>
          <a:solidFill xmlns:a="http://schemas.openxmlformats.org/drawingml/2006/main">
            <a:srgbClr val="FFFFFF">
              <a:alpha val="92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4" name="Picture 4"/>
          <p:cNvPicPr>
            <a:picLocks xmlns:a="http://schemas.openxmlformats.org/drawingml/2006/main" noChangeAspect="1"/>
          </p:cNvPicPr>
          <p:nvPr/>
        </p:nvPicPr>
        <p:blipFill>
          <a:blip xmlns:r="http://schemas.openxmlformats.org/officeDocument/2006/relationships" xmlns:a="http://schemas.openxmlformats.org/drawingml/2006/main" r:embed="R8776e3969c3d4268"/>
          <a:stretch xmlns:a="http://schemas.openxmlformats.org/drawingml/2006/main">
            <a:fillRect l="0" t="0" r="0" b="0"/>
          </a:stretch>
        </p:blipFill>
        <p:spPr>
          <a:xfrm xmlns:a="http://schemas.openxmlformats.org/drawingml/2006/main">
            <a:off x="825500" y="1841500"/>
            <a:ext cx="406400" cy="406400"/>
          </a:xfrm>
          <a:prstGeom xmlns:a="http://schemas.openxmlformats.org/drawingml/2006/main" prst="rect">
            <a:avLst/>
          </a:prstGeom>
        </p:spPr>
      </p:pic>
      <p:sp>
        <p:nvSpPr>
          <p:cNvPr id="5" name="AutoShape 5">
            <a:extLst xmlns:a="http://schemas.openxmlformats.org/drawingml/2006/main">
              <a:ext uri="{FF2B5EF4-FFF2-40B4-BE49-F238E27FC236}">
                <a16:creationId xmlns:a16="http://schemas.microsoft.com/office/drawing/2014/main" id="{8785549E-6DFA-48FA-BA39-2D1026B846CD}"/>
              </a:ext>
            </a:extLst>
          </p:cNvPr>
          <p:cNvSpPr>
            <a:spLocks xmlns:a="http://schemas.openxmlformats.org/drawingml/2006/main" noGrp="1"/>
          </p:cNvSpPr>
          <p:nvPr/>
        </p:nvSpPr>
        <p:spPr>
          <a:xfrm xmlns:a="http://schemas.openxmlformats.org/drawingml/2006/main">
            <a:off x="1397000" y="1778000"/>
            <a:ext cx="4064000" cy="571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1F2937"/>
                </a:solidFill>
                <a:latin typeface="Noto Sans SC"/>
                <a:ea typeface="Noto Sans SC"/>
                <a:cs typeface="Noto Sans SC"/>
              </a:rPr>
              <a:t>测试维度</a:t>
            </a:r>
          </a:p>
        </p:txBody>
      </p:sp>
      <p:sp>
        <p:nvSpPr>
          <p:cNvPr id="6" name="AutoShape 6">
            <a:extLst xmlns:a="http://schemas.openxmlformats.org/drawingml/2006/main">
              <a:ext uri="{FF2B5EF4-FFF2-40B4-BE49-F238E27FC236}">
                <a16:creationId xmlns:a16="http://schemas.microsoft.com/office/drawing/2014/main" id="{4E0F41EA-73FA-4D04-BFE6-7960729801DC}"/>
              </a:ext>
            </a:extLst>
          </p:cNvPr>
          <p:cNvSpPr>
            <a:spLocks xmlns:a="http://schemas.openxmlformats.org/drawingml/2006/main" noGrp="1"/>
          </p:cNvSpPr>
          <p:nvPr/>
        </p:nvSpPr>
        <p:spPr>
          <a:xfrm xmlns:a="http://schemas.openxmlformats.org/drawingml/2006/main">
            <a:off x="762000" y="2667000"/>
            <a:ext cx="4826000" cy="1397000"/>
          </a:xfrm>
          <a:prstGeom xmlns:a="http://schemas.openxmlformats.org/drawingml/2006/main" prst="roundRect">
            <a:avLst>
              <a:gd name="adj" fmla="val 7272"/>
            </a:avLst>
          </a:prstGeom>
          <a:solidFill xmlns:a="http://schemas.openxmlformats.org/drawingml/2006/main">
            <a:srgbClr val="EFF6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7" name="AutoShape 7">
            <a:extLst xmlns:a="http://schemas.openxmlformats.org/drawingml/2006/main">
              <a:ext uri="{FF2B5EF4-FFF2-40B4-BE49-F238E27FC236}">
                <a16:creationId xmlns:a16="http://schemas.microsoft.com/office/drawing/2014/main" id="{E5194743-09E8-4057-B940-78BAF139D3B7}"/>
              </a:ext>
            </a:extLst>
          </p:cNvPr>
          <p:cNvSpPr>
            <a:spLocks xmlns:a="http://schemas.openxmlformats.org/drawingml/2006/main" noGrp="1"/>
          </p:cNvSpPr>
          <p:nvPr/>
        </p:nvSpPr>
        <p:spPr>
          <a:xfrm xmlns:a="http://schemas.openxmlformats.org/drawingml/2006/main">
            <a:off x="952500" y="2857500"/>
            <a:ext cx="44450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700" b="1" i="0" u="none">
                <a:solidFill>
                  <a:srgbClr val="1E3A8A"/>
                </a:solidFill>
                <a:latin typeface="Noto Sans SC"/>
                <a:ea typeface="Noto Sans SC"/>
                <a:cs typeface="Noto Sans SC"/>
              </a:rPr>
              <a:t>▍功能正确性</a:t>
            </a:r>
          </a:p>
          <a:p xmlns:a="http://schemas.openxmlformats.org/drawingml/2006/main">
            <a:pPr indent="0" algn="l">
              <a:lnSpc>
                <a:spcPct val="117000"/>
              </a:lnSpc>
              <a:buNone/>
            </a:pPr>
            <a:r>
              <a:rPr sz="1300" b="0" i="0" u="none">
                <a:solidFill>
                  <a:srgbClr val="4B5563"/>
                </a:solidFill>
                <a:latin typeface="Noto Sans SC"/>
                <a:ea typeface="Noto Sans SC"/>
                <a:cs typeface="Noto Sans SC"/>
              </a:rPr>
              <a:t>验证学生信息提取、四维画像、证据链、岗位召回、AI 精排、缓存命中和结果导出。</a:t>
            </a:r>
          </a:p>
        </p:txBody>
      </p:sp>
      <p:sp>
        <p:nvSpPr>
          <p:cNvPr id="8" name="AutoShape 8">
            <a:extLst xmlns:a="http://schemas.openxmlformats.org/drawingml/2006/main">
              <a:ext uri="{FF2B5EF4-FFF2-40B4-BE49-F238E27FC236}">
                <a16:creationId xmlns:a16="http://schemas.microsoft.com/office/drawing/2014/main" id="{B33F0B67-6FFE-443C-B304-904C977E3DC5}"/>
              </a:ext>
            </a:extLst>
          </p:cNvPr>
          <p:cNvSpPr>
            <a:spLocks xmlns:a="http://schemas.openxmlformats.org/drawingml/2006/main" noGrp="1"/>
          </p:cNvSpPr>
          <p:nvPr/>
        </p:nvSpPr>
        <p:spPr>
          <a:xfrm xmlns:a="http://schemas.openxmlformats.org/drawingml/2006/main">
            <a:off x="762000" y="4318000"/>
            <a:ext cx="4826000" cy="1397000"/>
          </a:xfrm>
          <a:prstGeom xmlns:a="http://schemas.openxmlformats.org/drawingml/2006/main" prst="roundRect">
            <a:avLst>
              <a:gd name="adj" fmla="val 7272"/>
            </a:avLst>
          </a:prstGeom>
          <a:solidFill xmlns:a="http://schemas.openxmlformats.org/drawingml/2006/main">
            <a:srgbClr val="F0FDF4">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F365AC46-8681-4169-AA26-B0EBBDEE7B32}"/>
              </a:ext>
            </a:extLst>
          </p:cNvPr>
          <p:cNvSpPr>
            <a:spLocks xmlns:a="http://schemas.openxmlformats.org/drawingml/2006/main" noGrp="1"/>
          </p:cNvSpPr>
          <p:nvPr/>
        </p:nvSpPr>
        <p:spPr>
          <a:xfrm xmlns:a="http://schemas.openxmlformats.org/drawingml/2006/main">
            <a:off x="952500" y="4508500"/>
            <a:ext cx="4445000" cy="1016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700" b="1" i="0" u="none">
                <a:solidFill>
                  <a:srgbClr val="15803D"/>
                </a:solidFill>
                <a:latin typeface="Noto Sans SC"/>
                <a:ea typeface="Noto Sans SC"/>
                <a:cs typeface="Noto Sans SC"/>
              </a:rPr>
              <a:t>▍页面响应性能</a:t>
            </a:r>
          </a:p>
          <a:p xmlns:a="http://schemas.openxmlformats.org/drawingml/2006/main">
            <a:pPr indent="0" algn="l">
              <a:lnSpc>
                <a:spcPct val="117000"/>
              </a:lnSpc>
              <a:buNone/>
            </a:pPr>
            <a:r>
              <a:rPr sz="1300" b="0" i="0" u="none">
                <a:solidFill>
                  <a:srgbClr val="4B5563"/>
                </a:solidFill>
                <a:latin typeface="Noto Sans SC"/>
                <a:ea typeface="Noto Sans SC"/>
                <a:cs typeface="Noto Sans SC"/>
              </a:rPr>
              <a:t>重点考察首屏本地匹配、远程 AI 精排、持久化缓存读取和异常降级时间。</a:t>
            </a:r>
          </a:p>
        </p:txBody>
      </p:sp>
      <p:sp>
        <p:nvSpPr>
          <p:cNvPr id="10" name="AutoShape 10">
            <a:extLst xmlns:a="http://schemas.openxmlformats.org/drawingml/2006/main">
              <a:ext uri="{FF2B5EF4-FFF2-40B4-BE49-F238E27FC236}">
                <a16:creationId xmlns:a16="http://schemas.microsoft.com/office/drawing/2014/main" id="{7DAF77C4-7D21-4CDF-A864-242479CD3F34}"/>
              </a:ext>
            </a:extLst>
          </p:cNvPr>
          <p:cNvSpPr>
            <a:spLocks xmlns:a="http://schemas.openxmlformats.org/drawingml/2006/main" noGrp="1"/>
          </p:cNvSpPr>
          <p:nvPr/>
        </p:nvSpPr>
        <p:spPr>
          <a:xfrm xmlns:a="http://schemas.openxmlformats.org/drawingml/2006/main">
            <a:off x="6159500" y="1524000"/>
            <a:ext cx="5334000" cy="4826000"/>
          </a:xfrm>
          <a:prstGeom xmlns:a="http://schemas.openxmlformats.org/drawingml/2006/main" prst="roundRect">
            <a:avLst>
              <a:gd name="adj" fmla="val 3157"/>
            </a:avLst>
          </a:prstGeom>
          <a:solidFill xmlns:a="http://schemas.openxmlformats.org/drawingml/2006/main">
            <a:srgbClr val="FFFFFF">
              <a:alpha val="92000"/>
            </a:srgbClr>
          </a:solidFill>
          <a:ln xmlns:a="http://schemas.openxmlformats.org/drawingml/2006/main" w="12700" cmpd="sng">
            <a:solidFill>
              <a:srgbClr val="E5E7EB">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1" name="Picture 11"/>
          <p:cNvPicPr>
            <a:picLocks xmlns:a="http://schemas.openxmlformats.org/drawingml/2006/main" noChangeAspect="1"/>
          </p:cNvPicPr>
          <p:nvPr/>
        </p:nvPicPr>
        <p:blipFill>
          <a:blip xmlns:r="http://schemas.openxmlformats.org/officeDocument/2006/relationships" xmlns:a="http://schemas.openxmlformats.org/drawingml/2006/main" r:embed="R840ef5be31874c9d"/>
          <a:stretch xmlns:a="http://schemas.openxmlformats.org/drawingml/2006/main">
            <a:fillRect l="0" t="0" r="0" b="0"/>
          </a:stretch>
        </p:blipFill>
        <p:spPr>
          <a:xfrm xmlns:a="http://schemas.openxmlformats.org/drawingml/2006/main">
            <a:off x="6477000" y="1841500"/>
            <a:ext cx="406400" cy="406400"/>
          </a:xfrm>
          <a:prstGeom xmlns:a="http://schemas.openxmlformats.org/drawingml/2006/main" prst="rect">
            <a:avLst/>
          </a:prstGeom>
        </p:spPr>
      </p:pic>
      <p:sp>
        <p:nvSpPr>
          <p:cNvPr id="12" name="AutoShape 12">
            <a:extLst xmlns:a="http://schemas.openxmlformats.org/drawingml/2006/main">
              <a:ext uri="{FF2B5EF4-FFF2-40B4-BE49-F238E27FC236}">
                <a16:creationId xmlns:a16="http://schemas.microsoft.com/office/drawing/2014/main" id="{6C698BAE-101B-4356-B210-02514F452560}"/>
              </a:ext>
            </a:extLst>
          </p:cNvPr>
          <p:cNvSpPr>
            <a:spLocks xmlns:a="http://schemas.openxmlformats.org/drawingml/2006/main" noGrp="1"/>
          </p:cNvSpPr>
          <p:nvPr/>
        </p:nvSpPr>
        <p:spPr>
          <a:xfrm xmlns:a="http://schemas.openxmlformats.org/drawingml/2006/main">
            <a:off x="7048500" y="1778000"/>
            <a:ext cx="4064000" cy="571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1F2937"/>
                </a:solidFill>
                <a:latin typeface="Noto Sans SC"/>
                <a:ea typeface="Noto Sans SC"/>
                <a:cs typeface="Noto Sans SC"/>
              </a:rPr>
              <a:t>核心评价指标体系</a:t>
            </a:r>
          </a:p>
        </p:txBody>
      </p:sp>
      <p:sp>
        <p:nvSpPr>
          <p:cNvPr id="13" name="AutoShape 13">
            <a:extLst xmlns:a="http://schemas.openxmlformats.org/drawingml/2006/main">
              <a:ext uri="{FF2B5EF4-FFF2-40B4-BE49-F238E27FC236}">
                <a16:creationId xmlns:a16="http://schemas.microsoft.com/office/drawing/2014/main" id="{731A1CA7-AD86-4815-AFDC-1F086A2C6C8D}"/>
              </a:ext>
            </a:extLst>
          </p:cNvPr>
          <p:cNvSpPr>
            <a:spLocks xmlns:a="http://schemas.openxmlformats.org/drawingml/2006/main" noGrp="1"/>
          </p:cNvSpPr>
          <p:nvPr/>
        </p:nvSpPr>
        <p:spPr>
          <a:xfrm xmlns:a="http://schemas.openxmlformats.org/drawingml/2006/main">
            <a:off x="6350000" y="2667000"/>
            <a:ext cx="2476500" cy="1143000"/>
          </a:xfrm>
          <a:prstGeom xmlns:a="http://schemas.openxmlformats.org/drawingml/2006/main" prst="roundRect">
            <a:avLst>
              <a:gd name="adj" fmla="val 6666"/>
            </a:avLst>
          </a:prstGeom>
          <a:solidFill xmlns:a="http://schemas.openxmlformats.org/drawingml/2006/main">
            <a:srgbClr val="F9FAFB">
              <a:alpha val="100000"/>
            </a:srgbClr>
          </a:solidFill>
          <a:ln xmlns:a="http://schemas.openxmlformats.org/drawingml/2006/main" w="12700" cmpd="sng">
            <a:solidFill>
              <a:srgbClr val="E5E7EB">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4" name="AutoShape 14">
            <a:extLst xmlns:a="http://schemas.openxmlformats.org/drawingml/2006/main">
              <a:ext uri="{FF2B5EF4-FFF2-40B4-BE49-F238E27FC236}">
                <a16:creationId xmlns:a16="http://schemas.microsoft.com/office/drawing/2014/main" id="{5EF9F641-AD66-4650-81C9-8BBC091C4F7F}"/>
              </a:ext>
            </a:extLst>
          </p:cNvPr>
          <p:cNvSpPr>
            <a:spLocks xmlns:a="http://schemas.openxmlformats.org/drawingml/2006/main" noGrp="1"/>
          </p:cNvSpPr>
          <p:nvPr/>
        </p:nvSpPr>
        <p:spPr>
          <a:xfrm xmlns:a="http://schemas.openxmlformats.org/drawingml/2006/main">
            <a:off x="6477000" y="2794000"/>
            <a:ext cx="2222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111827"/>
                </a:solidFill>
                <a:latin typeface="Noto Sans SC"/>
                <a:ea typeface="Noto Sans SC"/>
                <a:cs typeface="Noto Sans SC"/>
              </a:rPr>
              <a:t>本地匹配</a:t>
            </a:r>
          </a:p>
          <a:p xmlns:a="http://schemas.openxmlformats.org/drawingml/2006/main">
            <a:pPr indent="0" algn="l">
              <a:lnSpc>
                <a:spcPct val="100000"/>
              </a:lnSpc>
              <a:buNone/>
            </a:pPr>
            <a:r>
              <a:rPr sz="1100" b="0" i="0" u="none">
                <a:solidFill>
                  <a:srgbClr val="6B7280"/>
                </a:solidFill>
                <a:latin typeface="Noto Sans SC"/>
                <a:ea typeface="Noto Sans SC"/>
                <a:cs typeface="Noto Sans SC"/>
              </a:rPr>
              <a:t>30 次平均约 90.73 ms，P95 约 91.41 ms。</a:t>
            </a:r>
          </a:p>
        </p:txBody>
      </p:sp>
      <p:sp>
        <p:nvSpPr>
          <p:cNvPr id="15" name="AutoShape 15">
            <a:extLst xmlns:a="http://schemas.openxmlformats.org/drawingml/2006/main">
              <a:ext uri="{FF2B5EF4-FFF2-40B4-BE49-F238E27FC236}">
                <a16:creationId xmlns:a16="http://schemas.microsoft.com/office/drawing/2014/main" id="{3E33263F-D8C7-4616-9DB9-01C61C218D81}"/>
              </a:ext>
            </a:extLst>
          </p:cNvPr>
          <p:cNvSpPr>
            <a:spLocks xmlns:a="http://schemas.openxmlformats.org/drawingml/2006/main" noGrp="1"/>
          </p:cNvSpPr>
          <p:nvPr/>
        </p:nvSpPr>
        <p:spPr>
          <a:xfrm xmlns:a="http://schemas.openxmlformats.org/drawingml/2006/main">
            <a:off x="8890000" y="2667000"/>
            <a:ext cx="2476500" cy="1143000"/>
          </a:xfrm>
          <a:prstGeom xmlns:a="http://schemas.openxmlformats.org/drawingml/2006/main" prst="roundRect">
            <a:avLst>
              <a:gd name="adj" fmla="val 6666"/>
            </a:avLst>
          </a:prstGeom>
          <a:solidFill xmlns:a="http://schemas.openxmlformats.org/drawingml/2006/main">
            <a:srgbClr val="F9FAFB">
              <a:alpha val="100000"/>
            </a:srgbClr>
          </a:solidFill>
          <a:ln xmlns:a="http://schemas.openxmlformats.org/drawingml/2006/main" w="12700" cmpd="sng">
            <a:solidFill>
              <a:srgbClr val="E5E7EB">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6" name="AutoShape 16">
            <a:extLst xmlns:a="http://schemas.openxmlformats.org/drawingml/2006/main">
              <a:ext uri="{FF2B5EF4-FFF2-40B4-BE49-F238E27FC236}">
                <a16:creationId xmlns:a16="http://schemas.microsoft.com/office/drawing/2014/main" id="{4267054C-D575-450B-9184-8CD3614BF9D0}"/>
              </a:ext>
            </a:extLst>
          </p:cNvPr>
          <p:cNvSpPr>
            <a:spLocks xmlns:a="http://schemas.openxmlformats.org/drawingml/2006/main" noGrp="1"/>
          </p:cNvSpPr>
          <p:nvPr/>
        </p:nvSpPr>
        <p:spPr>
          <a:xfrm xmlns:a="http://schemas.openxmlformats.org/drawingml/2006/main">
            <a:off x="9017000" y="2794000"/>
            <a:ext cx="2222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111827"/>
                </a:solidFill>
                <a:latin typeface="Noto Sans SC"/>
                <a:ea typeface="Noto Sans SC"/>
                <a:cs typeface="Noto Sans SC"/>
              </a:rPr>
              <a:t>AI 精排</a:t>
            </a:r>
          </a:p>
          <a:p xmlns:a="http://schemas.openxmlformats.org/drawingml/2006/main">
            <a:pPr indent="0" algn="l">
              <a:lnSpc>
                <a:spcPct val="100000"/>
              </a:lnSpc>
              <a:buNone/>
            </a:pPr>
            <a:r>
              <a:rPr sz="1100" b="0" i="0" u="none">
                <a:solidFill>
                  <a:srgbClr val="6B7280"/>
                </a:solidFill>
                <a:latin typeface="Noto Sans SC"/>
                <a:ea typeface="Noto Sans SC"/>
                <a:cs typeface="Noto Sans SC"/>
              </a:rPr>
              <a:t>TOP10 双向语义精排实测约 73.92 s。</a:t>
            </a:r>
          </a:p>
        </p:txBody>
      </p:sp>
      <p:sp>
        <p:nvSpPr>
          <p:cNvPr id="17" name="AutoShape 17">
            <a:extLst xmlns:a="http://schemas.openxmlformats.org/drawingml/2006/main">
              <a:ext uri="{FF2B5EF4-FFF2-40B4-BE49-F238E27FC236}">
                <a16:creationId xmlns:a16="http://schemas.microsoft.com/office/drawing/2014/main" id="{4F13CEEB-CE1A-4511-90A8-57BC7A327164}"/>
              </a:ext>
            </a:extLst>
          </p:cNvPr>
          <p:cNvSpPr>
            <a:spLocks xmlns:a="http://schemas.openxmlformats.org/drawingml/2006/main" noGrp="1"/>
          </p:cNvSpPr>
          <p:nvPr/>
        </p:nvSpPr>
        <p:spPr>
          <a:xfrm xmlns:a="http://schemas.openxmlformats.org/drawingml/2006/main">
            <a:off x="6350000" y="3937000"/>
            <a:ext cx="2476500" cy="1143000"/>
          </a:xfrm>
          <a:prstGeom xmlns:a="http://schemas.openxmlformats.org/drawingml/2006/main" prst="roundRect">
            <a:avLst>
              <a:gd name="adj" fmla="val 6666"/>
            </a:avLst>
          </a:prstGeom>
          <a:solidFill xmlns:a="http://schemas.openxmlformats.org/drawingml/2006/main">
            <a:srgbClr val="F9FAFB">
              <a:alpha val="100000"/>
            </a:srgbClr>
          </a:solidFill>
          <a:ln xmlns:a="http://schemas.openxmlformats.org/drawingml/2006/main" w="12700" cmpd="sng">
            <a:solidFill>
              <a:srgbClr val="E5E7EB">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8" name="AutoShape 18">
            <a:extLst xmlns:a="http://schemas.openxmlformats.org/drawingml/2006/main">
              <a:ext uri="{FF2B5EF4-FFF2-40B4-BE49-F238E27FC236}">
                <a16:creationId xmlns:a16="http://schemas.microsoft.com/office/drawing/2014/main" id="{10DA5700-1CE5-484D-870C-DBCC787258AA}"/>
              </a:ext>
            </a:extLst>
          </p:cNvPr>
          <p:cNvSpPr>
            <a:spLocks xmlns:a="http://schemas.openxmlformats.org/drawingml/2006/main" noGrp="1"/>
          </p:cNvSpPr>
          <p:nvPr/>
        </p:nvSpPr>
        <p:spPr>
          <a:xfrm xmlns:a="http://schemas.openxmlformats.org/drawingml/2006/main">
            <a:off x="6477000" y="4064000"/>
            <a:ext cx="2222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111827"/>
                </a:solidFill>
                <a:latin typeface="Noto Sans SC"/>
                <a:ea typeface="Noto Sans SC"/>
                <a:cs typeface="Noto Sans SC"/>
              </a:rPr>
              <a:t>缓存读取</a:t>
            </a:r>
          </a:p>
          <a:p xmlns:a="http://schemas.openxmlformats.org/drawingml/2006/main">
            <a:pPr indent="0" algn="l">
              <a:lnSpc>
                <a:spcPct val="100000"/>
              </a:lnSpc>
              <a:buNone/>
            </a:pPr>
            <a:r>
              <a:rPr sz="1100" b="0" i="0" u="none">
                <a:solidFill>
                  <a:srgbClr val="6B7280"/>
                </a:solidFill>
                <a:latin typeface="Noto Sans SC"/>
                <a:ea typeface="Noto Sans SC"/>
                <a:cs typeface="Noto Sans SC"/>
              </a:rPr>
              <a:t>MySQL 持久化缓存平均约 0.368 ms。</a:t>
            </a:r>
          </a:p>
        </p:txBody>
      </p:sp>
      <p:sp>
        <p:nvSpPr>
          <p:cNvPr id="19" name="AutoShape 19">
            <a:extLst xmlns:a="http://schemas.openxmlformats.org/drawingml/2006/main">
              <a:ext uri="{FF2B5EF4-FFF2-40B4-BE49-F238E27FC236}">
                <a16:creationId xmlns:a16="http://schemas.microsoft.com/office/drawing/2014/main" id="{82D1E909-D2BA-4002-9DBD-5520861ABCF8}"/>
              </a:ext>
            </a:extLst>
          </p:cNvPr>
          <p:cNvSpPr>
            <a:spLocks xmlns:a="http://schemas.openxmlformats.org/drawingml/2006/main" noGrp="1"/>
          </p:cNvSpPr>
          <p:nvPr/>
        </p:nvSpPr>
        <p:spPr>
          <a:xfrm xmlns:a="http://schemas.openxmlformats.org/drawingml/2006/main">
            <a:off x="8890000" y="3937000"/>
            <a:ext cx="2476500" cy="1143000"/>
          </a:xfrm>
          <a:prstGeom xmlns:a="http://schemas.openxmlformats.org/drawingml/2006/main" prst="roundRect">
            <a:avLst>
              <a:gd name="adj" fmla="val 6666"/>
            </a:avLst>
          </a:prstGeom>
          <a:solidFill xmlns:a="http://schemas.openxmlformats.org/drawingml/2006/main">
            <a:srgbClr val="F9FAFB">
              <a:alpha val="100000"/>
            </a:srgbClr>
          </a:solidFill>
          <a:ln xmlns:a="http://schemas.openxmlformats.org/drawingml/2006/main" w="12700" cmpd="sng">
            <a:solidFill>
              <a:srgbClr val="E5E7EB">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0" name="AutoShape 20">
            <a:extLst xmlns:a="http://schemas.openxmlformats.org/drawingml/2006/main">
              <a:ext uri="{FF2B5EF4-FFF2-40B4-BE49-F238E27FC236}">
                <a16:creationId xmlns:a16="http://schemas.microsoft.com/office/drawing/2014/main" id="{15D67C34-62D2-44CE-8F66-E4DA8F760AFB}"/>
              </a:ext>
            </a:extLst>
          </p:cNvPr>
          <p:cNvSpPr>
            <a:spLocks xmlns:a="http://schemas.openxmlformats.org/drawingml/2006/main" noGrp="1"/>
          </p:cNvSpPr>
          <p:nvPr/>
        </p:nvSpPr>
        <p:spPr>
          <a:xfrm xmlns:a="http://schemas.openxmlformats.org/drawingml/2006/main">
            <a:off x="9017000" y="4064000"/>
            <a:ext cx="2222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111827"/>
                </a:solidFill>
                <a:latin typeface="Noto Sans SC"/>
                <a:ea typeface="Noto Sans SC"/>
                <a:cs typeface="Noto Sans SC"/>
              </a:rPr>
              <a:t>核心测试</a:t>
            </a:r>
          </a:p>
          <a:p xmlns:a="http://schemas.openxmlformats.org/drawingml/2006/main">
            <a:pPr indent="0" algn="l">
              <a:lnSpc>
                <a:spcPct val="100000"/>
              </a:lnSpc>
              <a:buNone/>
            </a:pPr>
            <a:r>
              <a:rPr sz="1100" b="0" i="0" u="none">
                <a:solidFill>
                  <a:srgbClr val="6B7280"/>
                </a:solidFill>
                <a:latin typeface="Noto Sans SC"/>
                <a:ea typeface="Noto Sans SC"/>
                <a:cs typeface="Noto Sans SC"/>
              </a:rPr>
              <a:t>岗位匹配关键测试 10/10 通过。</a:t>
            </a:r>
          </a:p>
        </p:txBody>
      </p:sp>
      <p:sp>
        <p:nvSpPr>
          <p:cNvPr id="21" name="AutoShape 21">
            <a:extLst xmlns:a="http://schemas.openxmlformats.org/drawingml/2006/main">
              <a:ext uri="{FF2B5EF4-FFF2-40B4-BE49-F238E27FC236}">
                <a16:creationId xmlns:a16="http://schemas.microsoft.com/office/drawing/2014/main" id="{3ADDCC44-362D-4171-91AD-4A701524017C}"/>
              </a:ext>
            </a:extLst>
          </p:cNvPr>
          <p:cNvSpPr>
            <a:spLocks xmlns:a="http://schemas.openxmlformats.org/drawingml/2006/main" noGrp="1"/>
          </p:cNvSpPr>
          <p:nvPr/>
        </p:nvSpPr>
        <p:spPr>
          <a:xfrm xmlns:a="http://schemas.openxmlformats.org/drawingml/2006/main">
            <a:off x="6350000" y="5143500"/>
            <a:ext cx="5016500" cy="1016000"/>
          </a:xfrm>
          <a:prstGeom xmlns:a="http://schemas.openxmlformats.org/drawingml/2006/main" prst="roundRect">
            <a:avLst>
              <a:gd name="adj" fmla="val 7500"/>
            </a:avLst>
          </a:prstGeom>
          <a:solidFill xmlns:a="http://schemas.openxmlformats.org/drawingml/2006/main">
            <a:srgbClr val="FFF7ED">
              <a:alpha val="100000"/>
            </a:srgbClr>
          </a:solidFill>
          <a:ln xmlns:a="http://schemas.openxmlformats.org/drawingml/2006/main" w="12700" cmpd="sng">
            <a:solidFill>
              <a:srgbClr val="FED7AA">
                <a:alpha val="100000"/>
              </a:srgbClr>
            </a:solid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2" name="AutoShape 22">
            <a:extLst xmlns:a="http://schemas.openxmlformats.org/drawingml/2006/main">
              <a:ext uri="{FF2B5EF4-FFF2-40B4-BE49-F238E27FC236}">
                <a16:creationId xmlns:a16="http://schemas.microsoft.com/office/drawing/2014/main" id="{591874E9-3E65-4486-8236-0647CE27CD9A}"/>
              </a:ext>
            </a:extLst>
          </p:cNvPr>
          <p:cNvSpPr>
            <a:spLocks xmlns:a="http://schemas.openxmlformats.org/drawingml/2006/main" noGrp="1"/>
          </p:cNvSpPr>
          <p:nvPr/>
        </p:nvSpPr>
        <p:spPr>
          <a:xfrm xmlns:a="http://schemas.openxmlformats.org/drawingml/2006/main">
            <a:off x="6540500" y="5270500"/>
            <a:ext cx="4635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1400" b="1" i="0" u="none">
                <a:solidFill>
                  <a:srgbClr val="C2410C"/>
                </a:solidFill>
                <a:latin typeface="Noto Sans SC"/>
                <a:ea typeface="Noto Sans SC"/>
                <a:cs typeface="Noto Sans SC"/>
              </a:rPr>
              <a:t>稳定性：缓存键绑定诊断记录、岗位库版本、算法版本和结果类型，防止跨版本误命中。</a:t>
            </a:r>
          </a:p>
        </p:txBody>
      </p:sp>
    </p:spTree>
    <p:extLst>
      <p:ext uri="{BB962C8B-B14F-4D97-AF65-F5344CB8AC3E}">
        <p14:creationId xmlns:p14="http://schemas.microsoft.com/office/powerpoint/2010/main" val="702096396"/>
      </p:ext>
    </p:extLst>
  </p:cSld>
</p:sld>
</file>

<file path=ppt/slides/slide19.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fb3d9229e3ec4fc5"/>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077D5EA1-B682-4DAC-8B66-E76A6F422AA1}"/>
              </a:ext>
            </a:extLst>
          </p:cNvPr>
          <p:cNvSpPr>
            <a:spLocks xmlns:a="http://schemas.openxmlformats.org/drawingml/2006/main" noGrp="1"/>
          </p:cNvSpPr>
          <p:nvPr/>
        </p:nvSpPr>
        <p:spPr>
          <a:xfrm xmlns:a="http://schemas.openxmlformats.org/drawingml/2006/main">
            <a:off x="609600" y="838200"/>
            <a:ext cx="107823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algn="ctr">
              <a:lnSpc>
                <a:spcPct val="125000"/>
              </a:lnSpc>
              <a:buNone/>
            </a:pPr>
            <a:r>
              <a:rPr sz="3200" b="1" i="0" u="none">
                <a:solidFill>
                  <a:srgbClr val="0C3671"/>
                </a:solidFill>
                <a:latin typeface="微软雅黑"/>
                <a:ea typeface="微软雅黑"/>
                <a:cs typeface="微软雅黑"/>
              </a:rPr>
              <a:t>02 优化收益与风险分析</a:t>
            </a:r>
          </a:p>
        </p:txBody>
      </p:sp>
      <p:sp>
        <p:nvSpPr>
          <p:cNvPr id="5" name="AutoShape 5">
            <a:extLst xmlns:a="http://schemas.openxmlformats.org/drawingml/2006/main">
              <a:ext uri="{FF2B5EF4-FFF2-40B4-BE49-F238E27FC236}">
                <a16:creationId xmlns:a16="http://schemas.microsoft.com/office/drawing/2014/main" id="{69F64BD1-6176-4D67-9800-5C7D54F4A3C2}"/>
              </a:ext>
            </a:extLst>
          </p:cNvPr>
          <p:cNvSpPr>
            <a:spLocks xmlns:a="http://schemas.openxmlformats.org/drawingml/2006/main" noGrp="1"/>
          </p:cNvSpPr>
          <p:nvPr/>
        </p:nvSpPr>
        <p:spPr>
          <a:xfrm xmlns:a="http://schemas.openxmlformats.org/drawingml/2006/main">
            <a:off x="609600" y="1651000"/>
            <a:ext cx="5334000" cy="4699000"/>
          </a:xfrm>
          <a:prstGeom xmlns:a="http://schemas.openxmlformats.org/drawingml/2006/main" prst="roundRect">
            <a:avLst>
              <a:gd name="adj" fmla="val 3243"/>
            </a:avLst>
          </a:prstGeom>
          <a:solidFill xmlns:a="http://schemas.openxmlformats.org/drawingml/2006/main">
            <a:srgbClr val="EFF6FF">
              <a:alpha val="100000"/>
            </a:srgbClr>
          </a:solidFill>
          <a:ln xmlns:a="http://schemas.openxmlformats.org/drawingml/2006/main" w="12700" cmpd="sng">
            <a:solidFill>
              <a:srgbClr val="BFDBFE">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6" name="Picture 6"/>
          <p:cNvPicPr>
            <a:picLocks xmlns:a="http://schemas.openxmlformats.org/drawingml/2006/main" noChangeAspect="1"/>
          </p:cNvPicPr>
          <p:nvPr/>
        </p:nvPicPr>
        <p:blipFill>
          <a:blip xmlns:r="http://schemas.openxmlformats.org/officeDocument/2006/relationships" xmlns:a="http://schemas.openxmlformats.org/drawingml/2006/main" r:embed="Rcd1929f5749c4480"/>
          <a:stretch xmlns:a="http://schemas.openxmlformats.org/drawingml/2006/main">
            <a:fillRect l="0" t="0" r="0" b="0"/>
          </a:stretch>
        </p:blipFill>
        <p:spPr>
          <a:xfrm xmlns:a="http://schemas.openxmlformats.org/drawingml/2006/main">
            <a:off x="889000" y="1905000"/>
            <a:ext cx="406400" cy="406400"/>
          </a:xfrm>
          <a:prstGeom xmlns:a="http://schemas.openxmlformats.org/drawingml/2006/main" prst="rect">
            <a:avLst/>
          </a:prstGeom>
        </p:spPr>
      </p:pic>
      <p:sp>
        <p:nvSpPr>
          <p:cNvPr id="7" name="AutoShape 7">
            <a:extLst xmlns:a="http://schemas.openxmlformats.org/drawingml/2006/main">
              <a:ext uri="{FF2B5EF4-FFF2-40B4-BE49-F238E27FC236}">
                <a16:creationId xmlns:a16="http://schemas.microsoft.com/office/drawing/2014/main" id="{781B4974-E1E0-4582-A949-756B4F0C2CFC}"/>
              </a:ext>
            </a:extLst>
          </p:cNvPr>
          <p:cNvSpPr>
            <a:spLocks xmlns:a="http://schemas.openxmlformats.org/drawingml/2006/main" noGrp="1"/>
          </p:cNvSpPr>
          <p:nvPr/>
        </p:nvSpPr>
        <p:spPr>
          <a:xfrm xmlns:a="http://schemas.openxmlformats.org/drawingml/2006/main">
            <a:off x="1397000" y="1879600"/>
            <a:ext cx="4064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1E40AF"/>
                </a:solidFill>
                <a:latin typeface="Noto Sans SC"/>
                <a:ea typeface="Noto Sans SC"/>
                <a:cs typeface="Noto Sans SC"/>
              </a:rPr>
              <a:t>性能与体验收益</a:t>
            </a:r>
          </a:p>
        </p:txBody>
      </p:sp>
      <p:sp>
        <p:nvSpPr>
          <p:cNvPr id="8" name="AutoShape 8">
            <a:extLst xmlns:a="http://schemas.openxmlformats.org/drawingml/2006/main">
              <a:ext uri="{FF2B5EF4-FFF2-40B4-BE49-F238E27FC236}">
                <a16:creationId xmlns:a16="http://schemas.microsoft.com/office/drawing/2014/main" id="{9CCC1E1E-561E-4BF0-9223-0DD3DE361D1D}"/>
              </a:ext>
            </a:extLst>
          </p:cNvPr>
          <p:cNvSpPr>
            <a:spLocks xmlns:a="http://schemas.openxmlformats.org/drawingml/2006/main" noGrp="1"/>
          </p:cNvSpPr>
          <p:nvPr/>
        </p:nvSpPr>
        <p:spPr>
          <a:xfrm xmlns:a="http://schemas.openxmlformats.org/drawingml/2006/main">
            <a:off x="863600" y="2667000"/>
            <a:ext cx="4826000" cy="1079500"/>
          </a:xfrm>
          <a:prstGeom xmlns:a="http://schemas.openxmlformats.org/drawingml/2006/main" prst="roundRect">
            <a:avLst>
              <a:gd name="adj" fmla="val 9411"/>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9" name="AutoShape 9">
            <a:extLst xmlns:a="http://schemas.openxmlformats.org/drawingml/2006/main">
              <a:ext uri="{FF2B5EF4-FFF2-40B4-BE49-F238E27FC236}">
                <a16:creationId xmlns:a16="http://schemas.microsoft.com/office/drawing/2014/main" id="{0996B540-6610-498D-946D-EEB79BB05857}"/>
              </a:ext>
            </a:extLst>
          </p:cNvPr>
          <p:cNvSpPr>
            <a:spLocks xmlns:a="http://schemas.openxmlformats.org/drawingml/2006/main" noGrp="1"/>
          </p:cNvSpPr>
          <p:nvPr/>
        </p:nvSpPr>
        <p:spPr>
          <a:xfrm xmlns:a="http://schemas.openxmlformats.org/drawingml/2006/main">
            <a:off x="1016000" y="2794000"/>
            <a:ext cx="4572000" cy="825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600" b="1" i="0" u="none">
                <a:solidFill>
                  <a:srgbClr val="1F2937"/>
                </a:solidFill>
                <a:latin typeface="Noto Sans SC"/>
                <a:ea typeface="Noto Sans SC"/>
                <a:cs typeface="Noto Sans SC"/>
              </a:rPr>
              <a:t>首屏收益：岗位页面不再等待远程模型，本地召回和规则评分可在百毫秒级返回。</a:t>
            </a:r>
          </a:p>
        </p:txBody>
      </p:sp>
      <p:sp>
        <p:nvSpPr>
          <p:cNvPr id="10" name="AutoShape 10">
            <a:extLst xmlns:a="http://schemas.openxmlformats.org/drawingml/2006/main">
              <a:ext uri="{FF2B5EF4-FFF2-40B4-BE49-F238E27FC236}">
                <a16:creationId xmlns:a16="http://schemas.microsoft.com/office/drawing/2014/main" id="{B96446D3-50AC-400E-8F09-BD249813FB14}"/>
              </a:ext>
            </a:extLst>
          </p:cNvPr>
          <p:cNvSpPr>
            <a:spLocks xmlns:a="http://schemas.openxmlformats.org/drawingml/2006/main" noGrp="1"/>
          </p:cNvSpPr>
          <p:nvPr/>
        </p:nvSpPr>
        <p:spPr>
          <a:xfrm xmlns:a="http://schemas.openxmlformats.org/drawingml/2006/main">
            <a:off x="863600" y="3937000"/>
            <a:ext cx="4826000" cy="1079500"/>
          </a:xfrm>
          <a:prstGeom xmlns:a="http://schemas.openxmlformats.org/drawingml/2006/main" prst="roundRect">
            <a:avLst>
              <a:gd name="adj" fmla="val 9411"/>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1" name="AutoShape 11">
            <a:extLst xmlns:a="http://schemas.openxmlformats.org/drawingml/2006/main">
              <a:ext uri="{FF2B5EF4-FFF2-40B4-BE49-F238E27FC236}">
                <a16:creationId xmlns:a16="http://schemas.microsoft.com/office/drawing/2014/main" id="{EA5450CF-7D97-4892-B8BE-9D6B946C6C09}"/>
              </a:ext>
            </a:extLst>
          </p:cNvPr>
          <p:cNvSpPr>
            <a:spLocks xmlns:a="http://schemas.openxmlformats.org/drawingml/2006/main" noGrp="1"/>
          </p:cNvSpPr>
          <p:nvPr/>
        </p:nvSpPr>
        <p:spPr>
          <a:xfrm xmlns:a="http://schemas.openxmlformats.org/drawingml/2006/main">
            <a:off x="1016000" y="4064000"/>
            <a:ext cx="4572000" cy="825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marL="0" indent="0" algn="l">
              <a:lnSpc>
                <a:spcPct val="108000"/>
              </a:lnSpc>
              <a:buNone/>
            </a:pPr>
            <a:r>
              <a:rPr sz="1600" b="1" i="0" u="none">
                <a:solidFill>
                  <a:srgbClr val="1F2937"/>
                </a:solidFill>
                <a:latin typeface="Noto Sans SC"/>
                <a:ea typeface="Noto Sans SC"/>
                <a:cs typeface="Noto Sans SC"/>
              </a:rPr>
              <a:t>调用收益：画像生成由多次语义请求合并为一次，仍保留角色协作、工具调用和交接日志。</a:t>
            </a:r>
          </a:p>
        </p:txBody>
      </p:sp>
      <p:sp>
        <p:nvSpPr>
          <p:cNvPr id="12" name="AutoShape 12">
            <a:extLst xmlns:a="http://schemas.openxmlformats.org/drawingml/2006/main">
              <a:ext uri="{FF2B5EF4-FFF2-40B4-BE49-F238E27FC236}">
                <a16:creationId xmlns:a16="http://schemas.microsoft.com/office/drawing/2014/main" id="{1596CD68-89E4-4E11-A3AF-30D003F3A6A9}"/>
              </a:ext>
            </a:extLst>
          </p:cNvPr>
          <p:cNvSpPr>
            <a:spLocks xmlns:a="http://schemas.openxmlformats.org/drawingml/2006/main" noGrp="1"/>
          </p:cNvSpPr>
          <p:nvPr/>
        </p:nvSpPr>
        <p:spPr>
          <a:xfrm xmlns:a="http://schemas.openxmlformats.org/drawingml/2006/main">
            <a:off x="863600" y="5080000"/>
            <a:ext cx="4826000" cy="1079500"/>
          </a:xfrm>
          <a:prstGeom xmlns:a="http://schemas.openxmlformats.org/drawingml/2006/main" prst="roundRect">
            <a:avLst>
              <a:gd name="adj" fmla="val 9411"/>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3" name="AutoShape 13">
            <a:extLst xmlns:a="http://schemas.openxmlformats.org/drawingml/2006/main">
              <a:ext uri="{FF2B5EF4-FFF2-40B4-BE49-F238E27FC236}">
                <a16:creationId xmlns:a16="http://schemas.microsoft.com/office/drawing/2014/main" id="{57F9915D-2A89-4776-B25C-CBBB0F42D887}"/>
              </a:ext>
            </a:extLst>
          </p:cNvPr>
          <p:cNvSpPr>
            <a:spLocks xmlns:a="http://schemas.openxmlformats.org/drawingml/2006/main" noGrp="1"/>
          </p:cNvSpPr>
          <p:nvPr/>
        </p:nvSpPr>
        <p:spPr>
          <a:xfrm xmlns:a="http://schemas.openxmlformats.org/drawingml/2006/main">
            <a:off x="1016000" y="5207000"/>
            <a:ext cx="4572000" cy="825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600" b="1" i="0" u="none">
                <a:solidFill>
                  <a:srgbClr val="1F2937"/>
                </a:solidFill>
                <a:latin typeface="Noto Sans SC"/>
                <a:ea typeface="Noto Sans SC"/>
                <a:cs typeface="Noto Sans SC"/>
              </a:rPr>
              <a:t>复用收益：AI 精排与成长路径写入 MySQL，刷新、重启和重复请求均可直接命中。</a:t>
            </a:r>
          </a:p>
        </p:txBody>
      </p:sp>
      <p:sp>
        <p:nvSpPr>
          <p:cNvPr id="14" name="AutoShape 14">
            <a:extLst xmlns:a="http://schemas.openxmlformats.org/drawingml/2006/main">
              <a:ext uri="{FF2B5EF4-FFF2-40B4-BE49-F238E27FC236}">
                <a16:creationId xmlns:a16="http://schemas.microsoft.com/office/drawing/2014/main" id="{4C9B3753-0905-4D03-9F77-FA6766DF592B}"/>
              </a:ext>
            </a:extLst>
          </p:cNvPr>
          <p:cNvSpPr>
            <a:spLocks xmlns:a="http://schemas.openxmlformats.org/drawingml/2006/main" noGrp="1"/>
          </p:cNvSpPr>
          <p:nvPr/>
        </p:nvSpPr>
        <p:spPr>
          <a:xfrm xmlns:a="http://schemas.openxmlformats.org/drawingml/2006/main">
            <a:off x="6248400" y="1651000"/>
            <a:ext cx="5334000" cy="4699000"/>
          </a:xfrm>
          <a:prstGeom xmlns:a="http://schemas.openxmlformats.org/drawingml/2006/main" prst="roundRect">
            <a:avLst>
              <a:gd name="adj" fmla="val 3243"/>
            </a:avLst>
          </a:prstGeom>
          <a:solidFill xmlns:a="http://schemas.openxmlformats.org/drawingml/2006/main">
            <a:srgbClr val="FFF7ED">
              <a:alpha val="100000"/>
            </a:srgbClr>
          </a:solidFill>
          <a:ln xmlns:a="http://schemas.openxmlformats.org/drawingml/2006/main" w="12700" cmpd="sng">
            <a:solidFill>
              <a:srgbClr val="FDBA74">
                <a:alpha val="10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pic>
        <p:nvPicPr>
          <p:cNvPr id="15" name="Picture 15"/>
          <p:cNvPicPr>
            <a:picLocks xmlns:a="http://schemas.openxmlformats.org/drawingml/2006/main" noChangeAspect="1"/>
          </p:cNvPicPr>
          <p:nvPr/>
        </p:nvPicPr>
        <p:blipFill>
          <a:blip xmlns:r="http://schemas.openxmlformats.org/officeDocument/2006/relationships" xmlns:a="http://schemas.openxmlformats.org/drawingml/2006/main" r:embed="Rafbb0c1aa749440d"/>
          <a:stretch xmlns:a="http://schemas.openxmlformats.org/drawingml/2006/main">
            <a:fillRect l="0" t="0" r="0" b="0"/>
          </a:stretch>
        </p:blipFill>
        <p:spPr>
          <a:xfrm xmlns:a="http://schemas.openxmlformats.org/drawingml/2006/main">
            <a:off x="6527800" y="1905000"/>
            <a:ext cx="406400" cy="406400"/>
          </a:xfrm>
          <a:prstGeom xmlns:a="http://schemas.openxmlformats.org/drawingml/2006/main" prst="rect">
            <a:avLst/>
          </a:prstGeom>
        </p:spPr>
      </p:pic>
      <p:sp>
        <p:nvSpPr>
          <p:cNvPr id="16" name="AutoShape 16">
            <a:extLst xmlns:a="http://schemas.openxmlformats.org/drawingml/2006/main">
              <a:ext uri="{FF2B5EF4-FFF2-40B4-BE49-F238E27FC236}">
                <a16:creationId xmlns:a16="http://schemas.microsoft.com/office/drawing/2014/main" id="{AA252C10-64BF-4C87-85B6-797DD1FFF67A}"/>
              </a:ext>
            </a:extLst>
          </p:cNvPr>
          <p:cNvSpPr>
            <a:spLocks xmlns:a="http://schemas.openxmlformats.org/drawingml/2006/main" noGrp="1"/>
          </p:cNvSpPr>
          <p:nvPr/>
        </p:nvSpPr>
        <p:spPr>
          <a:xfrm xmlns:a="http://schemas.openxmlformats.org/drawingml/2006/main">
            <a:off x="7010400" y="1879600"/>
            <a:ext cx="4191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25000"/>
              </a:lnSpc>
              <a:buNone/>
            </a:pPr>
            <a:r>
              <a:rPr sz="2200" b="1" i="0" u="none">
                <a:solidFill>
                  <a:srgbClr val="B45309"/>
                </a:solidFill>
                <a:latin typeface="Noto Sans SC"/>
                <a:ea typeface="Noto Sans SC"/>
                <a:cs typeface="Noto Sans SC"/>
              </a:rPr>
              <a:t>风险与治理</a:t>
            </a:r>
          </a:p>
        </p:txBody>
      </p:sp>
      <p:sp>
        <p:nvSpPr>
          <p:cNvPr id="17" name="AutoShape 17">
            <a:extLst xmlns:a="http://schemas.openxmlformats.org/drawingml/2006/main">
              <a:ext uri="{FF2B5EF4-FFF2-40B4-BE49-F238E27FC236}">
                <a16:creationId xmlns:a16="http://schemas.microsoft.com/office/drawing/2014/main" id="{1E68289F-5328-4D05-B888-1773121B4544}"/>
              </a:ext>
            </a:extLst>
          </p:cNvPr>
          <p:cNvSpPr>
            <a:spLocks xmlns:a="http://schemas.openxmlformats.org/drawingml/2006/main" noGrp="1"/>
          </p:cNvSpPr>
          <p:nvPr/>
        </p:nvSpPr>
        <p:spPr>
          <a:xfrm xmlns:a="http://schemas.openxmlformats.org/drawingml/2006/main">
            <a:off x="6502400" y="2667000"/>
            <a:ext cx="2349500" cy="1524000"/>
          </a:xfrm>
          <a:prstGeom xmlns:a="http://schemas.openxmlformats.org/drawingml/2006/main" prst="roundRect">
            <a:avLst>
              <a:gd name="adj" fmla="val 6666"/>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8" name="AutoShape 18">
            <a:extLst xmlns:a="http://schemas.openxmlformats.org/drawingml/2006/main">
              <a:ext uri="{FF2B5EF4-FFF2-40B4-BE49-F238E27FC236}">
                <a16:creationId xmlns:a16="http://schemas.microsoft.com/office/drawing/2014/main" id="{703D253D-55AD-4A63-852F-82EB7EBBF6ED}"/>
              </a:ext>
            </a:extLst>
          </p:cNvPr>
          <p:cNvSpPr>
            <a:spLocks xmlns:a="http://schemas.openxmlformats.org/drawingml/2006/main" noGrp="1"/>
          </p:cNvSpPr>
          <p:nvPr/>
        </p:nvSpPr>
        <p:spPr>
          <a:xfrm xmlns:a="http://schemas.openxmlformats.org/drawingml/2006/main">
            <a:off x="6629400" y="2794000"/>
            <a:ext cx="20955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500" b="1" i="0" u="none">
                <a:solidFill>
                  <a:srgbClr val="1F2937"/>
                </a:solidFill>
                <a:latin typeface="Noto Sans SC"/>
                <a:ea typeface="Noto Sans SC"/>
                <a:cs typeface="Noto Sans SC"/>
              </a:rPr>
              <a:t>网络与模型波动</a:t>
            </a:r>
          </a:p>
          <a:p xmlns:a="http://schemas.openxmlformats.org/drawingml/2006/main">
            <a:pPr indent="0" algn="l">
              <a:lnSpc>
                <a:spcPct val="108000"/>
              </a:lnSpc>
              <a:buNone/>
            </a:pPr>
            <a:r>
              <a:rPr sz="1200" b="0" i="0" u="none">
                <a:solidFill>
                  <a:srgbClr val="4B5563"/>
                </a:solidFill>
                <a:latin typeface="Noto Sans SC"/>
                <a:ea typeface="Noto Sans SC"/>
                <a:cs typeface="Noto Sans SC"/>
              </a:rPr>
              <a:t>增加重试、超时提示和本地结果保护，避免远程调用阻断页面。</a:t>
            </a:r>
          </a:p>
        </p:txBody>
      </p:sp>
      <p:sp>
        <p:nvSpPr>
          <p:cNvPr id="19" name="AutoShape 19">
            <a:extLst xmlns:a="http://schemas.openxmlformats.org/drawingml/2006/main">
              <a:ext uri="{FF2B5EF4-FFF2-40B4-BE49-F238E27FC236}">
                <a16:creationId xmlns:a16="http://schemas.microsoft.com/office/drawing/2014/main" id="{CAEB2889-3804-48FB-939D-F36F036EF168}"/>
              </a:ext>
            </a:extLst>
          </p:cNvPr>
          <p:cNvSpPr>
            <a:spLocks xmlns:a="http://schemas.openxmlformats.org/drawingml/2006/main" noGrp="1"/>
          </p:cNvSpPr>
          <p:nvPr/>
        </p:nvSpPr>
        <p:spPr>
          <a:xfrm xmlns:a="http://schemas.openxmlformats.org/drawingml/2006/main">
            <a:off x="8978900" y="2667000"/>
            <a:ext cx="2349500" cy="1524000"/>
          </a:xfrm>
          <a:prstGeom xmlns:a="http://schemas.openxmlformats.org/drawingml/2006/main" prst="roundRect">
            <a:avLst>
              <a:gd name="adj" fmla="val 6666"/>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0" name="AutoShape 20">
            <a:extLst xmlns:a="http://schemas.openxmlformats.org/drawingml/2006/main">
              <a:ext uri="{FF2B5EF4-FFF2-40B4-BE49-F238E27FC236}">
                <a16:creationId xmlns:a16="http://schemas.microsoft.com/office/drawing/2014/main" id="{CB630348-314A-459B-884E-083185E43431}"/>
              </a:ext>
            </a:extLst>
          </p:cNvPr>
          <p:cNvSpPr>
            <a:spLocks xmlns:a="http://schemas.openxmlformats.org/drawingml/2006/main" noGrp="1"/>
          </p:cNvSpPr>
          <p:nvPr/>
        </p:nvSpPr>
        <p:spPr>
          <a:xfrm xmlns:a="http://schemas.openxmlformats.org/drawingml/2006/main">
            <a:off x="9105900" y="2794000"/>
            <a:ext cx="20955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500" b="1" i="0" u="none">
                <a:solidFill>
                  <a:srgbClr val="1F2937"/>
                </a:solidFill>
                <a:latin typeface="Noto Sans SC"/>
                <a:ea typeface="Noto Sans SC"/>
                <a:cs typeface="Noto Sans SC"/>
              </a:rPr>
              <a:t>结构化输出偏差</a:t>
            </a:r>
          </a:p>
          <a:p xmlns:a="http://schemas.openxmlformats.org/drawingml/2006/main">
            <a:pPr indent="0" algn="l">
              <a:lnSpc>
                <a:spcPct val="108000"/>
              </a:lnSpc>
              <a:buNone/>
            </a:pPr>
            <a:r>
              <a:rPr sz="1200" b="0" i="0" u="none">
                <a:solidFill>
                  <a:srgbClr val="4B5563"/>
                </a:solidFill>
                <a:latin typeface="Noto Sans SC"/>
                <a:ea typeface="Noto Sans SC"/>
                <a:cs typeface="Noto Sans SC"/>
              </a:rPr>
              <a:t>使用 JSON Schema、工具审计和最终质量复核，降低字段缺失与格式错误。</a:t>
            </a:r>
          </a:p>
        </p:txBody>
      </p:sp>
      <p:sp>
        <p:nvSpPr>
          <p:cNvPr id="21" name="AutoShape 21">
            <a:extLst xmlns:a="http://schemas.openxmlformats.org/drawingml/2006/main">
              <a:ext uri="{FF2B5EF4-FFF2-40B4-BE49-F238E27FC236}">
                <a16:creationId xmlns:a16="http://schemas.microsoft.com/office/drawing/2014/main" id="{DFB2138C-6977-44AB-8DCB-22D7611C854A}"/>
              </a:ext>
            </a:extLst>
          </p:cNvPr>
          <p:cNvSpPr>
            <a:spLocks xmlns:a="http://schemas.openxmlformats.org/drawingml/2006/main" noGrp="1"/>
          </p:cNvSpPr>
          <p:nvPr/>
        </p:nvSpPr>
        <p:spPr>
          <a:xfrm xmlns:a="http://schemas.openxmlformats.org/drawingml/2006/main">
            <a:off x="6502400" y="4318000"/>
            <a:ext cx="2349500" cy="1524000"/>
          </a:xfrm>
          <a:prstGeom xmlns:a="http://schemas.openxmlformats.org/drawingml/2006/main" prst="roundRect">
            <a:avLst>
              <a:gd name="adj" fmla="val 6666"/>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2" name="AutoShape 22">
            <a:extLst xmlns:a="http://schemas.openxmlformats.org/drawingml/2006/main">
              <a:ext uri="{FF2B5EF4-FFF2-40B4-BE49-F238E27FC236}">
                <a16:creationId xmlns:a16="http://schemas.microsoft.com/office/drawing/2014/main" id="{AC059375-B46A-468C-A92B-FC1704C9182A}"/>
              </a:ext>
            </a:extLst>
          </p:cNvPr>
          <p:cNvSpPr>
            <a:spLocks xmlns:a="http://schemas.openxmlformats.org/drawingml/2006/main" noGrp="1"/>
          </p:cNvSpPr>
          <p:nvPr/>
        </p:nvSpPr>
        <p:spPr>
          <a:xfrm xmlns:a="http://schemas.openxmlformats.org/drawingml/2006/main">
            <a:off x="6629400" y="4445000"/>
            <a:ext cx="20955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500" b="1" i="0" u="none">
                <a:solidFill>
                  <a:srgbClr val="1F2937"/>
                </a:solidFill>
                <a:latin typeface="Noto Sans SC"/>
                <a:ea typeface="Noto Sans SC"/>
                <a:cs typeface="Noto Sans SC"/>
              </a:rPr>
              <a:t>数据质量风险</a:t>
            </a:r>
          </a:p>
          <a:p xmlns:a="http://schemas.openxmlformats.org/drawingml/2006/main">
            <a:pPr indent="0" algn="l">
              <a:lnSpc>
                <a:spcPct val="108000"/>
              </a:lnSpc>
              <a:buNone/>
            </a:pPr>
            <a:r>
              <a:rPr sz="1200" b="0" i="0" u="none">
                <a:solidFill>
                  <a:srgbClr val="4B5563"/>
                </a:solidFill>
                <a:latin typeface="Noto Sans SC"/>
                <a:ea typeface="Noto Sans SC"/>
                <a:cs typeface="Noto Sans SC"/>
              </a:rPr>
              <a:t>对姓名、专业、年级和岗位标题进行归一化，保留证据来源便于人工检查。</a:t>
            </a:r>
          </a:p>
        </p:txBody>
      </p:sp>
      <p:sp>
        <p:nvSpPr>
          <p:cNvPr id="23" name="AutoShape 23">
            <a:extLst xmlns:a="http://schemas.openxmlformats.org/drawingml/2006/main">
              <a:ext uri="{FF2B5EF4-FFF2-40B4-BE49-F238E27FC236}">
                <a16:creationId xmlns:a16="http://schemas.microsoft.com/office/drawing/2014/main" id="{C39A4973-77F9-4791-B67B-B45D80C7F3EE}"/>
              </a:ext>
            </a:extLst>
          </p:cNvPr>
          <p:cNvSpPr>
            <a:spLocks xmlns:a="http://schemas.openxmlformats.org/drawingml/2006/main" noGrp="1"/>
          </p:cNvSpPr>
          <p:nvPr/>
        </p:nvSpPr>
        <p:spPr>
          <a:xfrm xmlns:a="http://schemas.openxmlformats.org/drawingml/2006/main">
            <a:off x="8978900" y="4318000"/>
            <a:ext cx="2349500" cy="1524000"/>
          </a:xfrm>
          <a:prstGeom xmlns:a="http://schemas.openxmlformats.org/drawingml/2006/main" prst="roundRect">
            <a:avLst>
              <a:gd name="adj" fmla="val 6666"/>
            </a:avLst>
          </a:prstGeom>
          <a:solidFill xmlns:a="http://schemas.openxmlformats.org/drawingml/2006/main">
            <a:srgbClr val="FFFFFF">
              <a:alpha val="100000"/>
            </a:srgbClr>
          </a:solidFill>
          <a:ln xmlns:a="http://schemas.openxmlformats.org/drawingml/2006/main" w="25400" cmpd="sng">
            <a:noFill/>
            <a:prstDash val="solid"/>
          </a:ln>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24" name="AutoShape 24">
            <a:extLst xmlns:a="http://schemas.openxmlformats.org/drawingml/2006/main">
              <a:ext uri="{FF2B5EF4-FFF2-40B4-BE49-F238E27FC236}">
                <a16:creationId xmlns:a16="http://schemas.microsoft.com/office/drawing/2014/main" id="{78E90B84-7DAD-434D-B6C7-D84F4D0C577A}"/>
              </a:ext>
            </a:extLst>
          </p:cNvPr>
          <p:cNvSpPr>
            <a:spLocks xmlns:a="http://schemas.openxmlformats.org/drawingml/2006/main" noGrp="1"/>
          </p:cNvSpPr>
          <p:nvPr/>
        </p:nvSpPr>
        <p:spPr>
          <a:xfrm xmlns:a="http://schemas.openxmlformats.org/drawingml/2006/main">
            <a:off x="9105900" y="4445000"/>
            <a:ext cx="2095500" cy="1270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l">
              <a:lnSpc>
                <a:spcPct val="108000"/>
              </a:lnSpc>
              <a:buNone/>
            </a:pPr>
            <a:r>
              <a:rPr sz="1500" b="1" i="0" u="none">
                <a:solidFill>
                  <a:srgbClr val="1F2937"/>
                </a:solidFill>
                <a:latin typeface="Noto Sans SC"/>
                <a:ea typeface="Noto Sans SC"/>
                <a:cs typeface="Noto Sans SC"/>
              </a:rPr>
              <a:t>缓存一致性风险</a:t>
            </a:r>
          </a:p>
          <a:p xmlns:a="http://schemas.openxmlformats.org/drawingml/2006/main">
            <a:pPr indent="0" algn="l">
              <a:lnSpc>
                <a:spcPct val="108000"/>
              </a:lnSpc>
              <a:buNone/>
            </a:pPr>
            <a:r>
              <a:rPr sz="1200" b="0" i="0" u="none">
                <a:solidFill>
                  <a:srgbClr val="4B5563"/>
                </a:solidFill>
                <a:latin typeface="Noto Sans SC"/>
                <a:ea typeface="Noto Sans SC"/>
                <a:cs typeface="Noto Sans SC"/>
              </a:rPr>
              <a:t>岗位库或算法升级时版本键变化，旧缓存自动失效，避免复用过期结果。</a:t>
            </a:r>
          </a:p>
        </p:txBody>
      </p:sp>
    </p:spTree>
    <p:extLst>
      <p:ext uri="{BB962C8B-B14F-4D97-AF65-F5344CB8AC3E}">
        <p14:creationId xmlns:p14="http://schemas.microsoft.com/office/powerpoint/2010/main" val="454939094"/>
      </p:ext>
    </p:extLst>
  </p:cSld>
</p:sld>
</file>

<file path=ppt/slides/slide20.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f4505780793e4736"/>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133BCDB2-4242-498D-9FF3-BD5F0FE1EA89}"/>
              </a:ext>
            </a:extLst>
          </p:cNvPr>
          <p:cNvSpPr>
            <a:spLocks xmlns:a="http://schemas.openxmlformats.org/drawingml/2006/main" noGrp="1"/>
          </p:cNvSpPr>
          <p:nvPr/>
        </p:nvSpPr>
        <p:spPr>
          <a:xfrm xmlns:a="http://schemas.openxmlformats.org/drawingml/2006/main">
            <a:off x="0" y="1778000"/>
            <a:ext cx="12001500" cy="1524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9600" b="1" i="0" u="none">
                <a:solidFill>
                  <a:srgbClr val="103A6E"/>
                </a:solidFill>
                <a:latin typeface="微软雅黑"/>
                <a:ea typeface="微软雅黑"/>
                <a:cs typeface="微软雅黑"/>
              </a:rPr>
              <a:t>05</a:t>
            </a:r>
          </a:p>
        </p:txBody>
      </p:sp>
      <p:sp>
        <p:nvSpPr>
          <p:cNvPr id="4" name="AutoShape 4">
            <a:extLst xmlns:a="http://schemas.openxmlformats.org/drawingml/2006/main">
              <a:ext uri="{FF2B5EF4-FFF2-40B4-BE49-F238E27FC236}">
                <a16:creationId xmlns:a16="http://schemas.microsoft.com/office/drawing/2014/main" id="{6A066CCA-8530-4630-99E5-F57FD1DF92DD}"/>
              </a:ext>
            </a:extLst>
          </p:cNvPr>
          <p:cNvSpPr>
            <a:spLocks xmlns:a="http://schemas.openxmlformats.org/drawingml/2006/main" noGrp="1"/>
          </p:cNvSpPr>
          <p:nvPr/>
        </p:nvSpPr>
        <p:spPr>
          <a:xfrm xmlns:a="http://schemas.openxmlformats.org/drawingml/2006/main">
            <a:off x="0" y="3556000"/>
            <a:ext cx="12001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4200" b="1" i="0" u="none">
                <a:solidFill>
                  <a:srgbClr val="1F2937"/>
                </a:solidFill>
                <a:latin typeface="Noto Sans SC"/>
                <a:ea typeface="Noto Sans SC"/>
                <a:cs typeface="Noto Sans SC"/>
              </a:rPr>
              <a:t>总结与展望</a:t>
            </a:r>
          </a:p>
        </p:txBody>
      </p:sp>
      <p:sp>
        <p:nvSpPr>
          <p:cNvPr id="5" name="AutoShape 5">
            <a:extLst xmlns:a="http://schemas.openxmlformats.org/drawingml/2006/main">
              <a:ext uri="{FF2B5EF4-FFF2-40B4-BE49-F238E27FC236}">
                <a16:creationId xmlns:a16="http://schemas.microsoft.com/office/drawing/2014/main" id="{C29BA542-41ED-47C8-8544-5FAEA346D238}"/>
              </a:ext>
            </a:extLst>
          </p:cNvPr>
          <p:cNvSpPr>
            <a:spLocks xmlns:a="http://schemas.openxmlformats.org/drawingml/2006/main" noGrp="1"/>
          </p:cNvSpPr>
          <p:nvPr/>
        </p:nvSpPr>
        <p:spPr>
          <a:xfrm xmlns:a="http://schemas.openxmlformats.org/drawingml/2006/main">
            <a:off x="0" y="4953000"/>
            <a:ext cx="120015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800" b="0" i="0" u="none">
                <a:solidFill>
                  <a:srgbClr val="6B7280"/>
                </a:solidFill>
                <a:latin typeface="Noto Sans SC"/>
                <a:ea typeface="Noto Sans SC"/>
                <a:cs typeface="Noto Sans SC"/>
              </a:rPr>
              <a:t>项目总结 | 应用价值 | 后续规划</a:t>
            </a:r>
          </a:p>
        </p:txBody>
      </p:sp>
    </p:spTree>
    <p:extLst>
      <p:ext uri="{BB962C8B-B14F-4D97-AF65-F5344CB8AC3E}">
        <p14:creationId xmlns:p14="http://schemas.microsoft.com/office/powerpoint/2010/main" val="419281836"/>
      </p:ext>
    </p:extLst>
  </p:cSld>
</p:sld>
</file>

<file path=ppt/slides/slide21.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f21dd599c9904c33"/>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4" name="AutoShape 4">
            <a:extLst xmlns:a="http://schemas.openxmlformats.org/drawingml/2006/main">
              <a:ext uri="{FF2B5EF4-FFF2-40B4-BE49-F238E27FC236}">
                <a16:creationId xmlns:a16="http://schemas.microsoft.com/office/drawing/2014/main" id="{0BFF120C-1F09-4751-B17F-762D7ABC72A4}"/>
              </a:ext>
            </a:extLst>
          </p:cNvPr>
          <p:cNvSpPr>
            <a:spLocks xmlns:a="http://schemas.openxmlformats.org/drawingml/2006/main" noGrp="1"/>
          </p:cNvSpPr>
          <p:nvPr/>
        </p:nvSpPr>
        <p:spPr>
          <a:xfrm xmlns:a="http://schemas.openxmlformats.org/drawingml/2006/main">
            <a:off x="0" y="444500"/>
            <a:ext cx="12001500" cy="762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p>
        </p:txBody>
      </p:sp>
      <p:sp>
        <p:nvSpPr>
          <p:cNvPr id="5" name="AutoShape 5">
            <a:extLst xmlns:a="http://schemas.openxmlformats.org/drawingml/2006/main">
              <a:ext uri="{FF2B5EF4-FFF2-40B4-BE49-F238E27FC236}">
                <a16:creationId xmlns:a16="http://schemas.microsoft.com/office/drawing/2014/main" id="{7D5EFC06-45E4-4E41-AE2F-936052F3BE59}"/>
              </a:ext>
            </a:extLst>
          </p:cNvPr>
          <p:cNvSpPr>
            <a:spLocks xmlns:a="http://schemas.openxmlformats.org/drawingml/2006/main" noGrp="1"/>
          </p:cNvSpPr>
          <p:nvPr/>
        </p:nvSpPr>
        <p:spPr>
          <a:xfrm xmlns:a="http://schemas.openxmlformats.org/drawingml/2006/main">
            <a:off x="508000" y="1524000"/>
            <a:ext cx="5461000" cy="4826000"/>
          </a:xfrm>
          <a:prstGeom xmlns:a="http://schemas.openxmlformats.org/drawingml/2006/main" prst="roundRect">
            <a:avLst>
              <a:gd name="adj" fmla="val 3157"/>
            </a:avLst>
          </a:prstGeom>
          <a:solidFill xmlns:a="http://schemas.openxmlformats.org/drawingml/2006/main">
            <a:srgbClr val="FFFFFF">
              <a:alpha val="95000"/>
            </a:srgbClr>
          </a:solidFill>
          <a:ln xmlns:a="http://schemas.openxmlformats.org/drawingml/2006/main" w="25400" cmpd="sng">
            <a:solidFill>
              <a:srgbClr val="3B82F6">
                <a:alpha val="4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6" name="AutoShape 6">
            <a:extLst xmlns:a="http://schemas.openxmlformats.org/drawingml/2006/main">
              <a:ext uri="{FF2B5EF4-FFF2-40B4-BE49-F238E27FC236}">
                <a16:creationId xmlns:a16="http://schemas.microsoft.com/office/drawing/2014/main" id="{79632BF7-2857-45BC-9CBB-CB1C32F59880}"/>
              </a:ext>
            </a:extLst>
          </p:cNvPr>
          <p:cNvSpPr>
            <a:spLocks xmlns:a="http://schemas.openxmlformats.org/drawingml/2006/main" noGrp="1"/>
          </p:cNvSpPr>
          <p:nvPr/>
        </p:nvSpPr>
        <p:spPr>
          <a:xfrm xmlns:a="http://schemas.openxmlformats.org/drawingml/2006/main">
            <a:off x="762000" y="1778000"/>
            <a:ext cx="4953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2400" b="1" i="0" u="none">
                <a:solidFill>
                  <a:srgbClr val="2563EB"/>
                </a:solidFill>
                <a:latin typeface="Noto Sans SC"/>
                <a:ea typeface="Noto Sans SC"/>
                <a:cs typeface="Noto Sans SC"/>
              </a:rPr>
              <a:t>PROJECT SUMMARY · 项目总结</a:t>
            </a:r>
          </a:p>
        </p:txBody>
      </p:sp>
      <p:pic>
        <p:nvPicPr>
          <p:cNvPr id="7" name="Picture 7"/>
          <p:cNvPicPr>
            <a:picLocks xmlns:a="http://schemas.openxmlformats.org/drawingml/2006/main" noChangeAspect="1"/>
          </p:cNvPicPr>
          <p:nvPr/>
        </p:nvPicPr>
        <p:blipFill>
          <a:blip xmlns:r="http://schemas.openxmlformats.org/officeDocument/2006/relationships" xmlns:a="http://schemas.openxmlformats.org/drawingml/2006/main" r:embed="R4340a27721114967"/>
          <a:stretch xmlns:a="http://schemas.openxmlformats.org/drawingml/2006/main">
            <a:fillRect l="0" t="0" r="0" b="0"/>
          </a:stretch>
        </p:blipFill>
        <p:spPr>
          <a:xfrm xmlns:a="http://schemas.openxmlformats.org/drawingml/2006/main">
            <a:off x="825500" y="2667000"/>
            <a:ext cx="406400" cy="406400"/>
          </a:xfrm>
          <a:prstGeom xmlns:a="http://schemas.openxmlformats.org/drawingml/2006/main" prst="rect">
            <a:avLst/>
          </a:prstGeom>
        </p:spPr>
      </p:pic>
      <p:sp>
        <p:nvSpPr>
          <p:cNvPr id="8" name="AutoShape 8">
            <a:extLst xmlns:a="http://schemas.openxmlformats.org/drawingml/2006/main">
              <a:ext uri="{FF2B5EF4-FFF2-40B4-BE49-F238E27FC236}">
                <a16:creationId xmlns:a16="http://schemas.microsoft.com/office/drawing/2014/main" id="{FB80D0EC-56BF-49D4-BFE5-FCBEC8A1F731}"/>
              </a:ext>
            </a:extLst>
          </p:cNvPr>
          <p:cNvSpPr>
            <a:spLocks xmlns:a="http://schemas.openxmlformats.org/drawingml/2006/main" noGrp="1"/>
          </p:cNvSpPr>
          <p:nvPr/>
        </p:nvSpPr>
        <p:spPr>
          <a:xfrm xmlns:a="http://schemas.openxmlformats.org/drawingml/2006/main">
            <a:off x="1397000" y="26035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形成学生成长诊断闭环</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贯通材料采集、能力画像、岗位匹配、课程映射与成长建议，支持诊断和就业协同。</a:t>
            </a:r>
          </a:p>
        </p:txBody>
      </p:sp>
      <p:pic>
        <p:nvPicPr>
          <p:cNvPr id="9" name="Picture 9"/>
          <p:cNvPicPr>
            <a:picLocks xmlns:a="http://schemas.openxmlformats.org/drawingml/2006/main" noChangeAspect="1"/>
          </p:cNvPicPr>
          <p:nvPr/>
        </p:nvPicPr>
        <p:blipFill>
          <a:blip xmlns:r="http://schemas.openxmlformats.org/officeDocument/2006/relationships" xmlns:a="http://schemas.openxmlformats.org/drawingml/2006/main" r:embed="Rb411913d10f54c6d"/>
          <a:stretch xmlns:a="http://schemas.openxmlformats.org/drawingml/2006/main">
            <a:fillRect l="0" t="0" r="0" b="0"/>
          </a:stretch>
        </p:blipFill>
        <p:spPr>
          <a:xfrm xmlns:a="http://schemas.openxmlformats.org/drawingml/2006/main">
            <a:off x="825500" y="3873500"/>
            <a:ext cx="406400" cy="406400"/>
          </a:xfrm>
          <a:prstGeom xmlns:a="http://schemas.openxmlformats.org/drawingml/2006/main" prst="rect">
            <a:avLst/>
          </a:prstGeom>
        </p:spPr>
      </p:pic>
      <p:sp>
        <p:nvSpPr>
          <p:cNvPr id="10" name="AutoShape 10">
            <a:extLst xmlns:a="http://schemas.openxmlformats.org/drawingml/2006/main">
              <a:ext uri="{FF2B5EF4-FFF2-40B4-BE49-F238E27FC236}">
                <a16:creationId xmlns:a16="http://schemas.microsoft.com/office/drawing/2014/main" id="{17337522-29C1-48E3-8E76-6655D3554D2F}"/>
              </a:ext>
            </a:extLst>
          </p:cNvPr>
          <p:cNvSpPr>
            <a:spLocks xmlns:a="http://schemas.openxmlformats.org/drawingml/2006/main" noGrp="1"/>
          </p:cNvSpPr>
          <p:nvPr/>
        </p:nvSpPr>
        <p:spPr>
          <a:xfrm xmlns:a="http://schemas.openxmlformats.org/drawingml/2006/main">
            <a:off x="1397000" y="38100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兼顾智能质量与系统效率</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本地算法负责稳定评分和首屏响应，大模型负责语义增强，多工具负责审计留痕。</a:t>
            </a:r>
          </a:p>
        </p:txBody>
      </p:sp>
      <p:pic>
        <p:nvPicPr>
          <p:cNvPr id="11" name="Picture 11"/>
          <p:cNvPicPr>
            <a:picLocks xmlns:a="http://schemas.openxmlformats.org/drawingml/2006/main" noChangeAspect="1"/>
          </p:cNvPicPr>
          <p:nvPr/>
        </p:nvPicPr>
        <p:blipFill>
          <a:blip xmlns:r="http://schemas.openxmlformats.org/officeDocument/2006/relationships" xmlns:a="http://schemas.openxmlformats.org/drawingml/2006/main" r:embed="Rd34a5a56a9c946a8"/>
          <a:stretch xmlns:a="http://schemas.openxmlformats.org/drawingml/2006/main">
            <a:fillRect l="0" t="0" r="0" b="0"/>
          </a:stretch>
        </p:blipFill>
        <p:spPr>
          <a:xfrm xmlns:a="http://schemas.openxmlformats.org/drawingml/2006/main">
            <a:off x="825500" y="5080000"/>
            <a:ext cx="406400" cy="406400"/>
          </a:xfrm>
          <a:prstGeom xmlns:a="http://schemas.openxmlformats.org/drawingml/2006/main" prst="rect">
            <a:avLst/>
          </a:prstGeom>
        </p:spPr>
      </p:pic>
      <p:sp>
        <p:nvSpPr>
          <p:cNvPr id="12" name="AutoShape 12">
            <a:extLst xmlns:a="http://schemas.openxmlformats.org/drawingml/2006/main">
              <a:ext uri="{FF2B5EF4-FFF2-40B4-BE49-F238E27FC236}">
                <a16:creationId xmlns:a16="http://schemas.microsoft.com/office/drawing/2014/main" id="{523749B4-E902-4443-A077-A31842204CBC}"/>
              </a:ext>
            </a:extLst>
          </p:cNvPr>
          <p:cNvSpPr>
            <a:spLocks xmlns:a="http://schemas.openxmlformats.org/drawingml/2006/main" noGrp="1"/>
          </p:cNvSpPr>
          <p:nvPr/>
        </p:nvSpPr>
        <p:spPr>
          <a:xfrm xmlns:a="http://schemas.openxmlformats.org/drawingml/2006/main">
            <a:off x="1397000" y="50165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建立可复用工程能力</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结构化 JSON、版本化 MySQL 缓存、导出与历史记录提升系统可维护性和可复现性。</a:t>
            </a:r>
          </a:p>
        </p:txBody>
      </p:sp>
      <p:sp>
        <p:nvSpPr>
          <p:cNvPr id="13" name="AutoShape 13">
            <a:extLst xmlns:a="http://schemas.openxmlformats.org/drawingml/2006/main">
              <a:ext uri="{FF2B5EF4-FFF2-40B4-BE49-F238E27FC236}">
                <a16:creationId xmlns:a16="http://schemas.microsoft.com/office/drawing/2014/main" id="{6DE6DF0A-F961-4648-8C62-83654153BA86}"/>
              </a:ext>
            </a:extLst>
          </p:cNvPr>
          <p:cNvSpPr>
            <a:spLocks xmlns:a="http://schemas.openxmlformats.org/drawingml/2006/main" noGrp="1"/>
          </p:cNvSpPr>
          <p:nvPr/>
        </p:nvSpPr>
        <p:spPr>
          <a:xfrm xmlns:a="http://schemas.openxmlformats.org/drawingml/2006/main">
            <a:off x="6032500" y="1524000"/>
            <a:ext cx="5461000" cy="4826000"/>
          </a:xfrm>
          <a:prstGeom xmlns:a="http://schemas.openxmlformats.org/drawingml/2006/main" prst="roundRect">
            <a:avLst>
              <a:gd name="adj" fmla="val 3157"/>
            </a:avLst>
          </a:prstGeom>
          <a:solidFill xmlns:a="http://schemas.openxmlformats.org/drawingml/2006/main">
            <a:srgbClr val="FFFFFF">
              <a:alpha val="95000"/>
            </a:srgbClr>
          </a:solidFill>
          <a:ln xmlns:a="http://schemas.openxmlformats.org/drawingml/2006/main" w="25400" cmpd="sng">
            <a:solidFill>
              <a:srgbClr val="F97316">
                <a:alpha val="40000"/>
              </a:srgbClr>
            </a:solidFill>
            <a:prstDash val="solid"/>
          </a:ln>
          <a:effectLst xmlns:a="http://schemas.openxmlformats.org/drawingml/2006/main">
            <a:outerShdw blurRad="444500" dist="190500" dir="2700000" algn="tl" rotWithShape="0">
              <a:srgbClr val="000000">
                <a:alpha val="25000"/>
              </a:srgbClr>
            </a:outerShdw>
          </a:effectLst>
        </p:spPr>
        <p:txBody>
          <a:bodyPr xmlns:a="http://schemas.openxmlformats.org/drawingml/2006/main" vert="horz" wrap="square" lIns="63500" tIns="63500" rIns="63500" bIns="63500" anchor="ctr"/>
          <a:lstStyle xmlns:a="http://schemas.openxmlformats.org/drawingml/2006/main"/>
          <a:p xmlns:a="http://schemas.openxmlformats.org/drawingml/2006/main">
            <a:pPr algn="ctr">
              <a:buNone/>
            </a:pPr>
          </a:p>
        </p:txBody>
      </p:sp>
      <p:sp>
        <p:nvSpPr>
          <p:cNvPr id="14" name="AutoShape 14">
            <a:extLst xmlns:a="http://schemas.openxmlformats.org/drawingml/2006/main">
              <a:ext uri="{FF2B5EF4-FFF2-40B4-BE49-F238E27FC236}">
                <a16:creationId xmlns:a16="http://schemas.microsoft.com/office/drawing/2014/main" id="{92DE57A8-8B71-4BE6-A300-8949F61833E5}"/>
              </a:ext>
            </a:extLst>
          </p:cNvPr>
          <p:cNvSpPr>
            <a:spLocks xmlns:a="http://schemas.openxmlformats.org/drawingml/2006/main" noGrp="1"/>
          </p:cNvSpPr>
          <p:nvPr/>
        </p:nvSpPr>
        <p:spPr>
          <a:xfrm xmlns:a="http://schemas.openxmlformats.org/drawingml/2006/main">
            <a:off x="6286500" y="1778000"/>
            <a:ext cx="4953000" cy="50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2400" b="1" i="0" u="none">
                <a:solidFill>
                  <a:srgbClr val="EA580C"/>
                </a:solidFill>
                <a:latin typeface="Noto Sans SC"/>
                <a:ea typeface="Noto Sans SC"/>
                <a:cs typeface="Noto Sans SC"/>
              </a:rPr>
              <a:t>FUTURE OUTLOOK · 未来展望</a:t>
            </a:r>
          </a:p>
        </p:txBody>
      </p:sp>
      <p:pic>
        <p:nvPicPr>
          <p:cNvPr id="15" name="Picture 15"/>
          <p:cNvPicPr>
            <a:picLocks xmlns:a="http://schemas.openxmlformats.org/drawingml/2006/main" noChangeAspect="1"/>
          </p:cNvPicPr>
          <p:nvPr/>
        </p:nvPicPr>
        <p:blipFill>
          <a:blip xmlns:r="http://schemas.openxmlformats.org/officeDocument/2006/relationships" xmlns:a="http://schemas.openxmlformats.org/drawingml/2006/main" r:embed="R211ea5704cb14bf2"/>
          <a:stretch xmlns:a="http://schemas.openxmlformats.org/drawingml/2006/main">
            <a:fillRect l="0" t="0" r="0" b="0"/>
          </a:stretch>
        </p:blipFill>
        <p:spPr>
          <a:xfrm xmlns:a="http://schemas.openxmlformats.org/drawingml/2006/main">
            <a:off x="6350000" y="2667000"/>
            <a:ext cx="406400" cy="406400"/>
          </a:xfrm>
          <a:prstGeom xmlns:a="http://schemas.openxmlformats.org/drawingml/2006/main" prst="rect">
            <a:avLst/>
          </a:prstGeom>
        </p:spPr>
      </p:pic>
      <p:sp>
        <p:nvSpPr>
          <p:cNvPr id="16" name="AutoShape 16">
            <a:extLst xmlns:a="http://schemas.openxmlformats.org/drawingml/2006/main">
              <a:ext uri="{FF2B5EF4-FFF2-40B4-BE49-F238E27FC236}">
                <a16:creationId xmlns:a16="http://schemas.microsoft.com/office/drawing/2014/main" id="{DA81D041-3EF4-41C8-B558-D7E5E8E39986}"/>
              </a:ext>
            </a:extLst>
          </p:cNvPr>
          <p:cNvSpPr>
            <a:spLocks xmlns:a="http://schemas.openxmlformats.org/drawingml/2006/main" noGrp="1"/>
          </p:cNvSpPr>
          <p:nvPr/>
        </p:nvSpPr>
        <p:spPr>
          <a:xfrm xmlns:a="http://schemas.openxmlformats.org/drawingml/2006/main">
            <a:off x="6921500" y="26035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01 / 扩充岗位与课程知识图谱</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持续完善岗位族、技能标准、课程标签和成长路径之间的关联。</a:t>
            </a:r>
          </a:p>
        </p:txBody>
      </p:sp>
      <p:pic>
        <p:nvPicPr>
          <p:cNvPr id="17" name="Picture 17"/>
          <p:cNvPicPr>
            <a:picLocks xmlns:a="http://schemas.openxmlformats.org/drawingml/2006/main" noChangeAspect="1"/>
          </p:cNvPicPr>
          <p:nvPr/>
        </p:nvPicPr>
        <p:blipFill>
          <a:blip xmlns:r="http://schemas.openxmlformats.org/officeDocument/2006/relationships" xmlns:a="http://schemas.openxmlformats.org/drawingml/2006/main" r:embed="Rbe885f0c6c8f4854"/>
          <a:stretch xmlns:a="http://schemas.openxmlformats.org/drawingml/2006/main">
            <a:fillRect l="0" t="0" r="0" b="0"/>
          </a:stretch>
        </p:blipFill>
        <p:spPr>
          <a:xfrm xmlns:a="http://schemas.openxmlformats.org/drawingml/2006/main">
            <a:off x="6350000" y="3873500"/>
            <a:ext cx="406400" cy="406400"/>
          </a:xfrm>
          <a:prstGeom xmlns:a="http://schemas.openxmlformats.org/drawingml/2006/main" prst="rect">
            <a:avLst/>
          </a:prstGeom>
        </p:spPr>
      </p:pic>
      <p:sp>
        <p:nvSpPr>
          <p:cNvPr id="18" name="AutoShape 18">
            <a:extLst xmlns:a="http://schemas.openxmlformats.org/drawingml/2006/main">
              <a:ext uri="{FF2B5EF4-FFF2-40B4-BE49-F238E27FC236}">
                <a16:creationId xmlns:a16="http://schemas.microsoft.com/office/drawing/2014/main" id="{89EBA121-485D-46B7-B025-0EDE39C6F7EC}"/>
              </a:ext>
            </a:extLst>
          </p:cNvPr>
          <p:cNvSpPr>
            <a:spLocks xmlns:a="http://schemas.openxmlformats.org/drawingml/2006/main" noGrp="1"/>
          </p:cNvSpPr>
          <p:nvPr/>
        </p:nvSpPr>
        <p:spPr>
          <a:xfrm xmlns:a="http://schemas.openxmlformats.org/drawingml/2006/main">
            <a:off x="6921500" y="38100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02 / 建立在线评测体系</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沉淀响应时间、精排成功率、缓存命中率和推荐多样性的长期指标。</a:t>
            </a:r>
          </a:p>
        </p:txBody>
      </p:sp>
      <p:pic>
        <p:nvPicPr>
          <p:cNvPr id="19" name="Picture 19"/>
          <p:cNvPicPr>
            <a:picLocks xmlns:a="http://schemas.openxmlformats.org/drawingml/2006/main" noChangeAspect="1"/>
          </p:cNvPicPr>
          <p:nvPr/>
        </p:nvPicPr>
        <p:blipFill>
          <a:blip xmlns:r="http://schemas.openxmlformats.org/officeDocument/2006/relationships" xmlns:a="http://schemas.openxmlformats.org/drawingml/2006/main" r:embed="R9afe58aba34c4be8"/>
          <a:stretch xmlns:a="http://schemas.openxmlformats.org/drawingml/2006/main">
            <a:fillRect l="0" t="0" r="0" b="0"/>
          </a:stretch>
        </p:blipFill>
        <p:spPr>
          <a:xfrm xmlns:a="http://schemas.openxmlformats.org/drawingml/2006/main">
            <a:off x="6350000" y="5080000"/>
            <a:ext cx="406400" cy="406400"/>
          </a:xfrm>
          <a:prstGeom xmlns:a="http://schemas.openxmlformats.org/drawingml/2006/main" prst="rect">
            <a:avLst/>
          </a:prstGeom>
        </p:spPr>
      </p:pic>
      <p:sp>
        <p:nvSpPr>
          <p:cNvPr id="20" name="AutoShape 20">
            <a:extLst xmlns:a="http://schemas.openxmlformats.org/drawingml/2006/main">
              <a:ext uri="{FF2B5EF4-FFF2-40B4-BE49-F238E27FC236}">
                <a16:creationId xmlns:a16="http://schemas.microsoft.com/office/drawing/2014/main" id="{072B3C2C-41B0-4087-8F2F-278D1D7702DA}"/>
              </a:ext>
            </a:extLst>
          </p:cNvPr>
          <p:cNvSpPr>
            <a:spLocks xmlns:a="http://schemas.openxmlformats.org/drawingml/2006/main" noGrp="1"/>
          </p:cNvSpPr>
          <p:nvPr/>
        </p:nvSpPr>
        <p:spPr>
          <a:xfrm xmlns:a="http://schemas.openxmlformats.org/drawingml/2006/main">
            <a:off x="6921500" y="5016500"/>
            <a:ext cx="4254500" cy="9525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t"/>
          <a:lstStyle xmlns:a="http://schemas.openxmlformats.org/drawingml/2006/main"/>
          <a:p xmlns:a="http://schemas.openxmlformats.org/drawingml/2006/main">
            <a:pPr indent="0" algn="l">
              <a:lnSpc>
                <a:spcPct val="100000"/>
              </a:lnSpc>
              <a:buNone/>
            </a:pPr>
            <a:r>
              <a:rPr sz="1600" b="1" i="0" u="none">
                <a:solidFill>
                  <a:srgbClr val="111827"/>
                </a:solidFill>
                <a:latin typeface="Noto Sans SC"/>
                <a:ea typeface="Noto Sans SC"/>
                <a:cs typeface="Noto Sans SC"/>
              </a:rPr>
              <a:t>03 / 推进真实场景验证</a:t>
            </a:r>
          </a:p>
          <a:p xmlns:a="http://schemas.openxmlformats.org/drawingml/2006/main">
            <a:pPr indent="0" algn="l">
              <a:lnSpc>
                <a:spcPct val="108000"/>
              </a:lnSpc>
              <a:spcBef>
                <a:spcPts val="400"/>
              </a:spcBef>
              <a:buNone/>
            </a:pPr>
            <a:r>
              <a:rPr sz="1200" b="0" i="0" u="none">
                <a:solidFill>
                  <a:srgbClr val="4B5563"/>
                </a:solidFill>
                <a:latin typeface="Noto Sans SC"/>
                <a:ea typeface="Noto Sans SC"/>
                <a:cs typeface="Noto Sans SC"/>
              </a:rPr>
              <a:t>在更多专业、年级和企业岗位数据上开展教师与学生双侧反馈验证。</a:t>
            </a:r>
          </a:p>
        </p:txBody>
      </p:sp>
      <p:sp>
        <p:nvSpPr>
          <p:cNvPr id="21" name="文本框 20">
            <a:extLst xmlns:a="http://schemas.openxmlformats.org/drawingml/2006/main">
              <a:ext uri="{FF2B5EF4-FFF2-40B4-BE49-F238E27FC236}">
                <a16:creationId xmlns:a16="http://schemas.microsoft.com/office/drawing/2014/main" id="{E74A6379-3277-46B4-9BED-2B6F4BAE1496}"/>
              </a:ext>
            </a:extLst>
          </p:cNvPr>
          <p:cNvSpPr>
            <a:spLocks xmlns:a="http://schemas.openxmlformats.org/drawingml/2006/main" noGrp="1"/>
          </p:cNvSpPr>
          <p:nvPr/>
        </p:nvSpPr>
        <p:spPr>
          <a:xfrm xmlns:a="http://schemas.openxmlformats.org/drawingml/2006/main">
            <a:off x="2899410" y="375920"/>
            <a:ext cx="6057900" cy="899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25000"/>
              </a:lnSpc>
              <a:buNone/>
            </a:pPr>
            <a:r>
              <a:rPr sz="4200" b="1">
                <a:solidFill>
                  <a:srgbClr val="1F2937"/>
                </a:solidFill>
                <a:latin typeface="Noto Sans SC"/>
                <a:ea typeface="Noto Sans SC"/>
                <a:cs typeface="Noto Sans SC"/>
              </a:rPr>
              <a:t>05 总结与展望</a:t>
            </a:r>
          </a:p>
        </p:txBody>
      </p:sp>
    </p:spTree>
    <p:extLst>
      <p:ext uri="{BB962C8B-B14F-4D97-AF65-F5344CB8AC3E}">
        <p14:creationId xmlns:p14="http://schemas.microsoft.com/office/powerpoint/2010/main" val="32225540"/>
      </p:ext>
    </p:extLst>
  </p:cSld>
</p:sld>
</file>

<file path=ppt/slides/slide22.xml><?xml version="1.0" encoding="utf-8"?>
<p:sld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pic>
        <p:nvPicPr>
          <p:cNvPr id="1" name="Picture 2"/>
          <p:cNvPicPr>
            <a:picLocks xmlns:a="http://schemas.openxmlformats.org/drawingml/2006/main" noChangeAspect="1"/>
          </p:cNvPicPr>
          <p:nvPr/>
        </p:nvPicPr>
        <p:blipFill>
          <a:blip xmlns:r="http://schemas.openxmlformats.org/officeDocument/2006/relationships" xmlns:a="http://schemas.openxmlformats.org/drawingml/2006/main" r:embed="Rd0dd419e89424d17"/>
          <a:srcRect xmlns:a="http://schemas.openxmlformats.org/drawingml/2006/main" l="33" t="0" r="33" b="0"/>
          <a:stretch xmlns:a="http://schemas.openxmlformats.org/drawingml/2006/main">
            <a:fillRect l="0" t="0" r="0" b="0"/>
          </a:stretch>
        </p:blipFill>
        <p:spPr>
          <a:xfrm xmlns:a="http://schemas.openxmlformats.org/drawingml/2006/main">
            <a:off x="0" y="0"/>
            <a:ext cx="12001500" cy="6807200"/>
          </a:xfrm>
          <a:prstGeom xmlns:a="http://schemas.openxmlformats.org/drawingml/2006/main" prst="rect">
            <a:avLst/>
          </a:prstGeom>
          <a:ln xmlns:a="http://schemas.openxmlformats.org/drawingml/2006/main" w="25400" cap="flat" cmpd="sng">
            <a:noFill/>
            <a:prstDash val="solid"/>
            <a:round/>
          </a:ln>
        </p:spPr>
      </p:pic>
      <p:sp>
        <p:nvSpPr>
          <p:cNvPr id="3" name="AutoShape 3">
            <a:extLst xmlns:a="http://schemas.openxmlformats.org/drawingml/2006/main">
              <a:ext uri="{FF2B5EF4-FFF2-40B4-BE49-F238E27FC236}">
                <a16:creationId xmlns:a16="http://schemas.microsoft.com/office/drawing/2014/main" id="{D984330D-F1FC-4A46-961E-C5D5640601AA}"/>
              </a:ext>
            </a:extLst>
          </p:cNvPr>
          <p:cNvSpPr>
            <a:spLocks xmlns:a="http://schemas.openxmlformats.org/drawingml/2006/main" noGrp="1"/>
          </p:cNvSpPr>
          <p:nvPr/>
        </p:nvSpPr>
        <p:spPr>
          <a:xfrm xmlns:a="http://schemas.openxmlformats.org/drawingml/2006/main">
            <a:off x="0" y="1524000"/>
            <a:ext cx="12001500" cy="1143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6400" b="1" i="0" u="none">
                <a:solidFill>
                  <a:srgbClr val="000000"/>
                </a:solidFill>
                <a:latin typeface="微软雅黑"/>
                <a:ea typeface="微软雅黑"/>
                <a:cs typeface="微软雅黑"/>
              </a:rPr>
              <a:t>感谢聆听</a:t>
            </a:r>
          </a:p>
        </p:txBody>
      </p:sp>
      <p:sp>
        <p:nvSpPr>
          <p:cNvPr id="4" name="AutoShape 4">
            <a:extLst xmlns:a="http://schemas.openxmlformats.org/drawingml/2006/main">
              <a:ext uri="{FF2B5EF4-FFF2-40B4-BE49-F238E27FC236}">
                <a16:creationId xmlns:a16="http://schemas.microsoft.com/office/drawing/2014/main" id="{98641620-A9B0-46ED-9871-26E14C3ACCB4}"/>
              </a:ext>
            </a:extLst>
          </p:cNvPr>
          <p:cNvSpPr>
            <a:spLocks xmlns:a="http://schemas.openxmlformats.org/drawingml/2006/main" noGrp="1"/>
          </p:cNvSpPr>
          <p:nvPr/>
        </p:nvSpPr>
        <p:spPr>
          <a:xfrm xmlns:a="http://schemas.openxmlformats.org/drawingml/2006/main">
            <a:off x="0" y="2921000"/>
            <a:ext cx="12001500" cy="889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p>
        </p:txBody>
      </p:sp>
      <p:sp>
        <p:nvSpPr>
          <p:cNvPr id="6" name="AutoShape 6">
            <a:extLst xmlns:a="http://schemas.openxmlformats.org/drawingml/2006/main">
              <a:ext uri="{FF2B5EF4-FFF2-40B4-BE49-F238E27FC236}">
                <a16:creationId xmlns:a16="http://schemas.microsoft.com/office/drawing/2014/main" id="{630000F7-56A3-4227-9EC1-B58D6C812A34}"/>
              </a:ext>
            </a:extLst>
          </p:cNvPr>
          <p:cNvSpPr>
            <a:spLocks xmlns:a="http://schemas.openxmlformats.org/drawingml/2006/main" noGrp="1"/>
          </p:cNvSpPr>
          <p:nvPr/>
        </p:nvSpPr>
        <p:spPr>
          <a:xfrm xmlns:a="http://schemas.openxmlformats.org/drawingml/2006/main">
            <a:off x="292100" y="4356100"/>
            <a:ext cx="12001500" cy="1778000"/>
          </a:xfrm>
          <a:prstGeom xmlns:a="http://schemas.openxmlformats.org/drawingml/2006/main" prst="rect">
            <a:avLst/>
          </a:prstGeom>
          <a:noFill xmlns:a="http://schemas.openxmlformats.org/drawingml/2006/main"/>
          <a:ln xmlns:a="http://schemas.openxmlformats.org/drawingml/2006/main" w="12502" cmpd="sng">
            <a:noFill/>
            <a:prstDash val="solid"/>
          </a:ln>
        </p:spPr>
        <p:txBody>
          <a:bodyPr xmlns:a="http://schemas.openxmlformats.org/drawingml/2006/main" vert="horz" wrap="square" lIns="0" tIns="0" rIns="0" bIns="0" anchor="ctr"/>
          <a:lstStyle xmlns:a="http://schemas.openxmlformats.org/drawingml/2006/main"/>
          <a:p xmlns:a="http://schemas.openxmlformats.org/drawingml/2006/main">
            <a:pPr indent="0" algn="ctr">
              <a:lnSpc>
                <a:spcPct val="125000"/>
              </a:lnSpc>
              <a:buNone/>
            </a:pPr>
            <a:r>
              <a:rPr sz="1600" b="0" i="0" u="none">
                <a:solidFill>
                  <a:srgbClr val="374151"/>
                </a:solidFill>
                <a:latin typeface="Noto Sans SC"/>
                <a:ea typeface="Noto Sans SC"/>
                <a:cs typeface="Noto Sans SC"/>
              </a:rPr>
              <a:t>队伍名称：智聘未来</a:t>
            </a:r>
          </a:p>
          <a:p xmlns:a="http://schemas.openxmlformats.org/drawingml/2006/main">
            <a:pPr indent="0" algn="ctr">
              <a:lnSpc>
                <a:spcPct val="125000"/>
              </a:lnSpc>
              <a:buNone/>
            </a:pPr>
            <a:r>
              <a:t/>
            </a:r>
          </a:p>
          <a:p xmlns:a="http://schemas.openxmlformats.org/drawingml/2006/main">
            <a:pPr indent="0" algn="ctr">
              <a:lnSpc>
                <a:spcPct val="125000"/>
              </a:lnSpc>
              <a:buNone/>
            </a:pPr>
            <a:r>
              <a:rPr sz="1600" b="0" i="0" u="none">
                <a:solidFill>
                  <a:srgbClr val="374151"/>
                </a:solidFill>
                <a:latin typeface="Noto Sans SC"/>
                <a:ea typeface="Noto Sans SC"/>
                <a:cs typeface="Noto Sans SC"/>
              </a:rPr>
              <a:t>参赛队员：黎盛 · 侯程予 · 冯靖原</a:t>
            </a:r>
          </a:p>
        </p:txBody>
      </p:sp>
      <p:sp>
        <p:nvSpPr>
          <p:cNvPr id="8" name="文本框 7">
            <a:extLst xmlns:a="http://schemas.openxmlformats.org/drawingml/2006/main">
              <a:ext uri="{FF2B5EF4-FFF2-40B4-BE49-F238E27FC236}">
                <a16:creationId xmlns:a16="http://schemas.microsoft.com/office/drawing/2014/main" id="{A19C4C78-D17D-41C5-AF6E-BDE6F2B7F111}"/>
              </a:ext>
            </a:extLst>
          </p:cNvPr>
          <p:cNvSpPr>
            <a:spLocks xmlns:a="http://schemas.openxmlformats.org/drawingml/2006/main" noGrp="1"/>
          </p:cNvSpPr>
          <p:nvPr/>
        </p:nvSpPr>
        <p:spPr>
          <a:xfrm xmlns:a="http://schemas.openxmlformats.org/drawingml/2006/main">
            <a:off x="3756025" y="3333750"/>
            <a:ext cx="516255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latin typeface="微软雅黑"/>
                <a:ea typeface="微软雅黑"/>
                <a:cs typeface="微软雅黑"/>
              </a:rPr>
              <a:t>敬请各位专家老师批评指正</a:t>
            </a:r>
          </a:p>
        </p:txBody>
      </p:sp>
    </p:spTree>
    <p:extLst>
      <p:ext uri="{BB962C8B-B14F-4D97-AF65-F5344CB8AC3E}">
        <p14:creationId xmlns:p14="http://schemas.microsoft.com/office/powerpoint/2010/main" val="1420517530"/>
      </p:ext>
    </p:extLst>
  </p:cSld>
</p:sld>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2026-06-12T15:56:11.5910000Z</dcterms:created>
  <dcterms:modified xsi:type="dcterms:W3CDTF">2026-06-12T15:56:11.5910000Z</dcterms:modified>
</coreProperties>
</file>