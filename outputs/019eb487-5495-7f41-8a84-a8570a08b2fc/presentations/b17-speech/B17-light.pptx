
<file path=[Content_Types].xml><?xml version="1.0" encoding="utf-8"?>
<Types xmlns="http://schemas.openxmlformats.org/package/2006/content-types">
  <Default Extension="png" ContentType="image/png"/>
  <Default Extension="mov" ContentType="video/quicktime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82" r:id="rId3"/>
    <p:sldId id="257" r:id="rId5"/>
    <p:sldId id="284" r:id="rId6"/>
    <p:sldId id="258" r:id="rId7"/>
    <p:sldId id="259" r:id="rId8"/>
    <p:sldId id="277" r:id="rId9"/>
    <p:sldId id="285" r:id="rId10"/>
    <p:sldId id="260" r:id="rId11"/>
    <p:sldId id="261" r:id="rId12"/>
    <p:sldId id="288" r:id="rId13"/>
    <p:sldId id="289" r:id="rId14"/>
    <p:sldId id="290" r:id="rId15"/>
    <p:sldId id="291" r:id="rId16"/>
    <p:sldId id="292" r:id="rId17"/>
    <p:sldId id="293" r:id="rId18"/>
    <p:sldId id="294" r:id="rId19"/>
    <p:sldId id="295" r:id="rId20"/>
    <p:sldId id="274" r:id="rId21"/>
    <p:sldId id="262" r:id="rId22"/>
    <p:sldId id="265" r:id="rId23"/>
    <p:sldId id="267" r:id="rId24"/>
    <p:sldId id="269" r:id="rId25"/>
    <p:sldId id="271" r:id="rId26"/>
    <p:sldId id="273" r:id="rId27"/>
    <p:sldId id="298" r:id="rId28"/>
    <p:sldId id="299" r:id="rId29"/>
    <p:sldId id="297" r:id="rId30"/>
    <p:sldId id="275" r:id="rId31"/>
    <p:sldId id="276" r:id="rId32"/>
    <p:sldId id="301" r:id="rId33"/>
    <p:sldId id="302" r:id="rId34"/>
    <p:sldId id="300" r:id="rId35"/>
    <p:sldId id="280" r:id="rId36"/>
    <p:sldId id="296" r:id="rId37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20" d="100"/>
          <a:sy n="120" d="100"/>
        </p:scale>
        <p:origin x="8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0" Type="http://schemas.openxmlformats.org/officeDocument/2006/relationships/tableStyles" Target="tableStyles.xml"/><Relationship Id="rId4" Type="http://schemas.openxmlformats.org/officeDocument/2006/relationships/notesMaster" Target="notesMasters/notesMaster1.xml"/><Relationship Id="rId39" Type="http://schemas.openxmlformats.org/officeDocument/2006/relationships/viewProps" Target="viewProps.xml"/><Relationship Id="rId38" Type="http://schemas.openxmlformats.org/officeDocument/2006/relationships/presProps" Target="presProps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 algn="l">
              <a:lnSpc>
                <a:spcPct val="100000"/>
              </a:lnSpc>
              <a:buNone/>
            </a:pPr>
            <a:endParaRPr sz="1400" b="0" i="0" u="none">
              <a:solidFill>
                <a:srgbClr val="00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 algn="l">
              <a:lnSpc>
                <a:spcPct val="100000"/>
              </a:lnSpc>
              <a:buNone/>
            </a:pPr>
            <a:endParaRPr sz="1400" b="0" i="0" u="none">
              <a:solidFill>
                <a:srgbClr val="00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 algn="l">
              <a:lnSpc>
                <a:spcPct val="100000"/>
              </a:lnSpc>
              <a:buNone/>
            </a:pPr>
            <a:endParaRPr sz="1400" b="0" i="0" u="none">
              <a:solidFill>
                <a:srgbClr val="00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 algn="l">
              <a:lnSpc>
                <a:spcPct val="100000"/>
              </a:lnSpc>
              <a:buNone/>
            </a:pPr>
            <a:endParaRPr sz="1400" b="0" i="0" u="none">
              <a:solidFill>
                <a:srgbClr val="00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 algn="l">
              <a:lnSpc>
                <a:spcPct val="100000"/>
              </a:lnSpc>
              <a:buNone/>
            </a:pPr>
            <a:endParaRPr sz="1400" b="0" i="0" u="none">
              <a:solidFill>
                <a:srgbClr val="00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 algn="l">
              <a:lnSpc>
                <a:spcPct val="100000"/>
              </a:lnSpc>
              <a:buNone/>
            </a:pPr>
            <a:endParaRPr sz="1400" b="0" i="0" u="none">
              <a:solidFill>
                <a:srgbClr val="00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 algn="l">
              <a:lnSpc>
                <a:spcPct val="100000"/>
              </a:lnSpc>
              <a:buNone/>
            </a:pPr>
            <a:endParaRPr sz="1400" b="0" i="0" u="none">
              <a:solidFill>
                <a:srgbClr val="00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 algn="l">
              <a:lnSpc>
                <a:spcPct val="100000"/>
              </a:lnSpc>
              <a:buNone/>
            </a:pPr>
            <a:endParaRPr sz="1400" b="0" i="0" u="none">
              <a:solidFill>
                <a:srgbClr val="00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pending_review，便于后续人工审核。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 algn="l">
              <a:lnSpc>
                <a:spcPct val="100000"/>
              </a:lnSpc>
              <a:buNone/>
            </a:pPr>
            <a:endParaRPr sz="1400" b="0" i="0" u="none">
              <a:solidFill>
                <a:srgbClr val="00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 algn="l">
              <a:lnSpc>
                <a:spcPct val="100000"/>
              </a:lnSpc>
              <a:buNone/>
            </a:pPr>
            <a:endParaRPr sz="1400" b="0" i="0" u="none">
              <a:solidFill>
                <a:srgbClr val="00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 algn="l">
              <a:lnSpc>
                <a:spcPct val="100000"/>
              </a:lnSpc>
              <a:buNone/>
            </a:pPr>
            <a:endParaRPr sz="1400" b="0" i="0" u="none">
              <a:solidFill>
                <a:srgbClr val="00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8.xml"/><Relationship Id="rId8" Type="http://schemas.openxmlformats.org/officeDocument/2006/relationships/tags" Target="../tags/tag7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3" Type="http://schemas.openxmlformats.org/officeDocument/2006/relationships/notesSlide" Target="../notesSlides/notesSlide2.xml"/><Relationship Id="rId22" Type="http://schemas.openxmlformats.org/officeDocument/2006/relationships/slideLayout" Target="../slideLayouts/slideLayout1.xml"/><Relationship Id="rId21" Type="http://schemas.openxmlformats.org/officeDocument/2006/relationships/tags" Target="../tags/tag20.xml"/><Relationship Id="rId20" Type="http://schemas.openxmlformats.org/officeDocument/2006/relationships/tags" Target="../tags/tag19.xml"/><Relationship Id="rId2" Type="http://schemas.openxmlformats.org/officeDocument/2006/relationships/tags" Target="../tags/tag1.xml"/><Relationship Id="rId19" Type="http://schemas.openxmlformats.org/officeDocument/2006/relationships/tags" Target="../tags/tag18.xml"/><Relationship Id="rId18" Type="http://schemas.openxmlformats.org/officeDocument/2006/relationships/tags" Target="../tags/tag17.xml"/><Relationship Id="rId17" Type="http://schemas.openxmlformats.org/officeDocument/2006/relationships/tags" Target="../tags/tag16.xml"/><Relationship Id="rId16" Type="http://schemas.openxmlformats.org/officeDocument/2006/relationships/tags" Target="../tags/tag15.xml"/><Relationship Id="rId15" Type="http://schemas.openxmlformats.org/officeDocument/2006/relationships/tags" Target="../tags/tag14.xml"/><Relationship Id="rId14" Type="http://schemas.openxmlformats.org/officeDocument/2006/relationships/tags" Target="../tags/tag13.xml"/><Relationship Id="rId13" Type="http://schemas.openxmlformats.org/officeDocument/2006/relationships/tags" Target="../tags/tag12.xml"/><Relationship Id="rId12" Type="http://schemas.openxmlformats.org/officeDocument/2006/relationships/tags" Target="../tags/tag11.xml"/><Relationship Id="rId11" Type="http://schemas.openxmlformats.org/officeDocument/2006/relationships/tags" Target="../tags/tag10.xml"/><Relationship Id="rId10" Type="http://schemas.openxmlformats.org/officeDocument/2006/relationships/tags" Target="../tags/tag9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28.xml"/><Relationship Id="rId8" Type="http://schemas.openxmlformats.org/officeDocument/2006/relationships/tags" Target="../tags/tag27.xml"/><Relationship Id="rId7" Type="http://schemas.openxmlformats.org/officeDocument/2006/relationships/tags" Target="../tags/tag26.xml"/><Relationship Id="rId6" Type="http://schemas.openxmlformats.org/officeDocument/2006/relationships/tags" Target="../tags/tag25.xml"/><Relationship Id="rId5" Type="http://schemas.openxmlformats.org/officeDocument/2006/relationships/tags" Target="../tags/tag24.xml"/><Relationship Id="rId4" Type="http://schemas.openxmlformats.org/officeDocument/2006/relationships/tags" Target="../tags/tag23.xml"/><Relationship Id="rId3" Type="http://schemas.openxmlformats.org/officeDocument/2006/relationships/tags" Target="../tags/tag22.xml"/><Relationship Id="rId2" Type="http://schemas.openxmlformats.org/officeDocument/2006/relationships/tags" Target="../tags/tag21.xml"/><Relationship Id="rId15" Type="http://schemas.openxmlformats.org/officeDocument/2006/relationships/notesSlide" Target="../notesSlides/notesSlide4.xml"/><Relationship Id="rId14" Type="http://schemas.openxmlformats.org/officeDocument/2006/relationships/slideLayout" Target="../slideLayouts/slideLayout1.xml"/><Relationship Id="rId13" Type="http://schemas.openxmlformats.org/officeDocument/2006/relationships/tags" Target="../tags/tag32.xml"/><Relationship Id="rId12" Type="http://schemas.openxmlformats.org/officeDocument/2006/relationships/tags" Target="../tags/tag31.xml"/><Relationship Id="rId11" Type="http://schemas.openxmlformats.org/officeDocument/2006/relationships/tags" Target="../tags/tag30.xml"/><Relationship Id="rId10" Type="http://schemas.openxmlformats.org/officeDocument/2006/relationships/tags" Target="../tags/tag29.xml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40.xml"/><Relationship Id="rId8" Type="http://schemas.openxmlformats.org/officeDocument/2006/relationships/tags" Target="../tags/tag39.xml"/><Relationship Id="rId7" Type="http://schemas.openxmlformats.org/officeDocument/2006/relationships/tags" Target="../tags/tag38.xml"/><Relationship Id="rId6" Type="http://schemas.openxmlformats.org/officeDocument/2006/relationships/tags" Target="../tags/tag37.xml"/><Relationship Id="rId5" Type="http://schemas.openxmlformats.org/officeDocument/2006/relationships/tags" Target="../tags/tag36.xml"/><Relationship Id="rId4" Type="http://schemas.openxmlformats.org/officeDocument/2006/relationships/tags" Target="../tags/tag35.xml"/><Relationship Id="rId3" Type="http://schemas.openxmlformats.org/officeDocument/2006/relationships/tags" Target="../tags/tag34.xml"/><Relationship Id="rId22" Type="http://schemas.openxmlformats.org/officeDocument/2006/relationships/notesSlide" Target="../notesSlides/notesSlide5.xml"/><Relationship Id="rId21" Type="http://schemas.openxmlformats.org/officeDocument/2006/relationships/slideLayout" Target="../slideLayouts/slideLayout1.xml"/><Relationship Id="rId20" Type="http://schemas.openxmlformats.org/officeDocument/2006/relationships/tags" Target="../tags/tag51.xml"/><Relationship Id="rId2" Type="http://schemas.openxmlformats.org/officeDocument/2006/relationships/tags" Target="../tags/tag33.xml"/><Relationship Id="rId19" Type="http://schemas.openxmlformats.org/officeDocument/2006/relationships/tags" Target="../tags/tag50.xml"/><Relationship Id="rId18" Type="http://schemas.openxmlformats.org/officeDocument/2006/relationships/tags" Target="../tags/tag49.xml"/><Relationship Id="rId17" Type="http://schemas.openxmlformats.org/officeDocument/2006/relationships/tags" Target="../tags/tag48.xml"/><Relationship Id="rId16" Type="http://schemas.openxmlformats.org/officeDocument/2006/relationships/tags" Target="../tags/tag47.xml"/><Relationship Id="rId15" Type="http://schemas.openxmlformats.org/officeDocument/2006/relationships/tags" Target="../tags/tag46.xml"/><Relationship Id="rId14" Type="http://schemas.openxmlformats.org/officeDocument/2006/relationships/tags" Target="../tags/tag45.xml"/><Relationship Id="rId13" Type="http://schemas.openxmlformats.org/officeDocument/2006/relationships/tags" Target="../tags/tag44.xml"/><Relationship Id="rId12" Type="http://schemas.openxmlformats.org/officeDocument/2006/relationships/tags" Target="../tags/tag43.xml"/><Relationship Id="rId11" Type="http://schemas.openxmlformats.org/officeDocument/2006/relationships/tags" Target="../tags/tag42.xml"/><Relationship Id="rId10" Type="http://schemas.openxmlformats.org/officeDocument/2006/relationships/tags" Target="../tags/tag41.xml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1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tags" Target="../tags/tag59.xml"/><Relationship Id="rId8" Type="http://schemas.openxmlformats.org/officeDocument/2006/relationships/tags" Target="../tags/tag58.xml"/><Relationship Id="rId7" Type="http://schemas.openxmlformats.org/officeDocument/2006/relationships/tags" Target="../tags/tag57.xml"/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9" Type="http://schemas.openxmlformats.org/officeDocument/2006/relationships/notesSlide" Target="../notesSlides/notesSlide11.xml"/><Relationship Id="rId18" Type="http://schemas.openxmlformats.org/officeDocument/2006/relationships/slideLayout" Target="../slideLayouts/slideLayout1.xml"/><Relationship Id="rId17" Type="http://schemas.openxmlformats.org/officeDocument/2006/relationships/tags" Target="../tags/tag67.xml"/><Relationship Id="rId16" Type="http://schemas.openxmlformats.org/officeDocument/2006/relationships/tags" Target="../tags/tag66.xml"/><Relationship Id="rId15" Type="http://schemas.openxmlformats.org/officeDocument/2006/relationships/tags" Target="../tags/tag65.xml"/><Relationship Id="rId14" Type="http://schemas.openxmlformats.org/officeDocument/2006/relationships/tags" Target="../tags/tag64.xml"/><Relationship Id="rId13" Type="http://schemas.openxmlformats.org/officeDocument/2006/relationships/tags" Target="../tags/tag63.xml"/><Relationship Id="rId12" Type="http://schemas.openxmlformats.org/officeDocument/2006/relationships/tags" Target="../tags/tag62.xml"/><Relationship Id="rId11" Type="http://schemas.openxmlformats.org/officeDocument/2006/relationships/tags" Target="../tags/tag61.xml"/><Relationship Id="rId10" Type="http://schemas.openxmlformats.org/officeDocument/2006/relationships/tags" Target="../tags/tag60.xml"/><Relationship Id="rId1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tags" Target="../tags/tag75.xml"/><Relationship Id="rId8" Type="http://schemas.openxmlformats.org/officeDocument/2006/relationships/tags" Target="../tags/tag74.xml"/><Relationship Id="rId7" Type="http://schemas.openxmlformats.org/officeDocument/2006/relationships/tags" Target="../tags/tag73.xml"/><Relationship Id="rId6" Type="http://schemas.openxmlformats.org/officeDocument/2006/relationships/tags" Target="../tags/tag72.xml"/><Relationship Id="rId5" Type="http://schemas.openxmlformats.org/officeDocument/2006/relationships/tags" Target="../tags/tag71.xml"/><Relationship Id="rId4" Type="http://schemas.openxmlformats.org/officeDocument/2006/relationships/tags" Target="../tags/tag70.xml"/><Relationship Id="rId3" Type="http://schemas.openxmlformats.org/officeDocument/2006/relationships/tags" Target="../tags/tag69.xml"/><Relationship Id="rId2" Type="http://schemas.openxmlformats.org/officeDocument/2006/relationships/tags" Target="../tags/tag68.xml"/><Relationship Id="rId15" Type="http://schemas.openxmlformats.org/officeDocument/2006/relationships/notesSlide" Target="../notesSlides/notesSlide12.xml"/><Relationship Id="rId14" Type="http://schemas.openxmlformats.org/officeDocument/2006/relationships/slideLayout" Target="../slideLayouts/slideLayout1.xml"/><Relationship Id="rId13" Type="http://schemas.openxmlformats.org/officeDocument/2006/relationships/tags" Target="../tags/tag79.xml"/><Relationship Id="rId12" Type="http://schemas.openxmlformats.org/officeDocument/2006/relationships/tags" Target="../tags/tag78.xml"/><Relationship Id="rId11" Type="http://schemas.openxmlformats.org/officeDocument/2006/relationships/tags" Target="../tags/tag77.xml"/><Relationship Id="rId10" Type="http://schemas.openxmlformats.org/officeDocument/2006/relationships/tags" Target="../tags/tag76.xml"/><Relationship Id="rId1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tags" Target="../tags/tag87.xml"/><Relationship Id="rId8" Type="http://schemas.openxmlformats.org/officeDocument/2006/relationships/tags" Target="../tags/tag86.xml"/><Relationship Id="rId7" Type="http://schemas.openxmlformats.org/officeDocument/2006/relationships/tags" Target="../tags/tag85.xml"/><Relationship Id="rId6" Type="http://schemas.openxmlformats.org/officeDocument/2006/relationships/tags" Target="../tags/tag84.xml"/><Relationship Id="rId5" Type="http://schemas.openxmlformats.org/officeDocument/2006/relationships/tags" Target="../tags/tag83.xml"/><Relationship Id="rId4" Type="http://schemas.openxmlformats.org/officeDocument/2006/relationships/tags" Target="../tags/tag82.xml"/><Relationship Id="rId3" Type="http://schemas.openxmlformats.org/officeDocument/2006/relationships/tags" Target="../tags/tag81.xml"/><Relationship Id="rId2" Type="http://schemas.openxmlformats.org/officeDocument/2006/relationships/tags" Target="../tags/tag80.xml"/><Relationship Id="rId15" Type="http://schemas.openxmlformats.org/officeDocument/2006/relationships/notesSlide" Target="../notesSlides/notesSlide13.xml"/><Relationship Id="rId14" Type="http://schemas.openxmlformats.org/officeDocument/2006/relationships/slideLayout" Target="../slideLayouts/slideLayout1.xml"/><Relationship Id="rId13" Type="http://schemas.openxmlformats.org/officeDocument/2006/relationships/tags" Target="../tags/tag91.xml"/><Relationship Id="rId12" Type="http://schemas.openxmlformats.org/officeDocument/2006/relationships/tags" Target="../tags/tag90.xml"/><Relationship Id="rId11" Type="http://schemas.openxmlformats.org/officeDocument/2006/relationships/tags" Target="../tags/tag89.xml"/><Relationship Id="rId10" Type="http://schemas.openxmlformats.org/officeDocument/2006/relationships/tags" Target="../tags/tag88.xml"/><Relationship Id="rId1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1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8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2.png"/></Relationships>
</file>

<file path=ppt/slides/_rels/slide1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9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image" Target="../media/image2.png"/></Relationships>
</file>

<file path=ppt/slides/_rels/slide20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0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image" Target="../media/image2.png"/></Relationships>
</file>

<file path=ppt/slides/_rels/slide2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0.png"/><Relationship Id="rId1" Type="http://schemas.openxmlformats.org/officeDocument/2006/relationships/image" Target="../media/image2.png"/></Relationships>
</file>

<file path=ppt/slides/_rels/slide2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2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1.png"/><Relationship Id="rId1" Type="http://schemas.openxmlformats.org/officeDocument/2006/relationships/image" Target="../media/image2.png"/></Relationships>
</file>

<file path=ppt/slides/_rels/slide2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3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2.png"/><Relationship Id="rId1" Type="http://schemas.openxmlformats.org/officeDocument/2006/relationships/image" Target="../media/image2.png"/></Relationships>
</file>

<file path=ppt/slides/_rels/slide2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4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3.png"/><Relationship Id="rId1" Type="http://schemas.openxmlformats.org/officeDocument/2006/relationships/image" Target="../media/image2.png"/></Relationships>
</file>

<file path=ppt/slides/_rels/slide25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5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16.png"/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image" Target="../media/image2.png"/></Relationships>
</file>

<file path=ppt/slides/_rels/slide26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26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17.png"/><Relationship Id="rId4" Type="http://schemas.openxmlformats.org/officeDocument/2006/relationships/tags" Target="../tags/tag92.xml"/><Relationship Id="rId3" Type="http://schemas.microsoft.com/office/2007/relationships/media" Target="../media/media1.mov"/><Relationship Id="rId2" Type="http://schemas.openxmlformats.org/officeDocument/2006/relationships/video" Target="../media/media1.mov"/><Relationship Id="rId1" Type="http://schemas.openxmlformats.org/officeDocument/2006/relationships/image" Target="../media/image2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29.xml.rels><?xml version="1.0" encoding="UTF-8" standalone="yes"?>
<Relationships xmlns="http://schemas.openxmlformats.org/package/2006/relationships"><Relationship Id="rId9" Type="http://schemas.openxmlformats.org/officeDocument/2006/relationships/tags" Target="../tags/tag100.xml"/><Relationship Id="rId8" Type="http://schemas.openxmlformats.org/officeDocument/2006/relationships/tags" Target="../tags/tag99.xml"/><Relationship Id="rId7" Type="http://schemas.openxmlformats.org/officeDocument/2006/relationships/tags" Target="../tags/tag98.xml"/><Relationship Id="rId6" Type="http://schemas.openxmlformats.org/officeDocument/2006/relationships/tags" Target="../tags/tag97.xml"/><Relationship Id="rId5" Type="http://schemas.openxmlformats.org/officeDocument/2006/relationships/tags" Target="../tags/tag96.xml"/><Relationship Id="rId4" Type="http://schemas.openxmlformats.org/officeDocument/2006/relationships/tags" Target="../tags/tag95.xml"/><Relationship Id="rId3" Type="http://schemas.openxmlformats.org/officeDocument/2006/relationships/tags" Target="../tags/tag94.xml"/><Relationship Id="rId2" Type="http://schemas.openxmlformats.org/officeDocument/2006/relationships/tags" Target="../tags/tag93.xml"/><Relationship Id="rId19" Type="http://schemas.openxmlformats.org/officeDocument/2006/relationships/notesSlide" Target="../notesSlides/notesSlide29.xml"/><Relationship Id="rId18" Type="http://schemas.openxmlformats.org/officeDocument/2006/relationships/slideLayout" Target="../slideLayouts/slideLayout1.xml"/><Relationship Id="rId17" Type="http://schemas.openxmlformats.org/officeDocument/2006/relationships/tags" Target="../tags/tag108.xml"/><Relationship Id="rId16" Type="http://schemas.openxmlformats.org/officeDocument/2006/relationships/tags" Target="../tags/tag107.xml"/><Relationship Id="rId15" Type="http://schemas.openxmlformats.org/officeDocument/2006/relationships/tags" Target="../tags/tag106.xml"/><Relationship Id="rId14" Type="http://schemas.openxmlformats.org/officeDocument/2006/relationships/tags" Target="../tags/tag105.xml"/><Relationship Id="rId13" Type="http://schemas.openxmlformats.org/officeDocument/2006/relationships/tags" Target="../tags/tag104.xml"/><Relationship Id="rId12" Type="http://schemas.openxmlformats.org/officeDocument/2006/relationships/tags" Target="../tags/tag103.xml"/><Relationship Id="rId11" Type="http://schemas.openxmlformats.org/officeDocument/2006/relationships/tags" Target="../tags/tag102.xml"/><Relationship Id="rId10" Type="http://schemas.openxmlformats.org/officeDocument/2006/relationships/tags" Target="../tags/tag101.xml"/><Relationship Id="rId1" Type="http://schemas.openxmlformats.org/officeDocument/2006/relationships/image" Target="../media/image2.png"/></Relationships>
</file>

<file path=ppt/slides/_rels/slide30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30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image" Target="../media/image2.png"/></Relationships>
</file>

<file path=ppt/slides/_rels/slide3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1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image" Target="../media/image2.png"/></Relationships>
</file>

<file path=ppt/slides/_rels/slide32.xml.rels><?xml version="1.0" encoding="UTF-8" standalone="yes"?>
<Relationships xmlns="http://schemas.openxmlformats.org/package/2006/relationships"><Relationship Id="rId9" Type="http://schemas.openxmlformats.org/officeDocument/2006/relationships/tags" Target="../tags/tag116.xml"/><Relationship Id="rId8" Type="http://schemas.openxmlformats.org/officeDocument/2006/relationships/tags" Target="../tags/tag115.xml"/><Relationship Id="rId7" Type="http://schemas.openxmlformats.org/officeDocument/2006/relationships/tags" Target="../tags/tag114.xml"/><Relationship Id="rId6" Type="http://schemas.openxmlformats.org/officeDocument/2006/relationships/tags" Target="../tags/tag113.xml"/><Relationship Id="rId5" Type="http://schemas.openxmlformats.org/officeDocument/2006/relationships/tags" Target="../tags/tag112.xml"/><Relationship Id="rId4" Type="http://schemas.openxmlformats.org/officeDocument/2006/relationships/tags" Target="../tags/tag111.xml"/><Relationship Id="rId3" Type="http://schemas.openxmlformats.org/officeDocument/2006/relationships/tags" Target="../tags/tag110.xml"/><Relationship Id="rId2" Type="http://schemas.openxmlformats.org/officeDocument/2006/relationships/tags" Target="../tags/tag109.xml"/><Relationship Id="rId13" Type="http://schemas.openxmlformats.org/officeDocument/2006/relationships/notesSlide" Target="../notesSlides/notesSlide32.xml"/><Relationship Id="rId12" Type="http://schemas.openxmlformats.org/officeDocument/2006/relationships/slideLayout" Target="../slideLayouts/slideLayout1.xml"/><Relationship Id="rId11" Type="http://schemas.openxmlformats.org/officeDocument/2006/relationships/tags" Target="../tags/tag118.xml"/><Relationship Id="rId10" Type="http://schemas.openxmlformats.org/officeDocument/2006/relationships/tags" Target="../tags/tag117.xml"/><Relationship Id="rId1" Type="http://schemas.openxmlformats.org/officeDocument/2006/relationships/image" Target="../media/image2.png"/></Relationships>
</file>

<file path=ppt/slides/_rels/slide33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33.xml"/><Relationship Id="rId8" Type="http://schemas.openxmlformats.org/officeDocument/2006/relationships/slideLayout" Target="../slideLayouts/slideLayout1.xml"/><Relationship Id="rId7" Type="http://schemas.openxmlformats.org/officeDocument/2006/relationships/tags" Target="../tags/tag124.xml"/><Relationship Id="rId6" Type="http://schemas.openxmlformats.org/officeDocument/2006/relationships/tags" Target="../tags/tag123.xml"/><Relationship Id="rId5" Type="http://schemas.openxmlformats.org/officeDocument/2006/relationships/tags" Target="../tags/tag122.xml"/><Relationship Id="rId4" Type="http://schemas.openxmlformats.org/officeDocument/2006/relationships/tags" Target="../tags/tag121.xml"/><Relationship Id="rId3" Type="http://schemas.openxmlformats.org/officeDocument/2006/relationships/tags" Target="../tags/tag120.xml"/><Relationship Id="rId2" Type="http://schemas.openxmlformats.org/officeDocument/2006/relationships/tags" Target="../tags/tag119.xml"/><Relationship Id="rId1" Type="http://schemas.openxmlformats.org/officeDocument/2006/relationships/image" Target="../media/image2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4" name="AutoShape 4"/>
          <p:cNvSpPr>
            <a:spLocks noGrp="1"/>
          </p:cNvSpPr>
          <p:nvPr/>
        </p:nvSpPr>
        <p:spPr>
          <a:xfrm>
            <a:off x="562259" y="1973594"/>
            <a:ext cx="11067481" cy="1151530"/>
          </a:xfrm>
          <a:prstGeom prst="rect">
            <a:avLst/>
          </a:prstGeom>
          <a:noFill/>
          <a:ln w="12502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indent="0" algn="ctr">
              <a:lnSpc>
                <a:spcPct val="100000"/>
              </a:lnSpc>
              <a:buNone/>
            </a:pPr>
            <a:r>
              <a:rPr lang="zh-CN" sz="2820" b="1" i="0" u="none">
                <a:solidFill>
                  <a:srgbClr val="0F172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面向</a:t>
            </a:r>
            <a:r>
              <a:rPr sz="2820" b="1" i="0" u="none">
                <a:solidFill>
                  <a:srgbClr val="0F172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岗位能力达成</a:t>
            </a:r>
            <a:r>
              <a:rPr lang="zh-CN" sz="2820" b="1" i="0" u="none">
                <a:solidFill>
                  <a:srgbClr val="0F172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的</a:t>
            </a:r>
            <a:r>
              <a:rPr sz="2820" b="1" i="0" u="none">
                <a:solidFill>
                  <a:srgbClr val="0F172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学生成长诊断与精准就业智能体系统</a:t>
            </a:r>
            <a:endParaRPr sz="2820" b="1" i="0" u="none">
              <a:solidFill>
                <a:srgbClr val="0F172A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1" name="文本框 10"/>
          <p:cNvSpPr>
            <a:spLocks noGrp="1"/>
          </p:cNvSpPr>
          <p:nvPr/>
        </p:nvSpPr>
        <p:spPr>
          <a:xfrm>
            <a:off x="1297319" y="3708566"/>
            <a:ext cx="4393086" cy="2663233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endParaRPr sz="1815"/>
          </a:p>
          <a:p>
            <a:r>
              <a:rPr sz="2015" b="1">
                <a:solidFill>
                  <a:srgbClr val="1E3A8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队伍名称：智聘未来</a:t>
            </a:r>
            <a:endParaRPr sz="2015" b="1">
              <a:solidFill>
                <a:srgbClr val="1E3A8A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endParaRPr sz="2015"/>
          </a:p>
          <a:p>
            <a:r>
              <a:rPr sz="2015" b="1">
                <a:solidFill>
                  <a:srgbClr val="1E3A8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参赛队员：黎盛 | 侯程予 | 冯靖原</a:t>
            </a:r>
            <a:endParaRPr sz="2015" b="1">
              <a:solidFill>
                <a:srgbClr val="1E3A8A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endParaRPr sz="2015"/>
          </a:p>
          <a:p>
            <a:r>
              <a:rPr sz="2015" b="1">
                <a:solidFill>
                  <a:srgbClr val="1E3A8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完成时间：2026年6月</a:t>
            </a:r>
            <a:endParaRPr sz="2015" b="1">
              <a:solidFill>
                <a:srgbClr val="1E3A8A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endParaRPr sz="2015"/>
          </a:p>
          <a:p>
            <a:endParaRPr sz="2015"/>
          </a:p>
          <a:p>
            <a:endParaRPr sz="2015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C:/Users/fjy/OneDrive/Desktop/润建杯ppt/内页.png内页"/>
          <p:cNvPicPr>
            <a:picLocks noChangeAspect="1"/>
          </p:cNvPicPr>
          <p:nvPr/>
        </p:nvPicPr>
        <p:blipFill>
          <a:blip r:embed="rId1"/>
          <a:srcRect t="284" b="50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矩形 2"/>
          <p:cNvSpPr>
            <a:spLocks noGrp="1"/>
          </p:cNvSpPr>
          <p:nvPr/>
        </p:nvSpPr>
        <p:spPr>
          <a:xfrm>
            <a:off x="666750" y="533400"/>
            <a:ext cx="87630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0B2F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endParaRPr sz="2325" b="1">
              <a:solidFill>
                <a:srgbClr val="0B2F6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2325" b="1">
                <a:solidFill>
                  <a:srgbClr val="0B2F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endParaRPr sz="2325" b="1">
              <a:solidFill>
                <a:srgbClr val="0B2F6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2325" b="1">
                <a:solidFill>
                  <a:srgbClr val="0B2F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sz="2325" b="1">
                <a:solidFill>
                  <a:srgbClr val="0B2F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</a:t>
            </a:r>
            <a:r>
              <a:rPr sz="2325" b="1">
                <a:solidFill>
                  <a:srgbClr val="0B2F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目录 CONTENTS</a:t>
            </a:r>
            <a:endParaRPr sz="2325" b="1">
              <a:solidFill>
                <a:srgbClr val="0B2F6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914400" y="1619250"/>
            <a:ext cx="685800" cy="533400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9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01</a:t>
            </a:r>
            <a:endParaRPr sz="1950" b="1">
              <a:solidFill>
                <a:srgbClr val="FFFFF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7" name="圆角矩形 6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1752600" y="1600200"/>
            <a:ext cx="8096250" cy="5715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1430">
            <a:solidFill>
              <a:srgbClr val="D8E4F4"/>
            </a:solidFill>
            <a:prstDash val="solid"/>
          </a:ln>
        </p:spPr>
      </p:sp>
      <p:sp>
        <p:nvSpPr>
          <p:cNvPr id="8" name="矩形 7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2000250" y="1666875"/>
            <a:ext cx="2476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0B2F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sz="1500" b="1">
                <a:solidFill>
                  <a:srgbClr val="0B2F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行业背景及创新</a:t>
            </a:r>
            <a:r>
              <a:rPr lang="zh-CN" sz="1500" b="1">
                <a:solidFill>
                  <a:srgbClr val="0B2F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点</a:t>
            </a:r>
            <a:endParaRPr lang="zh-CN" sz="1500" b="1">
              <a:solidFill>
                <a:srgbClr val="0B2F6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>
            <p:custDataLst>
              <p:tags r:id="rId5"/>
            </p:custDataLst>
          </p:nvPr>
        </p:nvSpPr>
        <p:spPr>
          <a:xfrm>
            <a:off x="2000250" y="1933575"/>
            <a:ext cx="7239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00" b="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高校就业指导需要从经验判断转向数据化、可解释、可追溯的成长诊断。</a:t>
            </a:r>
            <a:endParaRPr sz="1400" b="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矩形 9"/>
          <p:cNvSpPr>
            <a:spLocks noGrp="1"/>
          </p:cNvSpPr>
          <p:nvPr>
            <p:custDataLst>
              <p:tags r:id="rId6"/>
            </p:custDataLst>
          </p:nvPr>
        </p:nvSpPr>
        <p:spPr>
          <a:xfrm>
            <a:off x="914400" y="2457450"/>
            <a:ext cx="685800" cy="533400"/>
          </a:xfrm>
          <a:prstGeom prst="rect">
            <a:avLst/>
          </a:prstGeom>
          <a:solidFill>
            <a:srgbClr val="0F9F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9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02</a:t>
            </a:r>
            <a:endParaRPr sz="1950" b="1">
              <a:solidFill>
                <a:srgbClr val="FFFFF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1" name="圆角矩形 10"/>
          <p:cNvSpPr>
            <a:spLocks noGrp="1"/>
          </p:cNvSpPr>
          <p:nvPr>
            <p:custDataLst>
              <p:tags r:id="rId7"/>
            </p:custDataLst>
          </p:nvPr>
        </p:nvSpPr>
        <p:spPr>
          <a:xfrm>
            <a:off x="1752600" y="2438400"/>
            <a:ext cx="8096250" cy="5715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1430">
            <a:solidFill>
              <a:srgbClr val="D8E4F4"/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>
            <p:custDataLst>
              <p:tags r:id="rId8"/>
            </p:custDataLst>
          </p:nvPr>
        </p:nvSpPr>
        <p:spPr>
          <a:xfrm>
            <a:off x="2000250" y="2505075"/>
            <a:ext cx="2476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0B2F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0B2F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系统架构</a:t>
            </a:r>
            <a:endParaRPr sz="1500" b="1">
              <a:solidFill>
                <a:srgbClr val="0B2F6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矩形 12"/>
          <p:cNvSpPr>
            <a:spLocks noGrp="1"/>
          </p:cNvSpPr>
          <p:nvPr>
            <p:custDataLst>
              <p:tags r:id="rId9"/>
            </p:custDataLst>
          </p:nvPr>
        </p:nvSpPr>
        <p:spPr>
          <a:xfrm>
            <a:off x="2000250" y="2771775"/>
            <a:ext cx="7239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00" b="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 FastAPI、MySQL、LangGraph 与 LLM 工具链支撑完整闭环。</a:t>
            </a:r>
            <a:endParaRPr sz="1400" b="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矩形 13"/>
          <p:cNvSpPr>
            <a:spLocks noGrp="1"/>
          </p:cNvSpPr>
          <p:nvPr>
            <p:custDataLst>
              <p:tags r:id="rId10"/>
            </p:custDataLst>
          </p:nvPr>
        </p:nvSpPr>
        <p:spPr>
          <a:xfrm>
            <a:off x="914400" y="3295650"/>
            <a:ext cx="685800" cy="533400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9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03</a:t>
            </a:r>
            <a:endParaRPr sz="1950" b="1">
              <a:solidFill>
                <a:srgbClr val="FFFFF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5" name="圆角矩形 14"/>
          <p:cNvSpPr>
            <a:spLocks noGrp="1"/>
          </p:cNvSpPr>
          <p:nvPr>
            <p:custDataLst>
              <p:tags r:id="rId11"/>
            </p:custDataLst>
          </p:nvPr>
        </p:nvSpPr>
        <p:spPr>
          <a:xfrm>
            <a:off x="1752600" y="3276600"/>
            <a:ext cx="8096250" cy="5715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1430">
            <a:solidFill>
              <a:srgbClr val="D8E4F4"/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>
            <p:custDataLst>
              <p:tags r:id="rId12"/>
            </p:custDataLst>
          </p:nvPr>
        </p:nvSpPr>
        <p:spPr>
          <a:xfrm>
            <a:off x="2000250" y="3343275"/>
            <a:ext cx="2476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0B2F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0B2F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核心算法</a:t>
            </a:r>
            <a:endParaRPr sz="1500" b="1">
              <a:solidFill>
                <a:srgbClr val="0B2F6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矩形 16"/>
          <p:cNvSpPr>
            <a:spLocks noGrp="1"/>
          </p:cNvSpPr>
          <p:nvPr>
            <p:custDataLst>
              <p:tags r:id="rId13"/>
            </p:custDataLst>
          </p:nvPr>
        </p:nvSpPr>
        <p:spPr>
          <a:xfrm>
            <a:off x="2000250" y="3609975"/>
            <a:ext cx="7239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00" b="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四维能力评分、双向岗位匹配、课程-岗位智能映射。</a:t>
            </a:r>
            <a:endParaRPr sz="1400" b="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矩形 17"/>
          <p:cNvSpPr>
            <a:spLocks noGrp="1"/>
          </p:cNvSpPr>
          <p:nvPr>
            <p:custDataLst>
              <p:tags r:id="rId14"/>
            </p:custDataLst>
          </p:nvPr>
        </p:nvSpPr>
        <p:spPr>
          <a:xfrm>
            <a:off x="914400" y="4133850"/>
            <a:ext cx="685800" cy="533400"/>
          </a:xfrm>
          <a:prstGeom prst="rect">
            <a:avLst/>
          </a:prstGeom>
          <a:solidFill>
            <a:srgbClr val="0F9F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9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04</a:t>
            </a:r>
            <a:endParaRPr sz="1950" b="1">
              <a:solidFill>
                <a:srgbClr val="FFFFF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9" name="圆角矩形 18"/>
          <p:cNvSpPr>
            <a:spLocks noGrp="1"/>
          </p:cNvSpPr>
          <p:nvPr>
            <p:custDataLst>
              <p:tags r:id="rId15"/>
            </p:custDataLst>
          </p:nvPr>
        </p:nvSpPr>
        <p:spPr>
          <a:xfrm>
            <a:off x="1752600" y="4114800"/>
            <a:ext cx="8096250" cy="5715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1430">
            <a:solidFill>
              <a:srgbClr val="D8E4F4"/>
            </a:solidFill>
            <a:prstDash val="solid"/>
          </a:ln>
        </p:spPr>
      </p:sp>
      <p:sp>
        <p:nvSpPr>
          <p:cNvPr id="20" name="矩形 19"/>
          <p:cNvSpPr>
            <a:spLocks noGrp="1"/>
          </p:cNvSpPr>
          <p:nvPr>
            <p:custDataLst>
              <p:tags r:id="rId16"/>
            </p:custDataLst>
          </p:nvPr>
        </p:nvSpPr>
        <p:spPr>
          <a:xfrm>
            <a:off x="2000250" y="4181475"/>
            <a:ext cx="2476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0B2F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0B2F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系统演示</a:t>
            </a:r>
            <a:endParaRPr sz="1500" b="1">
              <a:solidFill>
                <a:srgbClr val="0B2F6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矩形 20"/>
          <p:cNvSpPr>
            <a:spLocks noGrp="1"/>
          </p:cNvSpPr>
          <p:nvPr>
            <p:custDataLst>
              <p:tags r:id="rId17"/>
            </p:custDataLst>
          </p:nvPr>
        </p:nvSpPr>
        <p:spPr>
          <a:xfrm>
            <a:off x="2000250" y="4448175"/>
            <a:ext cx="7239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00" b="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能力画像、岗位推荐、简历优化、模拟面试与就业指导。</a:t>
            </a:r>
            <a:endParaRPr sz="1400" b="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矩形 21"/>
          <p:cNvSpPr>
            <a:spLocks noGrp="1"/>
          </p:cNvSpPr>
          <p:nvPr>
            <p:custDataLst>
              <p:tags r:id="rId18"/>
            </p:custDataLst>
          </p:nvPr>
        </p:nvSpPr>
        <p:spPr>
          <a:xfrm>
            <a:off x="914400" y="4972050"/>
            <a:ext cx="685800" cy="533400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9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05</a:t>
            </a:r>
            <a:endParaRPr sz="1950" b="1">
              <a:solidFill>
                <a:srgbClr val="FFFFF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3" name="圆角矩形 22"/>
          <p:cNvSpPr>
            <a:spLocks noGrp="1"/>
          </p:cNvSpPr>
          <p:nvPr>
            <p:custDataLst>
              <p:tags r:id="rId19"/>
            </p:custDataLst>
          </p:nvPr>
        </p:nvSpPr>
        <p:spPr>
          <a:xfrm>
            <a:off x="1752600" y="4953000"/>
            <a:ext cx="8096250" cy="5715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1430">
            <a:solidFill>
              <a:srgbClr val="D8E4F4"/>
            </a:solidFill>
            <a:prstDash val="solid"/>
          </a:ln>
        </p:spPr>
      </p:sp>
      <p:sp>
        <p:nvSpPr>
          <p:cNvPr id="24" name="矩形 23"/>
          <p:cNvSpPr>
            <a:spLocks noGrp="1"/>
          </p:cNvSpPr>
          <p:nvPr>
            <p:custDataLst>
              <p:tags r:id="rId20"/>
            </p:custDataLst>
          </p:nvPr>
        </p:nvSpPr>
        <p:spPr>
          <a:xfrm>
            <a:off x="2000250" y="5019675"/>
            <a:ext cx="2476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0B2F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sz="1500" b="1">
                <a:solidFill>
                  <a:srgbClr val="0B2F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系统</a:t>
            </a:r>
            <a:r>
              <a:rPr sz="1500" b="1">
                <a:solidFill>
                  <a:srgbClr val="0B2F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测试</a:t>
            </a:r>
            <a:endParaRPr sz="1500" b="1">
              <a:solidFill>
                <a:srgbClr val="0B2F6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矩形 24"/>
          <p:cNvSpPr>
            <a:spLocks noGrp="1"/>
          </p:cNvSpPr>
          <p:nvPr>
            <p:custDataLst>
              <p:tags r:id="rId21"/>
            </p:custDataLst>
          </p:nvPr>
        </p:nvSpPr>
        <p:spPr>
          <a:xfrm>
            <a:off x="2000250" y="5286375"/>
            <a:ext cx="7239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00" b="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性能测试、创新点总结、应用落地与后续规划。</a:t>
            </a:r>
            <a:endParaRPr sz="1400" b="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3" name="AutoShape 3"/>
          <p:cNvSpPr>
            <a:spLocks noGrp="1"/>
          </p:cNvSpPr>
          <p:nvPr/>
        </p:nvSpPr>
        <p:spPr>
          <a:xfrm>
            <a:off x="50468" y="1791269"/>
            <a:ext cx="12091063" cy="1535373"/>
          </a:xfrm>
          <a:prstGeom prst="rect">
            <a:avLst/>
          </a:prstGeom>
          <a:noFill/>
          <a:ln w="12502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indent="0" algn="ctr">
              <a:lnSpc>
                <a:spcPct val="125000"/>
              </a:lnSpc>
              <a:buNone/>
            </a:pPr>
            <a:r>
              <a:rPr sz="9670" b="1" i="0" u="none">
                <a:solidFill>
                  <a:srgbClr val="1E3A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</a:t>
            </a:r>
            <a:endParaRPr sz="9670" b="1" i="0" u="none">
              <a:solidFill>
                <a:srgbClr val="1E3A8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AutoShape 4"/>
          <p:cNvSpPr>
            <a:spLocks noGrp="1"/>
          </p:cNvSpPr>
          <p:nvPr/>
        </p:nvSpPr>
        <p:spPr>
          <a:xfrm>
            <a:off x="50468" y="3582537"/>
            <a:ext cx="12091063" cy="1023582"/>
          </a:xfrm>
          <a:prstGeom prst="rect">
            <a:avLst/>
          </a:prstGeom>
          <a:noFill/>
          <a:ln w="12502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algn="ctr">
              <a:defRPr sz="1500" b="1">
                <a:solidFill>
                  <a:srgbClr val="0B2F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sz="4030" b="1">
                <a:solidFill>
                  <a:srgbClr val="0B2F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行业</a:t>
            </a:r>
            <a:r>
              <a:rPr sz="4030" b="1">
                <a:solidFill>
                  <a:srgbClr val="0B2F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背景</a:t>
            </a:r>
            <a:r>
              <a:rPr lang="zh-CN" sz="4030" b="1">
                <a:solidFill>
                  <a:srgbClr val="0B2F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及</a:t>
            </a:r>
            <a:r>
              <a:rPr lang="zh-CN" sz="4030" b="1">
                <a:solidFill>
                  <a:srgbClr val="0B2F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创新点</a:t>
            </a:r>
            <a:endParaRPr lang="zh-CN" sz="4030" b="1">
              <a:solidFill>
                <a:srgbClr val="0B2F6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3" name="矩形 2"/>
          <p:cNvSpPr>
            <a:spLocks noGrp="1"/>
          </p:cNvSpPr>
          <p:nvPr/>
        </p:nvSpPr>
        <p:spPr>
          <a:xfrm>
            <a:off x="1402715" y="129540"/>
            <a:ext cx="8763000" cy="117411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ClrTx/>
              <a:buSzTx/>
              <a:buFontTx/>
              <a:defRPr sz="2325" b="1">
                <a:solidFill>
                  <a:srgbClr val="0B2F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endParaRPr lang="zh-CN" altLang="en-US" sz="2800" b="1">
              <a:solidFill>
                <a:srgbClr val="0B2F6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buClrTx/>
              <a:buSzTx/>
              <a:buFontTx/>
              <a:defRPr sz="2325" b="1">
                <a:solidFill>
                  <a:srgbClr val="0B2F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altLang="en-US" sz="2800" b="1">
                <a:solidFill>
                  <a:srgbClr val="0B2F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 就业指导的关键矛盾</a:t>
            </a:r>
            <a:endParaRPr lang="zh-CN" altLang="en-US" sz="2800" b="1">
              <a:solidFill>
                <a:srgbClr val="0B2F6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2325" b="1">
                <a:solidFill>
                  <a:srgbClr val="0B2F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endParaRPr sz="2325" b="1">
              <a:solidFill>
                <a:srgbClr val="0B2F6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857250" y="1943100"/>
            <a:ext cx="10096500" cy="533400"/>
          </a:xfrm>
          <a:prstGeom prst="rect">
            <a:avLst/>
          </a:prstGeom>
          <a:solidFill>
            <a:srgbClr val="EAF3FF"/>
          </a:solidFill>
          <a:ln w="9525">
            <a:solidFill>
              <a:srgbClr val="BFD3F2"/>
            </a:solidFill>
            <a:prstDash val="solid"/>
          </a:ln>
        </p:spPr>
        <p:txBody>
          <a:bodyPr lIns="209550" tIns="114300" rIns="190500" bIns="95250" anchor="t"/>
          <a:lstStyle/>
          <a:p>
            <a:pPr algn="l">
              <a:defRPr sz="1800" b="1">
                <a:solidFill>
                  <a:srgbClr val="0B2F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0B2F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核心问题不是“推荐一个岗位”，而是解释学生为什么适合、还缺什么、下一步怎么补。</a:t>
            </a:r>
            <a:endParaRPr sz="1800" b="1">
              <a:solidFill>
                <a:srgbClr val="0B2F6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圆角矩形 6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857250" y="2619375"/>
            <a:ext cx="4762500" cy="106680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1430">
            <a:solidFill>
              <a:srgbClr val="D8E4F4"/>
            </a:solidFill>
            <a:prstDash val="solid"/>
          </a:ln>
        </p:spPr>
      </p:sp>
      <p:sp>
        <p:nvSpPr>
          <p:cNvPr id="8" name="矩形 7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1085850" y="2790825"/>
            <a:ext cx="171450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学生侧</a:t>
            </a:r>
            <a:endParaRPr sz="1500" b="1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1085850" y="3133725"/>
            <a:ext cx="4191000" cy="4286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00" b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简历、课程、项目、证书分散，难以判断自己和岗位之间差距在哪里。</a:t>
            </a:r>
            <a:endParaRPr sz="1400" b="0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圆角矩形 9"/>
          <p:cNvSpPr>
            <a:spLocks noGrp="1"/>
          </p:cNvSpPr>
          <p:nvPr>
            <p:custDataLst>
              <p:tags r:id="rId5"/>
            </p:custDataLst>
          </p:nvPr>
        </p:nvSpPr>
        <p:spPr>
          <a:xfrm>
            <a:off x="6143625" y="2619375"/>
            <a:ext cx="4762500" cy="106680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1430">
            <a:solidFill>
              <a:srgbClr val="D8E4F4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>
            <p:custDataLst>
              <p:tags r:id="rId6"/>
            </p:custDataLst>
          </p:nvPr>
        </p:nvSpPr>
        <p:spPr>
          <a:xfrm>
            <a:off x="6372225" y="2790825"/>
            <a:ext cx="171450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学校侧</a:t>
            </a:r>
            <a:endParaRPr sz="1500" b="1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矩形 11"/>
          <p:cNvSpPr>
            <a:spLocks noGrp="1"/>
          </p:cNvSpPr>
          <p:nvPr>
            <p:custDataLst>
              <p:tags r:id="rId7"/>
            </p:custDataLst>
          </p:nvPr>
        </p:nvSpPr>
        <p:spPr>
          <a:xfrm>
            <a:off x="6372225" y="3133725"/>
            <a:ext cx="4191000" cy="4286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ClrTx/>
              <a:buSzTx/>
              <a:buFontTx/>
              <a:defRPr sz="1125" b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00" b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教师需要快速了解学生能力短板，缺少可复用、可追溯的诊断依据。</a:t>
            </a:r>
            <a:endParaRPr sz="1400" b="0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圆角矩形 12"/>
          <p:cNvSpPr>
            <a:spLocks noGrp="1"/>
          </p:cNvSpPr>
          <p:nvPr>
            <p:custDataLst>
              <p:tags r:id="rId8"/>
            </p:custDataLst>
          </p:nvPr>
        </p:nvSpPr>
        <p:spPr>
          <a:xfrm>
            <a:off x="857250" y="4048125"/>
            <a:ext cx="4762500" cy="106680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1430">
            <a:solidFill>
              <a:srgbClr val="D8E4F4"/>
            </a:solidFill>
            <a:prstDash val="solid"/>
          </a:ln>
        </p:spPr>
      </p:sp>
      <p:sp>
        <p:nvSpPr>
          <p:cNvPr id="14" name="矩形 13"/>
          <p:cNvSpPr>
            <a:spLocks noGrp="1"/>
          </p:cNvSpPr>
          <p:nvPr>
            <p:custDataLst>
              <p:tags r:id="rId9"/>
            </p:custDataLst>
          </p:nvPr>
        </p:nvSpPr>
        <p:spPr>
          <a:xfrm>
            <a:off x="1085850" y="4219575"/>
            <a:ext cx="171450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企业侧</a:t>
            </a:r>
            <a:endParaRPr sz="1500" b="1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矩形 14"/>
          <p:cNvSpPr>
            <a:spLocks noGrp="1"/>
          </p:cNvSpPr>
          <p:nvPr>
            <p:custDataLst>
              <p:tags r:id="rId10"/>
            </p:custDataLst>
          </p:nvPr>
        </p:nvSpPr>
        <p:spPr>
          <a:xfrm>
            <a:off x="1085850" y="4562475"/>
            <a:ext cx="4191000" cy="4286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ClrTx/>
              <a:buSzTx/>
              <a:buFontTx/>
              <a:defRPr sz="1125" b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00" b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岗位要求真实变化快，单纯按岗位名称推荐容易同质化、解释弱。</a:t>
            </a:r>
            <a:endParaRPr sz="1400" b="0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圆角矩形 15"/>
          <p:cNvSpPr>
            <a:spLocks noGrp="1"/>
          </p:cNvSpPr>
          <p:nvPr>
            <p:custDataLst>
              <p:tags r:id="rId11"/>
            </p:custDataLst>
          </p:nvPr>
        </p:nvSpPr>
        <p:spPr>
          <a:xfrm>
            <a:off x="6143625" y="4048125"/>
            <a:ext cx="4762500" cy="106680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1430">
            <a:solidFill>
              <a:srgbClr val="D8E4F4"/>
            </a:solidFill>
            <a:prstDash val="solid"/>
          </a:ln>
        </p:spPr>
      </p:sp>
      <p:sp>
        <p:nvSpPr>
          <p:cNvPr id="17" name="矩形 16"/>
          <p:cNvSpPr>
            <a:spLocks noGrp="1"/>
          </p:cNvSpPr>
          <p:nvPr>
            <p:custDataLst>
              <p:tags r:id="rId12"/>
            </p:custDataLst>
          </p:nvPr>
        </p:nvSpPr>
        <p:spPr>
          <a:xfrm>
            <a:off x="6372225" y="4219575"/>
            <a:ext cx="171450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系统目标</a:t>
            </a:r>
            <a:endParaRPr sz="1500" b="1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矩形 17"/>
          <p:cNvSpPr>
            <a:spLocks noGrp="1"/>
          </p:cNvSpPr>
          <p:nvPr>
            <p:custDataLst>
              <p:tags r:id="rId13"/>
            </p:custDataLst>
          </p:nvPr>
        </p:nvSpPr>
        <p:spPr>
          <a:xfrm>
            <a:off x="6372225" y="4562475"/>
            <a:ext cx="4191000" cy="4286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ClrTx/>
              <a:buSzTx/>
              <a:buFontTx/>
              <a:defRPr sz="1125" b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00" b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把非结构化简历转为能力画像，再映射到真实岗位和成长路径。</a:t>
            </a:r>
            <a:endParaRPr sz="1400" b="0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3" name="矩形 2"/>
          <p:cNvSpPr>
            <a:spLocks noGrp="1"/>
          </p:cNvSpPr>
          <p:nvPr/>
        </p:nvSpPr>
        <p:spPr>
          <a:xfrm>
            <a:off x="952500" y="610870"/>
            <a:ext cx="87630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325" b="1">
                <a:solidFill>
                  <a:srgbClr val="0B2F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altLang="en-US" sz="2800" b="1">
                <a:solidFill>
                  <a:srgbClr val="0B2F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 系统整体思路</a:t>
            </a:r>
            <a:endParaRPr sz="2800" b="1">
              <a:solidFill>
                <a:srgbClr val="0B2F6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762000" y="1598930"/>
            <a:ext cx="10061575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ClrTx/>
              <a:buSzTx/>
              <a:buFontTx/>
              <a:defRPr sz="2325" b="1">
                <a:solidFill>
                  <a:srgbClr val="0B2F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>
                <a:sym typeface="+mn-ea"/>
              </a:rPr>
              <a:t>从一份简历出发，形成可追溯就业闭环</a:t>
            </a:r>
            <a:r>
              <a:rPr lang="zh-CN" sz="1800">
                <a:sym typeface="+mn-ea"/>
              </a:rPr>
              <a:t>：</a:t>
            </a:r>
            <a:r>
              <a:rPr sz="1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学生上传材料后，系统依次完成诊断、匹配、差距分析与路径规划</a:t>
            </a:r>
            <a:endParaRPr sz="18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圆角矩形 5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762000" y="2571750"/>
            <a:ext cx="1619250" cy="1000125"/>
          </a:xfrm>
          <a:prstGeom prst="roundRect">
            <a:avLst>
              <a:gd name="adj" fmla="val 7619"/>
            </a:avLst>
          </a:prstGeom>
          <a:solidFill>
            <a:srgbClr val="EAF3FF"/>
          </a:solidFill>
          <a:ln w="11430">
            <a:solidFill>
              <a:srgbClr val="2563EB"/>
            </a:solidFill>
            <a:prstDash val="solid"/>
          </a:ln>
        </p:spPr>
      </p:sp>
      <p:sp>
        <p:nvSpPr>
          <p:cNvPr id="7" name="矩形 6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904875" y="2743200"/>
            <a:ext cx="1333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575" b="1">
                <a:solidFill>
                  <a:srgbClr val="0B2F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0B2F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简历输入</a:t>
            </a:r>
            <a:endParaRPr sz="1575" b="1">
              <a:solidFill>
                <a:srgbClr val="0B2F6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904875" y="3095625"/>
            <a:ext cx="1371600" cy="47688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00" b="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PDF / 文本 / 项目经</a:t>
            </a:r>
            <a:r>
              <a:rPr sz="1400" b="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历</a:t>
            </a:r>
            <a:endParaRPr sz="1400" b="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等腰三角形 8"/>
          <p:cNvSpPr>
            <a:spLocks noGrp="1"/>
          </p:cNvSpPr>
          <p:nvPr>
            <p:custDataLst>
              <p:tags r:id="rId5"/>
            </p:custDataLst>
          </p:nvPr>
        </p:nvSpPr>
        <p:spPr>
          <a:xfrm>
            <a:off x="2514600" y="2943225"/>
            <a:ext cx="247650" cy="247650"/>
          </a:xfrm>
          <a:prstGeom prst="triangle">
            <a:avLst/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</p:sp>
      <p:sp>
        <p:nvSpPr>
          <p:cNvPr id="10" name="圆角矩形 9"/>
          <p:cNvSpPr>
            <a:spLocks noGrp="1"/>
          </p:cNvSpPr>
          <p:nvPr>
            <p:custDataLst>
              <p:tags r:id="rId6"/>
            </p:custDataLst>
          </p:nvPr>
        </p:nvSpPr>
        <p:spPr>
          <a:xfrm>
            <a:off x="3000375" y="2571750"/>
            <a:ext cx="1619250" cy="1000125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1430">
            <a:solidFill>
              <a:srgbClr val="D8E4F4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>
            <p:custDataLst>
              <p:tags r:id="rId7"/>
            </p:custDataLst>
          </p:nvPr>
        </p:nvSpPr>
        <p:spPr>
          <a:xfrm>
            <a:off x="3143250" y="2743200"/>
            <a:ext cx="1333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575" b="1">
                <a:solidFill>
                  <a:srgbClr val="0B2F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0B2F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能力诊断</a:t>
            </a:r>
            <a:endParaRPr sz="1575" b="1">
              <a:solidFill>
                <a:srgbClr val="0B2F6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矩形 11"/>
          <p:cNvSpPr>
            <a:spLocks noGrp="1"/>
          </p:cNvSpPr>
          <p:nvPr>
            <p:custDataLst>
              <p:tags r:id="rId8"/>
            </p:custDataLst>
          </p:nvPr>
        </p:nvSpPr>
        <p:spPr>
          <a:xfrm>
            <a:off x="3143250" y="3095625"/>
            <a:ext cx="13335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00" b="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四维画像与证据卡</a:t>
            </a:r>
            <a:endParaRPr sz="1400" b="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等腰三角形 12"/>
          <p:cNvSpPr>
            <a:spLocks noGrp="1"/>
          </p:cNvSpPr>
          <p:nvPr>
            <p:custDataLst>
              <p:tags r:id="rId9"/>
            </p:custDataLst>
          </p:nvPr>
        </p:nvSpPr>
        <p:spPr>
          <a:xfrm>
            <a:off x="4752975" y="2943225"/>
            <a:ext cx="247650" cy="247650"/>
          </a:xfrm>
          <a:prstGeom prst="triangle">
            <a:avLst/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</p:sp>
      <p:sp>
        <p:nvSpPr>
          <p:cNvPr id="14" name="圆角矩形 13"/>
          <p:cNvSpPr>
            <a:spLocks noGrp="1"/>
          </p:cNvSpPr>
          <p:nvPr>
            <p:custDataLst>
              <p:tags r:id="rId10"/>
            </p:custDataLst>
          </p:nvPr>
        </p:nvSpPr>
        <p:spPr>
          <a:xfrm>
            <a:off x="5238750" y="2571750"/>
            <a:ext cx="1619250" cy="1000125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1430">
            <a:solidFill>
              <a:srgbClr val="D8E4F4"/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>
            <p:custDataLst>
              <p:tags r:id="rId11"/>
            </p:custDataLst>
          </p:nvPr>
        </p:nvSpPr>
        <p:spPr>
          <a:xfrm>
            <a:off x="5381625" y="2743200"/>
            <a:ext cx="1333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575" b="1">
                <a:solidFill>
                  <a:srgbClr val="0B2F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0B2F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岗位匹配</a:t>
            </a:r>
            <a:endParaRPr sz="1575" b="1">
              <a:solidFill>
                <a:srgbClr val="0B2F6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矩形 15"/>
          <p:cNvSpPr>
            <a:spLocks noGrp="1"/>
          </p:cNvSpPr>
          <p:nvPr>
            <p:custDataLst>
              <p:tags r:id="rId12"/>
            </p:custDataLst>
          </p:nvPr>
        </p:nvSpPr>
        <p:spPr>
          <a:xfrm>
            <a:off x="5381625" y="3095625"/>
            <a:ext cx="13335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00" b="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本地召回 + 双向评分</a:t>
            </a:r>
            <a:endParaRPr sz="1400" b="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等腰三角形 16"/>
          <p:cNvSpPr>
            <a:spLocks noGrp="1"/>
          </p:cNvSpPr>
          <p:nvPr>
            <p:custDataLst>
              <p:tags r:id="rId13"/>
            </p:custDataLst>
          </p:nvPr>
        </p:nvSpPr>
        <p:spPr>
          <a:xfrm>
            <a:off x="6991350" y="2943225"/>
            <a:ext cx="247650" cy="247650"/>
          </a:xfrm>
          <a:prstGeom prst="triangle">
            <a:avLst/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</p:sp>
      <p:sp>
        <p:nvSpPr>
          <p:cNvPr id="18" name="圆角矩形 17"/>
          <p:cNvSpPr>
            <a:spLocks noGrp="1"/>
          </p:cNvSpPr>
          <p:nvPr>
            <p:custDataLst>
              <p:tags r:id="rId14"/>
            </p:custDataLst>
          </p:nvPr>
        </p:nvSpPr>
        <p:spPr>
          <a:xfrm>
            <a:off x="7477125" y="2571750"/>
            <a:ext cx="1619250" cy="1000125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1430">
            <a:solidFill>
              <a:srgbClr val="D8E4F4"/>
            </a:solidFill>
            <a:prstDash val="solid"/>
          </a:ln>
        </p:spPr>
      </p:sp>
      <p:sp>
        <p:nvSpPr>
          <p:cNvPr id="19" name="矩形 18"/>
          <p:cNvSpPr>
            <a:spLocks noGrp="1"/>
          </p:cNvSpPr>
          <p:nvPr>
            <p:custDataLst>
              <p:tags r:id="rId15"/>
            </p:custDataLst>
          </p:nvPr>
        </p:nvSpPr>
        <p:spPr>
          <a:xfrm>
            <a:off x="7620000" y="2743200"/>
            <a:ext cx="1333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575" b="1">
                <a:solidFill>
                  <a:srgbClr val="0B2F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0B2F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差距发现</a:t>
            </a:r>
            <a:endParaRPr sz="1575" b="1">
              <a:solidFill>
                <a:srgbClr val="0B2F6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矩形 19"/>
          <p:cNvSpPr>
            <a:spLocks noGrp="1"/>
          </p:cNvSpPr>
          <p:nvPr>
            <p:custDataLst>
              <p:tags r:id="rId16"/>
            </p:custDataLst>
          </p:nvPr>
        </p:nvSpPr>
        <p:spPr>
          <a:xfrm>
            <a:off x="7620000" y="3095625"/>
            <a:ext cx="1333500" cy="47561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00" b="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已匹配与待补齐技</a:t>
            </a:r>
            <a:r>
              <a:rPr sz="1400" b="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能</a:t>
            </a:r>
            <a:endParaRPr sz="1400" b="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等腰三角形 20"/>
          <p:cNvSpPr>
            <a:spLocks noGrp="1"/>
          </p:cNvSpPr>
          <p:nvPr>
            <p:custDataLst>
              <p:tags r:id="rId17"/>
            </p:custDataLst>
          </p:nvPr>
        </p:nvSpPr>
        <p:spPr>
          <a:xfrm>
            <a:off x="9229725" y="2943225"/>
            <a:ext cx="247650" cy="247650"/>
          </a:xfrm>
          <a:prstGeom prst="triangle">
            <a:avLst/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</p:sp>
      <p:sp>
        <p:nvSpPr>
          <p:cNvPr id="22" name="圆角矩形 21"/>
          <p:cNvSpPr>
            <a:spLocks noGrp="1"/>
          </p:cNvSpPr>
          <p:nvPr>
            <p:custDataLst>
              <p:tags r:id="rId18"/>
            </p:custDataLst>
          </p:nvPr>
        </p:nvSpPr>
        <p:spPr>
          <a:xfrm>
            <a:off x="9715500" y="2571750"/>
            <a:ext cx="1619250" cy="1000125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1430">
            <a:solidFill>
              <a:srgbClr val="D8E4F4"/>
            </a:solidFill>
            <a:prstDash val="solid"/>
          </a:ln>
        </p:spPr>
      </p:sp>
      <p:sp>
        <p:nvSpPr>
          <p:cNvPr id="23" name="矩形 22"/>
          <p:cNvSpPr>
            <a:spLocks noGrp="1"/>
          </p:cNvSpPr>
          <p:nvPr>
            <p:custDataLst>
              <p:tags r:id="rId19"/>
            </p:custDataLst>
          </p:nvPr>
        </p:nvSpPr>
        <p:spPr>
          <a:xfrm>
            <a:off x="9858375" y="2743200"/>
            <a:ext cx="1333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575" b="1">
                <a:solidFill>
                  <a:srgbClr val="0B2F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0B2F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成长路径</a:t>
            </a:r>
            <a:endParaRPr sz="1575" b="1">
              <a:solidFill>
                <a:srgbClr val="0B2F6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矩形 23"/>
          <p:cNvSpPr>
            <a:spLocks noGrp="1"/>
          </p:cNvSpPr>
          <p:nvPr>
            <p:custDataLst>
              <p:tags r:id="rId20"/>
            </p:custDataLst>
          </p:nvPr>
        </p:nvSpPr>
        <p:spPr>
          <a:xfrm>
            <a:off x="9858375" y="3095625"/>
            <a:ext cx="13335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00" b="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课程、项目、面试、就业指导</a:t>
            </a:r>
            <a:endParaRPr sz="1400" b="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1143000" y="4524375"/>
            <a:ext cx="9525000" cy="590550"/>
          </a:xfrm>
          <a:prstGeom prst="rect">
            <a:avLst/>
          </a:prstGeom>
          <a:solidFill>
            <a:srgbClr val="E9F8F0"/>
          </a:solidFill>
          <a:ln w="9525">
            <a:solidFill>
              <a:srgbClr val="BFE8D7"/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800" b="1">
                <a:solidFill>
                  <a:srgbClr val="0B2F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0B2F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核心闭环：诊断不是终点，岗位差距会继续驱动课程、项目、简历和面试准备。</a:t>
            </a:r>
            <a:endParaRPr sz="1800" b="1">
              <a:solidFill>
                <a:srgbClr val="0B2F6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3" name="矩形 2"/>
          <p:cNvSpPr>
            <a:spLocks noGrp="1"/>
          </p:cNvSpPr>
          <p:nvPr/>
        </p:nvSpPr>
        <p:spPr>
          <a:xfrm>
            <a:off x="700405" y="617855"/>
            <a:ext cx="969137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325" b="1">
                <a:solidFill>
                  <a:srgbClr val="0B2F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sz="2800" b="1">
                <a:solidFill>
                  <a:srgbClr val="0B2F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 </a:t>
            </a:r>
            <a:r>
              <a:rPr sz="2800" b="1">
                <a:solidFill>
                  <a:srgbClr val="0B2F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核心创新</a:t>
            </a:r>
            <a:endParaRPr sz="2800" b="1">
              <a:solidFill>
                <a:srgbClr val="0B2F6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85800" y="1057275"/>
            <a:ext cx="8572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ClrTx/>
              <a:buSzTx/>
              <a:buFontTx/>
              <a:defRPr sz="2325" b="1">
                <a:solidFill>
                  <a:srgbClr val="0B2F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endParaRPr sz="20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圆角矩形 5"/>
          <p:cNvSpPr>
            <a:spLocks noGrp="1"/>
          </p:cNvSpPr>
          <p:nvPr/>
        </p:nvSpPr>
        <p:spPr>
          <a:xfrm>
            <a:off x="809625" y="2276475"/>
            <a:ext cx="2952750" cy="1314450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 w="11430">
            <a:solidFill>
              <a:srgbClr val="D8E4F4"/>
            </a:solidFill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1000125" y="2466975"/>
            <a:ext cx="457200" cy="342900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01</a:t>
            </a:r>
            <a:endParaRPr sz="1800" b="1">
              <a:solidFill>
                <a:srgbClr val="FFFFF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1590675" y="2486025"/>
            <a:ext cx="19050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0B2F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b="1">
                <a:solidFill>
                  <a:srgbClr val="0B2F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四维能力量化</a:t>
            </a:r>
            <a:endParaRPr sz="1600" b="1">
              <a:solidFill>
                <a:srgbClr val="0B2F6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1038225" y="2962275"/>
            <a:ext cx="24955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b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将简历、项目、课程和证书转化为可解释能力画像。</a:t>
            </a:r>
            <a:endParaRPr sz="1600" b="0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圆角矩形 9"/>
          <p:cNvSpPr>
            <a:spLocks noGrp="1"/>
          </p:cNvSpPr>
          <p:nvPr/>
        </p:nvSpPr>
        <p:spPr>
          <a:xfrm>
            <a:off x="4238625" y="2276475"/>
            <a:ext cx="2952750" cy="1314450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 w="11430">
            <a:solidFill>
              <a:srgbClr val="D8E4F4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4429125" y="2466975"/>
            <a:ext cx="457200" cy="342900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02</a:t>
            </a:r>
            <a:endParaRPr sz="1800" b="1">
              <a:solidFill>
                <a:srgbClr val="FFFFF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5019675" y="2486025"/>
            <a:ext cx="19050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Autofit/>
          </a:bodyPr>
          <a:lstStyle/>
          <a:p>
            <a:pPr lvl="0" algn="l">
              <a:buClrTx/>
              <a:buSzTx/>
              <a:buFontTx/>
              <a:defRPr sz="1500" b="1">
                <a:solidFill>
                  <a:srgbClr val="0B2F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>
                <a:sym typeface="+mn-ea"/>
              </a:rPr>
              <a:t>双向匹配算法</a:t>
            </a:r>
            <a:endParaRPr sz="1600">
              <a:sym typeface="+mn-ea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4467225" y="2962275"/>
            <a:ext cx="24955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ClrTx/>
              <a:buSzTx/>
              <a:buFontTx/>
              <a:defRPr sz="1125" b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b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同时计算学生适岗度和岗位适生度，减少单向推荐偏差。</a:t>
            </a:r>
            <a:endParaRPr sz="1600" b="0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圆角矩形 13"/>
          <p:cNvSpPr>
            <a:spLocks noGrp="1"/>
          </p:cNvSpPr>
          <p:nvPr/>
        </p:nvSpPr>
        <p:spPr>
          <a:xfrm>
            <a:off x="7667625" y="2276475"/>
            <a:ext cx="2952750" cy="1465580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 w="11430">
            <a:solidFill>
              <a:srgbClr val="D8E4F4"/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7858125" y="2466975"/>
            <a:ext cx="457200" cy="342900"/>
          </a:xfrm>
          <a:prstGeom prst="rect">
            <a:avLst/>
          </a:prstGeom>
          <a:solidFill>
            <a:srgbClr val="C65A1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03</a:t>
            </a:r>
            <a:endParaRPr sz="1800" b="1">
              <a:solidFill>
                <a:srgbClr val="FFFFF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8448675" y="2486025"/>
            <a:ext cx="19050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Autofit/>
          </a:bodyPr>
          <a:lstStyle/>
          <a:p>
            <a:pPr lvl="0" algn="l">
              <a:buClrTx/>
              <a:buSzTx/>
              <a:buFontTx/>
              <a:defRPr sz="1500" b="1">
                <a:solidFill>
                  <a:srgbClr val="0B2F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>
                <a:sym typeface="+mn-ea"/>
              </a:rPr>
              <a:t>LLM + 工具链</a:t>
            </a:r>
            <a:endParaRPr sz="1600">
              <a:sym typeface="+mn-ea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7896225" y="2962275"/>
            <a:ext cx="24955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ClrTx/>
              <a:buSzTx/>
              <a:buFontTx/>
              <a:defRPr sz="1125" b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b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工具负责证据边界和规则审计，LLM 负责语义推理与解释。</a:t>
            </a:r>
            <a:endParaRPr sz="1600" b="0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圆角矩形 17"/>
          <p:cNvSpPr>
            <a:spLocks noGrp="1"/>
          </p:cNvSpPr>
          <p:nvPr/>
        </p:nvSpPr>
        <p:spPr>
          <a:xfrm>
            <a:off x="1457325" y="4219575"/>
            <a:ext cx="4476750" cy="1314450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 w="11430">
            <a:solidFill>
              <a:srgbClr val="D8E4F4"/>
            </a:solidFill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1647825" y="4410075"/>
            <a:ext cx="457200" cy="342900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04</a:t>
            </a:r>
            <a:endParaRPr sz="1800" b="1">
              <a:solidFill>
                <a:srgbClr val="FFFFF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2238375" y="4429125"/>
            <a:ext cx="34290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Autofit/>
          </a:bodyPr>
          <a:lstStyle/>
          <a:p>
            <a:pPr lvl="0" algn="l">
              <a:buClrTx/>
              <a:buSzTx/>
              <a:buFontTx/>
              <a:defRPr sz="1500" b="1">
                <a:solidFill>
                  <a:srgbClr val="0B2F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>
                <a:sym typeface="+mn-ea"/>
              </a:rPr>
              <a:t>课程-岗位映射</a:t>
            </a:r>
            <a:endParaRPr sz="1600">
              <a:sym typeface="+mn-ea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1685925" y="4905375"/>
            <a:ext cx="40195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ClrTx/>
              <a:buSzTx/>
              <a:buFontTx/>
              <a:defRPr sz="1125" b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b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从已学课程推断能力标签，并映射到真实岗位需求。</a:t>
            </a:r>
            <a:endParaRPr sz="1600" b="0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圆角矩形 21"/>
          <p:cNvSpPr>
            <a:spLocks noGrp="1"/>
          </p:cNvSpPr>
          <p:nvPr/>
        </p:nvSpPr>
        <p:spPr>
          <a:xfrm>
            <a:off x="6362700" y="4219575"/>
            <a:ext cx="4476750" cy="1314450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 w="11430">
            <a:solidFill>
              <a:srgbClr val="D8E4F4"/>
            </a:solidFill>
            <a:prstDash val="solid"/>
          </a:ln>
        </p:spPr>
      </p:sp>
      <p:sp>
        <p:nvSpPr>
          <p:cNvPr id="23" name="矩形 22"/>
          <p:cNvSpPr>
            <a:spLocks noGrp="1"/>
          </p:cNvSpPr>
          <p:nvPr/>
        </p:nvSpPr>
        <p:spPr>
          <a:xfrm>
            <a:off x="6553200" y="4410075"/>
            <a:ext cx="457200" cy="342900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05</a:t>
            </a:r>
            <a:endParaRPr sz="1800" b="1">
              <a:solidFill>
                <a:srgbClr val="FFFFF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7143750" y="4429125"/>
            <a:ext cx="34290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Autofit/>
          </a:bodyPr>
          <a:lstStyle/>
          <a:p>
            <a:pPr lvl="0" algn="l">
              <a:buClrTx/>
              <a:buSzTx/>
              <a:buFontTx/>
              <a:defRPr sz="1500" b="1">
                <a:solidFill>
                  <a:srgbClr val="0B2F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>
                <a:sym typeface="+mn-ea"/>
              </a:rPr>
              <a:t>版本感知缓存</a:t>
            </a:r>
            <a:endParaRPr sz="1600">
              <a:sym typeface="+mn-ea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6591300" y="4905375"/>
            <a:ext cx="40195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ClrTx/>
              <a:buSzTx/>
              <a:buFontTx/>
              <a:defRPr sz="1125" b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b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按诊断、岗位库版本、算法版本保存结果，支持复用与追溯。</a:t>
            </a:r>
            <a:endParaRPr sz="1600" b="0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3" name="AutoShape 3"/>
          <p:cNvSpPr>
            <a:spLocks noGrp="1"/>
          </p:cNvSpPr>
          <p:nvPr/>
        </p:nvSpPr>
        <p:spPr>
          <a:xfrm>
            <a:off x="50468" y="1791269"/>
            <a:ext cx="12091063" cy="1535373"/>
          </a:xfrm>
          <a:prstGeom prst="rect">
            <a:avLst/>
          </a:prstGeom>
          <a:noFill/>
          <a:ln w="12502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indent="0" algn="ctr">
              <a:lnSpc>
                <a:spcPct val="125000"/>
              </a:lnSpc>
              <a:buNone/>
            </a:pPr>
            <a:r>
              <a:rPr sz="9670" b="1" i="0" u="none">
                <a:solidFill>
                  <a:srgbClr val="1E3A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  <a:endParaRPr sz="9670" b="1" i="0" u="none">
              <a:solidFill>
                <a:srgbClr val="1E3A8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AutoShape 4"/>
          <p:cNvSpPr>
            <a:spLocks noGrp="1"/>
          </p:cNvSpPr>
          <p:nvPr/>
        </p:nvSpPr>
        <p:spPr>
          <a:xfrm>
            <a:off x="50468" y="3582537"/>
            <a:ext cx="12091063" cy="1023582"/>
          </a:xfrm>
          <a:prstGeom prst="rect">
            <a:avLst/>
          </a:prstGeom>
          <a:noFill/>
          <a:ln w="12502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algn="ctr">
              <a:defRPr sz="1500" b="1">
                <a:solidFill>
                  <a:srgbClr val="0B2F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4030" b="1">
                <a:solidFill>
                  <a:srgbClr val="0B2F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系统架构</a:t>
            </a:r>
            <a:endParaRPr sz="4030" b="1" i="0" u="none">
              <a:solidFill>
                <a:srgbClr val="11182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3" name="矩形 2"/>
          <p:cNvSpPr>
            <a:spLocks noGrp="1"/>
          </p:cNvSpPr>
          <p:nvPr/>
        </p:nvSpPr>
        <p:spPr>
          <a:xfrm>
            <a:off x="1484630" y="381635"/>
            <a:ext cx="87630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325" b="1">
                <a:solidFill>
                  <a:srgbClr val="0B2F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altLang="en-US" sz="2800" b="1">
                <a:solidFill>
                  <a:srgbClr val="0B2F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 系统总体架构</a:t>
            </a:r>
            <a:endParaRPr sz="2800" b="1">
              <a:solidFill>
                <a:srgbClr val="0B2F6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748030" y="1253490"/>
            <a:ext cx="10696575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ClrTx/>
              <a:buSzTx/>
              <a:buFontTx/>
              <a:defRPr sz="2325" b="1">
                <a:solidFill>
                  <a:srgbClr val="0B2F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>
                <a:sym typeface="+mn-ea"/>
              </a:rPr>
              <a:t>分层支撑完整就业指导闭环</a:t>
            </a:r>
            <a:r>
              <a:rPr lang="zh-CN" sz="1800">
                <a:sym typeface="+mn-ea"/>
              </a:rPr>
              <a:t>，</a:t>
            </a:r>
            <a:r>
              <a:rPr sz="1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输入数据、业务功能、算法服务、智能与数据底座、结果输出逐层衔接</a:t>
            </a:r>
            <a:endParaRPr sz="18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圆角矩形 5"/>
          <p:cNvSpPr>
            <a:spLocks noGrp="1"/>
          </p:cNvSpPr>
          <p:nvPr/>
        </p:nvSpPr>
        <p:spPr>
          <a:xfrm>
            <a:off x="685800" y="1800225"/>
            <a:ext cx="7867650" cy="4486275"/>
          </a:xfrm>
          <a:prstGeom prst="roundRect">
            <a:avLst>
              <a:gd name="adj" fmla="val 1699"/>
            </a:avLst>
          </a:prstGeom>
          <a:solidFill>
            <a:srgbClr val="FFFFFF"/>
          </a:solidFill>
          <a:ln w="11430">
            <a:solidFill>
              <a:srgbClr val="D8E4F4"/>
            </a:solidFill>
            <a:prstDash val="solid"/>
          </a:ln>
        </p:spPr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rcRect b="10535"/>
          <a:stretch>
            <a:fillRect/>
          </a:stretch>
        </p:blipFill>
        <p:spPr>
          <a:xfrm>
            <a:off x="685800" y="1800225"/>
            <a:ext cx="7765415" cy="4575175"/>
          </a:xfrm>
          <a:prstGeom prst="rect">
            <a:avLst/>
          </a:prstGeom>
        </p:spPr>
      </p:pic>
      <p:sp>
        <p:nvSpPr>
          <p:cNvPr id="8" name="圆角矩形 7"/>
          <p:cNvSpPr>
            <a:spLocks noGrp="1"/>
          </p:cNvSpPr>
          <p:nvPr/>
        </p:nvSpPr>
        <p:spPr>
          <a:xfrm>
            <a:off x="8810625" y="1619250"/>
            <a:ext cx="2571750" cy="3286125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1430">
            <a:solidFill>
              <a:srgbClr val="D8E4F4"/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9001125" y="2286000"/>
            <a:ext cx="2095500" cy="23336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95250" tIns="76200" rIns="76200" bIns="76200" anchor="t"/>
          <a:lstStyle/>
          <a:p>
            <a:pPr algn="l">
              <a:defRPr sz="1125" b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b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输入统一：简历、岗位、课程和审核数据进入同一处理链路。</a:t>
            </a:r>
            <a:endParaRPr sz="1600" b="0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125" b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b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业务聚合：画像、匹配、映射、优化、面试和指导形成闭环。</a:t>
            </a:r>
            <a:endParaRPr sz="1600" b="0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125" b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b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底座可追溯：MySQL 保存输入、结果、来源、版本与审核状态。</a:t>
            </a:r>
            <a:endParaRPr sz="1600" b="0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3" name="矩形 2"/>
          <p:cNvSpPr>
            <a:spLocks noGrp="1"/>
          </p:cNvSpPr>
          <p:nvPr/>
        </p:nvSpPr>
        <p:spPr>
          <a:xfrm>
            <a:off x="1350010" y="502920"/>
            <a:ext cx="87630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325" b="1">
                <a:solidFill>
                  <a:srgbClr val="0B2F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sz="2800" b="1">
                <a:solidFill>
                  <a:srgbClr val="0B2F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 </a:t>
            </a:r>
            <a:r>
              <a:rPr sz="2800" b="1">
                <a:solidFill>
                  <a:srgbClr val="0B2F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LLM</a:t>
            </a:r>
            <a:r>
              <a:rPr lang="zh-CN" sz="2800" b="1">
                <a:solidFill>
                  <a:srgbClr val="0B2F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与工具调用链</a:t>
            </a:r>
            <a:r>
              <a:rPr sz="2800" b="1">
                <a:solidFill>
                  <a:srgbClr val="0B2F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endParaRPr sz="2800" b="1">
              <a:solidFill>
                <a:srgbClr val="0B2F6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圆角矩形 5"/>
          <p:cNvSpPr>
            <a:spLocks noGrp="1"/>
          </p:cNvSpPr>
          <p:nvPr/>
        </p:nvSpPr>
        <p:spPr>
          <a:xfrm>
            <a:off x="638175" y="1495425"/>
            <a:ext cx="7867650" cy="4486275"/>
          </a:xfrm>
          <a:prstGeom prst="roundRect">
            <a:avLst>
              <a:gd name="adj" fmla="val 1699"/>
            </a:avLst>
          </a:prstGeom>
          <a:solidFill>
            <a:srgbClr val="FFFFFF"/>
          </a:solidFill>
          <a:ln w="11430">
            <a:solidFill>
              <a:srgbClr val="D8E4F4"/>
            </a:solidFill>
            <a:prstDash val="solid"/>
          </a:ln>
        </p:spPr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rcRect b="10872"/>
          <a:stretch>
            <a:fillRect/>
          </a:stretch>
        </p:blipFill>
        <p:spPr>
          <a:xfrm>
            <a:off x="686435" y="1571625"/>
            <a:ext cx="7820025" cy="4576445"/>
          </a:xfrm>
          <a:prstGeom prst="rect">
            <a:avLst/>
          </a:prstGeom>
        </p:spPr>
      </p:pic>
      <p:sp>
        <p:nvSpPr>
          <p:cNvPr id="8" name="圆角矩形 7"/>
          <p:cNvSpPr>
            <a:spLocks noGrp="1"/>
          </p:cNvSpPr>
          <p:nvPr/>
        </p:nvSpPr>
        <p:spPr>
          <a:xfrm>
            <a:off x="8810625" y="1619250"/>
            <a:ext cx="2571750" cy="3286125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1430">
            <a:solidFill>
              <a:srgbClr val="D8E4F4"/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9048750" y="1812290"/>
            <a:ext cx="2095500" cy="23336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95250" tIns="76200" rIns="76200" bIns="76200" anchor="t"/>
          <a:lstStyle/>
          <a:p>
            <a:pPr algn="l">
              <a:defRPr sz="1125" b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b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分支先汇总：画像、岗位、课程、简历、面试、指导统一进入分支执行器。</a:t>
            </a:r>
            <a:endParaRPr sz="1600" b="0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125" b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b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工具先行：文本标准化、技能扫描、评分规则和一致性审计在本地完成。</a:t>
            </a:r>
            <a:endParaRPr sz="1600" b="0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125" b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b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按需调用：只有语义解释、精排、改写和未知课程推理才进入 LLM。</a:t>
            </a:r>
            <a:endParaRPr sz="1600" b="0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3" name="AutoShape 3"/>
          <p:cNvSpPr>
            <a:spLocks noGrp="1"/>
          </p:cNvSpPr>
          <p:nvPr/>
        </p:nvSpPr>
        <p:spPr>
          <a:xfrm>
            <a:off x="50468" y="1791269"/>
            <a:ext cx="12091063" cy="1535373"/>
          </a:xfrm>
          <a:prstGeom prst="rect">
            <a:avLst/>
          </a:prstGeom>
          <a:noFill/>
          <a:ln w="12502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indent="0" algn="ctr">
              <a:lnSpc>
                <a:spcPct val="125000"/>
              </a:lnSpc>
              <a:buNone/>
            </a:pPr>
            <a:r>
              <a:rPr sz="9670" b="1" i="0" u="none">
                <a:solidFill>
                  <a:srgbClr val="103A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</a:t>
            </a:r>
            <a:r>
              <a:rPr lang="en-US" sz="9670" b="1" i="0" u="none">
                <a:solidFill>
                  <a:srgbClr val="103A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endParaRPr lang="en-US" sz="9670" b="1" i="0" u="none">
              <a:solidFill>
                <a:srgbClr val="103A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AutoShape 4"/>
          <p:cNvSpPr>
            <a:spLocks noGrp="1"/>
          </p:cNvSpPr>
          <p:nvPr/>
        </p:nvSpPr>
        <p:spPr>
          <a:xfrm>
            <a:off x="50468" y="3582537"/>
            <a:ext cx="12091063" cy="895634"/>
          </a:xfrm>
          <a:prstGeom prst="rect">
            <a:avLst/>
          </a:prstGeom>
          <a:noFill/>
          <a:ln w="12502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algn="ctr">
              <a:defRPr sz="1500" b="1">
                <a:solidFill>
                  <a:srgbClr val="0B2F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4230" b="1">
                <a:solidFill>
                  <a:srgbClr val="0B2F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核心算法</a:t>
            </a:r>
            <a:endParaRPr sz="4230" b="1" i="0" u="none">
              <a:solidFill>
                <a:srgbClr val="1F293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3" name="矩形 2"/>
          <p:cNvSpPr>
            <a:spLocks noGrp="1"/>
          </p:cNvSpPr>
          <p:nvPr/>
        </p:nvSpPr>
        <p:spPr>
          <a:xfrm>
            <a:off x="1152525" y="508000"/>
            <a:ext cx="9334500" cy="520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325" b="1">
                <a:solidFill>
                  <a:srgbClr val="0B2F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sz="2800" b="1">
                <a:solidFill>
                  <a:srgbClr val="0B2F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01 </a:t>
            </a:r>
            <a:r>
              <a:rPr sz="2800" b="1">
                <a:solidFill>
                  <a:srgbClr val="0B2F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四维能力画像评分</a:t>
            </a:r>
            <a:r>
              <a:rPr lang="en-US" sz="2800" b="1">
                <a:solidFill>
                  <a:srgbClr val="0B2F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</a:t>
            </a:r>
            <a:r>
              <a:rPr lang="zh-CN" altLang="en-US" sz="2800" b="1">
                <a:solidFill>
                  <a:srgbClr val="0B2F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</a:t>
            </a:r>
            <a:r>
              <a:rPr lang="en-US" sz="2800" b="1">
                <a:solidFill>
                  <a:srgbClr val="0B2F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)</a:t>
            </a:r>
            <a:endParaRPr lang="en-US" sz="2800" b="1">
              <a:solidFill>
                <a:srgbClr val="0B2F6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928370" y="1226820"/>
            <a:ext cx="9163685" cy="2000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ClrTx/>
              <a:buSzTx/>
              <a:buFontTx/>
              <a:defRPr sz="2325" b="1">
                <a:solidFill>
                  <a:srgbClr val="0B2F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把简历、课程、项目、证书等</a:t>
            </a:r>
            <a:r>
              <a:rPr sz="1800" b="1">
                <a:solidFill>
                  <a:srgbClr val="0B2F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非</a:t>
            </a:r>
            <a:r>
              <a:rPr sz="1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结构化材料映射为 4 个可解释分数</a:t>
            </a:r>
            <a:endParaRPr sz="18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圆角矩形 5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857250" y="1571625"/>
            <a:ext cx="4762500" cy="1428750"/>
          </a:xfrm>
          <a:prstGeom prst="roundRect">
            <a:avLst>
              <a:gd name="adj" fmla="val 5333"/>
            </a:avLst>
          </a:prstGeom>
          <a:solidFill>
            <a:srgbClr val="FFFFFF">
              <a:alpha val="91765"/>
            </a:srgbClr>
          </a:solidFill>
          <a:ln w="9525">
            <a:solidFill>
              <a:srgbClr val="BFD3F8"/>
            </a:solidFill>
            <a:prstDash val="solid"/>
          </a:ln>
        </p:spPr>
      </p:sp>
      <p:sp>
        <p:nvSpPr>
          <p:cNvPr id="7" name="矩形 6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1104900" y="1781175"/>
            <a:ext cx="22860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725" b="1">
                <a:solidFill>
                  <a:srgbClr val="0B2F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>
                <a:solidFill>
                  <a:srgbClr val="0B2F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专业基础能力</a:t>
            </a:r>
            <a:endParaRPr sz="1725" b="1">
              <a:solidFill>
                <a:srgbClr val="0B2F6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1104900" y="2162175"/>
            <a:ext cx="41910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00" b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核心技能覆盖 + 计算机基础覆盖 + 学历/证书证据</a:t>
            </a:r>
            <a:endParaRPr sz="1400" b="0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>
            <p:custDataLst>
              <p:tags r:id="rId5"/>
            </p:custDataLst>
          </p:nvPr>
        </p:nvSpPr>
        <p:spPr>
          <a:xfrm>
            <a:off x="1104900" y="2638425"/>
            <a:ext cx="4095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0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回答：基础是否扎实</a:t>
            </a:r>
            <a:endParaRPr sz="1400" b="1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圆角矩形 9"/>
          <p:cNvSpPr>
            <a:spLocks noGrp="1"/>
          </p:cNvSpPr>
          <p:nvPr>
            <p:custDataLst>
              <p:tags r:id="rId6"/>
            </p:custDataLst>
          </p:nvPr>
        </p:nvSpPr>
        <p:spPr>
          <a:xfrm>
            <a:off x="6048375" y="1571625"/>
            <a:ext cx="4762500" cy="1428750"/>
          </a:xfrm>
          <a:prstGeom prst="roundRect">
            <a:avLst>
              <a:gd name="adj" fmla="val 5333"/>
            </a:avLst>
          </a:prstGeom>
          <a:solidFill>
            <a:srgbClr val="FFFFFF">
              <a:alpha val="91765"/>
            </a:srgbClr>
          </a:solidFill>
          <a:ln w="9525">
            <a:solidFill>
              <a:srgbClr val="BFD3F8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>
            <p:custDataLst>
              <p:tags r:id="rId7"/>
            </p:custDataLst>
          </p:nvPr>
        </p:nvSpPr>
        <p:spPr>
          <a:xfrm>
            <a:off x="6296025" y="1781175"/>
            <a:ext cx="22860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725" b="1">
                <a:solidFill>
                  <a:srgbClr val="0B2F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>
                <a:solidFill>
                  <a:srgbClr val="0B2F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技术实践能力</a:t>
            </a:r>
            <a:endParaRPr sz="1725" b="1">
              <a:solidFill>
                <a:srgbClr val="0B2F6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矩形 11"/>
          <p:cNvSpPr>
            <a:spLocks noGrp="1"/>
          </p:cNvSpPr>
          <p:nvPr>
            <p:custDataLst>
              <p:tags r:id="rId8"/>
            </p:custDataLst>
          </p:nvPr>
        </p:nvSpPr>
        <p:spPr>
          <a:xfrm>
            <a:off x="6296025" y="2162175"/>
            <a:ext cx="41910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00" b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项目经历 + 实习/竞赛 + 高阶技术 + 量化成果</a:t>
            </a:r>
            <a:endParaRPr sz="1400" b="0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矩形 12"/>
          <p:cNvSpPr>
            <a:spLocks noGrp="1"/>
          </p:cNvSpPr>
          <p:nvPr>
            <p:custDataLst>
              <p:tags r:id="rId9"/>
            </p:custDataLst>
          </p:nvPr>
        </p:nvSpPr>
        <p:spPr>
          <a:xfrm>
            <a:off x="6296025" y="2638425"/>
            <a:ext cx="4095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0F9F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00" b="1">
                <a:solidFill>
                  <a:srgbClr val="0F9F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回答：有没有做过</a:t>
            </a:r>
            <a:endParaRPr sz="1400" b="1">
              <a:solidFill>
                <a:srgbClr val="0F9F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圆角矩形 13"/>
          <p:cNvSpPr>
            <a:spLocks noGrp="1"/>
          </p:cNvSpPr>
          <p:nvPr>
            <p:custDataLst>
              <p:tags r:id="rId10"/>
            </p:custDataLst>
          </p:nvPr>
        </p:nvSpPr>
        <p:spPr>
          <a:xfrm>
            <a:off x="857250" y="3429000"/>
            <a:ext cx="4762500" cy="1428750"/>
          </a:xfrm>
          <a:prstGeom prst="roundRect">
            <a:avLst>
              <a:gd name="adj" fmla="val 5333"/>
            </a:avLst>
          </a:prstGeom>
          <a:solidFill>
            <a:srgbClr val="FFFFFF">
              <a:alpha val="91765"/>
            </a:srgbClr>
          </a:solidFill>
          <a:ln w="9525">
            <a:solidFill>
              <a:srgbClr val="BFE8D7"/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>
            <p:custDataLst>
              <p:tags r:id="rId11"/>
            </p:custDataLst>
          </p:nvPr>
        </p:nvSpPr>
        <p:spPr>
          <a:xfrm>
            <a:off x="1104900" y="3638550"/>
            <a:ext cx="22860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725" b="1">
                <a:solidFill>
                  <a:srgbClr val="0B2F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>
                <a:solidFill>
                  <a:srgbClr val="0B2F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工具技能能力</a:t>
            </a:r>
            <a:endParaRPr sz="1725" b="1">
              <a:solidFill>
                <a:srgbClr val="0B2F6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矩形 15"/>
          <p:cNvSpPr>
            <a:spLocks noGrp="1"/>
          </p:cNvSpPr>
          <p:nvPr>
            <p:custDataLst>
              <p:tags r:id="rId12"/>
            </p:custDataLst>
          </p:nvPr>
        </p:nvSpPr>
        <p:spPr>
          <a:xfrm>
            <a:off x="1104900" y="4019550"/>
            <a:ext cx="41910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00" b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工具链覆盖 + 核心技能复用 + 高阶工程工具</a:t>
            </a:r>
            <a:endParaRPr sz="1400" b="0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矩形 16"/>
          <p:cNvSpPr>
            <a:spLocks noGrp="1"/>
          </p:cNvSpPr>
          <p:nvPr>
            <p:custDataLst>
              <p:tags r:id="rId13"/>
            </p:custDataLst>
          </p:nvPr>
        </p:nvSpPr>
        <p:spPr>
          <a:xfrm>
            <a:off x="1104900" y="4495800"/>
            <a:ext cx="4095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0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回答：能否工程落地</a:t>
            </a:r>
            <a:endParaRPr sz="1400" b="1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圆角矩形 17"/>
          <p:cNvSpPr>
            <a:spLocks noGrp="1"/>
          </p:cNvSpPr>
          <p:nvPr>
            <p:custDataLst>
              <p:tags r:id="rId14"/>
            </p:custDataLst>
          </p:nvPr>
        </p:nvSpPr>
        <p:spPr>
          <a:xfrm>
            <a:off x="6048375" y="3429000"/>
            <a:ext cx="4762500" cy="1428750"/>
          </a:xfrm>
          <a:prstGeom prst="roundRect">
            <a:avLst>
              <a:gd name="adj" fmla="val 5333"/>
            </a:avLst>
          </a:prstGeom>
          <a:solidFill>
            <a:srgbClr val="FFFFFF">
              <a:alpha val="91765"/>
            </a:srgbClr>
          </a:solidFill>
          <a:ln w="9525">
            <a:solidFill>
              <a:srgbClr val="BFE8D7"/>
            </a:solidFill>
            <a:prstDash val="solid"/>
          </a:ln>
        </p:spPr>
      </p:sp>
      <p:sp>
        <p:nvSpPr>
          <p:cNvPr id="19" name="矩形 18"/>
          <p:cNvSpPr>
            <a:spLocks noGrp="1"/>
          </p:cNvSpPr>
          <p:nvPr>
            <p:custDataLst>
              <p:tags r:id="rId15"/>
            </p:custDataLst>
          </p:nvPr>
        </p:nvSpPr>
        <p:spPr>
          <a:xfrm>
            <a:off x="6296025" y="3638550"/>
            <a:ext cx="22860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725" b="1">
                <a:solidFill>
                  <a:srgbClr val="0B2F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>
                <a:solidFill>
                  <a:srgbClr val="0B2F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职业发展能力</a:t>
            </a:r>
            <a:endParaRPr sz="1725" b="1">
              <a:solidFill>
                <a:srgbClr val="0B2F6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矩形 19"/>
          <p:cNvSpPr>
            <a:spLocks noGrp="1"/>
          </p:cNvSpPr>
          <p:nvPr>
            <p:custDataLst>
              <p:tags r:id="rId16"/>
            </p:custDataLst>
          </p:nvPr>
        </p:nvSpPr>
        <p:spPr>
          <a:xfrm>
            <a:off x="6296025" y="4019550"/>
            <a:ext cx="41910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00" b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目标岗位明确度 + 简历完整度 + 自我表达 + 软技能</a:t>
            </a:r>
            <a:endParaRPr sz="1400" b="0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矩形 20"/>
          <p:cNvSpPr>
            <a:spLocks noGrp="1"/>
          </p:cNvSpPr>
          <p:nvPr>
            <p:custDataLst>
              <p:tags r:id="rId17"/>
            </p:custDataLst>
          </p:nvPr>
        </p:nvSpPr>
        <p:spPr>
          <a:xfrm>
            <a:off x="6203950" y="4476750"/>
            <a:ext cx="4095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0F9F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00" b="1">
                <a:solidFill>
                  <a:srgbClr val="0F9F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回答：方向是否清晰</a:t>
            </a:r>
            <a:endParaRPr sz="1400" b="1">
              <a:solidFill>
                <a:srgbClr val="0F9F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3" name="矩形 2"/>
          <p:cNvSpPr>
            <a:spLocks noGrp="1"/>
          </p:cNvSpPr>
          <p:nvPr/>
        </p:nvSpPr>
        <p:spPr>
          <a:xfrm>
            <a:off x="955675" y="584835"/>
            <a:ext cx="933450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325" b="1">
                <a:solidFill>
                  <a:srgbClr val="0B2F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sz="2800" b="1">
                <a:solidFill>
                  <a:srgbClr val="0B2F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 </a:t>
            </a:r>
            <a:r>
              <a:rPr lang="zh-CN" sz="2800" b="1">
                <a:solidFill>
                  <a:srgbClr val="0B2F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具体算法实现</a:t>
            </a:r>
            <a:r>
              <a:rPr lang="en-US" altLang="zh-CN" sz="2800" b="1">
                <a:solidFill>
                  <a:srgbClr val="0B2F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</a:t>
            </a:r>
            <a:r>
              <a:rPr lang="zh-CN" altLang="en-US" sz="2800" b="1">
                <a:solidFill>
                  <a:srgbClr val="0B2F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二</a:t>
            </a:r>
            <a:r>
              <a:rPr lang="en-US" altLang="zh-CN" sz="2800" b="1">
                <a:solidFill>
                  <a:srgbClr val="0B2F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)</a:t>
            </a:r>
            <a:endParaRPr lang="en-US" altLang="zh-CN" sz="2800" b="1">
              <a:solidFill>
                <a:srgbClr val="0B2F6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85800" y="1009650"/>
            <a:ext cx="9334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ClrTx/>
              <a:buSzTx/>
              <a:buFontTx/>
              <a:defRPr sz="2325" b="1">
                <a:solidFill>
                  <a:srgbClr val="0B2F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endParaRPr sz="2325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圆角矩形 5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876300" y="1438275"/>
            <a:ext cx="10334625" cy="628650"/>
          </a:xfrm>
          <a:prstGeom prst="roundRect">
            <a:avLst>
              <a:gd name="adj" fmla="val 12121"/>
            </a:avLst>
          </a:prstGeom>
          <a:solidFill>
            <a:srgbClr val="FFFFFF">
              <a:alpha val="91765"/>
            </a:srgbClr>
          </a:solidFill>
          <a:ln w="9525">
            <a:solidFill>
              <a:srgbClr val="D8E4F4"/>
            </a:solidFill>
            <a:prstDash val="solid"/>
          </a:ln>
        </p:spPr>
      </p:sp>
      <p:sp>
        <p:nvSpPr>
          <p:cNvPr id="7" name="矩形 6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1123950" y="1695450"/>
            <a:ext cx="15240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0B2F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0B2F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专业基础</a:t>
            </a:r>
            <a:endParaRPr sz="1500" b="1">
              <a:solidFill>
                <a:srgbClr val="0B2F6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2838450" y="1695450"/>
            <a:ext cx="7953375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35 + CoreCoverage × 35 + FoundationCoverage × 20 + Education/Certificate Bonus</a:t>
            </a:r>
            <a:endParaRPr sz="1600" b="0">
              <a:solidFill>
                <a:srgbClr val="0F172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9" name="圆角矩形 8"/>
          <p:cNvSpPr>
            <a:spLocks noGrp="1"/>
          </p:cNvSpPr>
          <p:nvPr>
            <p:custDataLst>
              <p:tags r:id="rId5"/>
            </p:custDataLst>
          </p:nvPr>
        </p:nvSpPr>
        <p:spPr>
          <a:xfrm>
            <a:off x="876300" y="2381250"/>
            <a:ext cx="10334625" cy="628650"/>
          </a:xfrm>
          <a:prstGeom prst="roundRect">
            <a:avLst>
              <a:gd name="adj" fmla="val 12121"/>
            </a:avLst>
          </a:prstGeom>
          <a:solidFill>
            <a:srgbClr val="FFFFFF">
              <a:alpha val="91765"/>
            </a:srgbClr>
          </a:solidFill>
          <a:ln w="9525">
            <a:solidFill>
              <a:srgbClr val="D8E4F4"/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>
            <p:custDataLst>
              <p:tags r:id="rId6"/>
            </p:custDataLst>
          </p:nvPr>
        </p:nvSpPr>
        <p:spPr>
          <a:xfrm>
            <a:off x="1123950" y="2533650"/>
            <a:ext cx="15240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0B2F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0B2F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技术实践</a:t>
            </a:r>
            <a:endParaRPr sz="1500" b="1">
              <a:solidFill>
                <a:srgbClr val="0B2F6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矩形 10"/>
          <p:cNvSpPr>
            <a:spLocks noGrp="1"/>
          </p:cNvSpPr>
          <p:nvPr>
            <p:custDataLst>
              <p:tags r:id="rId7"/>
            </p:custDataLst>
          </p:nvPr>
        </p:nvSpPr>
        <p:spPr>
          <a:xfrm>
            <a:off x="2857500" y="2461895"/>
            <a:ext cx="7953375" cy="47752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25 + Project 18 + Internship 12 + Competition 10 + ProjectKeywordCoverage × 20 + AdvancedCoverage × 15</a:t>
            </a:r>
            <a:endParaRPr sz="1600" b="0">
              <a:solidFill>
                <a:srgbClr val="0F172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2" name="圆角矩形 11"/>
          <p:cNvSpPr>
            <a:spLocks noGrp="1"/>
          </p:cNvSpPr>
          <p:nvPr>
            <p:custDataLst>
              <p:tags r:id="rId8"/>
            </p:custDataLst>
          </p:nvPr>
        </p:nvSpPr>
        <p:spPr>
          <a:xfrm>
            <a:off x="876300" y="3219450"/>
            <a:ext cx="10334625" cy="628650"/>
          </a:xfrm>
          <a:prstGeom prst="roundRect">
            <a:avLst>
              <a:gd name="adj" fmla="val 12121"/>
            </a:avLst>
          </a:prstGeom>
          <a:solidFill>
            <a:srgbClr val="FFFFFF">
              <a:alpha val="91765"/>
            </a:srgbClr>
          </a:solidFill>
          <a:ln w="9525">
            <a:solidFill>
              <a:srgbClr val="D8E4F4"/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>
            <p:custDataLst>
              <p:tags r:id="rId9"/>
            </p:custDataLst>
          </p:nvPr>
        </p:nvSpPr>
        <p:spPr>
          <a:xfrm>
            <a:off x="1123950" y="3371850"/>
            <a:ext cx="15240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0F9F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0F9F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工具技能</a:t>
            </a:r>
            <a:endParaRPr sz="1500" b="1">
              <a:solidFill>
                <a:srgbClr val="0F9F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矩形 13"/>
          <p:cNvSpPr>
            <a:spLocks noGrp="1"/>
          </p:cNvSpPr>
          <p:nvPr>
            <p:custDataLst>
              <p:tags r:id="rId10"/>
            </p:custDataLst>
          </p:nvPr>
        </p:nvSpPr>
        <p:spPr>
          <a:xfrm>
            <a:off x="2838450" y="3371850"/>
            <a:ext cx="7953375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ClrTx/>
              <a:buSzTx/>
              <a:buFontTx/>
              <a:defRPr sz="1350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30 + ToolCoverage × 45 + CoreCoverage × 15 + AdvancedCoverage × 10</a:t>
            </a:r>
            <a:endParaRPr sz="1600" b="0">
              <a:solidFill>
                <a:srgbClr val="0F172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5" name="圆角矩形 14"/>
          <p:cNvSpPr>
            <a:spLocks noGrp="1"/>
          </p:cNvSpPr>
          <p:nvPr>
            <p:custDataLst>
              <p:tags r:id="rId11"/>
            </p:custDataLst>
          </p:nvPr>
        </p:nvSpPr>
        <p:spPr>
          <a:xfrm>
            <a:off x="876300" y="4057650"/>
            <a:ext cx="10334625" cy="628650"/>
          </a:xfrm>
          <a:prstGeom prst="roundRect">
            <a:avLst>
              <a:gd name="adj" fmla="val 12121"/>
            </a:avLst>
          </a:prstGeom>
          <a:solidFill>
            <a:srgbClr val="FFFFFF">
              <a:alpha val="91765"/>
            </a:srgbClr>
          </a:solidFill>
          <a:ln w="9525">
            <a:solidFill>
              <a:srgbClr val="D8E4F4"/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>
            <p:custDataLst>
              <p:tags r:id="rId12"/>
            </p:custDataLst>
          </p:nvPr>
        </p:nvSpPr>
        <p:spPr>
          <a:xfrm>
            <a:off x="1123950" y="4210050"/>
            <a:ext cx="15240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0B2F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0B2F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职业发展</a:t>
            </a:r>
            <a:endParaRPr sz="1500" b="1">
              <a:solidFill>
                <a:srgbClr val="0B2F6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矩形 16"/>
          <p:cNvSpPr>
            <a:spLocks noGrp="1"/>
          </p:cNvSpPr>
          <p:nvPr>
            <p:custDataLst>
              <p:tags r:id="rId13"/>
            </p:custDataLst>
          </p:nvPr>
        </p:nvSpPr>
        <p:spPr>
          <a:xfrm>
            <a:off x="2838450" y="4210050"/>
            <a:ext cx="7953375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ClrTx/>
              <a:buSzTx/>
              <a:buFontTx/>
              <a:defRPr sz="1350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35 + TargetJob 20 + ResumeCompleteness ≤ 20 + SelfIntro 10 + SoftSkill ≤ 10</a:t>
            </a:r>
            <a:endParaRPr sz="1600" b="0">
              <a:solidFill>
                <a:srgbClr val="0F172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1285875" y="5314950"/>
            <a:ext cx="9525000" cy="438150"/>
          </a:xfrm>
          <a:prstGeom prst="rect">
            <a:avLst/>
          </a:prstGeom>
          <a:solidFill>
            <a:srgbClr val="E9F8F0"/>
          </a:solidFill>
          <a:ln w="9525">
            <a:solidFill>
              <a:srgbClr val="BFE8D7"/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575" b="1">
                <a:solidFill>
                  <a:srgbClr val="0B2F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0B2F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所有分数最后裁剪到 0-100；同时输出 score_evidence 与 score_breakdown。</a:t>
            </a:r>
            <a:endParaRPr sz="1800" b="1">
              <a:solidFill>
                <a:srgbClr val="0B2F6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3" name="矩形 2"/>
          <p:cNvSpPr>
            <a:spLocks noGrp="1"/>
          </p:cNvSpPr>
          <p:nvPr/>
        </p:nvSpPr>
        <p:spPr>
          <a:xfrm>
            <a:off x="1016000" y="419100"/>
            <a:ext cx="933450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325" b="1">
                <a:solidFill>
                  <a:srgbClr val="0B2F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sz="3200" b="1">
                <a:solidFill>
                  <a:srgbClr val="0B2F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 </a:t>
            </a:r>
            <a:r>
              <a:rPr lang="zh-CN" altLang="en-US" sz="3200" b="1">
                <a:solidFill>
                  <a:srgbClr val="0B2F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本地岗位</a:t>
            </a:r>
            <a:r>
              <a:rPr lang="zh-CN" altLang="en-US" sz="3200" b="1">
                <a:solidFill>
                  <a:srgbClr val="0B2F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初排</a:t>
            </a:r>
            <a:endParaRPr lang="zh-CN" altLang="en-US" sz="3200" b="1">
              <a:solidFill>
                <a:srgbClr val="0B2F6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876300" y="1203960"/>
            <a:ext cx="9334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ClrTx/>
              <a:buSzTx/>
              <a:buFontTx/>
              <a:defRPr sz="2325" b="1">
                <a:solidFill>
                  <a:srgbClr val="0B2F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>
                <a:sym typeface="+mn-ea"/>
              </a:rPr>
              <a:t>本地岗位初排评分</a:t>
            </a:r>
            <a:r>
              <a:rPr sz="1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先用真实岗位库</a:t>
            </a:r>
            <a:r>
              <a:rPr sz="1800" b="1">
                <a:solidFill>
                  <a:srgbClr val="0B2F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进行</a:t>
            </a:r>
            <a:r>
              <a:rPr sz="1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确定性计算，保证速度和稳定性</a:t>
            </a:r>
            <a:endParaRPr sz="18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圆角矩形 5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876300" y="1543050"/>
            <a:ext cx="10334625" cy="628650"/>
          </a:xfrm>
          <a:prstGeom prst="roundRect">
            <a:avLst>
              <a:gd name="adj" fmla="val 12121"/>
            </a:avLst>
          </a:prstGeom>
          <a:solidFill>
            <a:srgbClr val="FFFFFF">
              <a:alpha val="91765"/>
            </a:srgbClr>
          </a:solidFill>
          <a:ln w="9525">
            <a:solidFill>
              <a:srgbClr val="D8E4F4"/>
            </a:solidFill>
            <a:prstDash val="solid"/>
          </a:ln>
        </p:spPr>
      </p:sp>
      <p:sp>
        <p:nvSpPr>
          <p:cNvPr id="7" name="矩形 6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1123950" y="1695450"/>
            <a:ext cx="15240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0B2F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0B2F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技能覆盖</a:t>
            </a:r>
            <a:endParaRPr sz="1500" b="1">
              <a:solidFill>
                <a:srgbClr val="0B2F6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2838450" y="1695450"/>
            <a:ext cx="7953375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SkillRatio = 已命中岗位技能数 / 岗位要求技能数</a:t>
            </a:r>
            <a:endParaRPr sz="1600" b="0">
              <a:solidFill>
                <a:srgbClr val="0F172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9" name="圆角矩形 8"/>
          <p:cNvSpPr>
            <a:spLocks noGrp="1"/>
          </p:cNvSpPr>
          <p:nvPr>
            <p:custDataLst>
              <p:tags r:id="rId5"/>
            </p:custDataLst>
          </p:nvPr>
        </p:nvSpPr>
        <p:spPr>
          <a:xfrm>
            <a:off x="876300" y="2381250"/>
            <a:ext cx="10334625" cy="628650"/>
          </a:xfrm>
          <a:prstGeom prst="roundRect">
            <a:avLst>
              <a:gd name="adj" fmla="val 12121"/>
            </a:avLst>
          </a:prstGeom>
          <a:solidFill>
            <a:srgbClr val="FFFFFF">
              <a:alpha val="91765"/>
            </a:srgbClr>
          </a:solidFill>
          <a:ln w="9525">
            <a:solidFill>
              <a:srgbClr val="D8E4F4"/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>
            <p:custDataLst>
              <p:tags r:id="rId6"/>
            </p:custDataLst>
          </p:nvPr>
        </p:nvSpPr>
        <p:spPr>
          <a:xfrm>
            <a:off x="1123950" y="2533650"/>
            <a:ext cx="15240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0B2F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0B2F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项目证据</a:t>
            </a:r>
            <a:endParaRPr sz="1500" b="1">
              <a:solidFill>
                <a:srgbClr val="0B2F6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矩形 10"/>
          <p:cNvSpPr>
            <a:spLocks noGrp="1"/>
          </p:cNvSpPr>
          <p:nvPr>
            <p:custDataLst>
              <p:tags r:id="rId7"/>
            </p:custDataLst>
          </p:nvPr>
        </p:nvSpPr>
        <p:spPr>
          <a:xfrm>
            <a:off x="2838450" y="2533650"/>
            <a:ext cx="7953375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ClrTx/>
              <a:buSzTx/>
              <a:buFontTx/>
              <a:defRPr sz="1350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ProjectRatio = 项目关键词命中率；无项目字段时用技术实践分兜底</a:t>
            </a:r>
            <a:endParaRPr sz="1600" b="0">
              <a:solidFill>
                <a:srgbClr val="0F172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2" name="圆角矩形 11"/>
          <p:cNvSpPr>
            <a:spLocks noGrp="1"/>
          </p:cNvSpPr>
          <p:nvPr>
            <p:custDataLst>
              <p:tags r:id="rId8"/>
            </p:custDataLst>
          </p:nvPr>
        </p:nvSpPr>
        <p:spPr>
          <a:xfrm>
            <a:off x="876300" y="3219450"/>
            <a:ext cx="10334625" cy="628650"/>
          </a:xfrm>
          <a:prstGeom prst="roundRect">
            <a:avLst>
              <a:gd name="adj" fmla="val 12121"/>
            </a:avLst>
          </a:prstGeom>
          <a:solidFill>
            <a:srgbClr val="FFFFFF">
              <a:alpha val="91765"/>
            </a:srgbClr>
          </a:solidFill>
          <a:ln w="9525">
            <a:solidFill>
              <a:srgbClr val="D8E4F4"/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>
            <p:custDataLst>
              <p:tags r:id="rId9"/>
            </p:custDataLst>
          </p:nvPr>
        </p:nvSpPr>
        <p:spPr>
          <a:xfrm>
            <a:off x="1123950" y="3371850"/>
            <a:ext cx="15240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0F9F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0F9F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画像均值</a:t>
            </a:r>
            <a:endParaRPr sz="1500" b="1">
              <a:solidFill>
                <a:srgbClr val="0F9F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矩形 13"/>
          <p:cNvSpPr>
            <a:spLocks noGrp="1"/>
          </p:cNvSpPr>
          <p:nvPr>
            <p:custDataLst>
              <p:tags r:id="rId10"/>
            </p:custDataLst>
          </p:nvPr>
        </p:nvSpPr>
        <p:spPr>
          <a:xfrm>
            <a:off x="2838450" y="3371850"/>
            <a:ext cx="7953375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ClrTx/>
              <a:buSzTx/>
              <a:buFontTx/>
              <a:defRPr sz="1350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AbilityAvg = 专业×0.30 + 实践×0.25 + 工具×0.30 + 职业×0.15</a:t>
            </a:r>
            <a:endParaRPr sz="1600" b="0">
              <a:solidFill>
                <a:srgbClr val="0F172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5" name="圆角矩形 14"/>
          <p:cNvSpPr>
            <a:spLocks noGrp="1"/>
          </p:cNvSpPr>
          <p:nvPr>
            <p:custDataLst>
              <p:tags r:id="rId11"/>
            </p:custDataLst>
          </p:nvPr>
        </p:nvSpPr>
        <p:spPr>
          <a:xfrm>
            <a:off x="876300" y="4057650"/>
            <a:ext cx="10334625" cy="628650"/>
          </a:xfrm>
          <a:prstGeom prst="roundRect">
            <a:avLst>
              <a:gd name="adj" fmla="val 12121"/>
            </a:avLst>
          </a:prstGeom>
          <a:solidFill>
            <a:srgbClr val="FFFFFF">
              <a:alpha val="91765"/>
            </a:srgbClr>
          </a:solidFill>
          <a:ln w="9525">
            <a:solidFill>
              <a:srgbClr val="D8E4F4"/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>
            <p:custDataLst>
              <p:tags r:id="rId12"/>
            </p:custDataLst>
          </p:nvPr>
        </p:nvSpPr>
        <p:spPr>
          <a:xfrm>
            <a:off x="1123950" y="4210050"/>
            <a:ext cx="15240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0B2F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0B2F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本地初排</a:t>
            </a:r>
            <a:endParaRPr sz="1500" b="1">
              <a:solidFill>
                <a:srgbClr val="0B2F6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矩形 16"/>
          <p:cNvSpPr>
            <a:spLocks noGrp="1"/>
          </p:cNvSpPr>
          <p:nvPr>
            <p:custDataLst>
              <p:tags r:id="rId13"/>
            </p:custDataLst>
          </p:nvPr>
        </p:nvSpPr>
        <p:spPr>
          <a:xfrm>
            <a:off x="2838450" y="4210050"/>
            <a:ext cx="7953375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ClrTx/>
              <a:buSzTx/>
              <a:buFontTx/>
              <a:defRPr sz="1350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LocalScore = 技能×55 + 项目×15 + 画像×15 + 方向×10 + 学历×3 + 证书≤2</a:t>
            </a:r>
            <a:endParaRPr sz="1600" b="0">
              <a:solidFill>
                <a:srgbClr val="0F172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1285875" y="5314950"/>
            <a:ext cx="9525000" cy="438150"/>
          </a:xfrm>
          <a:prstGeom prst="rect">
            <a:avLst/>
          </a:prstGeom>
          <a:solidFill>
            <a:srgbClr val="E9F8F0"/>
          </a:solidFill>
          <a:ln w="9525">
            <a:solidFill>
              <a:srgbClr val="BFE8D7"/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575" b="1">
                <a:solidFill>
                  <a:srgbClr val="0B2F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0B2F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本地初排直接产出：匹配度、已匹配技能、待补齐技能、推荐理由。</a:t>
            </a:r>
            <a:endParaRPr sz="1800" b="1">
              <a:solidFill>
                <a:srgbClr val="0B2F6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3" name="矩形 2"/>
          <p:cNvSpPr>
            <a:spLocks noGrp="1"/>
          </p:cNvSpPr>
          <p:nvPr/>
        </p:nvSpPr>
        <p:spPr>
          <a:xfrm>
            <a:off x="1257300" y="520700"/>
            <a:ext cx="933450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325" b="1">
                <a:solidFill>
                  <a:srgbClr val="0B2F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sz="2800" b="1">
                <a:solidFill>
                  <a:srgbClr val="0B2F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 </a:t>
            </a:r>
            <a:r>
              <a:rPr sz="2800" b="1">
                <a:solidFill>
                  <a:srgbClr val="0B2F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双向岗位匹配评分</a:t>
            </a:r>
            <a:endParaRPr sz="2800" b="1">
              <a:solidFill>
                <a:srgbClr val="0B2F6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857250" y="1200150"/>
            <a:ext cx="9334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0B2F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不仅判断“学生适不适合岗位”，还判断“岗位适不适合作为学生下一阶段目标”</a:t>
            </a:r>
            <a:endParaRPr sz="1800" b="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圆角矩形 5"/>
          <p:cNvSpPr>
            <a:spLocks noGrp="1"/>
          </p:cNvSpPr>
          <p:nvPr/>
        </p:nvSpPr>
        <p:spPr>
          <a:xfrm>
            <a:off x="857250" y="1571625"/>
            <a:ext cx="4762500" cy="3000375"/>
          </a:xfrm>
          <a:prstGeom prst="roundRect">
            <a:avLst>
              <a:gd name="adj" fmla="val 2540"/>
            </a:avLst>
          </a:prstGeom>
          <a:solidFill>
            <a:srgbClr val="EAF3FF"/>
          </a:solidFill>
          <a:ln w="9525">
            <a:solidFill>
              <a:srgbClr val="2563EB"/>
            </a:solidFill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1123950" y="1819275"/>
            <a:ext cx="40957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725" b="1">
                <a:solidFill>
                  <a:srgbClr val="0B2F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>
                <a:solidFill>
                  <a:srgbClr val="0B2F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学生适岗分 Student→Job</a:t>
            </a:r>
            <a:endParaRPr sz="1725" b="1">
              <a:solidFill>
                <a:srgbClr val="0B2F6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1257300" y="2314575"/>
            <a:ext cx="3905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简历技能与岗位要求匹配</a:t>
            </a:r>
            <a:endParaRPr sz="1275" b="0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1257300" y="2657475"/>
            <a:ext cx="3905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项目经历与业务场景相关</a:t>
            </a:r>
            <a:endParaRPr sz="1275" b="0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1257300" y="3000375"/>
            <a:ext cx="3905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技能掌握深度</a:t>
            </a:r>
            <a:endParaRPr sz="1275" b="0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1257300" y="3343275"/>
            <a:ext cx="3905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学历与经验要求匹配</a:t>
            </a:r>
            <a:endParaRPr sz="1275" b="0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1257300" y="3686175"/>
            <a:ext cx="3905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职业方向一致</a:t>
            </a:r>
            <a:endParaRPr sz="1275" b="0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1257300" y="4095750"/>
            <a:ext cx="3905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student_to_job_score</a:t>
            </a:r>
            <a:endParaRPr sz="1350" b="1">
              <a:solidFill>
                <a:srgbClr val="2563EB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4" name="圆角矩形 13"/>
          <p:cNvSpPr>
            <a:spLocks noGrp="1"/>
          </p:cNvSpPr>
          <p:nvPr/>
        </p:nvSpPr>
        <p:spPr>
          <a:xfrm>
            <a:off x="6572250" y="1571625"/>
            <a:ext cx="4762500" cy="3000375"/>
          </a:xfrm>
          <a:prstGeom prst="roundRect">
            <a:avLst>
              <a:gd name="adj" fmla="val 2540"/>
            </a:avLst>
          </a:prstGeom>
          <a:solidFill>
            <a:srgbClr val="E9F8F0"/>
          </a:solidFill>
          <a:ln w="9525">
            <a:solidFill>
              <a:srgbClr val="0F9F6E"/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6838950" y="1819275"/>
            <a:ext cx="40957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725" b="1">
                <a:solidFill>
                  <a:srgbClr val="0B2F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>
                <a:solidFill>
                  <a:srgbClr val="0B2F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岗位适生分 Job→Student</a:t>
            </a:r>
            <a:endParaRPr sz="1725" b="1">
              <a:solidFill>
                <a:srgbClr val="0B2F6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6972300" y="2314575"/>
            <a:ext cx="3905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岗位是否贴合长期方向</a:t>
            </a:r>
            <a:endParaRPr sz="1275" b="0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6972300" y="2657475"/>
            <a:ext cx="3905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缺口是否可在短期补齐</a:t>
            </a:r>
            <a:endParaRPr sz="1275" b="0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6972300" y="3000375"/>
            <a:ext cx="3905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岗位难度是否适中</a:t>
            </a:r>
            <a:endParaRPr sz="1275" b="0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6972300" y="3343275"/>
            <a:ext cx="3905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是否具有成长价值</a:t>
            </a:r>
            <a:endParaRPr sz="1275" b="0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6972300" y="3686175"/>
            <a:ext cx="3905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能否形成路径规划</a:t>
            </a:r>
            <a:endParaRPr sz="1275" b="0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6972300" y="4095750"/>
            <a:ext cx="3905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0F9F6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F9F6E"/>
                </a:solidFill>
                <a:latin typeface="Aptos"/>
                <a:ea typeface="Aptos"/>
                <a:cs typeface="Aptos"/>
              </a:rPr>
              <a:t>job_to_student_score</a:t>
            </a:r>
            <a:endParaRPr sz="1350" b="1">
              <a:solidFill>
                <a:srgbClr val="0F9F6E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2047875" y="5191125"/>
            <a:ext cx="8096250" cy="495300"/>
          </a:xfrm>
          <a:prstGeom prst="rect">
            <a:avLst/>
          </a:prstGeom>
          <a:solidFill>
            <a:srgbClr val="0B2F63"/>
          </a:solidFill>
          <a:ln w="0">
            <a:solidFill>
              <a:srgbClr val="0B2F63"/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21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MatchScore = StudentToJob × 0.6 + JobToStudent × 0.4</a:t>
            </a:r>
            <a:endParaRPr sz="2100" b="1">
              <a:solidFill>
                <a:srgbClr val="FFFFFF"/>
              </a:solidFill>
              <a:latin typeface="Aptos Display"/>
              <a:ea typeface="Aptos Display"/>
              <a:cs typeface="Aptos Display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3" name="矩形 2"/>
          <p:cNvSpPr>
            <a:spLocks noGrp="1"/>
          </p:cNvSpPr>
          <p:nvPr/>
        </p:nvSpPr>
        <p:spPr>
          <a:xfrm>
            <a:off x="762000" y="457200"/>
            <a:ext cx="933450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325" b="1">
                <a:solidFill>
                  <a:srgbClr val="0B2F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sz="2800" b="1">
                <a:solidFill>
                  <a:srgbClr val="0B2F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 </a:t>
            </a:r>
            <a:r>
              <a:rPr sz="2800" b="1">
                <a:solidFill>
                  <a:srgbClr val="0B2F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TOP5 排序</a:t>
            </a:r>
            <a:endParaRPr sz="1800" b="1">
              <a:solidFill>
                <a:srgbClr val="0B2F6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762000" y="1314450"/>
            <a:ext cx="9334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ClrTx/>
              <a:buSzTx/>
              <a:buFontTx/>
              <a:defRPr sz="2325" b="1">
                <a:solidFill>
                  <a:srgbClr val="0B2F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sz="1800">
                <a:sym typeface="+mn-ea"/>
              </a:rPr>
              <a:t> </a:t>
            </a:r>
            <a:r>
              <a:rPr sz="1800">
                <a:sym typeface="+mn-ea"/>
              </a:rPr>
              <a:t>匹配度、可解释性与多样性同时控制</a:t>
            </a:r>
            <a:r>
              <a:rPr lang="zh-CN" sz="1800">
                <a:sym typeface="+mn-ea"/>
              </a:rPr>
              <a:t>，</a:t>
            </a:r>
            <a:r>
              <a:rPr sz="1800">
                <a:sym typeface="+mn-ea"/>
              </a:rPr>
              <a:t>避免只推荐一批名字相似、能力要求重复的岗位</a:t>
            </a:r>
            <a:endParaRPr sz="18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buClrTx/>
              <a:buSzTx/>
              <a:buFontTx/>
              <a:defRPr sz="2325" b="1">
                <a:solidFill>
                  <a:srgbClr val="0B2F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endParaRPr sz="1800" b="1">
              <a:solidFill>
                <a:srgbClr val="0B2F6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buClrTx/>
              <a:buSzTx/>
              <a:buFontTx/>
              <a:defRPr sz="2325" b="1">
                <a:solidFill>
                  <a:srgbClr val="0B2F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endParaRPr sz="18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圆角矩形 5"/>
          <p:cNvSpPr>
            <a:spLocks noGrp="1"/>
          </p:cNvSpPr>
          <p:nvPr/>
        </p:nvSpPr>
        <p:spPr>
          <a:xfrm>
            <a:off x="762000" y="1700530"/>
            <a:ext cx="10668000" cy="4333875"/>
          </a:xfrm>
          <a:prstGeom prst="roundRect">
            <a:avLst>
              <a:gd name="adj" fmla="val 1758"/>
            </a:avLst>
          </a:prstGeom>
          <a:solidFill>
            <a:srgbClr val="FFFFFF">
              <a:alpha val="91765"/>
            </a:srgbClr>
          </a:solidFill>
          <a:ln w="9525">
            <a:solidFill>
              <a:srgbClr val="D8E4F4"/>
            </a:solidFill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1095375" y="1762125"/>
            <a:ext cx="15240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0B2F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0B2F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环节</a:t>
            </a:r>
            <a:endParaRPr sz="1800" b="1">
              <a:solidFill>
                <a:srgbClr val="0B2F6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2857500" y="1762125"/>
            <a:ext cx="4000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0B2F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0B2F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做法</a:t>
            </a:r>
            <a:endParaRPr sz="1800" b="1">
              <a:solidFill>
                <a:srgbClr val="0B2F6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7191375" y="1762125"/>
            <a:ext cx="3619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0B2F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0B2F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作用</a:t>
            </a:r>
            <a:endParaRPr sz="1800" b="1">
              <a:solidFill>
                <a:srgbClr val="0B2F6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1000125" y="2095500"/>
            <a:ext cx="9763125" cy="9525"/>
          </a:xfrm>
          <a:prstGeom prst="rect">
            <a:avLst/>
          </a:prstGeom>
          <a:solidFill>
            <a:srgbClr val="E2EAF6"/>
          </a:solidFill>
          <a:ln w="0">
            <a:solidFill>
              <a:srgbClr val="E2EAF6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1095375" y="2209800"/>
            <a:ext cx="1524000" cy="4286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候选召回</a:t>
            </a:r>
            <a:endParaRPr sz="1600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2857500" y="2209800"/>
            <a:ext cx="4000500" cy="4286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65" b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b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从真实岗位库读取技能、项目、课程、证书字段</a:t>
            </a:r>
            <a:endParaRPr sz="1600" b="0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7191375" y="2209800"/>
            <a:ext cx="3619500" cy="4286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65" b="0">
                <a:solidFill>
                  <a:srgbClr val="0F9F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b="0">
                <a:solidFill>
                  <a:srgbClr val="0F9F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保证推荐依据来自数据库</a:t>
            </a:r>
            <a:endParaRPr sz="1600" b="0">
              <a:solidFill>
                <a:srgbClr val="0F9F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1000125" y="2762250"/>
            <a:ext cx="9763125" cy="9525"/>
          </a:xfrm>
          <a:prstGeom prst="rect">
            <a:avLst/>
          </a:prstGeom>
          <a:solidFill>
            <a:srgbClr val="E2EAF6"/>
          </a:solidFill>
          <a:ln w="0">
            <a:solidFill>
              <a:srgbClr val="E2EAF6"/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1095375" y="2876550"/>
            <a:ext cx="1524000" cy="4286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本地排序</a:t>
            </a:r>
            <a:endParaRPr sz="1600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2857500" y="2876550"/>
            <a:ext cx="4000500" cy="4286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65" b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b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按 LocalScore 降序取候选岗位</a:t>
            </a:r>
            <a:endParaRPr sz="1600" b="0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7191375" y="2876550"/>
            <a:ext cx="3619500" cy="4286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65" b="0">
                <a:solidFill>
                  <a:srgbClr val="0F9F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b="0">
                <a:solidFill>
                  <a:srgbClr val="0F9F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保证速度和稳定性</a:t>
            </a:r>
            <a:endParaRPr sz="1600" b="0">
              <a:solidFill>
                <a:srgbClr val="0F9F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1000125" y="3429000"/>
            <a:ext cx="9763125" cy="9525"/>
          </a:xfrm>
          <a:prstGeom prst="rect">
            <a:avLst/>
          </a:prstGeom>
          <a:solidFill>
            <a:srgbClr val="E2EAF6"/>
          </a:solidFill>
          <a:ln w="0">
            <a:solidFill>
              <a:srgbClr val="E2EAF6"/>
            </a:solidFill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1095375" y="3543300"/>
            <a:ext cx="1524000" cy="4286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LLM 精排</a:t>
            </a:r>
            <a:endParaRPr sz="1600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2857500" y="3543300"/>
            <a:ext cx="4000500" cy="4286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65" b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b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仅对候选结果做语义解释和排序修正</a:t>
            </a:r>
            <a:endParaRPr sz="1600" b="0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7191375" y="3543300"/>
            <a:ext cx="3619500" cy="4286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65" b="0">
                <a:solidFill>
                  <a:srgbClr val="0F9F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b="0">
                <a:solidFill>
                  <a:srgbClr val="0F9F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增强推荐理由和岗位成长判断</a:t>
            </a:r>
            <a:endParaRPr sz="1600" b="0">
              <a:solidFill>
                <a:srgbClr val="0F9F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1000125" y="4095750"/>
            <a:ext cx="9763125" cy="9525"/>
          </a:xfrm>
          <a:prstGeom prst="rect">
            <a:avLst/>
          </a:prstGeom>
          <a:solidFill>
            <a:srgbClr val="E2EAF6"/>
          </a:solidFill>
          <a:ln w="0">
            <a:solidFill>
              <a:srgbClr val="E2EAF6"/>
            </a:solidFill>
            <a:prstDash val="solid"/>
          </a:ln>
        </p:spPr>
      </p:sp>
      <p:sp>
        <p:nvSpPr>
          <p:cNvPr id="23" name="矩形 22"/>
          <p:cNvSpPr>
            <a:spLocks noGrp="1"/>
          </p:cNvSpPr>
          <p:nvPr/>
        </p:nvSpPr>
        <p:spPr>
          <a:xfrm>
            <a:off x="1095375" y="4210050"/>
            <a:ext cx="1524000" cy="4286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岗位族去重</a:t>
            </a:r>
            <a:endParaRPr sz="1600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2857500" y="4210050"/>
            <a:ext cx="4000500" cy="4286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65" b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b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按岗位名称归一化和岗位族控制数量</a:t>
            </a:r>
            <a:endParaRPr sz="1600" b="0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7191375" y="4210050"/>
            <a:ext cx="3619500" cy="4286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65" b="0">
                <a:solidFill>
                  <a:srgbClr val="0F9F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b="0">
                <a:solidFill>
                  <a:srgbClr val="0F9F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避免结果同质化</a:t>
            </a:r>
            <a:endParaRPr sz="1600" b="0">
              <a:solidFill>
                <a:srgbClr val="0F9F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1000125" y="4762500"/>
            <a:ext cx="9763125" cy="9525"/>
          </a:xfrm>
          <a:prstGeom prst="rect">
            <a:avLst/>
          </a:prstGeom>
          <a:solidFill>
            <a:srgbClr val="E2EAF6"/>
          </a:solidFill>
          <a:ln w="0">
            <a:solidFill>
              <a:srgbClr val="E2EAF6"/>
            </a:solidFill>
            <a:prstDash val="solid"/>
          </a:ln>
        </p:spPr>
      </p:sp>
      <p:sp>
        <p:nvSpPr>
          <p:cNvPr id="27" name="矩形 26"/>
          <p:cNvSpPr>
            <a:spLocks noGrp="1"/>
          </p:cNvSpPr>
          <p:nvPr/>
        </p:nvSpPr>
        <p:spPr>
          <a:xfrm>
            <a:off x="1095375" y="4876800"/>
            <a:ext cx="1524000" cy="4286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结果审计</a:t>
            </a:r>
            <a:endParaRPr sz="1600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2857500" y="4876800"/>
            <a:ext cx="4000500" cy="4286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65" b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b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输出已匹配、待补齐、推荐理由和评分组件</a:t>
            </a:r>
            <a:endParaRPr sz="1600" b="0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7191375" y="4876800"/>
            <a:ext cx="3619500" cy="4286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65" b="0">
                <a:solidFill>
                  <a:srgbClr val="0F9F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b="0">
                <a:solidFill>
                  <a:srgbClr val="0F9F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便于学生理解和教师复核</a:t>
            </a:r>
            <a:endParaRPr sz="1600" b="0">
              <a:solidFill>
                <a:srgbClr val="0F9F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3" name="矩形 2"/>
          <p:cNvSpPr>
            <a:spLocks noGrp="1"/>
          </p:cNvSpPr>
          <p:nvPr/>
        </p:nvSpPr>
        <p:spPr>
          <a:xfrm>
            <a:off x="1123950" y="579120"/>
            <a:ext cx="933450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325" b="1">
                <a:solidFill>
                  <a:srgbClr val="0B2F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sz="2800" b="1">
                <a:solidFill>
                  <a:srgbClr val="0B2F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05 </a:t>
            </a:r>
            <a:r>
              <a:rPr sz="2800" b="1">
                <a:solidFill>
                  <a:srgbClr val="0B2F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课程-岗位智能映射</a:t>
            </a:r>
            <a:endParaRPr sz="2800" b="1">
              <a:solidFill>
                <a:srgbClr val="0B2F6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132715" y="1257300"/>
            <a:ext cx="9334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ClrTx/>
              <a:buSzTx/>
              <a:buFontTx/>
              <a:defRPr sz="2325" b="1">
                <a:solidFill>
                  <a:srgbClr val="0B2F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课程不直接匹配岗位，而是</a:t>
            </a:r>
            <a:r>
              <a:rPr sz="1800" b="1">
                <a:solidFill>
                  <a:srgbClr val="0B2F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先</a:t>
            </a:r>
            <a:r>
              <a:rPr sz="1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映射为能力标签，再与岗位技能图谱计算重合度</a:t>
            </a:r>
            <a:endParaRPr sz="18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圆角矩形 5"/>
          <p:cNvSpPr>
            <a:spLocks noGrp="1"/>
          </p:cNvSpPr>
          <p:nvPr/>
        </p:nvSpPr>
        <p:spPr>
          <a:xfrm>
            <a:off x="876300" y="1543050"/>
            <a:ext cx="10334625" cy="628650"/>
          </a:xfrm>
          <a:prstGeom prst="roundRect">
            <a:avLst>
              <a:gd name="adj" fmla="val 12121"/>
            </a:avLst>
          </a:prstGeom>
          <a:solidFill>
            <a:srgbClr val="FFFFFF">
              <a:alpha val="91765"/>
            </a:srgbClr>
          </a:solidFill>
          <a:ln w="9525">
            <a:solidFill>
              <a:srgbClr val="D8E4F4"/>
            </a:solidFill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1123950" y="1695450"/>
            <a:ext cx="15240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0B2F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0B2F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课程归一化</a:t>
            </a:r>
            <a:endParaRPr sz="1500" b="1">
              <a:solidFill>
                <a:srgbClr val="0B2F6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2838450" y="1695450"/>
            <a:ext cx="7953375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CourseName = normalize(课程名 / 别名 / 简历文本命中)</a:t>
            </a:r>
            <a:endParaRPr sz="1600" b="0">
              <a:solidFill>
                <a:srgbClr val="0F172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9" name="圆角矩形 8"/>
          <p:cNvSpPr>
            <a:spLocks noGrp="1"/>
          </p:cNvSpPr>
          <p:nvPr/>
        </p:nvSpPr>
        <p:spPr>
          <a:xfrm>
            <a:off x="876300" y="2381250"/>
            <a:ext cx="10334625" cy="628650"/>
          </a:xfrm>
          <a:prstGeom prst="roundRect">
            <a:avLst>
              <a:gd name="adj" fmla="val 12121"/>
            </a:avLst>
          </a:prstGeom>
          <a:solidFill>
            <a:srgbClr val="FFFFFF">
              <a:alpha val="91765"/>
            </a:srgbClr>
          </a:solidFill>
          <a:ln w="9525">
            <a:solidFill>
              <a:srgbClr val="D8E4F4"/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1123950" y="2533650"/>
            <a:ext cx="15240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0B2F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0B2F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能力中介</a:t>
            </a:r>
            <a:endParaRPr sz="1500" b="1">
              <a:solidFill>
                <a:srgbClr val="0B2F6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2838450" y="2533650"/>
            <a:ext cx="7953375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ClrTx/>
              <a:buSzTx/>
              <a:buFontTx/>
              <a:defRPr sz="1350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Course → AbilityTags；Job → RequiredSkills / RecommendedCourses</a:t>
            </a:r>
            <a:endParaRPr sz="1600" b="0">
              <a:solidFill>
                <a:srgbClr val="0F172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2" name="圆角矩形 11"/>
          <p:cNvSpPr>
            <a:spLocks noGrp="1"/>
          </p:cNvSpPr>
          <p:nvPr/>
        </p:nvSpPr>
        <p:spPr>
          <a:xfrm>
            <a:off x="876300" y="3219450"/>
            <a:ext cx="10334625" cy="628650"/>
          </a:xfrm>
          <a:prstGeom prst="roundRect">
            <a:avLst>
              <a:gd name="adj" fmla="val 12121"/>
            </a:avLst>
          </a:prstGeom>
          <a:solidFill>
            <a:srgbClr val="FFFFFF">
              <a:alpha val="91765"/>
            </a:srgbClr>
          </a:solidFill>
          <a:ln w="9525">
            <a:solidFill>
              <a:srgbClr val="D8E4F4"/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1123950" y="3371850"/>
            <a:ext cx="15240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0F9F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0F9F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映射评分</a:t>
            </a:r>
            <a:endParaRPr sz="1500" b="1">
              <a:solidFill>
                <a:srgbClr val="0F9F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2838450" y="3371850"/>
            <a:ext cx="7953375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ClrTx/>
              <a:buSzTx/>
              <a:buFontTx/>
              <a:defRPr sz="1350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Score = AbilityCoverage×50 + CourseHit×25 + ProjectHit×10 + JobTermHit×5 + RoleHint×10</a:t>
            </a:r>
            <a:endParaRPr sz="1600" b="0">
              <a:solidFill>
                <a:srgbClr val="0F172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5" name="圆角矩形 14"/>
          <p:cNvSpPr>
            <a:spLocks noGrp="1"/>
          </p:cNvSpPr>
          <p:nvPr/>
        </p:nvSpPr>
        <p:spPr>
          <a:xfrm>
            <a:off x="876300" y="4057650"/>
            <a:ext cx="10334625" cy="628650"/>
          </a:xfrm>
          <a:prstGeom prst="roundRect">
            <a:avLst>
              <a:gd name="adj" fmla="val 12121"/>
            </a:avLst>
          </a:prstGeom>
          <a:solidFill>
            <a:srgbClr val="FFFFFF">
              <a:alpha val="91765"/>
            </a:srgbClr>
          </a:solidFill>
          <a:ln w="9525">
            <a:solidFill>
              <a:srgbClr val="D8E4F4"/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1123950" y="4210050"/>
            <a:ext cx="15240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0B2F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0B2F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展示结果</a:t>
            </a:r>
            <a:endParaRPr sz="1500" b="1">
              <a:solidFill>
                <a:srgbClr val="0B2F6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2838450" y="4210050"/>
            <a:ext cx="7953375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课程 → 匹配岗位 → 对应能力；AI 推理能力单独标注来源</a:t>
            </a:r>
            <a:endParaRPr sz="1600" b="0">
              <a:solidFill>
                <a:srgbClr val="0F172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1285875" y="5314950"/>
            <a:ext cx="9525000" cy="438150"/>
          </a:xfrm>
          <a:prstGeom prst="rect">
            <a:avLst/>
          </a:prstGeom>
          <a:solidFill>
            <a:srgbClr val="E9F8F0"/>
          </a:solidFill>
          <a:ln w="9525">
            <a:solidFill>
              <a:srgbClr val="BFE8D7"/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575" b="1">
                <a:solidFill>
                  <a:srgbClr val="0B2F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0B2F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低于阈值的映射边会被过滤，避免弱相关课程强行连到岗位。</a:t>
            </a:r>
            <a:endParaRPr sz="1800" b="1">
              <a:solidFill>
                <a:srgbClr val="0B2F6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3" name="AutoShape 3"/>
          <p:cNvSpPr>
            <a:spLocks noGrp="1"/>
          </p:cNvSpPr>
          <p:nvPr/>
        </p:nvSpPr>
        <p:spPr>
          <a:xfrm>
            <a:off x="50468" y="1791269"/>
            <a:ext cx="12091063" cy="1535373"/>
          </a:xfrm>
          <a:prstGeom prst="rect">
            <a:avLst/>
          </a:prstGeom>
          <a:noFill/>
          <a:ln w="12502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indent="0" algn="ctr">
              <a:lnSpc>
                <a:spcPct val="125000"/>
              </a:lnSpc>
              <a:buNone/>
            </a:pPr>
            <a:r>
              <a:rPr sz="9670" b="1" i="0" u="none">
                <a:solidFill>
                  <a:srgbClr val="103A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</a:t>
            </a:r>
            <a:r>
              <a:rPr lang="en-US" sz="9670" b="1" i="0" u="none">
                <a:solidFill>
                  <a:srgbClr val="103A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</a:t>
            </a:r>
            <a:endParaRPr lang="en-US" sz="9670" b="1" i="0" u="none">
              <a:solidFill>
                <a:srgbClr val="103A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AutoShape 4"/>
          <p:cNvSpPr>
            <a:spLocks noGrp="1"/>
          </p:cNvSpPr>
          <p:nvPr/>
        </p:nvSpPr>
        <p:spPr>
          <a:xfrm>
            <a:off x="50468" y="3582537"/>
            <a:ext cx="12091063" cy="895634"/>
          </a:xfrm>
          <a:prstGeom prst="rect">
            <a:avLst/>
          </a:prstGeom>
          <a:noFill/>
          <a:ln w="12502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algn="ctr">
              <a:defRPr sz="1500" b="1">
                <a:solidFill>
                  <a:srgbClr val="0B2F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4230" b="1">
                <a:solidFill>
                  <a:srgbClr val="0B2F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系统演示</a:t>
            </a:r>
            <a:endParaRPr sz="4230" b="1" i="0" u="none">
              <a:solidFill>
                <a:srgbClr val="1F293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3" name="矩形 2"/>
          <p:cNvSpPr>
            <a:spLocks noGrp="1"/>
          </p:cNvSpPr>
          <p:nvPr/>
        </p:nvSpPr>
        <p:spPr>
          <a:xfrm>
            <a:off x="1238250" y="457200"/>
            <a:ext cx="87630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325" b="1">
                <a:solidFill>
                  <a:srgbClr val="0B2F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sz="2800" b="1">
                <a:solidFill>
                  <a:srgbClr val="0B2F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 </a:t>
            </a:r>
            <a:r>
              <a:rPr sz="2800" b="1">
                <a:solidFill>
                  <a:srgbClr val="0B2F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智能体入口</a:t>
            </a:r>
            <a:r>
              <a:rPr lang="zh-CN" sz="2800" b="1">
                <a:solidFill>
                  <a:srgbClr val="0B2F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页面</a:t>
            </a:r>
            <a:endParaRPr lang="zh-CN" sz="2800" b="1">
              <a:solidFill>
                <a:srgbClr val="0B2F6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85800" y="1057275"/>
            <a:ext cx="9199245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ClrTx/>
              <a:buSzTx/>
              <a:buFontTx/>
              <a:defRPr sz="2325" b="1">
                <a:solidFill>
                  <a:srgbClr val="0B2F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endParaRPr sz="2325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1238250" y="6232525"/>
            <a:ext cx="9144000" cy="323850"/>
          </a:xfrm>
          <a:prstGeom prst="rect">
            <a:avLst/>
          </a:prstGeom>
          <a:solidFill>
            <a:srgbClr val="FFFFFF"/>
          </a:solidFill>
          <a:ln w="9525">
            <a:solidFill>
              <a:srgbClr val="D8E4F4"/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ClrTx/>
              <a:buSzTx/>
              <a:buFontTx/>
              <a:defRPr sz="2325" b="1">
                <a:solidFill>
                  <a:srgbClr val="0B2F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325" b="1">
                <a:solidFill>
                  <a:srgbClr val="0B2F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入口层把复杂功能封装为对话式任务分发，降低学生使用门槛。</a:t>
            </a:r>
            <a:endParaRPr sz="2325" b="1">
              <a:solidFill>
                <a:srgbClr val="0B2F6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2" name="图片 1" descr="截屏2026-06-15 16.31.2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7060" y="1229995"/>
            <a:ext cx="7687310" cy="491363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3" name="矩形 2"/>
          <p:cNvSpPr>
            <a:spLocks noGrp="1"/>
          </p:cNvSpPr>
          <p:nvPr/>
        </p:nvSpPr>
        <p:spPr>
          <a:xfrm>
            <a:off x="1318260" y="599440"/>
            <a:ext cx="87630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325" b="1">
                <a:solidFill>
                  <a:srgbClr val="0B2F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sz="2800" b="1">
                <a:solidFill>
                  <a:srgbClr val="0B2F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 </a:t>
            </a:r>
            <a:r>
              <a:rPr sz="2800" b="1">
                <a:solidFill>
                  <a:srgbClr val="0B2F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四维能力画像</a:t>
            </a:r>
            <a:endParaRPr lang="en-US" sz="2800" b="1">
              <a:solidFill>
                <a:srgbClr val="0B2F6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85800" y="1365885"/>
            <a:ext cx="102489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ClrTx/>
              <a:buSzTx/>
              <a:buFontTx/>
              <a:defRPr sz="2325" b="1">
                <a:solidFill>
                  <a:srgbClr val="0B2F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>
                <a:sym typeface="+mn-ea"/>
              </a:rPr>
              <a:t>把简历材料转化为可审计分数</a:t>
            </a:r>
            <a:r>
              <a:rPr sz="1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专业基础、技术实践、工具技能、职业发展共同构成学生能力画像</a:t>
            </a:r>
            <a:endParaRPr sz="18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5" name="图片 4" descr="截屏2026-06-15 16.21.0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6710" y="2222500"/>
            <a:ext cx="5157470" cy="3286125"/>
          </a:xfrm>
          <a:prstGeom prst="rect">
            <a:avLst/>
          </a:prstGeom>
        </p:spPr>
      </p:pic>
      <p:pic>
        <p:nvPicPr>
          <p:cNvPr id="9" name="图片 8" descr="截屏2026-06-15 16.21.4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04180" y="1771015"/>
            <a:ext cx="6468110" cy="4323715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3" name="矩形 2"/>
          <p:cNvSpPr>
            <a:spLocks noGrp="1"/>
          </p:cNvSpPr>
          <p:nvPr/>
        </p:nvSpPr>
        <p:spPr>
          <a:xfrm>
            <a:off x="1739900" y="697865"/>
            <a:ext cx="87630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325" b="1">
                <a:solidFill>
                  <a:srgbClr val="0B2F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sz="2800" b="1">
                <a:solidFill>
                  <a:srgbClr val="0B2F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 TOP5</a:t>
            </a:r>
            <a:r>
              <a:rPr sz="2800" b="1">
                <a:solidFill>
                  <a:srgbClr val="0B2F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岗位匹配运行结果</a:t>
            </a:r>
            <a:endParaRPr lang="en-US" sz="2800" b="1">
              <a:solidFill>
                <a:srgbClr val="0B2F6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1238250" y="6143625"/>
            <a:ext cx="9144000" cy="323850"/>
          </a:xfrm>
          <a:prstGeom prst="rect">
            <a:avLst/>
          </a:prstGeom>
          <a:solidFill>
            <a:srgbClr val="FFFFFF"/>
          </a:solidFill>
          <a:ln w="9525">
            <a:solidFill>
              <a:srgbClr val="D8E4F4"/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0B2F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b="1">
                <a:solidFill>
                  <a:srgbClr val="0B2F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推荐结果从“岗位名称”升级为“匹配证据 + 能力缺口 + 后续路径”</a:t>
            </a:r>
            <a:r>
              <a:rPr sz="1600" b="1">
                <a:solidFill>
                  <a:srgbClr val="0B2F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sz="1600" b="1">
              <a:solidFill>
                <a:srgbClr val="0B2F6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2" name="图片 1" descr="截屏2026-06-15 16.16.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020" y="1193165"/>
            <a:ext cx="5332730" cy="4752340"/>
          </a:xfrm>
          <a:prstGeom prst="rect">
            <a:avLst/>
          </a:prstGeom>
        </p:spPr>
      </p:pic>
      <p:pic>
        <p:nvPicPr>
          <p:cNvPr id="4" name="图片 3" descr="截屏2026-06-15 16.16.2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26735" y="1193165"/>
            <a:ext cx="6248400" cy="475234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3" name="矩形 2"/>
          <p:cNvSpPr>
            <a:spLocks noGrp="1"/>
          </p:cNvSpPr>
          <p:nvPr/>
        </p:nvSpPr>
        <p:spPr>
          <a:xfrm>
            <a:off x="1619250" y="560070"/>
            <a:ext cx="87630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325" b="1">
                <a:solidFill>
                  <a:srgbClr val="0B2F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sz="2800" b="1">
                <a:solidFill>
                  <a:srgbClr val="0B2F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 </a:t>
            </a:r>
            <a:r>
              <a:rPr sz="2800" b="1">
                <a:solidFill>
                  <a:srgbClr val="0B2F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课程映射运行结果</a:t>
            </a:r>
            <a:endParaRPr sz="2800" b="1">
              <a:solidFill>
                <a:srgbClr val="0B2F6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圆角矩形 5"/>
          <p:cNvSpPr>
            <a:spLocks noGrp="1"/>
          </p:cNvSpPr>
          <p:nvPr/>
        </p:nvSpPr>
        <p:spPr>
          <a:xfrm>
            <a:off x="781050" y="1447800"/>
            <a:ext cx="10010775" cy="4533900"/>
          </a:xfrm>
          <a:prstGeom prst="roundRect">
            <a:avLst>
              <a:gd name="adj" fmla="val 1681"/>
            </a:avLst>
          </a:prstGeom>
          <a:solidFill>
            <a:srgbClr val="FFFFFF"/>
          </a:solidFill>
          <a:ln w="11430">
            <a:solidFill>
              <a:srgbClr val="D8E4F4"/>
            </a:solidFill>
            <a:prstDash val="solid"/>
          </a:ln>
        </p:spPr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8644" y="1524000"/>
            <a:ext cx="9855588" cy="4381500"/>
          </a:xfrm>
          <a:prstGeom prst="rect">
            <a:avLst/>
          </a:prstGeom>
        </p:spPr>
      </p:pic>
      <p:sp>
        <p:nvSpPr>
          <p:cNvPr id="8" name="矩形 7"/>
          <p:cNvSpPr>
            <a:spLocks noGrp="1"/>
          </p:cNvSpPr>
          <p:nvPr/>
        </p:nvSpPr>
        <p:spPr>
          <a:xfrm>
            <a:off x="781050" y="6143625"/>
            <a:ext cx="9855835" cy="323850"/>
          </a:xfrm>
          <a:prstGeom prst="rect">
            <a:avLst/>
          </a:prstGeom>
          <a:solidFill>
            <a:srgbClr val="FFFFFF"/>
          </a:solidFill>
          <a:ln w="9525">
            <a:solidFill>
              <a:srgbClr val="D8E4F4"/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ClrTx/>
              <a:buSzTx/>
              <a:buFontTx/>
              <a:defRPr sz="2325" b="1">
                <a:solidFill>
                  <a:srgbClr val="0B2F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325" b="1">
                <a:solidFill>
                  <a:srgbClr val="0B2F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学生可以直观看到：某门课程支撑了哪些岗位，以及还需要补齐哪些能力。</a:t>
            </a:r>
            <a:endParaRPr sz="2325" b="1">
              <a:solidFill>
                <a:srgbClr val="0B2F6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3" name="矩形 2"/>
          <p:cNvSpPr>
            <a:spLocks noGrp="1"/>
          </p:cNvSpPr>
          <p:nvPr/>
        </p:nvSpPr>
        <p:spPr>
          <a:xfrm>
            <a:off x="1714500" y="563880"/>
            <a:ext cx="87630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325" b="1">
                <a:solidFill>
                  <a:srgbClr val="0B2F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sz="2800" b="1">
                <a:solidFill>
                  <a:srgbClr val="0B2F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05 </a:t>
            </a:r>
            <a:r>
              <a:rPr sz="2800" b="1">
                <a:solidFill>
                  <a:srgbClr val="0B2F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简历优化运行结果</a:t>
            </a:r>
            <a:endParaRPr sz="2800" b="1">
              <a:solidFill>
                <a:srgbClr val="0B2F6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圆角矩形 5"/>
          <p:cNvSpPr>
            <a:spLocks noGrp="1"/>
          </p:cNvSpPr>
          <p:nvPr/>
        </p:nvSpPr>
        <p:spPr>
          <a:xfrm>
            <a:off x="781050" y="1447800"/>
            <a:ext cx="10010775" cy="4533900"/>
          </a:xfrm>
          <a:prstGeom prst="roundRect">
            <a:avLst>
              <a:gd name="adj" fmla="val 1681"/>
            </a:avLst>
          </a:prstGeom>
          <a:solidFill>
            <a:srgbClr val="FFFFFF"/>
          </a:solidFill>
          <a:ln w="11430">
            <a:solidFill>
              <a:srgbClr val="D8E4F4"/>
            </a:solidFill>
            <a:prstDash val="solid"/>
          </a:ln>
        </p:spPr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369" y="1524000"/>
            <a:ext cx="9818137" cy="4381500"/>
          </a:xfrm>
          <a:prstGeom prst="rect">
            <a:avLst/>
          </a:prstGeom>
        </p:spPr>
      </p:pic>
      <p:sp>
        <p:nvSpPr>
          <p:cNvPr id="8" name="矩形 7"/>
          <p:cNvSpPr>
            <a:spLocks noGrp="1"/>
          </p:cNvSpPr>
          <p:nvPr/>
        </p:nvSpPr>
        <p:spPr>
          <a:xfrm>
            <a:off x="1238250" y="6143625"/>
            <a:ext cx="9144000" cy="323850"/>
          </a:xfrm>
          <a:prstGeom prst="rect">
            <a:avLst/>
          </a:prstGeom>
          <a:solidFill>
            <a:srgbClr val="FFFFFF"/>
          </a:solidFill>
          <a:ln w="9525">
            <a:solidFill>
              <a:srgbClr val="D8E4F4"/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0B2F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325" b="1">
                <a:solidFill>
                  <a:srgbClr val="0B2F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优化建议围绕目标岗位，不只是润色语言，而是补齐岗位证据。</a:t>
            </a:r>
            <a:endParaRPr sz="1350" b="1">
              <a:solidFill>
                <a:srgbClr val="0B2F6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3" name="矩形 2"/>
          <p:cNvSpPr>
            <a:spLocks noGrp="1"/>
          </p:cNvSpPr>
          <p:nvPr/>
        </p:nvSpPr>
        <p:spPr>
          <a:xfrm>
            <a:off x="1238250" y="561975"/>
            <a:ext cx="87630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325" b="1">
                <a:solidFill>
                  <a:srgbClr val="0B2F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sz="2800" b="1">
                <a:solidFill>
                  <a:srgbClr val="0B2F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06 </a:t>
            </a:r>
            <a:r>
              <a:rPr sz="2800" b="1">
                <a:solidFill>
                  <a:srgbClr val="0B2F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模拟面试</a:t>
            </a:r>
            <a:r>
              <a:rPr lang="zh-CN" sz="2800" b="1">
                <a:solidFill>
                  <a:srgbClr val="0B2F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运行</a:t>
            </a:r>
            <a:r>
              <a:rPr lang="zh-CN" sz="2800" b="1">
                <a:solidFill>
                  <a:srgbClr val="0B2F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结果</a:t>
            </a:r>
            <a:endParaRPr lang="zh-CN" sz="2800" b="1">
              <a:solidFill>
                <a:srgbClr val="0B2F6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圆角矩形 5"/>
          <p:cNvSpPr>
            <a:spLocks noGrp="1"/>
          </p:cNvSpPr>
          <p:nvPr/>
        </p:nvSpPr>
        <p:spPr>
          <a:xfrm>
            <a:off x="781050" y="1447800"/>
            <a:ext cx="10010775" cy="4533900"/>
          </a:xfrm>
          <a:prstGeom prst="roundRect">
            <a:avLst>
              <a:gd name="adj" fmla="val 1681"/>
            </a:avLst>
          </a:prstGeom>
          <a:solidFill>
            <a:srgbClr val="FFFFFF"/>
          </a:solidFill>
          <a:ln w="11430">
            <a:solidFill>
              <a:srgbClr val="D8E4F4"/>
            </a:solidFill>
            <a:prstDash val="solid"/>
          </a:ln>
        </p:spPr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4363" y="1524000"/>
            <a:ext cx="9844149" cy="4381500"/>
          </a:xfrm>
          <a:prstGeom prst="rect">
            <a:avLst/>
          </a:prstGeom>
        </p:spPr>
      </p:pic>
      <p:sp>
        <p:nvSpPr>
          <p:cNvPr id="8" name="矩形 7"/>
          <p:cNvSpPr>
            <a:spLocks noGrp="1"/>
          </p:cNvSpPr>
          <p:nvPr/>
        </p:nvSpPr>
        <p:spPr>
          <a:xfrm>
            <a:off x="1238250" y="6143625"/>
            <a:ext cx="9144000" cy="323850"/>
          </a:xfrm>
          <a:prstGeom prst="rect">
            <a:avLst/>
          </a:prstGeom>
          <a:solidFill>
            <a:srgbClr val="FFFFFF"/>
          </a:solidFill>
          <a:ln w="9525">
            <a:solidFill>
              <a:srgbClr val="D8E4F4"/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ClrTx/>
              <a:buSzTx/>
              <a:buFontTx/>
              <a:defRPr sz="2325" b="1">
                <a:solidFill>
                  <a:srgbClr val="0B2F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325" b="1">
                <a:solidFill>
                  <a:srgbClr val="0B2F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面试训练把岗位差距转化为可练习的问题和反馈。</a:t>
            </a:r>
            <a:endParaRPr sz="2325" b="1">
              <a:solidFill>
                <a:srgbClr val="0B2F6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3" name="矩形 2"/>
          <p:cNvSpPr>
            <a:spLocks noGrp="1"/>
          </p:cNvSpPr>
          <p:nvPr/>
        </p:nvSpPr>
        <p:spPr>
          <a:xfrm>
            <a:off x="1526540" y="545465"/>
            <a:ext cx="87630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325" b="1">
                <a:solidFill>
                  <a:srgbClr val="0B2F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sz="2800" b="1">
                <a:solidFill>
                  <a:srgbClr val="0B2F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07 </a:t>
            </a:r>
            <a:r>
              <a:rPr sz="2800" b="1">
                <a:solidFill>
                  <a:srgbClr val="0B2F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就业指导运行结果</a:t>
            </a:r>
            <a:endParaRPr sz="2800" b="1">
              <a:solidFill>
                <a:srgbClr val="0B2F6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圆角矩形 5"/>
          <p:cNvSpPr>
            <a:spLocks noGrp="1"/>
          </p:cNvSpPr>
          <p:nvPr/>
        </p:nvSpPr>
        <p:spPr>
          <a:xfrm>
            <a:off x="781050" y="1447800"/>
            <a:ext cx="10010775" cy="4533900"/>
          </a:xfrm>
          <a:prstGeom prst="roundRect">
            <a:avLst>
              <a:gd name="adj" fmla="val 1681"/>
            </a:avLst>
          </a:prstGeom>
          <a:solidFill>
            <a:srgbClr val="FFFFFF"/>
          </a:solidFill>
          <a:ln w="11430">
            <a:solidFill>
              <a:srgbClr val="D8E4F4"/>
            </a:solidFill>
            <a:prstDash val="solid"/>
          </a:ln>
        </p:spPr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4830" y="1524000"/>
            <a:ext cx="9823215" cy="4381500"/>
          </a:xfrm>
          <a:prstGeom prst="rect">
            <a:avLst/>
          </a:prstGeom>
        </p:spPr>
      </p:pic>
      <p:sp>
        <p:nvSpPr>
          <p:cNvPr id="8" name="矩形 7"/>
          <p:cNvSpPr>
            <a:spLocks noGrp="1"/>
          </p:cNvSpPr>
          <p:nvPr/>
        </p:nvSpPr>
        <p:spPr>
          <a:xfrm>
            <a:off x="1238250" y="6143625"/>
            <a:ext cx="9144000" cy="323850"/>
          </a:xfrm>
          <a:prstGeom prst="rect">
            <a:avLst/>
          </a:prstGeom>
          <a:solidFill>
            <a:srgbClr val="FFFFFF"/>
          </a:solidFill>
          <a:ln w="9525">
            <a:solidFill>
              <a:srgbClr val="D8E4F4"/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ClrTx/>
              <a:buSzTx/>
              <a:buFontTx/>
              <a:defRPr sz="2325" b="1">
                <a:solidFill>
                  <a:srgbClr val="0B2F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325" b="1">
                <a:solidFill>
                  <a:srgbClr val="0B2F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就业指导页把“你适合什么岗位”延伸为“下一步如何成长”。</a:t>
            </a:r>
            <a:endParaRPr sz="2325" b="1">
              <a:solidFill>
                <a:srgbClr val="0B2F6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4" name="AutoShape 4"/>
          <p:cNvSpPr>
            <a:spLocks noGrp="1"/>
          </p:cNvSpPr>
          <p:nvPr/>
        </p:nvSpPr>
        <p:spPr>
          <a:xfrm>
            <a:off x="50468" y="3710485"/>
            <a:ext cx="12091063" cy="1023582"/>
          </a:xfrm>
          <a:prstGeom prst="rect">
            <a:avLst/>
          </a:prstGeom>
          <a:noFill/>
          <a:ln w="12502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algn="ctr">
              <a:defRPr sz="1500" b="1">
                <a:solidFill>
                  <a:srgbClr val="0B2F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endParaRPr lang="zh-CN" sz="4835" b="1" i="0" u="none">
              <a:solidFill>
                <a:srgbClr val="1F293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289300" y="599440"/>
            <a:ext cx="609600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>
              <a:defRPr sz="2325" b="1">
                <a:solidFill>
                  <a:srgbClr val="0B2F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sz="2800" b="1">
                <a:solidFill>
                  <a:srgbClr val="0B2F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08 </a:t>
            </a:r>
            <a:r>
              <a:rPr lang="zh-CN" sz="2800" b="1">
                <a:solidFill>
                  <a:srgbClr val="0B2F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历史记录及个人成长</a:t>
            </a:r>
            <a:r>
              <a:rPr lang="zh-CN" sz="2800" b="1">
                <a:solidFill>
                  <a:srgbClr val="0B2F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轨迹</a:t>
            </a:r>
            <a:endParaRPr lang="zh-CN" sz="2800" b="1">
              <a:solidFill>
                <a:srgbClr val="0B2F6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pic>
        <p:nvPicPr>
          <p:cNvPr id="5" name="图片 4" descr="截屏2026-06-15 16.35.1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1121410"/>
            <a:ext cx="5728970" cy="4216400"/>
          </a:xfrm>
          <a:prstGeom prst="rect">
            <a:avLst/>
          </a:prstGeom>
        </p:spPr>
      </p:pic>
      <p:pic>
        <p:nvPicPr>
          <p:cNvPr id="6" name="图片 5" descr="截屏2026-06-15 16.38.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39790" y="1121410"/>
            <a:ext cx="5039995" cy="2717800"/>
          </a:xfrm>
          <a:prstGeom prst="rect">
            <a:avLst/>
          </a:prstGeom>
        </p:spPr>
      </p:pic>
      <p:pic>
        <p:nvPicPr>
          <p:cNvPr id="7" name="图片 6" descr="截屏2026-06-15 16.38.5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3770" y="3839210"/>
            <a:ext cx="4672330" cy="2607945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4" name="AutoShape 4"/>
          <p:cNvSpPr>
            <a:spLocks noGrp="1"/>
          </p:cNvSpPr>
          <p:nvPr/>
        </p:nvSpPr>
        <p:spPr>
          <a:xfrm>
            <a:off x="50468" y="3710485"/>
            <a:ext cx="12091063" cy="1023582"/>
          </a:xfrm>
          <a:prstGeom prst="rect">
            <a:avLst/>
          </a:prstGeom>
          <a:noFill/>
          <a:ln w="12502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algn="ctr">
              <a:defRPr sz="1500" b="1">
                <a:solidFill>
                  <a:srgbClr val="0B2F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endParaRPr lang="zh-CN" sz="4835" b="1" i="0" u="none">
              <a:solidFill>
                <a:srgbClr val="1F293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941320" y="760095"/>
            <a:ext cx="609600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>
              <a:defRPr sz="2325" b="1">
                <a:solidFill>
                  <a:srgbClr val="0B2F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sz="2800" b="1">
                <a:solidFill>
                  <a:srgbClr val="0B2F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08 </a:t>
            </a:r>
            <a:r>
              <a:rPr lang="zh-CN" sz="2800" b="1">
                <a:solidFill>
                  <a:srgbClr val="0B2F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演示</a:t>
            </a:r>
            <a:r>
              <a:rPr lang="zh-CN" sz="2800" b="1">
                <a:solidFill>
                  <a:srgbClr val="0B2F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视频</a:t>
            </a:r>
            <a:endParaRPr lang="zh-CN" sz="2800" b="1">
              <a:solidFill>
                <a:srgbClr val="0B2F6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pic>
        <p:nvPicPr>
          <p:cNvPr id="3" name="录屏2026-06-12 22.29.06">
            <a:hlinkClick r:id="" action="ppaction://media"/>
          </p:cNvPr>
          <p:cNvPicPr/>
          <p:nvPr>
            <a:videoFile r:link="rId2"/>
            <p:extLst>
              <p:ext uri="{DAA4B4D4-6D71-4841-9C94-3DE7FCFB9230}">
                <p14:media xmlns:p14="http://schemas.microsoft.com/office/powerpoint/2010/main" r:embed="rId3"/>
              </p:ext>
            </p:extLst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1546860" y="1442720"/>
            <a:ext cx="9098280" cy="471106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 fullScrn="0">
              <p:cMediaNode>
                <p:cTn id="2" fill="hold" display="1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3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" fill="hold">
                      <p:stCondLst>
                        <p:cond delay="0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 additive="base">
                                        <p:cTn id="7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3" name="AutoShape 3"/>
          <p:cNvSpPr>
            <a:spLocks noGrp="1"/>
          </p:cNvSpPr>
          <p:nvPr/>
        </p:nvSpPr>
        <p:spPr>
          <a:xfrm>
            <a:off x="50468" y="1919216"/>
            <a:ext cx="12091063" cy="1535373"/>
          </a:xfrm>
          <a:prstGeom prst="rect">
            <a:avLst/>
          </a:prstGeom>
          <a:noFill/>
          <a:ln w="12502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indent="0" algn="ctr">
              <a:lnSpc>
                <a:spcPct val="125000"/>
              </a:lnSpc>
              <a:buNone/>
            </a:pPr>
            <a:r>
              <a:rPr sz="9670" b="1" i="0" u="none">
                <a:solidFill>
                  <a:srgbClr val="1038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</a:t>
            </a:r>
            <a:r>
              <a:rPr lang="en-US" sz="9670" b="1" i="0" u="none">
                <a:solidFill>
                  <a:srgbClr val="1038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</a:t>
            </a:r>
            <a:endParaRPr lang="en-US" sz="9670" b="1" i="0" u="none">
              <a:solidFill>
                <a:srgbClr val="1038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AutoShape 4"/>
          <p:cNvSpPr>
            <a:spLocks noGrp="1"/>
          </p:cNvSpPr>
          <p:nvPr/>
        </p:nvSpPr>
        <p:spPr>
          <a:xfrm>
            <a:off x="50468" y="3710485"/>
            <a:ext cx="12091063" cy="1023582"/>
          </a:xfrm>
          <a:prstGeom prst="rect">
            <a:avLst/>
          </a:prstGeom>
          <a:noFill/>
          <a:ln w="12502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algn="ctr">
              <a:defRPr sz="1500" b="1">
                <a:solidFill>
                  <a:srgbClr val="0B2F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sz="4835" b="1">
                <a:solidFill>
                  <a:srgbClr val="0B2F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系统</a:t>
            </a:r>
            <a:r>
              <a:rPr sz="4835" b="1">
                <a:solidFill>
                  <a:srgbClr val="0B2F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测试</a:t>
            </a:r>
            <a:endParaRPr lang="zh-CN" sz="4835" b="1" i="0" u="none">
              <a:solidFill>
                <a:srgbClr val="1F293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3" name="矩形 2"/>
          <p:cNvSpPr>
            <a:spLocks noGrp="1"/>
          </p:cNvSpPr>
          <p:nvPr/>
        </p:nvSpPr>
        <p:spPr>
          <a:xfrm>
            <a:off x="794385" y="762000"/>
            <a:ext cx="9159875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325" b="1">
                <a:solidFill>
                  <a:srgbClr val="0B2F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sz="2800" b="1">
                <a:solidFill>
                  <a:srgbClr val="0B2F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01 </a:t>
            </a:r>
            <a:r>
              <a:rPr sz="2800" b="1">
                <a:solidFill>
                  <a:srgbClr val="0B2F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数据可追溯</a:t>
            </a:r>
            <a:endParaRPr sz="1800" b="1">
              <a:solidFill>
                <a:srgbClr val="0B2F6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873760" y="1800860"/>
            <a:ext cx="10917555" cy="54165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ClrTx/>
              <a:buSzTx/>
              <a:buFontTx/>
              <a:defRPr sz="2325" b="1">
                <a:solidFill>
                  <a:srgbClr val="0B2F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>
                <a:sym typeface="+mn-ea"/>
              </a:rPr>
              <a:t>真实岗位、推理结果和缓存版本统一入库</a:t>
            </a:r>
            <a:r>
              <a:rPr lang="zh-CN" sz="1800">
                <a:sym typeface="+mn-ea"/>
              </a:rPr>
              <a:t>，</a:t>
            </a:r>
            <a:r>
              <a:rPr sz="1800">
                <a:sym typeface="+mn-ea"/>
              </a:rPr>
              <a:t>MySQL 保存输入、诊断、岗位、缓存和审核状态，支撑复用与人工复核</a:t>
            </a:r>
            <a:endParaRPr sz="18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buClrTx/>
              <a:buSzTx/>
              <a:buFontTx/>
              <a:defRPr sz="2325" b="1">
                <a:solidFill>
                  <a:srgbClr val="0B2F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endParaRPr sz="1800" b="1">
              <a:solidFill>
                <a:srgbClr val="0B2F6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buClrTx/>
              <a:buSzTx/>
              <a:buFontTx/>
              <a:defRPr sz="2325" b="1">
                <a:solidFill>
                  <a:srgbClr val="0B2F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endParaRPr sz="18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圆角矩形 5"/>
          <p:cNvSpPr>
            <a:spLocks noGrp="1"/>
          </p:cNvSpPr>
          <p:nvPr/>
        </p:nvSpPr>
        <p:spPr>
          <a:xfrm>
            <a:off x="959485" y="2514600"/>
            <a:ext cx="2333625" cy="104775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1430">
            <a:solidFill>
              <a:srgbClr val="D8E4F4"/>
            </a:solidFill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1130935" y="2514600"/>
            <a:ext cx="12382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2563EB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2563EB"/>
                </a:solidFill>
                <a:latin typeface="Aptos Display"/>
                <a:ea typeface="Aptos Display"/>
                <a:cs typeface="Aptos Display"/>
              </a:rPr>
              <a:t>679</a:t>
            </a:r>
            <a:endParaRPr sz="2250" b="1">
              <a:solidFill>
                <a:srgbClr val="2563EB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1130935" y="2876550"/>
            <a:ext cx="1905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0B2F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0B2F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真实岗位数据</a:t>
            </a:r>
            <a:endParaRPr sz="1275" b="1">
              <a:solidFill>
                <a:srgbClr val="0B2F6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1130935" y="3105150"/>
            <a:ext cx="2007870" cy="45783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40" b="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00" b="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来自岗位信息表，用于本地召回和匹配</a:t>
            </a:r>
            <a:endParaRPr sz="1400" b="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圆角矩形 9"/>
          <p:cNvSpPr>
            <a:spLocks noGrp="1"/>
          </p:cNvSpPr>
          <p:nvPr/>
        </p:nvSpPr>
        <p:spPr>
          <a:xfrm>
            <a:off x="3674110" y="2514600"/>
            <a:ext cx="2333625" cy="104775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1430">
            <a:solidFill>
              <a:srgbClr val="D8E4F4"/>
            </a:solidFill>
            <a:prstDash val="solid"/>
          </a:ln>
        </p:spPr>
        <p:txBody>
          <a:bodyPr/>
          <a:p>
            <a:endParaRPr lang="zh-CN" altLang="en-US"/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3845560" y="2514600"/>
            <a:ext cx="12382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2563EB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2563EB"/>
                </a:solidFill>
                <a:latin typeface="Aptos Display"/>
                <a:ea typeface="Aptos Display"/>
                <a:cs typeface="Aptos Display"/>
              </a:rPr>
              <a:t>2 类</a:t>
            </a:r>
            <a:endParaRPr sz="2250" b="1">
              <a:solidFill>
                <a:srgbClr val="2563EB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3845560" y="2870835"/>
            <a:ext cx="1905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0B2F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0B2F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缓存结果</a:t>
            </a:r>
            <a:endParaRPr sz="1275" b="1">
              <a:solidFill>
                <a:srgbClr val="0B2F6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3845560" y="3105785"/>
            <a:ext cx="1905000" cy="33274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40" b="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00" b="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local 与 llm 分开保存</a:t>
            </a:r>
            <a:endParaRPr sz="1400" b="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圆角矩形 13"/>
          <p:cNvSpPr>
            <a:spLocks noGrp="1"/>
          </p:cNvSpPr>
          <p:nvPr/>
        </p:nvSpPr>
        <p:spPr>
          <a:xfrm>
            <a:off x="6388735" y="2514600"/>
            <a:ext cx="2333625" cy="104775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1430">
            <a:solidFill>
              <a:srgbClr val="D8E4F4"/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6560185" y="2535555"/>
            <a:ext cx="12382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2563EB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2563EB"/>
                </a:solidFill>
                <a:latin typeface="Aptos Display"/>
                <a:ea typeface="Aptos Display"/>
                <a:cs typeface="Aptos Display"/>
              </a:rPr>
              <a:t>4 维</a:t>
            </a:r>
            <a:endParaRPr sz="2250" b="1">
              <a:solidFill>
                <a:srgbClr val="2563EB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6560185" y="2886075"/>
            <a:ext cx="1905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0B2F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0B2F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能力画像</a:t>
            </a:r>
            <a:endParaRPr sz="1275" b="1">
              <a:solidFill>
                <a:srgbClr val="0B2F6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6560185" y="3114675"/>
            <a:ext cx="1905000" cy="52768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40" b="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00" b="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专业基础、技术实践、工具技能、职业发展</a:t>
            </a:r>
            <a:endParaRPr sz="1400" b="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圆角矩形 17"/>
          <p:cNvSpPr>
            <a:spLocks noGrp="1"/>
          </p:cNvSpPr>
          <p:nvPr/>
        </p:nvSpPr>
        <p:spPr>
          <a:xfrm>
            <a:off x="9103360" y="2514600"/>
            <a:ext cx="2333625" cy="104775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1430">
            <a:solidFill>
              <a:srgbClr val="D8E4F4"/>
            </a:solidFill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9274810" y="2525395"/>
            <a:ext cx="12382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C65A1E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C65A1E"/>
                </a:solidFill>
                <a:latin typeface="Aptos Display"/>
                <a:ea typeface="Aptos Display"/>
                <a:cs typeface="Aptos Display"/>
              </a:rPr>
              <a:t>pending</a:t>
            </a:r>
            <a:endParaRPr sz="2250" b="1">
              <a:solidFill>
                <a:srgbClr val="C65A1E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9274810" y="2906395"/>
            <a:ext cx="1905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0B2F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0B2F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 推理审核</a:t>
            </a:r>
            <a:endParaRPr sz="1275" b="1">
              <a:solidFill>
                <a:srgbClr val="0B2F6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9274810" y="3124200"/>
            <a:ext cx="1905000" cy="34036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40" b="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00" b="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未知课程结果单独标注待复核</a:t>
            </a:r>
            <a:endParaRPr sz="1400" b="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圆角矩形 21"/>
          <p:cNvSpPr>
            <a:spLocks noGrp="1"/>
          </p:cNvSpPr>
          <p:nvPr/>
        </p:nvSpPr>
        <p:spPr>
          <a:xfrm>
            <a:off x="1323975" y="3797935"/>
            <a:ext cx="9334500" cy="2238375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1430">
            <a:solidFill>
              <a:srgbClr val="D8E4F4"/>
            </a:solidFill>
            <a:prstDash val="solid"/>
          </a:ln>
        </p:spPr>
      </p:sp>
      <p:sp>
        <p:nvSpPr>
          <p:cNvPr id="23" name="矩形 22"/>
          <p:cNvSpPr>
            <a:spLocks noGrp="1"/>
          </p:cNvSpPr>
          <p:nvPr/>
        </p:nvSpPr>
        <p:spPr>
          <a:xfrm>
            <a:off x="1609725" y="4036060"/>
            <a:ext cx="2095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0B2F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0B2F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可追溯链路</a:t>
            </a:r>
            <a:endParaRPr sz="1650" b="1">
              <a:solidFill>
                <a:srgbClr val="0B2F6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1609725" y="4512310"/>
            <a:ext cx="1095375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原始输入</a:t>
            </a:r>
            <a:endParaRPr sz="1050" b="0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2800350" y="4559935"/>
            <a:ext cx="6477000" cy="133350"/>
          </a:xfrm>
          <a:prstGeom prst="rect">
            <a:avLst/>
          </a:prstGeom>
          <a:solidFill>
            <a:srgbClr val="E7EEF8"/>
          </a:solidFill>
          <a:ln w="0">
            <a:solidFill>
              <a:srgbClr val="E7EEF8"/>
            </a:solidFill>
            <a:prstDash val="solid"/>
          </a:ln>
        </p:spPr>
      </p:sp>
      <p:sp>
        <p:nvSpPr>
          <p:cNvPr id="26" name="矩形 25"/>
          <p:cNvSpPr>
            <a:spLocks noGrp="1"/>
          </p:cNvSpPr>
          <p:nvPr/>
        </p:nvSpPr>
        <p:spPr>
          <a:xfrm>
            <a:off x="2800350" y="4559935"/>
            <a:ext cx="5699760" cy="133350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矩形 26"/>
          <p:cNvSpPr>
            <a:spLocks noGrp="1"/>
          </p:cNvSpPr>
          <p:nvPr/>
        </p:nvSpPr>
        <p:spPr>
          <a:xfrm>
            <a:off x="9467850" y="4512310"/>
            <a:ext cx="571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0B2F6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B2F63"/>
                </a:solidFill>
                <a:latin typeface="Aptos"/>
                <a:ea typeface="Aptos"/>
                <a:cs typeface="Aptos"/>
              </a:rPr>
              <a:t>88%</a:t>
            </a:r>
            <a:endParaRPr sz="975" b="1">
              <a:solidFill>
                <a:srgbClr val="0B2F63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1609725" y="4798060"/>
            <a:ext cx="1095375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画像结果</a:t>
            </a:r>
            <a:endParaRPr sz="1050" b="0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2800350" y="4845685"/>
            <a:ext cx="6477000" cy="133350"/>
          </a:xfrm>
          <a:prstGeom prst="rect">
            <a:avLst/>
          </a:prstGeom>
          <a:solidFill>
            <a:srgbClr val="E7EEF8"/>
          </a:solidFill>
          <a:ln w="0">
            <a:solidFill>
              <a:srgbClr val="E7EEF8"/>
            </a:solidFill>
            <a:prstDash val="solid"/>
          </a:ln>
        </p:spPr>
      </p:sp>
      <p:sp>
        <p:nvSpPr>
          <p:cNvPr id="30" name="矩形 29"/>
          <p:cNvSpPr>
            <a:spLocks noGrp="1"/>
          </p:cNvSpPr>
          <p:nvPr/>
        </p:nvSpPr>
        <p:spPr>
          <a:xfrm>
            <a:off x="2800350" y="4845685"/>
            <a:ext cx="4922520" cy="133350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矩形 30"/>
          <p:cNvSpPr>
            <a:spLocks noGrp="1"/>
          </p:cNvSpPr>
          <p:nvPr/>
        </p:nvSpPr>
        <p:spPr>
          <a:xfrm>
            <a:off x="9467850" y="4798060"/>
            <a:ext cx="571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0B2F6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B2F63"/>
                </a:solidFill>
                <a:latin typeface="Aptos"/>
                <a:ea typeface="Aptos"/>
                <a:cs typeface="Aptos"/>
              </a:rPr>
              <a:t>76%</a:t>
            </a:r>
            <a:endParaRPr sz="975" b="1">
              <a:solidFill>
                <a:srgbClr val="0B2F63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1609725" y="5083810"/>
            <a:ext cx="1095375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岗位匹配</a:t>
            </a:r>
            <a:endParaRPr sz="1050" b="0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2800350" y="5131435"/>
            <a:ext cx="6477000" cy="133350"/>
          </a:xfrm>
          <a:prstGeom prst="rect">
            <a:avLst/>
          </a:prstGeom>
          <a:solidFill>
            <a:srgbClr val="E7EEF8"/>
          </a:solidFill>
          <a:ln w="0">
            <a:solidFill>
              <a:srgbClr val="E7EEF8"/>
            </a:solidFill>
            <a:prstDash val="solid"/>
          </a:ln>
        </p:spPr>
      </p:sp>
      <p:sp>
        <p:nvSpPr>
          <p:cNvPr id="34" name="矩形 33"/>
          <p:cNvSpPr>
            <a:spLocks noGrp="1"/>
          </p:cNvSpPr>
          <p:nvPr/>
        </p:nvSpPr>
        <p:spPr>
          <a:xfrm>
            <a:off x="2800350" y="5131435"/>
            <a:ext cx="5958840" cy="133350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矩形 34"/>
          <p:cNvSpPr>
            <a:spLocks noGrp="1"/>
          </p:cNvSpPr>
          <p:nvPr/>
        </p:nvSpPr>
        <p:spPr>
          <a:xfrm>
            <a:off x="9467850" y="5083810"/>
            <a:ext cx="571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0B2F6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B2F63"/>
                </a:solidFill>
                <a:latin typeface="Aptos"/>
                <a:ea typeface="Aptos"/>
                <a:cs typeface="Aptos"/>
              </a:rPr>
              <a:t>92%</a:t>
            </a:r>
            <a:endParaRPr sz="975" b="1">
              <a:solidFill>
                <a:srgbClr val="0B2F63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6" name="矩形 35"/>
          <p:cNvSpPr>
            <a:spLocks noGrp="1"/>
          </p:cNvSpPr>
          <p:nvPr/>
        </p:nvSpPr>
        <p:spPr>
          <a:xfrm>
            <a:off x="1609725" y="5369560"/>
            <a:ext cx="1095375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 推理</a:t>
            </a:r>
            <a:endParaRPr sz="1050" b="0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矩形 36"/>
          <p:cNvSpPr>
            <a:spLocks noGrp="1"/>
          </p:cNvSpPr>
          <p:nvPr/>
        </p:nvSpPr>
        <p:spPr>
          <a:xfrm>
            <a:off x="2800350" y="5417185"/>
            <a:ext cx="6477000" cy="133350"/>
          </a:xfrm>
          <a:prstGeom prst="rect">
            <a:avLst/>
          </a:prstGeom>
          <a:solidFill>
            <a:srgbClr val="E7EEF8"/>
          </a:solidFill>
          <a:ln w="0">
            <a:solidFill>
              <a:srgbClr val="E7EEF8"/>
            </a:solidFill>
            <a:prstDash val="solid"/>
          </a:ln>
        </p:spPr>
      </p:sp>
      <p:sp>
        <p:nvSpPr>
          <p:cNvPr id="38" name="矩形 37"/>
          <p:cNvSpPr>
            <a:spLocks noGrp="1"/>
          </p:cNvSpPr>
          <p:nvPr/>
        </p:nvSpPr>
        <p:spPr>
          <a:xfrm>
            <a:off x="2800350" y="5417185"/>
            <a:ext cx="4404360" cy="133350"/>
          </a:xfrm>
          <a:prstGeom prst="rect">
            <a:avLst/>
          </a:prstGeom>
          <a:solidFill>
            <a:srgbClr val="C65A1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矩形 38"/>
          <p:cNvSpPr>
            <a:spLocks noGrp="1"/>
          </p:cNvSpPr>
          <p:nvPr/>
        </p:nvSpPr>
        <p:spPr>
          <a:xfrm>
            <a:off x="9467850" y="5369560"/>
            <a:ext cx="571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0B2F6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B2F63"/>
                </a:solidFill>
                <a:latin typeface="Aptos"/>
                <a:ea typeface="Aptos"/>
                <a:cs typeface="Aptos"/>
              </a:rPr>
              <a:t>68%</a:t>
            </a:r>
            <a:endParaRPr sz="975" b="1">
              <a:solidFill>
                <a:srgbClr val="0B2F63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0" name="矩形 39"/>
          <p:cNvSpPr>
            <a:spLocks noGrp="1"/>
          </p:cNvSpPr>
          <p:nvPr/>
        </p:nvSpPr>
        <p:spPr>
          <a:xfrm>
            <a:off x="1609725" y="5655310"/>
            <a:ext cx="1095375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导出记录</a:t>
            </a:r>
            <a:endParaRPr sz="1050" b="0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" name="矩形 40"/>
          <p:cNvSpPr>
            <a:spLocks noGrp="1"/>
          </p:cNvSpPr>
          <p:nvPr/>
        </p:nvSpPr>
        <p:spPr>
          <a:xfrm>
            <a:off x="2800350" y="5702935"/>
            <a:ext cx="6477000" cy="133350"/>
          </a:xfrm>
          <a:prstGeom prst="rect">
            <a:avLst/>
          </a:prstGeom>
          <a:solidFill>
            <a:srgbClr val="E7EEF8"/>
          </a:solidFill>
          <a:ln w="0">
            <a:solidFill>
              <a:srgbClr val="E7EEF8"/>
            </a:solidFill>
            <a:prstDash val="solid"/>
          </a:ln>
        </p:spPr>
      </p:sp>
      <p:sp>
        <p:nvSpPr>
          <p:cNvPr id="42" name="矩形 41"/>
          <p:cNvSpPr>
            <a:spLocks noGrp="1"/>
          </p:cNvSpPr>
          <p:nvPr/>
        </p:nvSpPr>
        <p:spPr>
          <a:xfrm>
            <a:off x="2800350" y="5702935"/>
            <a:ext cx="4663440" cy="133350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矩形 42"/>
          <p:cNvSpPr>
            <a:spLocks noGrp="1"/>
          </p:cNvSpPr>
          <p:nvPr/>
        </p:nvSpPr>
        <p:spPr>
          <a:xfrm>
            <a:off x="9467850" y="5655310"/>
            <a:ext cx="571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0B2F6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B2F63"/>
                </a:solidFill>
                <a:latin typeface="Aptos"/>
                <a:ea typeface="Aptos"/>
                <a:cs typeface="Aptos"/>
              </a:rPr>
              <a:t>72%</a:t>
            </a:r>
            <a:endParaRPr sz="975" b="1">
              <a:solidFill>
                <a:srgbClr val="0B2F63"/>
              </a:solidFill>
              <a:latin typeface="Aptos"/>
              <a:ea typeface="Aptos"/>
              <a:cs typeface="Aptos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3" name="矩形 2"/>
          <p:cNvSpPr>
            <a:spLocks noGrp="1"/>
          </p:cNvSpPr>
          <p:nvPr/>
        </p:nvSpPr>
        <p:spPr>
          <a:xfrm>
            <a:off x="910590" y="597535"/>
            <a:ext cx="87630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325" b="1">
                <a:solidFill>
                  <a:srgbClr val="0B2F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sz="2800" b="1">
                <a:solidFill>
                  <a:srgbClr val="0B2F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 </a:t>
            </a:r>
            <a:r>
              <a:rPr sz="2800" b="1">
                <a:solidFill>
                  <a:srgbClr val="0B2F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性能测试</a:t>
            </a:r>
            <a:endParaRPr sz="1800" b="1">
              <a:solidFill>
                <a:srgbClr val="0B2F6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1024255" y="1628775"/>
            <a:ext cx="9506585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ClrTx/>
              <a:buSzTx/>
              <a:buFontTx/>
              <a:defRPr sz="2325" b="1">
                <a:solidFill>
                  <a:srgbClr val="0B2F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>
                <a:sym typeface="+mn-ea"/>
              </a:rPr>
              <a:t>本地匹配把首屏响应稳定控制在秒级以内</a:t>
            </a:r>
            <a:r>
              <a:rPr lang="zh-CN" sz="1800">
                <a:sym typeface="+mn-ea"/>
              </a:rPr>
              <a:t>，</a:t>
            </a:r>
            <a:r>
              <a:rPr sz="1800">
                <a:sym typeface="+mn-ea"/>
              </a:rPr>
              <a:t>确定性计算本地完成，远程 LLM 只在用户主动精排或生成解释时介入</a:t>
            </a:r>
            <a:endParaRPr sz="18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buClrTx/>
              <a:buSzTx/>
              <a:buFontTx/>
              <a:defRPr sz="2325" b="1">
                <a:solidFill>
                  <a:srgbClr val="0B2F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endParaRPr sz="1800" b="1">
              <a:solidFill>
                <a:srgbClr val="0B2F6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buClrTx/>
              <a:buSzTx/>
              <a:buFontTx/>
              <a:defRPr sz="2325" b="1">
                <a:solidFill>
                  <a:srgbClr val="0B2F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endParaRPr sz="18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圆角矩形 5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910590" y="2315210"/>
            <a:ext cx="4476750" cy="11430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1430">
            <a:solidFill>
              <a:srgbClr val="D8E4F4"/>
            </a:solidFill>
            <a:prstDash val="solid"/>
          </a:ln>
        </p:spPr>
      </p:sp>
      <p:sp>
        <p:nvSpPr>
          <p:cNvPr id="7" name="矩形 6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1148715" y="2486660"/>
            <a:ext cx="1809750" cy="4286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2563EB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2563EB"/>
                </a:solidFill>
                <a:latin typeface="Aptos Display"/>
                <a:ea typeface="Aptos Display"/>
                <a:cs typeface="Aptos Display"/>
              </a:rPr>
              <a:t>90.73 ms</a:t>
            </a:r>
            <a:endParaRPr sz="2550" b="1">
              <a:solidFill>
                <a:srgbClr val="2563EB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8" name="矩形 7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3101340" y="2543810"/>
            <a:ext cx="2000250" cy="2571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0B2F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0B2F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本地匹配平均耗时</a:t>
            </a:r>
            <a:endParaRPr sz="1500" b="1">
              <a:solidFill>
                <a:srgbClr val="0B2F6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>
            <p:custDataLst>
              <p:tags r:id="rId5"/>
            </p:custDataLst>
          </p:nvPr>
        </p:nvSpPr>
        <p:spPr>
          <a:xfrm>
            <a:off x="3101340" y="2867660"/>
            <a:ext cx="2000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00" b="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30 次测试</a:t>
            </a:r>
            <a:endParaRPr sz="1400" b="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圆角矩形 9"/>
          <p:cNvSpPr>
            <a:spLocks noGrp="1"/>
          </p:cNvSpPr>
          <p:nvPr>
            <p:custDataLst>
              <p:tags r:id="rId6"/>
            </p:custDataLst>
          </p:nvPr>
        </p:nvSpPr>
        <p:spPr>
          <a:xfrm>
            <a:off x="6054090" y="2315210"/>
            <a:ext cx="4476750" cy="11430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1430">
            <a:solidFill>
              <a:srgbClr val="D8E4F4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>
            <p:custDataLst>
              <p:tags r:id="rId7"/>
            </p:custDataLst>
          </p:nvPr>
        </p:nvSpPr>
        <p:spPr>
          <a:xfrm>
            <a:off x="6292215" y="2486660"/>
            <a:ext cx="1809750" cy="4286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2563EB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2563EB"/>
                </a:solidFill>
                <a:latin typeface="Aptos Display"/>
                <a:ea typeface="Aptos Display"/>
                <a:cs typeface="Aptos Display"/>
              </a:rPr>
              <a:t>91.41 ms</a:t>
            </a:r>
            <a:endParaRPr sz="2550" b="1">
              <a:solidFill>
                <a:srgbClr val="2563EB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12" name="矩形 11"/>
          <p:cNvSpPr>
            <a:spLocks noGrp="1"/>
          </p:cNvSpPr>
          <p:nvPr>
            <p:custDataLst>
              <p:tags r:id="rId8"/>
            </p:custDataLst>
          </p:nvPr>
        </p:nvSpPr>
        <p:spPr>
          <a:xfrm>
            <a:off x="8244840" y="2543810"/>
            <a:ext cx="2000250" cy="2571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0B2F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0B2F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本地匹配 P95</a:t>
            </a:r>
            <a:endParaRPr sz="1500" b="1">
              <a:solidFill>
                <a:srgbClr val="0B2F6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矩形 12"/>
          <p:cNvSpPr>
            <a:spLocks noGrp="1"/>
          </p:cNvSpPr>
          <p:nvPr>
            <p:custDataLst>
              <p:tags r:id="rId9"/>
            </p:custDataLst>
          </p:nvPr>
        </p:nvSpPr>
        <p:spPr>
          <a:xfrm>
            <a:off x="8244840" y="2867660"/>
            <a:ext cx="2000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00" b="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响应稳定</a:t>
            </a:r>
            <a:endParaRPr sz="1400" b="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圆角矩形 13"/>
          <p:cNvSpPr>
            <a:spLocks noGrp="1"/>
          </p:cNvSpPr>
          <p:nvPr>
            <p:custDataLst>
              <p:tags r:id="rId10"/>
            </p:custDataLst>
          </p:nvPr>
        </p:nvSpPr>
        <p:spPr>
          <a:xfrm>
            <a:off x="910590" y="3886835"/>
            <a:ext cx="4476750" cy="11430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1430">
            <a:solidFill>
              <a:srgbClr val="D8E4F4"/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>
            <p:custDataLst>
              <p:tags r:id="rId11"/>
            </p:custDataLst>
          </p:nvPr>
        </p:nvSpPr>
        <p:spPr>
          <a:xfrm>
            <a:off x="1148715" y="4058285"/>
            <a:ext cx="1809750" cy="4286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2563EB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2563EB"/>
                </a:solidFill>
                <a:latin typeface="Aptos Display"/>
                <a:ea typeface="Aptos Display"/>
                <a:cs typeface="Aptos Display"/>
              </a:rPr>
              <a:t>0.368 ms</a:t>
            </a:r>
            <a:endParaRPr sz="2550" b="1">
              <a:solidFill>
                <a:srgbClr val="2563EB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16" name="矩形 15"/>
          <p:cNvSpPr>
            <a:spLocks noGrp="1"/>
          </p:cNvSpPr>
          <p:nvPr>
            <p:custDataLst>
              <p:tags r:id="rId12"/>
            </p:custDataLst>
          </p:nvPr>
        </p:nvSpPr>
        <p:spPr>
          <a:xfrm>
            <a:off x="3101340" y="4115435"/>
            <a:ext cx="2000250" cy="2571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0B2F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0B2F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缓存读取平均耗时</a:t>
            </a:r>
            <a:endParaRPr sz="1500" b="1">
              <a:solidFill>
                <a:srgbClr val="0B2F6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矩形 16"/>
          <p:cNvSpPr>
            <a:spLocks noGrp="1"/>
          </p:cNvSpPr>
          <p:nvPr>
            <p:custDataLst>
              <p:tags r:id="rId13"/>
            </p:custDataLst>
          </p:nvPr>
        </p:nvSpPr>
        <p:spPr>
          <a:xfrm>
            <a:off x="3101340" y="4439285"/>
            <a:ext cx="2000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00" b="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100 次读取</a:t>
            </a:r>
            <a:endParaRPr sz="1400" b="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圆角矩形 17"/>
          <p:cNvSpPr>
            <a:spLocks noGrp="1"/>
          </p:cNvSpPr>
          <p:nvPr>
            <p:custDataLst>
              <p:tags r:id="rId14"/>
            </p:custDataLst>
          </p:nvPr>
        </p:nvSpPr>
        <p:spPr>
          <a:xfrm>
            <a:off x="6054090" y="3886835"/>
            <a:ext cx="4476750" cy="11430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1430">
            <a:solidFill>
              <a:srgbClr val="D8E4F4"/>
            </a:solidFill>
            <a:prstDash val="solid"/>
          </a:ln>
        </p:spPr>
      </p:sp>
      <p:sp>
        <p:nvSpPr>
          <p:cNvPr id="19" name="矩形 18"/>
          <p:cNvSpPr>
            <a:spLocks noGrp="1"/>
          </p:cNvSpPr>
          <p:nvPr>
            <p:custDataLst>
              <p:tags r:id="rId15"/>
            </p:custDataLst>
          </p:nvPr>
        </p:nvSpPr>
        <p:spPr>
          <a:xfrm>
            <a:off x="6292215" y="4058285"/>
            <a:ext cx="1809750" cy="4286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2563EB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2563EB"/>
                </a:solidFill>
                <a:latin typeface="Aptos Display"/>
                <a:ea typeface="Aptos Display"/>
                <a:cs typeface="Aptos Display"/>
              </a:rPr>
              <a:t>11 / 11</a:t>
            </a:r>
            <a:endParaRPr sz="2550" b="1">
              <a:solidFill>
                <a:srgbClr val="2563EB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20" name="矩形 19"/>
          <p:cNvSpPr>
            <a:spLocks noGrp="1"/>
          </p:cNvSpPr>
          <p:nvPr>
            <p:custDataLst>
              <p:tags r:id="rId16"/>
            </p:custDataLst>
          </p:nvPr>
        </p:nvSpPr>
        <p:spPr>
          <a:xfrm>
            <a:off x="8244840" y="4115435"/>
            <a:ext cx="2000250" cy="2571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0B2F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0B2F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自动化测试通过</a:t>
            </a:r>
            <a:endParaRPr sz="1500" b="1">
              <a:solidFill>
                <a:srgbClr val="0B2F6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矩形 20"/>
          <p:cNvSpPr>
            <a:spLocks noGrp="1"/>
          </p:cNvSpPr>
          <p:nvPr>
            <p:custDataLst>
              <p:tags r:id="rId17"/>
            </p:custDataLst>
          </p:nvPr>
        </p:nvSpPr>
        <p:spPr>
          <a:xfrm>
            <a:off x="8244840" y="4439285"/>
            <a:ext cx="2000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00" b="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核心路径可回归</a:t>
            </a:r>
            <a:endParaRPr sz="1400" b="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1571625" y="5381625"/>
            <a:ext cx="8191500" cy="476250"/>
          </a:xfrm>
          <a:prstGeom prst="rect">
            <a:avLst/>
          </a:prstGeom>
          <a:solidFill>
            <a:srgbClr val="E9F8F0"/>
          </a:solidFill>
          <a:ln w="9525">
            <a:solidFill>
              <a:srgbClr val="BFE8D7"/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800" b="1">
                <a:solidFill>
                  <a:srgbClr val="0B2F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0B2F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确定性任务本地执行，大模型只在需要语义增强时介入。</a:t>
            </a:r>
            <a:endParaRPr sz="1800" b="1">
              <a:solidFill>
                <a:srgbClr val="0B2F6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3" name="AutoShape 3"/>
          <p:cNvSpPr>
            <a:spLocks noGrp="1"/>
          </p:cNvSpPr>
          <p:nvPr/>
        </p:nvSpPr>
        <p:spPr>
          <a:xfrm>
            <a:off x="50468" y="1919216"/>
            <a:ext cx="12091063" cy="1535373"/>
          </a:xfrm>
          <a:prstGeom prst="rect">
            <a:avLst/>
          </a:prstGeom>
          <a:noFill/>
          <a:ln w="12502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indent="0" algn="ctr">
              <a:lnSpc>
                <a:spcPct val="125000"/>
              </a:lnSpc>
              <a:buNone/>
            </a:pPr>
            <a:endParaRPr lang="en-US" sz="9670" b="1" i="0" u="none">
              <a:solidFill>
                <a:srgbClr val="1038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AutoShape 4"/>
          <p:cNvSpPr>
            <a:spLocks noGrp="1"/>
          </p:cNvSpPr>
          <p:nvPr/>
        </p:nvSpPr>
        <p:spPr>
          <a:xfrm>
            <a:off x="50468" y="3710485"/>
            <a:ext cx="12091063" cy="1023582"/>
          </a:xfrm>
          <a:prstGeom prst="rect">
            <a:avLst/>
          </a:prstGeom>
          <a:noFill/>
          <a:ln w="12502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algn="ctr">
              <a:defRPr sz="1500" b="1">
                <a:solidFill>
                  <a:srgbClr val="0B2F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endParaRPr lang="zh-CN" sz="4835" b="1" i="0" u="none">
              <a:solidFill>
                <a:srgbClr val="1F293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4171315" y="715645"/>
            <a:ext cx="609600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sz="2800" b="1">
                <a:solidFill>
                  <a:srgbClr val="0B2F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02 </a:t>
            </a:r>
            <a:r>
              <a:rPr lang="zh-CN" sz="2800" b="1">
                <a:solidFill>
                  <a:srgbClr val="0B2F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不同简历四维评分对比（</a:t>
            </a:r>
            <a:r>
              <a:rPr lang="zh-CN" sz="2800" b="1">
                <a:solidFill>
                  <a:srgbClr val="0B2F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一）</a:t>
            </a:r>
            <a:endParaRPr lang="zh-CN" sz="2800" b="1">
              <a:solidFill>
                <a:srgbClr val="0B2F6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pic>
        <p:nvPicPr>
          <p:cNvPr id="5" name="图片 4" descr="截屏2026-06-15 17.10.0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225" y="1237615"/>
            <a:ext cx="4430395" cy="3507105"/>
          </a:xfrm>
          <a:prstGeom prst="rect">
            <a:avLst/>
          </a:prstGeom>
        </p:spPr>
      </p:pic>
      <p:pic>
        <p:nvPicPr>
          <p:cNvPr id="6" name="图片 5" descr="截屏2026-06-15 17.12.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6770" y="1237615"/>
            <a:ext cx="3989705" cy="3251835"/>
          </a:xfrm>
          <a:prstGeom prst="rect">
            <a:avLst/>
          </a:prstGeom>
        </p:spPr>
      </p:pic>
      <p:pic>
        <p:nvPicPr>
          <p:cNvPr id="7" name="图片 6" descr="截屏2026-06-15 17.12.4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69325" y="1237615"/>
            <a:ext cx="3622675" cy="2959100"/>
          </a:xfrm>
          <a:prstGeom prst="rect">
            <a:avLst/>
          </a:prstGeom>
        </p:spPr>
      </p:pic>
      <p:pic>
        <p:nvPicPr>
          <p:cNvPr id="8" name="图片 7" descr="截屏2026-06-15 17.12.5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26305" y="4528820"/>
            <a:ext cx="2740025" cy="2212975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3" name="AutoShape 3"/>
          <p:cNvSpPr>
            <a:spLocks noGrp="1"/>
          </p:cNvSpPr>
          <p:nvPr/>
        </p:nvSpPr>
        <p:spPr>
          <a:xfrm>
            <a:off x="50468" y="1919216"/>
            <a:ext cx="12091063" cy="1535373"/>
          </a:xfrm>
          <a:prstGeom prst="rect">
            <a:avLst/>
          </a:prstGeom>
          <a:noFill/>
          <a:ln w="12502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indent="0" algn="ctr">
              <a:lnSpc>
                <a:spcPct val="125000"/>
              </a:lnSpc>
              <a:buNone/>
            </a:pPr>
            <a:endParaRPr lang="en-US" sz="9670" b="1" i="0" u="none">
              <a:solidFill>
                <a:srgbClr val="10387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AutoShape 4"/>
          <p:cNvSpPr>
            <a:spLocks noGrp="1"/>
          </p:cNvSpPr>
          <p:nvPr/>
        </p:nvSpPr>
        <p:spPr>
          <a:xfrm>
            <a:off x="50468" y="3710485"/>
            <a:ext cx="12091063" cy="1023582"/>
          </a:xfrm>
          <a:prstGeom prst="rect">
            <a:avLst/>
          </a:prstGeom>
          <a:noFill/>
          <a:ln w="12502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algn="ctr">
              <a:defRPr sz="1500" b="1">
                <a:solidFill>
                  <a:srgbClr val="0B2F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endParaRPr lang="zh-CN" sz="4835" b="1" i="0" u="none">
              <a:solidFill>
                <a:srgbClr val="1F293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4171315" y="715645"/>
            <a:ext cx="609600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sz="2800" b="1">
                <a:solidFill>
                  <a:srgbClr val="0B2F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02 </a:t>
            </a:r>
            <a:r>
              <a:rPr lang="zh-CN" sz="2800" b="1">
                <a:solidFill>
                  <a:srgbClr val="0B2F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不同简历四维评分对比（</a:t>
            </a:r>
            <a:r>
              <a:rPr lang="zh-CN" sz="2800" b="1">
                <a:solidFill>
                  <a:srgbClr val="0B2F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二）</a:t>
            </a:r>
            <a:endParaRPr lang="zh-CN" sz="2800" b="1">
              <a:solidFill>
                <a:srgbClr val="0B2F6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pic>
        <p:nvPicPr>
          <p:cNvPr id="9" name="图片 8" descr="截屏2026-06-15 17.15.5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2285" y="1471295"/>
            <a:ext cx="4015105" cy="5323205"/>
          </a:xfrm>
          <a:prstGeom prst="rect">
            <a:avLst/>
          </a:prstGeom>
        </p:spPr>
      </p:pic>
      <p:pic>
        <p:nvPicPr>
          <p:cNvPr id="10" name="图片 9" descr="截屏2026-06-15 17.17.0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35370" y="1471295"/>
            <a:ext cx="4131945" cy="5196205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2078990" y="1132840"/>
            <a:ext cx="3111500" cy="3111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左边同学简历的</a:t>
            </a:r>
            <a:r>
              <a:rPr lang="zh-CN" altLang="en-US"/>
              <a:t>雷达图</a:t>
            </a:r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6714490" y="1132840"/>
            <a:ext cx="263969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右边同学简历的</a:t>
            </a:r>
            <a:r>
              <a:rPr lang="zh-CN" altLang="en-US"/>
              <a:t>雷达图</a:t>
            </a:r>
            <a:endParaRPr lang="zh-CN" alt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3" name="矩形 2"/>
          <p:cNvSpPr>
            <a:spLocks noGrp="1"/>
          </p:cNvSpPr>
          <p:nvPr/>
        </p:nvSpPr>
        <p:spPr>
          <a:xfrm>
            <a:off x="904875" y="511810"/>
            <a:ext cx="9563735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325" b="1">
                <a:solidFill>
                  <a:srgbClr val="0B2F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sz="2800" b="1">
                <a:solidFill>
                  <a:srgbClr val="0B2F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 </a:t>
            </a:r>
            <a:r>
              <a:rPr lang="zh-CN" altLang="en-US" sz="2800" b="1">
                <a:solidFill>
                  <a:srgbClr val="0B2F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</a:t>
            </a:r>
            <a:r>
              <a:rPr sz="2800" b="1">
                <a:solidFill>
                  <a:srgbClr val="0B2F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传统方案</a:t>
            </a:r>
            <a:r>
              <a:rPr lang="zh-CN" sz="2800" b="1">
                <a:solidFill>
                  <a:srgbClr val="0B2F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对比</a:t>
            </a:r>
            <a:endParaRPr lang="zh-CN" sz="2800" b="1">
              <a:solidFill>
                <a:srgbClr val="0B2F6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圆角矩形 5"/>
          <p:cNvSpPr>
            <a:spLocks noGrp="1"/>
          </p:cNvSpPr>
          <p:nvPr/>
        </p:nvSpPr>
        <p:spPr>
          <a:xfrm>
            <a:off x="904875" y="2066925"/>
            <a:ext cx="10334625" cy="4000500"/>
          </a:xfrm>
          <a:prstGeom prst="roundRect">
            <a:avLst>
              <a:gd name="adj" fmla="val 1905"/>
            </a:avLst>
          </a:prstGeom>
          <a:solidFill>
            <a:srgbClr val="FFFFFF"/>
          </a:solidFill>
          <a:ln w="11430">
            <a:solidFill>
              <a:srgbClr val="D8E4F4"/>
            </a:solidFill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1143000" y="2276475"/>
            <a:ext cx="18097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0B2F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b="1">
                <a:solidFill>
                  <a:srgbClr val="0B2F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维度</a:t>
            </a:r>
            <a:endParaRPr sz="1600" b="1">
              <a:solidFill>
                <a:srgbClr val="0B2F6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3095625" y="2276475"/>
            <a:ext cx="40957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ClrTx/>
              <a:buSzTx/>
              <a:buFontTx/>
              <a:defRPr sz="1350" b="1">
                <a:solidFill>
                  <a:srgbClr val="0B2F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传统方案</a:t>
            </a:r>
            <a:endParaRPr sz="16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7143750" y="2276475"/>
            <a:ext cx="40957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ClrTx/>
              <a:buSzTx/>
              <a:buFontTx/>
              <a:defRPr sz="1350" b="1">
                <a:solidFill>
                  <a:srgbClr val="0B2F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</a:t>
            </a:r>
            <a:r>
              <a:rPr sz="1600" b="1">
                <a:solidFill>
                  <a:srgbClr val="0B2F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系统</a:t>
            </a:r>
            <a:endParaRPr sz="16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1095375" y="2657475"/>
            <a:ext cx="9953625" cy="9525"/>
          </a:xfrm>
          <a:prstGeom prst="rect">
            <a:avLst/>
          </a:prstGeom>
          <a:solidFill>
            <a:srgbClr val="E4ECF7"/>
          </a:solidFill>
          <a:ln w="0">
            <a:solidFill>
              <a:srgbClr val="E4ECF7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1143000" y="2752725"/>
            <a:ext cx="1619250" cy="3333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65" b="1">
                <a:solidFill>
                  <a:srgbClr val="0B2F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b="1">
                <a:solidFill>
                  <a:srgbClr val="0B2F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评价依据</a:t>
            </a:r>
            <a:endParaRPr sz="1600" b="1">
              <a:solidFill>
                <a:srgbClr val="0B2F6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矩形 1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3095625" y="2752725"/>
            <a:ext cx="34290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90" b="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b="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人工经验或简历文本</a:t>
            </a:r>
            <a:endParaRPr sz="1600" b="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7143750" y="2752725"/>
            <a:ext cx="35242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9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四维能力画像 + 证据矩阵</a:t>
            </a:r>
            <a:endParaRPr sz="1600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1095375" y="3267075"/>
            <a:ext cx="9953625" cy="9525"/>
          </a:xfrm>
          <a:prstGeom prst="rect">
            <a:avLst/>
          </a:prstGeom>
          <a:solidFill>
            <a:srgbClr val="E4ECF7"/>
          </a:solidFill>
          <a:ln w="0">
            <a:solidFill>
              <a:srgbClr val="E4ECF7"/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1143000" y="3362325"/>
            <a:ext cx="1619250" cy="3333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ClrTx/>
              <a:buSzTx/>
              <a:buFontTx/>
              <a:defRPr sz="1165" b="1">
                <a:solidFill>
                  <a:srgbClr val="0B2F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b="1">
                <a:solidFill>
                  <a:srgbClr val="0B2F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岗位推荐</a:t>
            </a:r>
            <a:endParaRPr sz="1600" b="1">
              <a:solidFill>
                <a:srgbClr val="0B2F6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矩形 15"/>
          <p:cNvSpPr>
            <a:spLocks noGrp="1"/>
          </p:cNvSpPr>
          <p:nvPr>
            <p:custDataLst>
              <p:tags r:id="rId5"/>
            </p:custDataLst>
          </p:nvPr>
        </p:nvSpPr>
        <p:spPr>
          <a:xfrm>
            <a:off x="3095625" y="3362325"/>
            <a:ext cx="34290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ClrTx/>
              <a:buSzTx/>
              <a:buFontTx/>
              <a:defRPr sz="1090" b="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b="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关键词或岗位名称相似</a:t>
            </a:r>
            <a:endParaRPr sz="1600" b="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7143750" y="3362325"/>
            <a:ext cx="35242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ClrTx/>
              <a:buSzTx/>
              <a:buFontTx/>
              <a:defRPr sz="109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本地召回 + 双向评分 + 多样化控制</a:t>
            </a:r>
            <a:endParaRPr sz="1600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1095375" y="3876675"/>
            <a:ext cx="9953625" cy="9525"/>
          </a:xfrm>
          <a:prstGeom prst="rect">
            <a:avLst/>
          </a:prstGeom>
          <a:solidFill>
            <a:srgbClr val="E4ECF7"/>
          </a:solidFill>
          <a:ln w="0">
            <a:solidFill>
              <a:srgbClr val="E4ECF7"/>
            </a:solidFill>
            <a:prstDash val="solid"/>
          </a:ln>
        </p:spPr>
      </p:sp>
      <p:sp>
        <p:nvSpPr>
          <p:cNvPr id="19" name="矩形 18"/>
          <p:cNvSpPr>
            <a:spLocks noGrp="1"/>
          </p:cNvSpPr>
          <p:nvPr>
            <p:custDataLst>
              <p:tags r:id="rId6"/>
            </p:custDataLst>
          </p:nvPr>
        </p:nvSpPr>
        <p:spPr>
          <a:xfrm>
            <a:off x="1143000" y="3971925"/>
            <a:ext cx="1619250" cy="3333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ClrTx/>
              <a:buSzTx/>
              <a:buFontTx/>
              <a:defRPr sz="1165" b="1">
                <a:solidFill>
                  <a:srgbClr val="0B2F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b="1">
                <a:solidFill>
                  <a:srgbClr val="0B2F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大模型使用</a:t>
            </a:r>
            <a:endParaRPr sz="1600" b="1">
              <a:solidFill>
                <a:srgbClr val="0B2F6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矩形 19"/>
          <p:cNvSpPr>
            <a:spLocks noGrp="1"/>
          </p:cNvSpPr>
          <p:nvPr>
            <p:custDataLst>
              <p:tags r:id="rId7"/>
            </p:custDataLst>
          </p:nvPr>
        </p:nvSpPr>
        <p:spPr>
          <a:xfrm>
            <a:off x="3095625" y="3971925"/>
            <a:ext cx="34290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ClrTx/>
              <a:buSzTx/>
              <a:buFontTx/>
              <a:defRPr sz="1090" b="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b="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直接生成结论</a:t>
            </a:r>
            <a:endParaRPr sz="1600" b="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7143750" y="3971925"/>
            <a:ext cx="35242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ClrTx/>
              <a:buSzTx/>
              <a:buFontTx/>
              <a:defRPr sz="109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工具先行，LLM 按需推理和解释</a:t>
            </a:r>
            <a:endParaRPr sz="1600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1095375" y="4486275"/>
            <a:ext cx="9953625" cy="9525"/>
          </a:xfrm>
          <a:prstGeom prst="rect">
            <a:avLst/>
          </a:prstGeom>
          <a:solidFill>
            <a:srgbClr val="E4ECF7"/>
          </a:solidFill>
          <a:ln w="0">
            <a:solidFill>
              <a:srgbClr val="E4ECF7"/>
            </a:solidFill>
            <a:prstDash val="solid"/>
          </a:ln>
        </p:spPr>
      </p:sp>
      <p:sp>
        <p:nvSpPr>
          <p:cNvPr id="23" name="矩形 22"/>
          <p:cNvSpPr>
            <a:spLocks noGrp="1"/>
          </p:cNvSpPr>
          <p:nvPr>
            <p:custDataLst>
              <p:tags r:id="rId8"/>
            </p:custDataLst>
          </p:nvPr>
        </p:nvSpPr>
        <p:spPr>
          <a:xfrm>
            <a:off x="1143000" y="4581525"/>
            <a:ext cx="1619250" cy="3333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ClrTx/>
              <a:buSzTx/>
              <a:buFontTx/>
              <a:defRPr sz="1165" b="1">
                <a:solidFill>
                  <a:srgbClr val="0B2F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b="1">
                <a:solidFill>
                  <a:srgbClr val="0B2F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结果复用</a:t>
            </a:r>
            <a:endParaRPr sz="1600" b="1">
              <a:solidFill>
                <a:srgbClr val="0B2F6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矩形 23"/>
          <p:cNvSpPr>
            <a:spLocks noGrp="1"/>
          </p:cNvSpPr>
          <p:nvPr>
            <p:custDataLst>
              <p:tags r:id="rId9"/>
            </p:custDataLst>
          </p:nvPr>
        </p:nvSpPr>
        <p:spPr>
          <a:xfrm>
            <a:off x="3095625" y="4581525"/>
            <a:ext cx="34290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ClrTx/>
              <a:buSzTx/>
              <a:buFontTx/>
              <a:defRPr sz="1090" b="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b="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页面刷新后重新生成</a:t>
            </a:r>
            <a:endParaRPr sz="1600" b="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7143750" y="4581525"/>
            <a:ext cx="35242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ClrTx/>
              <a:buSzTx/>
              <a:buFontTx/>
              <a:defRPr sz="109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MySQL 持久化缓存与版本控制</a:t>
            </a:r>
            <a:endParaRPr sz="1600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1095375" y="5095875"/>
            <a:ext cx="9953625" cy="9525"/>
          </a:xfrm>
          <a:prstGeom prst="rect">
            <a:avLst/>
          </a:prstGeom>
          <a:solidFill>
            <a:srgbClr val="E4ECF7"/>
          </a:solidFill>
          <a:ln w="0">
            <a:solidFill>
              <a:srgbClr val="E4ECF7"/>
            </a:solidFill>
            <a:prstDash val="solid"/>
          </a:ln>
        </p:spPr>
      </p:sp>
      <p:sp>
        <p:nvSpPr>
          <p:cNvPr id="27" name="矩形 26"/>
          <p:cNvSpPr>
            <a:spLocks noGrp="1"/>
          </p:cNvSpPr>
          <p:nvPr>
            <p:custDataLst>
              <p:tags r:id="rId10"/>
            </p:custDataLst>
          </p:nvPr>
        </p:nvSpPr>
        <p:spPr>
          <a:xfrm>
            <a:off x="1143000" y="5191125"/>
            <a:ext cx="1619250" cy="3333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ClrTx/>
              <a:buSzTx/>
              <a:buFontTx/>
              <a:defRPr sz="1165" b="1">
                <a:solidFill>
                  <a:srgbClr val="0B2F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b="1">
                <a:solidFill>
                  <a:srgbClr val="0B2F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成长路径</a:t>
            </a:r>
            <a:endParaRPr sz="1600" b="1">
              <a:solidFill>
                <a:srgbClr val="0B2F6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矩形 27"/>
          <p:cNvSpPr>
            <a:spLocks noGrp="1"/>
          </p:cNvSpPr>
          <p:nvPr>
            <p:custDataLst>
              <p:tags r:id="rId11"/>
            </p:custDataLst>
          </p:nvPr>
        </p:nvSpPr>
        <p:spPr>
          <a:xfrm>
            <a:off x="3095625" y="5191125"/>
            <a:ext cx="34290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ClrTx/>
              <a:buSzTx/>
              <a:buFontTx/>
              <a:defRPr sz="1090" b="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b="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泛泛建议</a:t>
            </a:r>
            <a:endParaRPr sz="1600" b="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7143750" y="5191125"/>
            <a:ext cx="35242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ClrTx/>
              <a:buSzTx/>
              <a:buFontTx/>
              <a:defRPr sz="109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围绕 TOP1 岗位生成阶段化行动方案</a:t>
            </a:r>
            <a:endParaRPr sz="1600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3" name="矩形 2"/>
          <p:cNvSpPr>
            <a:spLocks noGrp="1"/>
          </p:cNvSpPr>
          <p:nvPr/>
        </p:nvSpPr>
        <p:spPr>
          <a:xfrm>
            <a:off x="1315085" y="695325"/>
            <a:ext cx="87630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325" b="1">
                <a:solidFill>
                  <a:srgbClr val="0B2F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800" b="1">
                <a:solidFill>
                  <a:srgbClr val="0B2F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总结与展望</a:t>
            </a:r>
            <a:endParaRPr sz="2800" b="1">
              <a:solidFill>
                <a:srgbClr val="0B2F6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85800" y="1057275"/>
            <a:ext cx="8572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ClrTx/>
              <a:buSzTx/>
              <a:buFontTx/>
              <a:defRPr sz="2325" b="1">
                <a:solidFill>
                  <a:srgbClr val="0B2F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endParaRPr sz="20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圆角矩形 5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904875" y="1666875"/>
            <a:ext cx="4905375" cy="342900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1430">
            <a:solidFill>
              <a:srgbClr val="D8E4F4"/>
            </a:solidFill>
            <a:prstDash val="solid"/>
          </a:ln>
        </p:spPr>
      </p:sp>
      <p:sp>
        <p:nvSpPr>
          <p:cNvPr id="7" name="圆角矩形 6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6381750" y="1666875"/>
            <a:ext cx="4905375" cy="342900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1430">
            <a:solidFill>
              <a:srgbClr val="D8E4F4"/>
            </a:solidFill>
            <a:prstDash val="solid"/>
          </a:ln>
        </p:spPr>
      </p:sp>
      <p:sp>
        <p:nvSpPr>
          <p:cNvPr id="8" name="矩形 7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1190625" y="1952625"/>
            <a:ext cx="17145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已完成</a:t>
            </a:r>
            <a:endParaRPr sz="1800" b="1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>
            <p:custDataLst>
              <p:tags r:id="rId5"/>
            </p:custDataLst>
          </p:nvPr>
        </p:nvSpPr>
        <p:spPr>
          <a:xfrm>
            <a:off x="6667500" y="1952625"/>
            <a:ext cx="17145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0F9F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0F9F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后续规划</a:t>
            </a:r>
            <a:endParaRPr sz="1800" b="1">
              <a:solidFill>
                <a:srgbClr val="0F9F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矩形 9"/>
          <p:cNvSpPr>
            <a:spLocks noGrp="1"/>
          </p:cNvSpPr>
          <p:nvPr>
            <p:custDataLst>
              <p:tags r:id="rId6"/>
            </p:custDataLst>
          </p:nvPr>
        </p:nvSpPr>
        <p:spPr>
          <a:xfrm>
            <a:off x="1190625" y="2428875"/>
            <a:ext cx="4333875" cy="2095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95250" tIns="76200" rIns="76200" bIns="76200" anchor="t"/>
          <a:lstStyle/>
          <a:p>
            <a:pPr algn="l">
              <a:defRPr sz="1125" b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b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完成四维能力画像、岗位匹配、课程映射、简历优化、模拟面试和就业指导。</a:t>
            </a:r>
            <a:endParaRPr sz="1600" b="0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125" b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b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完成 MySQL 持久化、缓存复用、JSON / PDF 导出和自动化测试验证。</a:t>
            </a:r>
            <a:endParaRPr sz="1600" b="0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125" b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b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形成从学生材料到岗位差距再到成长路径的完整智能体闭环。</a:t>
            </a:r>
            <a:endParaRPr sz="1600" b="0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矩形 10"/>
          <p:cNvSpPr>
            <a:spLocks noGrp="1"/>
          </p:cNvSpPr>
          <p:nvPr>
            <p:custDataLst>
              <p:tags r:id="rId7"/>
            </p:custDataLst>
          </p:nvPr>
        </p:nvSpPr>
        <p:spPr>
          <a:xfrm>
            <a:off x="6667500" y="2428875"/>
            <a:ext cx="4333875" cy="2095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95250" tIns="76200" rIns="76200" bIns="76200" anchor="t"/>
          <a:lstStyle/>
          <a:p>
            <a:pPr algn="l">
              <a:defRPr sz="1125" b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b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接入真实培养计划和课程大纲，提升课程-能力映射准确度。</a:t>
            </a:r>
            <a:endParaRPr sz="1600" b="0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125" b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b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完善 AI 推理结果的人工审核台账，形成可发布的课程能力库。</a:t>
            </a:r>
            <a:endParaRPr sz="1600" b="0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125" b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b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扩大岗位数据覆盖行业和地域，增强岗位族多样化与趋势分析能力。</a:t>
            </a:r>
            <a:endParaRPr sz="1600" b="0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1809750" y="5572125"/>
            <a:ext cx="8572500" cy="428625"/>
          </a:xfrm>
          <a:prstGeom prst="rect">
            <a:avLst/>
          </a:prstGeom>
          <a:solidFill>
            <a:srgbClr val="EAF3FF"/>
          </a:solidFill>
          <a:ln w="9525">
            <a:solidFill>
              <a:srgbClr val="BFD3F2"/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800" b="1">
                <a:solidFill>
                  <a:srgbClr val="0B2F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0B2F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最终目标：把一次性就业推荐升级为持续的学生成长诊断服务。</a:t>
            </a:r>
            <a:endParaRPr sz="1800" b="1">
              <a:solidFill>
                <a:srgbClr val="0B2F6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3" name="AutoShape 3"/>
          <p:cNvSpPr>
            <a:spLocks noGrp="1"/>
          </p:cNvSpPr>
          <p:nvPr/>
        </p:nvSpPr>
        <p:spPr>
          <a:xfrm>
            <a:off x="345108" y="1765243"/>
            <a:ext cx="12091063" cy="1151530"/>
          </a:xfrm>
          <a:prstGeom prst="rect">
            <a:avLst/>
          </a:prstGeom>
          <a:noFill/>
          <a:ln w="12502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indent="0" algn="ctr">
              <a:lnSpc>
                <a:spcPct val="125000"/>
              </a:lnSpc>
              <a:buNone/>
            </a:pPr>
            <a:r>
              <a:rPr sz="6450" b="1" i="0" u="non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感谢聆听</a:t>
            </a:r>
            <a:endParaRPr sz="6450" b="1" i="0" u="none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AutoShape 4"/>
          <p:cNvSpPr>
            <a:spLocks noGrp="1"/>
          </p:cNvSpPr>
          <p:nvPr/>
        </p:nvSpPr>
        <p:spPr>
          <a:xfrm>
            <a:off x="50468" y="2942799"/>
            <a:ext cx="12091063" cy="895634"/>
          </a:xfrm>
          <a:prstGeom prst="rect">
            <a:avLst/>
          </a:prstGeom>
          <a:noFill/>
          <a:ln w="12502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indent="0" algn="ctr">
              <a:lnSpc>
                <a:spcPct val="125000"/>
              </a:lnSpc>
              <a:buNone/>
            </a:pPr>
            <a:endParaRPr sz="1815"/>
          </a:p>
        </p:txBody>
      </p:sp>
      <p:sp>
        <p:nvSpPr>
          <p:cNvPr id="6" name="AutoShape 6"/>
          <p:cNvSpPr>
            <a:spLocks noGrp="1"/>
          </p:cNvSpPr>
          <p:nvPr/>
        </p:nvSpPr>
        <p:spPr>
          <a:xfrm>
            <a:off x="344748" y="4388608"/>
            <a:ext cx="12091063" cy="1791269"/>
          </a:xfrm>
          <a:prstGeom prst="rect">
            <a:avLst/>
          </a:prstGeom>
          <a:noFill/>
          <a:ln w="12502" cmpd="sng">
            <a:noFill/>
            <a:prstDash val="solid"/>
          </a:ln>
        </p:spPr>
        <p:txBody>
          <a:bodyPr vert="horz" wrap="square" lIns="0" tIns="0" rIns="0" bIns="0" anchor="ctr"/>
          <a:lstStyle/>
          <a:p>
            <a:pPr indent="0" algn="ctr">
              <a:lnSpc>
                <a:spcPct val="125000"/>
              </a:lnSpc>
              <a:buNone/>
            </a:pPr>
            <a:r>
              <a:rPr sz="1610" b="0" i="0" u="non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队伍名称：智聘未来</a:t>
            </a:r>
            <a:endParaRPr sz="1610" b="0" i="0" u="none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indent="0" algn="ctr">
              <a:lnSpc>
                <a:spcPct val="125000"/>
              </a:lnSpc>
              <a:buNone/>
            </a:pPr>
            <a:endParaRPr sz="1815"/>
          </a:p>
          <a:p>
            <a:pPr indent="0" algn="ctr">
              <a:lnSpc>
                <a:spcPct val="125000"/>
              </a:lnSpc>
              <a:buNone/>
            </a:pPr>
            <a:r>
              <a:rPr sz="1610" b="0" i="0" u="non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参赛队员：黎盛 · 侯程予 · 冯靖原</a:t>
            </a:r>
            <a:endParaRPr sz="1610" b="0" i="0" u="none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8" name="文本框 7"/>
          <p:cNvSpPr>
            <a:spLocks noGrp="1"/>
          </p:cNvSpPr>
          <p:nvPr/>
        </p:nvSpPr>
        <p:spPr>
          <a:xfrm>
            <a:off x="3834523" y="3358629"/>
            <a:ext cx="5201076" cy="5880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sz="3225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敬请各位专家老师批评指正</a:t>
            </a:r>
            <a:endParaRPr sz="3225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309,&quot;left&quot;:72,&quot;top&quot;:126,&quot;width&quot;:703.5}"/>
</p:tagLst>
</file>

<file path=ppt/tags/tag2.xml><?xml version="1.0" encoding="utf-8"?>
<p:tagLst xmlns:p="http://schemas.openxmlformats.org/presentationml/2006/main">
  <p:tag name="KSO_WM_DIAGRAM_VIRTUALLY_FRAME" val="{&quot;height&quot;:309,&quot;left&quot;:72,&quot;top&quot;:126,&quot;width&quot;:703.5}"/>
</p:tagLst>
</file>

<file path=ppt/tags/tag3.xml><?xml version="1.0" encoding="utf-8"?>
<p:tagLst xmlns:p="http://schemas.openxmlformats.org/presentationml/2006/main">
  <p:tag name="KSO_WM_DIAGRAM_VIRTUALLY_FRAME" val="{&quot;height&quot;:309,&quot;left&quot;:72,&quot;top&quot;:126,&quot;width&quot;:703.5}"/>
</p:tagLst>
</file>

<file path=ppt/tags/tag4.xml><?xml version="1.0" encoding="utf-8"?>
<p:tagLst xmlns:p="http://schemas.openxmlformats.org/presentationml/2006/main">
  <p:tag name="KSO_WM_DIAGRAM_VIRTUALLY_FRAME" val="{&quot;height&quot;:309,&quot;left&quot;:72,&quot;top&quot;:126,&quot;width&quot;:703.5}"/>
</p:tagLst>
</file>

<file path=ppt/tags/tag5.xml><?xml version="1.0" encoding="utf-8"?>
<p:tagLst xmlns:p="http://schemas.openxmlformats.org/presentationml/2006/main">
  <p:tag name="KSO_WM_DIAGRAM_VIRTUALLY_FRAME" val="{&quot;height&quot;:309,&quot;left&quot;:72,&quot;top&quot;:126,&quot;width&quot;:703.5}"/>
</p:tagLst>
</file>

<file path=ppt/tags/tag6.xml><?xml version="1.0" encoding="utf-8"?>
<p:tagLst xmlns:p="http://schemas.openxmlformats.org/presentationml/2006/main">
  <p:tag name="KSO_WM_DIAGRAM_VIRTUALLY_FRAME" val="{&quot;height&quot;:309,&quot;left&quot;:72,&quot;top&quot;:126,&quot;width&quot;:703.5}"/>
</p:tagLst>
</file>

<file path=ppt/tags/tag7.xml><?xml version="1.0" encoding="utf-8"?>
<p:tagLst xmlns:p="http://schemas.openxmlformats.org/presentationml/2006/main">
  <p:tag name="KSO_WM_DIAGRAM_VIRTUALLY_FRAME" val="{&quot;height&quot;:309,&quot;left&quot;:72,&quot;top&quot;:126,&quot;width&quot;:703.5}"/>
</p:tagLst>
</file>

<file path=ppt/tags/tag8.xml><?xml version="1.0" encoding="utf-8"?>
<p:tagLst xmlns:p="http://schemas.openxmlformats.org/presentationml/2006/main">
  <p:tag name="KSO_WM_DIAGRAM_VIRTUALLY_FRAME" val="{&quot;height&quot;:309,&quot;left&quot;:72,&quot;top&quot;:126,&quot;width&quot;:703.5}"/>
</p:tagLst>
</file>

<file path=ppt/tags/tag9.xml><?xml version="1.0" encoding="utf-8"?>
<p:tagLst xmlns:p="http://schemas.openxmlformats.org/presentationml/2006/main">
  <p:tag name="KSO_WM_DIAGRAM_VIRTUALLY_FRAME" val="{&quot;height&quot;:309,&quot;left&quot;:72,&quot;top&quot;:126,&quot;width&quot;:703.5}"/>
</p:tagLst>
</file>

<file path=ppt/tags/tag10.xml><?xml version="1.0" encoding="utf-8"?>
<p:tagLst xmlns:p="http://schemas.openxmlformats.org/presentationml/2006/main">
  <p:tag name="KSO_WM_DIAGRAM_VIRTUALLY_FRAME" val="{&quot;height&quot;:309,&quot;left&quot;:72,&quot;top&quot;:126,&quot;width&quot;:703.5}"/>
</p:tagLst>
</file>

<file path=ppt/tags/tag11.xml><?xml version="1.0" encoding="utf-8"?>
<p:tagLst xmlns:p="http://schemas.openxmlformats.org/presentationml/2006/main">
  <p:tag name="KSO_WM_DIAGRAM_VIRTUALLY_FRAME" val="{&quot;height&quot;:309,&quot;left&quot;:72,&quot;top&quot;:126,&quot;width&quot;:703.5}"/>
</p:tagLst>
</file>

<file path=ppt/tags/tag12.xml><?xml version="1.0" encoding="utf-8"?>
<p:tagLst xmlns:p="http://schemas.openxmlformats.org/presentationml/2006/main">
  <p:tag name="KSO_WM_DIAGRAM_VIRTUALLY_FRAME" val="{&quot;height&quot;:309,&quot;left&quot;:72,&quot;top&quot;:126,&quot;width&quot;:703.5}"/>
</p:tagLst>
</file>

<file path=ppt/tags/tag13.xml><?xml version="1.0" encoding="utf-8"?>
<p:tagLst xmlns:p="http://schemas.openxmlformats.org/presentationml/2006/main">
  <p:tag name="KSO_WM_DIAGRAM_VIRTUALLY_FRAME" val="{&quot;height&quot;:309,&quot;left&quot;:72,&quot;top&quot;:126,&quot;width&quot;:703.5}"/>
</p:tagLst>
</file>

<file path=ppt/tags/tag14.xml><?xml version="1.0" encoding="utf-8"?>
<p:tagLst xmlns:p="http://schemas.openxmlformats.org/presentationml/2006/main">
  <p:tag name="KSO_WM_DIAGRAM_VIRTUALLY_FRAME" val="{&quot;height&quot;:309,&quot;left&quot;:72,&quot;top&quot;:126,&quot;width&quot;:703.5}"/>
</p:tagLst>
</file>

<file path=ppt/tags/tag15.xml><?xml version="1.0" encoding="utf-8"?>
<p:tagLst xmlns:p="http://schemas.openxmlformats.org/presentationml/2006/main">
  <p:tag name="KSO_WM_DIAGRAM_VIRTUALLY_FRAME" val="{&quot;height&quot;:309,&quot;left&quot;:72,&quot;top&quot;:126,&quot;width&quot;:703.5}"/>
</p:tagLst>
</file>

<file path=ppt/tags/tag16.xml><?xml version="1.0" encoding="utf-8"?>
<p:tagLst xmlns:p="http://schemas.openxmlformats.org/presentationml/2006/main">
  <p:tag name="KSO_WM_DIAGRAM_VIRTUALLY_FRAME" val="{&quot;height&quot;:309,&quot;left&quot;:72,&quot;top&quot;:126,&quot;width&quot;:703.5}"/>
</p:tagLst>
</file>

<file path=ppt/tags/tag17.xml><?xml version="1.0" encoding="utf-8"?>
<p:tagLst xmlns:p="http://schemas.openxmlformats.org/presentationml/2006/main">
  <p:tag name="KSO_WM_DIAGRAM_VIRTUALLY_FRAME" val="{&quot;height&quot;:309,&quot;left&quot;:72,&quot;top&quot;:126,&quot;width&quot;:703.5}"/>
</p:tagLst>
</file>

<file path=ppt/tags/tag18.xml><?xml version="1.0" encoding="utf-8"?>
<p:tagLst xmlns:p="http://schemas.openxmlformats.org/presentationml/2006/main">
  <p:tag name="KSO_WM_DIAGRAM_VIRTUALLY_FRAME" val="{&quot;height&quot;:309,&quot;left&quot;:72,&quot;top&quot;:126,&quot;width&quot;:703.5}"/>
</p:tagLst>
</file>

<file path=ppt/tags/tag19.xml><?xml version="1.0" encoding="utf-8"?>
<p:tagLst xmlns:p="http://schemas.openxmlformats.org/presentationml/2006/main">
  <p:tag name="KSO_WM_DIAGRAM_VIRTUALLY_FRAME" val="{&quot;height&quot;:309,&quot;left&quot;:72,&quot;top&quot;:126,&quot;width&quot;:703.5}"/>
</p:tagLst>
</file>

<file path=ppt/tags/tag20.xml><?xml version="1.0" encoding="utf-8"?>
<p:tagLst xmlns:p="http://schemas.openxmlformats.org/presentationml/2006/main">
  <p:tag name="KSO_WM_DIAGRAM_VIRTUALLY_FRAME" val="{&quot;height&quot;:309,&quot;left&quot;:72,&quot;top&quot;:126,&quot;width&quot;:703.5}"/>
</p:tagLst>
</file>

<file path=ppt/tags/tag21.xml><?xml version="1.0" encoding="utf-8"?>
<p:tagLst xmlns:p="http://schemas.openxmlformats.org/presentationml/2006/main">
  <p:tag name="KSO_WM_DIAGRAM_VIRTUALLY_FRAME" val="{&quot;height&quot;:196.5,&quot;left&quot;:67.5,&quot;top&quot;:206.25,&quot;width&quot;:791.25}"/>
</p:tagLst>
</file>

<file path=ppt/tags/tag22.xml><?xml version="1.0" encoding="utf-8"?>
<p:tagLst xmlns:p="http://schemas.openxmlformats.org/presentationml/2006/main">
  <p:tag name="KSO_WM_DIAGRAM_VIRTUALLY_FRAME" val="{&quot;height&quot;:196.5,&quot;left&quot;:67.5,&quot;top&quot;:206.25,&quot;width&quot;:791.25}"/>
</p:tagLst>
</file>

<file path=ppt/tags/tag23.xml><?xml version="1.0" encoding="utf-8"?>
<p:tagLst xmlns:p="http://schemas.openxmlformats.org/presentationml/2006/main">
  <p:tag name="KSO_WM_DIAGRAM_VIRTUALLY_FRAME" val="{&quot;height&quot;:196.5,&quot;left&quot;:67.5,&quot;top&quot;:206.25,&quot;width&quot;:791.25}"/>
</p:tagLst>
</file>

<file path=ppt/tags/tag24.xml><?xml version="1.0" encoding="utf-8"?>
<p:tagLst xmlns:p="http://schemas.openxmlformats.org/presentationml/2006/main">
  <p:tag name="KSO_WM_DIAGRAM_VIRTUALLY_FRAME" val="{&quot;height&quot;:196.5,&quot;left&quot;:67.5,&quot;top&quot;:206.25,&quot;width&quot;:791.25}"/>
</p:tagLst>
</file>

<file path=ppt/tags/tag25.xml><?xml version="1.0" encoding="utf-8"?>
<p:tagLst xmlns:p="http://schemas.openxmlformats.org/presentationml/2006/main">
  <p:tag name="KSO_WM_DIAGRAM_VIRTUALLY_FRAME" val="{&quot;height&quot;:196.5,&quot;left&quot;:67.5,&quot;top&quot;:206.25,&quot;width&quot;:791.25}"/>
</p:tagLst>
</file>

<file path=ppt/tags/tag26.xml><?xml version="1.0" encoding="utf-8"?>
<p:tagLst xmlns:p="http://schemas.openxmlformats.org/presentationml/2006/main">
  <p:tag name="KSO_WM_DIAGRAM_VIRTUALLY_FRAME" val="{&quot;height&quot;:196.5,&quot;left&quot;:67.5,&quot;top&quot;:206.25,&quot;width&quot;:791.25}"/>
</p:tagLst>
</file>

<file path=ppt/tags/tag27.xml><?xml version="1.0" encoding="utf-8"?>
<p:tagLst xmlns:p="http://schemas.openxmlformats.org/presentationml/2006/main">
  <p:tag name="KSO_WM_DIAGRAM_VIRTUALLY_FRAME" val="{&quot;height&quot;:196.5,&quot;left&quot;:67.5,&quot;top&quot;:206.25,&quot;width&quot;:791.25}"/>
</p:tagLst>
</file>

<file path=ppt/tags/tag28.xml><?xml version="1.0" encoding="utf-8"?>
<p:tagLst xmlns:p="http://schemas.openxmlformats.org/presentationml/2006/main">
  <p:tag name="KSO_WM_DIAGRAM_VIRTUALLY_FRAME" val="{&quot;height&quot;:196.5,&quot;left&quot;:67.5,&quot;top&quot;:206.25,&quot;width&quot;:791.25}"/>
</p:tagLst>
</file>

<file path=ppt/tags/tag29.xml><?xml version="1.0" encoding="utf-8"?>
<p:tagLst xmlns:p="http://schemas.openxmlformats.org/presentationml/2006/main">
  <p:tag name="KSO_WM_DIAGRAM_VIRTUALLY_FRAME" val="{&quot;height&quot;:196.5,&quot;left&quot;:67.5,&quot;top&quot;:206.25,&quot;width&quot;:791.25}"/>
</p:tagLst>
</file>

<file path=ppt/tags/tag30.xml><?xml version="1.0" encoding="utf-8"?>
<p:tagLst xmlns:p="http://schemas.openxmlformats.org/presentationml/2006/main">
  <p:tag name="KSO_WM_DIAGRAM_VIRTUALLY_FRAME" val="{&quot;height&quot;:196.5,&quot;left&quot;:67.5,&quot;top&quot;:206.25,&quot;width&quot;:791.25}"/>
</p:tagLst>
</file>

<file path=ppt/tags/tag31.xml><?xml version="1.0" encoding="utf-8"?>
<p:tagLst xmlns:p="http://schemas.openxmlformats.org/presentationml/2006/main">
  <p:tag name="KSO_WM_DIAGRAM_VIRTUALLY_FRAME" val="{&quot;height&quot;:196.5,&quot;left&quot;:67.5,&quot;top&quot;:206.25,&quot;width&quot;:791.25}"/>
</p:tagLst>
</file>

<file path=ppt/tags/tag32.xml><?xml version="1.0" encoding="utf-8"?>
<p:tagLst xmlns:p="http://schemas.openxmlformats.org/presentationml/2006/main">
  <p:tag name="KSO_WM_DIAGRAM_VIRTUALLY_FRAME" val="{&quot;height&quot;:196.5,&quot;left&quot;:67.5,&quot;top&quot;:206.25,&quot;width&quot;:791.25}"/>
</p:tagLst>
</file>

<file path=ppt/tags/tag33.xml><?xml version="1.0" encoding="utf-8"?>
<p:tagLst xmlns:p="http://schemas.openxmlformats.org/presentationml/2006/main">
  <p:tag name="KSO_WM_DIAGRAM_VIRTUALLY_FRAME" val="{&quot;height&quot;:78.8,&quot;left&quot;:60,&quot;top&quot;:202.5,&quot;width&quot;:832.5}"/>
</p:tagLst>
</file>

<file path=ppt/tags/tag34.xml><?xml version="1.0" encoding="utf-8"?>
<p:tagLst xmlns:p="http://schemas.openxmlformats.org/presentationml/2006/main">
  <p:tag name="KSO_WM_DIAGRAM_VIRTUALLY_FRAME" val="{&quot;height&quot;:78.8,&quot;left&quot;:60,&quot;top&quot;:202.5,&quot;width&quot;:832.5}"/>
</p:tagLst>
</file>

<file path=ppt/tags/tag35.xml><?xml version="1.0" encoding="utf-8"?>
<p:tagLst xmlns:p="http://schemas.openxmlformats.org/presentationml/2006/main">
  <p:tag name="KSO_WM_DIAGRAM_VIRTUALLY_FRAME" val="{&quot;height&quot;:78.8,&quot;left&quot;:60,&quot;top&quot;:202.5,&quot;width&quot;:832.5}"/>
</p:tagLst>
</file>

<file path=ppt/tags/tag36.xml><?xml version="1.0" encoding="utf-8"?>
<p:tagLst xmlns:p="http://schemas.openxmlformats.org/presentationml/2006/main">
  <p:tag name="KSO_WM_DIAGRAM_VIRTUALLY_FRAME" val="{&quot;height&quot;:78.8,&quot;left&quot;:60,&quot;top&quot;:202.5,&quot;width&quot;:832.5}"/>
</p:tagLst>
</file>

<file path=ppt/tags/tag37.xml><?xml version="1.0" encoding="utf-8"?>
<p:tagLst xmlns:p="http://schemas.openxmlformats.org/presentationml/2006/main">
  <p:tag name="KSO_WM_DIAGRAM_VIRTUALLY_FRAME" val="{&quot;height&quot;:78.8,&quot;left&quot;:60,&quot;top&quot;:202.5,&quot;width&quot;:832.5}"/>
</p:tagLst>
</file>

<file path=ppt/tags/tag38.xml><?xml version="1.0" encoding="utf-8"?>
<p:tagLst xmlns:p="http://schemas.openxmlformats.org/presentationml/2006/main">
  <p:tag name="KSO_WM_DIAGRAM_VIRTUALLY_FRAME" val="{&quot;height&quot;:78.8,&quot;left&quot;:60,&quot;top&quot;:202.5,&quot;width&quot;:832.5}"/>
</p:tagLst>
</file>

<file path=ppt/tags/tag39.xml><?xml version="1.0" encoding="utf-8"?>
<p:tagLst xmlns:p="http://schemas.openxmlformats.org/presentationml/2006/main">
  <p:tag name="KSO_WM_DIAGRAM_VIRTUALLY_FRAME" val="{&quot;height&quot;:78.8,&quot;left&quot;:60,&quot;top&quot;:202.5,&quot;width&quot;:832.5}"/>
</p:tagLst>
</file>

<file path=ppt/tags/tag40.xml><?xml version="1.0" encoding="utf-8"?>
<p:tagLst xmlns:p="http://schemas.openxmlformats.org/presentationml/2006/main">
  <p:tag name="KSO_WM_DIAGRAM_VIRTUALLY_FRAME" val="{&quot;height&quot;:78.8,&quot;left&quot;:60,&quot;top&quot;:202.5,&quot;width&quot;:832.5}"/>
</p:tagLst>
</file>

<file path=ppt/tags/tag41.xml><?xml version="1.0" encoding="utf-8"?>
<p:tagLst xmlns:p="http://schemas.openxmlformats.org/presentationml/2006/main">
  <p:tag name="KSO_WM_DIAGRAM_VIRTUALLY_FRAME" val="{&quot;height&quot;:78.8,&quot;left&quot;:60,&quot;top&quot;:202.5,&quot;width&quot;:832.5}"/>
</p:tagLst>
</file>

<file path=ppt/tags/tag42.xml><?xml version="1.0" encoding="utf-8"?>
<p:tagLst xmlns:p="http://schemas.openxmlformats.org/presentationml/2006/main">
  <p:tag name="KSO_WM_DIAGRAM_VIRTUALLY_FRAME" val="{&quot;height&quot;:78.8,&quot;left&quot;:60,&quot;top&quot;:202.5,&quot;width&quot;:832.5}"/>
</p:tagLst>
</file>

<file path=ppt/tags/tag43.xml><?xml version="1.0" encoding="utf-8"?>
<p:tagLst xmlns:p="http://schemas.openxmlformats.org/presentationml/2006/main">
  <p:tag name="KSO_WM_DIAGRAM_VIRTUALLY_FRAME" val="{&quot;height&quot;:78.8,&quot;left&quot;:60,&quot;top&quot;:202.5,&quot;width&quot;:832.5}"/>
</p:tagLst>
</file>

<file path=ppt/tags/tag44.xml><?xml version="1.0" encoding="utf-8"?>
<p:tagLst xmlns:p="http://schemas.openxmlformats.org/presentationml/2006/main">
  <p:tag name="KSO_WM_DIAGRAM_VIRTUALLY_FRAME" val="{&quot;height&quot;:78.8,&quot;left&quot;:60,&quot;top&quot;:202.5,&quot;width&quot;:832.5}"/>
</p:tagLst>
</file>

<file path=ppt/tags/tag45.xml><?xml version="1.0" encoding="utf-8"?>
<p:tagLst xmlns:p="http://schemas.openxmlformats.org/presentationml/2006/main">
  <p:tag name="KSO_WM_DIAGRAM_VIRTUALLY_FRAME" val="{&quot;height&quot;:78.8,&quot;left&quot;:60,&quot;top&quot;:202.5,&quot;width&quot;:832.5}"/>
</p:tagLst>
</file>

<file path=ppt/tags/tag46.xml><?xml version="1.0" encoding="utf-8"?>
<p:tagLst xmlns:p="http://schemas.openxmlformats.org/presentationml/2006/main">
  <p:tag name="KSO_WM_DIAGRAM_VIRTUALLY_FRAME" val="{&quot;height&quot;:78.8,&quot;left&quot;:60,&quot;top&quot;:202.5,&quot;width&quot;:832.5}"/>
</p:tagLst>
</file>

<file path=ppt/tags/tag47.xml><?xml version="1.0" encoding="utf-8"?>
<p:tagLst xmlns:p="http://schemas.openxmlformats.org/presentationml/2006/main">
  <p:tag name="KSO_WM_DIAGRAM_VIRTUALLY_FRAME" val="{&quot;height&quot;:78.8,&quot;left&quot;:60,&quot;top&quot;:202.5,&quot;width&quot;:832.5}"/>
</p:tagLst>
</file>

<file path=ppt/tags/tag48.xml><?xml version="1.0" encoding="utf-8"?>
<p:tagLst xmlns:p="http://schemas.openxmlformats.org/presentationml/2006/main">
  <p:tag name="KSO_WM_DIAGRAM_VIRTUALLY_FRAME" val="{&quot;height&quot;:78.8,&quot;left&quot;:60,&quot;top&quot;:202.5,&quot;width&quot;:832.5}"/>
</p:tagLst>
</file>

<file path=ppt/tags/tag49.xml><?xml version="1.0" encoding="utf-8"?>
<p:tagLst xmlns:p="http://schemas.openxmlformats.org/presentationml/2006/main">
  <p:tag name="KSO_WM_DIAGRAM_VIRTUALLY_FRAME" val="{&quot;height&quot;:78.8,&quot;left&quot;:60,&quot;top&quot;:202.5,&quot;width&quot;:832.5}"/>
</p:tagLst>
</file>

<file path=ppt/tags/tag50.xml><?xml version="1.0" encoding="utf-8"?>
<p:tagLst xmlns:p="http://schemas.openxmlformats.org/presentationml/2006/main">
  <p:tag name="KSO_WM_DIAGRAM_VIRTUALLY_FRAME" val="{&quot;height&quot;:78.8,&quot;left&quot;:60,&quot;top&quot;:202.5,&quot;width&quot;:832.5}"/>
</p:tagLst>
</file>

<file path=ppt/tags/tag51.xml><?xml version="1.0" encoding="utf-8"?>
<p:tagLst xmlns:p="http://schemas.openxmlformats.org/presentationml/2006/main">
  <p:tag name="KSO_WM_DIAGRAM_VIRTUALLY_FRAME" val="{&quot;height&quot;:78.8,&quot;left&quot;:60,&quot;top&quot;:202.5,&quot;width&quot;:832.5}"/>
</p:tagLst>
</file>

<file path=ppt/tags/tag52.xml><?xml version="1.0" encoding="utf-8"?>
<p:tagLst xmlns:p="http://schemas.openxmlformats.org/presentationml/2006/main">
  <p:tag name="KSO_WM_DIAGRAM_VIRTUALLY_FRAME" val="{&quot;height&quot;:258.75,&quot;left&quot;:67.5,&quot;top&quot;:123.75,&quot;width&quot;:783.75}"/>
</p:tagLst>
</file>

<file path=ppt/tags/tag53.xml><?xml version="1.0" encoding="utf-8"?>
<p:tagLst xmlns:p="http://schemas.openxmlformats.org/presentationml/2006/main">
  <p:tag name="KSO_WM_DIAGRAM_VIRTUALLY_FRAME" val="{&quot;height&quot;:258.75,&quot;left&quot;:67.5,&quot;top&quot;:123.75,&quot;width&quot;:783.75}"/>
</p:tagLst>
</file>

<file path=ppt/tags/tag54.xml><?xml version="1.0" encoding="utf-8"?>
<p:tagLst xmlns:p="http://schemas.openxmlformats.org/presentationml/2006/main">
  <p:tag name="KSO_WM_DIAGRAM_VIRTUALLY_FRAME" val="{&quot;height&quot;:258.75,&quot;left&quot;:67.5,&quot;top&quot;:123.75,&quot;width&quot;:783.75}"/>
</p:tagLst>
</file>

<file path=ppt/tags/tag55.xml><?xml version="1.0" encoding="utf-8"?>
<p:tagLst xmlns:p="http://schemas.openxmlformats.org/presentationml/2006/main">
  <p:tag name="KSO_WM_DIAGRAM_VIRTUALLY_FRAME" val="{&quot;height&quot;:258.75,&quot;left&quot;:67.5,&quot;top&quot;:123.75,&quot;width&quot;:783.75}"/>
</p:tagLst>
</file>

<file path=ppt/tags/tag56.xml><?xml version="1.0" encoding="utf-8"?>
<p:tagLst xmlns:p="http://schemas.openxmlformats.org/presentationml/2006/main">
  <p:tag name="KSO_WM_DIAGRAM_VIRTUALLY_FRAME" val="{&quot;height&quot;:258.75,&quot;left&quot;:67.5,&quot;top&quot;:123.75,&quot;width&quot;:783.75}"/>
</p:tagLst>
</file>

<file path=ppt/tags/tag57.xml><?xml version="1.0" encoding="utf-8"?>
<p:tagLst xmlns:p="http://schemas.openxmlformats.org/presentationml/2006/main">
  <p:tag name="KSO_WM_DIAGRAM_VIRTUALLY_FRAME" val="{&quot;height&quot;:258.75,&quot;left&quot;:67.5,&quot;top&quot;:123.75,&quot;width&quot;:783.75}"/>
</p:tagLst>
</file>

<file path=ppt/tags/tag58.xml><?xml version="1.0" encoding="utf-8"?>
<p:tagLst xmlns:p="http://schemas.openxmlformats.org/presentationml/2006/main">
  <p:tag name="KSO_WM_DIAGRAM_VIRTUALLY_FRAME" val="{&quot;height&quot;:258.75,&quot;left&quot;:67.5,&quot;top&quot;:123.75,&quot;width&quot;:783.75}"/>
</p:tagLst>
</file>

<file path=ppt/tags/tag59.xml><?xml version="1.0" encoding="utf-8"?>
<p:tagLst xmlns:p="http://schemas.openxmlformats.org/presentationml/2006/main">
  <p:tag name="KSO_WM_DIAGRAM_VIRTUALLY_FRAME" val="{&quot;height&quot;:258.75,&quot;left&quot;:67.5,&quot;top&quot;:123.75,&quot;width&quot;:783.75}"/>
</p:tagLst>
</file>

<file path=ppt/tags/tag60.xml><?xml version="1.0" encoding="utf-8"?>
<p:tagLst xmlns:p="http://schemas.openxmlformats.org/presentationml/2006/main">
  <p:tag name="KSO_WM_DIAGRAM_VIRTUALLY_FRAME" val="{&quot;height&quot;:258.75,&quot;left&quot;:67.5,&quot;top&quot;:123.75,&quot;width&quot;:783.75}"/>
</p:tagLst>
</file>

<file path=ppt/tags/tag61.xml><?xml version="1.0" encoding="utf-8"?>
<p:tagLst xmlns:p="http://schemas.openxmlformats.org/presentationml/2006/main">
  <p:tag name="KSO_WM_DIAGRAM_VIRTUALLY_FRAME" val="{&quot;height&quot;:258.75,&quot;left&quot;:67.5,&quot;top&quot;:123.75,&quot;width&quot;:783.75}"/>
</p:tagLst>
</file>

<file path=ppt/tags/tag62.xml><?xml version="1.0" encoding="utf-8"?>
<p:tagLst xmlns:p="http://schemas.openxmlformats.org/presentationml/2006/main">
  <p:tag name="KSO_WM_DIAGRAM_VIRTUALLY_FRAME" val="{&quot;height&quot;:258.75,&quot;left&quot;:67.5,&quot;top&quot;:123.75,&quot;width&quot;:783.75}"/>
</p:tagLst>
</file>

<file path=ppt/tags/tag63.xml><?xml version="1.0" encoding="utf-8"?>
<p:tagLst xmlns:p="http://schemas.openxmlformats.org/presentationml/2006/main">
  <p:tag name="KSO_WM_DIAGRAM_VIRTUALLY_FRAME" val="{&quot;height&quot;:258.75,&quot;left&quot;:67.5,&quot;top&quot;:123.75,&quot;width&quot;:783.75}"/>
</p:tagLst>
</file>

<file path=ppt/tags/tag64.xml><?xml version="1.0" encoding="utf-8"?>
<p:tagLst xmlns:p="http://schemas.openxmlformats.org/presentationml/2006/main">
  <p:tag name="KSO_WM_DIAGRAM_VIRTUALLY_FRAME" val="{&quot;height&quot;:258.75,&quot;left&quot;:67.5,&quot;top&quot;:123.75,&quot;width&quot;:783.75}"/>
</p:tagLst>
</file>

<file path=ppt/tags/tag65.xml><?xml version="1.0" encoding="utf-8"?>
<p:tagLst xmlns:p="http://schemas.openxmlformats.org/presentationml/2006/main">
  <p:tag name="KSO_WM_DIAGRAM_VIRTUALLY_FRAME" val="{&quot;height&quot;:258.75,&quot;left&quot;:67.5,&quot;top&quot;:123.75,&quot;width&quot;:783.75}"/>
</p:tagLst>
</file>

<file path=ppt/tags/tag66.xml><?xml version="1.0" encoding="utf-8"?>
<p:tagLst xmlns:p="http://schemas.openxmlformats.org/presentationml/2006/main">
  <p:tag name="KSO_WM_DIAGRAM_VIRTUALLY_FRAME" val="{&quot;height&quot;:258.75,&quot;left&quot;:67.5,&quot;top&quot;:123.75,&quot;width&quot;:783.75}"/>
</p:tagLst>
</file>

<file path=ppt/tags/tag67.xml><?xml version="1.0" encoding="utf-8"?>
<p:tagLst xmlns:p="http://schemas.openxmlformats.org/presentationml/2006/main">
  <p:tag name="KSO_WM_DIAGRAM_VIRTUALLY_FRAME" val="{&quot;height&quot;:258.75,&quot;left&quot;:67.5,&quot;top&quot;:123.75,&quot;width&quot;:783.75}"/>
</p:tagLst>
</file>

<file path=ppt/tags/tag68.xml><?xml version="1.0" encoding="utf-8"?>
<p:tagLst xmlns:p="http://schemas.openxmlformats.org/presentationml/2006/main">
  <p:tag name="KSO_WM_DIAGRAM_VIRTUALLY_FRAME" val="{&quot;height&quot;:255.75,&quot;left&quot;:69,&quot;top&quot;:113.25,&quot;width&quot;:813.75}"/>
</p:tagLst>
</file>

<file path=ppt/tags/tag69.xml><?xml version="1.0" encoding="utf-8"?>
<p:tagLst xmlns:p="http://schemas.openxmlformats.org/presentationml/2006/main">
  <p:tag name="KSO_WM_DIAGRAM_VIRTUALLY_FRAME" val="{&quot;height&quot;:255.75,&quot;left&quot;:69,&quot;top&quot;:113.25,&quot;width&quot;:813.75}"/>
</p:tagLst>
</file>

<file path=ppt/tags/tag70.xml><?xml version="1.0" encoding="utf-8"?>
<p:tagLst xmlns:p="http://schemas.openxmlformats.org/presentationml/2006/main">
  <p:tag name="KSO_WM_DIAGRAM_VIRTUALLY_FRAME" val="{&quot;height&quot;:255.75,&quot;left&quot;:69,&quot;top&quot;:113.25,&quot;width&quot;:813.75}"/>
</p:tagLst>
</file>

<file path=ppt/tags/tag71.xml><?xml version="1.0" encoding="utf-8"?>
<p:tagLst xmlns:p="http://schemas.openxmlformats.org/presentationml/2006/main">
  <p:tag name="KSO_WM_DIAGRAM_VIRTUALLY_FRAME" val="{&quot;height&quot;:255.75,&quot;left&quot;:69,&quot;top&quot;:113.25,&quot;width&quot;:813.75}"/>
</p:tagLst>
</file>

<file path=ppt/tags/tag72.xml><?xml version="1.0" encoding="utf-8"?>
<p:tagLst xmlns:p="http://schemas.openxmlformats.org/presentationml/2006/main">
  <p:tag name="KSO_WM_DIAGRAM_VIRTUALLY_FRAME" val="{&quot;height&quot;:255.75,&quot;left&quot;:69,&quot;top&quot;:113.25,&quot;width&quot;:813.75}"/>
</p:tagLst>
</file>

<file path=ppt/tags/tag73.xml><?xml version="1.0" encoding="utf-8"?>
<p:tagLst xmlns:p="http://schemas.openxmlformats.org/presentationml/2006/main">
  <p:tag name="KSO_WM_DIAGRAM_VIRTUALLY_FRAME" val="{&quot;height&quot;:255.75,&quot;left&quot;:69,&quot;top&quot;:113.25,&quot;width&quot;:813.75}"/>
</p:tagLst>
</file>

<file path=ppt/tags/tag74.xml><?xml version="1.0" encoding="utf-8"?>
<p:tagLst xmlns:p="http://schemas.openxmlformats.org/presentationml/2006/main">
  <p:tag name="KSO_WM_DIAGRAM_VIRTUALLY_FRAME" val="{&quot;height&quot;:255.75,&quot;left&quot;:69,&quot;top&quot;:113.25,&quot;width&quot;:813.75}"/>
</p:tagLst>
</file>

<file path=ppt/tags/tag75.xml><?xml version="1.0" encoding="utf-8"?>
<p:tagLst xmlns:p="http://schemas.openxmlformats.org/presentationml/2006/main">
  <p:tag name="KSO_WM_DIAGRAM_VIRTUALLY_FRAME" val="{&quot;height&quot;:255.75,&quot;left&quot;:69,&quot;top&quot;:113.25,&quot;width&quot;:813.75}"/>
</p:tagLst>
</file>

<file path=ppt/tags/tag76.xml><?xml version="1.0" encoding="utf-8"?>
<p:tagLst xmlns:p="http://schemas.openxmlformats.org/presentationml/2006/main">
  <p:tag name="KSO_WM_DIAGRAM_VIRTUALLY_FRAME" val="{&quot;height&quot;:255.75,&quot;left&quot;:69,&quot;top&quot;:113.25,&quot;width&quot;:813.75}"/>
</p:tagLst>
</file>

<file path=ppt/tags/tag77.xml><?xml version="1.0" encoding="utf-8"?>
<p:tagLst xmlns:p="http://schemas.openxmlformats.org/presentationml/2006/main">
  <p:tag name="KSO_WM_DIAGRAM_VIRTUALLY_FRAME" val="{&quot;height&quot;:255.75,&quot;left&quot;:69,&quot;top&quot;:113.25,&quot;width&quot;:813.75}"/>
</p:tagLst>
</file>

<file path=ppt/tags/tag78.xml><?xml version="1.0" encoding="utf-8"?>
<p:tagLst xmlns:p="http://schemas.openxmlformats.org/presentationml/2006/main">
  <p:tag name="KSO_WM_DIAGRAM_VIRTUALLY_FRAME" val="{&quot;height&quot;:255.75,&quot;left&quot;:69,&quot;top&quot;:113.25,&quot;width&quot;:813.75}"/>
</p:tagLst>
</file>

<file path=ppt/tags/tag79.xml><?xml version="1.0" encoding="utf-8"?>
<p:tagLst xmlns:p="http://schemas.openxmlformats.org/presentationml/2006/main">
  <p:tag name="KSO_WM_DIAGRAM_VIRTUALLY_FRAME" val="{&quot;height&quot;:255.75,&quot;left&quot;:69,&quot;top&quot;:113.25,&quot;width&quot;:813.75}"/>
</p:tagLst>
</file>

<file path=ppt/tags/tag80.xml><?xml version="1.0" encoding="utf-8"?>
<p:tagLst xmlns:p="http://schemas.openxmlformats.org/presentationml/2006/main">
  <p:tag name="KSO_WM_DIAGRAM_VIRTUALLY_FRAME" val="{&quot;height&quot;:247.5,&quot;left&quot;:69,&quot;top&quot;:121.5,&quot;width&quot;:813.75}"/>
</p:tagLst>
</file>

<file path=ppt/tags/tag81.xml><?xml version="1.0" encoding="utf-8"?>
<p:tagLst xmlns:p="http://schemas.openxmlformats.org/presentationml/2006/main">
  <p:tag name="KSO_WM_DIAGRAM_VIRTUALLY_FRAME" val="{&quot;height&quot;:247.5,&quot;left&quot;:69,&quot;top&quot;:121.5,&quot;width&quot;:813.75}"/>
</p:tagLst>
</file>

<file path=ppt/tags/tag82.xml><?xml version="1.0" encoding="utf-8"?>
<p:tagLst xmlns:p="http://schemas.openxmlformats.org/presentationml/2006/main">
  <p:tag name="KSO_WM_DIAGRAM_VIRTUALLY_FRAME" val="{&quot;height&quot;:247.5,&quot;left&quot;:69,&quot;top&quot;:121.5,&quot;width&quot;:813.75}"/>
</p:tagLst>
</file>

<file path=ppt/tags/tag83.xml><?xml version="1.0" encoding="utf-8"?>
<p:tagLst xmlns:p="http://schemas.openxmlformats.org/presentationml/2006/main">
  <p:tag name="KSO_WM_DIAGRAM_VIRTUALLY_FRAME" val="{&quot;height&quot;:247.5,&quot;left&quot;:69,&quot;top&quot;:121.5,&quot;width&quot;:813.75}"/>
</p:tagLst>
</file>

<file path=ppt/tags/tag84.xml><?xml version="1.0" encoding="utf-8"?>
<p:tagLst xmlns:p="http://schemas.openxmlformats.org/presentationml/2006/main">
  <p:tag name="KSO_WM_DIAGRAM_VIRTUALLY_FRAME" val="{&quot;height&quot;:247.5,&quot;left&quot;:69,&quot;top&quot;:121.5,&quot;width&quot;:813.75}"/>
</p:tagLst>
</file>

<file path=ppt/tags/tag85.xml><?xml version="1.0" encoding="utf-8"?>
<p:tagLst xmlns:p="http://schemas.openxmlformats.org/presentationml/2006/main">
  <p:tag name="KSO_WM_DIAGRAM_VIRTUALLY_FRAME" val="{&quot;height&quot;:247.5,&quot;left&quot;:69,&quot;top&quot;:121.5,&quot;width&quot;:813.75}"/>
</p:tagLst>
</file>

<file path=ppt/tags/tag86.xml><?xml version="1.0" encoding="utf-8"?>
<p:tagLst xmlns:p="http://schemas.openxmlformats.org/presentationml/2006/main">
  <p:tag name="KSO_WM_DIAGRAM_VIRTUALLY_FRAME" val="{&quot;height&quot;:247.5,&quot;left&quot;:69,&quot;top&quot;:121.5,&quot;width&quot;:813.75}"/>
</p:tagLst>
</file>

<file path=ppt/tags/tag87.xml><?xml version="1.0" encoding="utf-8"?>
<p:tagLst xmlns:p="http://schemas.openxmlformats.org/presentationml/2006/main">
  <p:tag name="KSO_WM_DIAGRAM_VIRTUALLY_FRAME" val="{&quot;height&quot;:247.5,&quot;left&quot;:69,&quot;top&quot;:121.5,&quot;width&quot;:813.75}"/>
</p:tagLst>
</file>

<file path=ppt/tags/tag88.xml><?xml version="1.0" encoding="utf-8"?>
<p:tagLst xmlns:p="http://schemas.openxmlformats.org/presentationml/2006/main">
  <p:tag name="KSO_WM_DIAGRAM_VIRTUALLY_FRAME" val="{&quot;height&quot;:247.5,&quot;left&quot;:69,&quot;top&quot;:121.5,&quot;width&quot;:813.75}"/>
</p:tagLst>
</file>

<file path=ppt/tags/tag89.xml><?xml version="1.0" encoding="utf-8"?>
<p:tagLst xmlns:p="http://schemas.openxmlformats.org/presentationml/2006/main">
  <p:tag name="KSO_WM_DIAGRAM_VIRTUALLY_FRAME" val="{&quot;height&quot;:247.5,&quot;left&quot;:69,&quot;top&quot;:121.5,&quot;width&quot;:813.75}"/>
</p:tagLst>
</file>

<file path=ppt/tags/tag90.xml><?xml version="1.0" encoding="utf-8"?>
<p:tagLst xmlns:p="http://schemas.openxmlformats.org/presentationml/2006/main">
  <p:tag name="KSO_WM_DIAGRAM_VIRTUALLY_FRAME" val="{&quot;height&quot;:247.5,&quot;left&quot;:69,&quot;top&quot;:121.5,&quot;width&quot;:813.75}"/>
</p:tagLst>
</file>

<file path=ppt/tags/tag91.xml><?xml version="1.0" encoding="utf-8"?>
<p:tagLst xmlns:p="http://schemas.openxmlformats.org/presentationml/2006/main">
  <p:tag name="KSO_WM_DIAGRAM_VIRTUALLY_FRAME" val="{&quot;height&quot;:247.5,&quot;left&quot;:69,&quot;top&quot;:121.5,&quot;width&quot;:813.75}"/>
</p:tagLst>
</file>

<file path=ppt/tags/tag92.xml><?xml version="1.0" encoding="utf-8"?>
<p:tagLst xmlns:p="http://schemas.openxmlformats.org/presentationml/2006/main">
  <p:tag name="KSO_WM_MEDIACOVER_FLAG" val="1"/>
  <p:tag name="KSO_WM_UNIT_MEDIACOVER_BTN_STATE" val="1"/>
  <p:tag name="KSO_WM_UNIT_MEDIACOVER_BTNRECT" val="0*0*0*0"/>
</p:tagLst>
</file>

<file path=ppt/tags/tag93.xml><?xml version="1.0" encoding="utf-8"?>
<p:tagLst xmlns:p="http://schemas.openxmlformats.org/presentationml/2006/main">
  <p:tag name="KSO_WM_DIAGRAM_VIRTUALLY_FRAME" val="{&quot;height&quot;:213.75,&quot;left&quot;:67.5,&quot;top&quot;:138.75,&quot;width&quot;:757.5}"/>
</p:tagLst>
</file>

<file path=ppt/tags/tag94.xml><?xml version="1.0" encoding="utf-8"?>
<p:tagLst xmlns:p="http://schemas.openxmlformats.org/presentationml/2006/main">
  <p:tag name="KSO_WM_DIAGRAM_VIRTUALLY_FRAME" val="{&quot;height&quot;:213.75,&quot;left&quot;:67.5,&quot;top&quot;:138.75,&quot;width&quot;:757.5}"/>
</p:tagLst>
</file>

<file path=ppt/tags/tag95.xml><?xml version="1.0" encoding="utf-8"?>
<p:tagLst xmlns:p="http://schemas.openxmlformats.org/presentationml/2006/main">
  <p:tag name="KSO_WM_DIAGRAM_VIRTUALLY_FRAME" val="{&quot;height&quot;:213.75,&quot;left&quot;:67.5,&quot;top&quot;:138.75,&quot;width&quot;:757.5}"/>
</p:tagLst>
</file>

<file path=ppt/tags/tag96.xml><?xml version="1.0" encoding="utf-8"?>
<p:tagLst xmlns:p="http://schemas.openxmlformats.org/presentationml/2006/main">
  <p:tag name="KSO_WM_DIAGRAM_VIRTUALLY_FRAME" val="{&quot;height&quot;:213.75,&quot;left&quot;:67.5,&quot;top&quot;:138.75,&quot;width&quot;:757.5}"/>
</p:tagLst>
</file>

<file path=ppt/tags/tag97.xml><?xml version="1.0" encoding="utf-8"?>
<p:tagLst xmlns:p="http://schemas.openxmlformats.org/presentationml/2006/main">
  <p:tag name="KSO_WM_DIAGRAM_VIRTUALLY_FRAME" val="{&quot;height&quot;:213.75,&quot;left&quot;:67.5,&quot;top&quot;:138.75,&quot;width&quot;:757.5}"/>
</p:tagLst>
</file>

<file path=ppt/tags/tag98.xml><?xml version="1.0" encoding="utf-8"?>
<p:tagLst xmlns:p="http://schemas.openxmlformats.org/presentationml/2006/main">
  <p:tag name="KSO_WM_DIAGRAM_VIRTUALLY_FRAME" val="{&quot;height&quot;:213.75,&quot;left&quot;:67.5,&quot;top&quot;:138.75,&quot;width&quot;:757.5}"/>
</p:tagLst>
</file>

<file path=ppt/tags/tag99.xml><?xml version="1.0" encoding="utf-8"?>
<p:tagLst xmlns:p="http://schemas.openxmlformats.org/presentationml/2006/main">
  <p:tag name="KSO_WM_DIAGRAM_VIRTUALLY_FRAME" val="{&quot;height&quot;:213.75,&quot;left&quot;:67.5,&quot;top&quot;:138.75,&quot;width&quot;:757.5}"/>
</p:tagLst>
</file>

<file path=ppt/tags/tag100.xml><?xml version="1.0" encoding="utf-8"?>
<p:tagLst xmlns:p="http://schemas.openxmlformats.org/presentationml/2006/main">
  <p:tag name="KSO_WM_DIAGRAM_VIRTUALLY_FRAME" val="{&quot;height&quot;:213.75,&quot;left&quot;:67.5,&quot;top&quot;:138.75,&quot;width&quot;:757.5}"/>
</p:tagLst>
</file>

<file path=ppt/tags/tag101.xml><?xml version="1.0" encoding="utf-8"?>
<p:tagLst xmlns:p="http://schemas.openxmlformats.org/presentationml/2006/main">
  <p:tag name="KSO_WM_DIAGRAM_VIRTUALLY_FRAME" val="{&quot;height&quot;:213.75,&quot;left&quot;:67.5,&quot;top&quot;:138.75,&quot;width&quot;:757.5}"/>
</p:tagLst>
</file>

<file path=ppt/tags/tag102.xml><?xml version="1.0" encoding="utf-8"?>
<p:tagLst xmlns:p="http://schemas.openxmlformats.org/presentationml/2006/main">
  <p:tag name="KSO_WM_DIAGRAM_VIRTUALLY_FRAME" val="{&quot;height&quot;:213.75,&quot;left&quot;:67.5,&quot;top&quot;:138.75,&quot;width&quot;:757.5}"/>
</p:tagLst>
</file>

<file path=ppt/tags/tag103.xml><?xml version="1.0" encoding="utf-8"?>
<p:tagLst xmlns:p="http://schemas.openxmlformats.org/presentationml/2006/main">
  <p:tag name="KSO_WM_DIAGRAM_VIRTUALLY_FRAME" val="{&quot;height&quot;:213.75,&quot;left&quot;:67.5,&quot;top&quot;:138.75,&quot;width&quot;:757.5}"/>
</p:tagLst>
</file>

<file path=ppt/tags/tag104.xml><?xml version="1.0" encoding="utf-8"?>
<p:tagLst xmlns:p="http://schemas.openxmlformats.org/presentationml/2006/main">
  <p:tag name="KSO_WM_DIAGRAM_VIRTUALLY_FRAME" val="{&quot;height&quot;:213.75,&quot;left&quot;:67.5,&quot;top&quot;:138.75,&quot;width&quot;:757.5}"/>
</p:tagLst>
</file>

<file path=ppt/tags/tag105.xml><?xml version="1.0" encoding="utf-8"?>
<p:tagLst xmlns:p="http://schemas.openxmlformats.org/presentationml/2006/main">
  <p:tag name="KSO_WM_DIAGRAM_VIRTUALLY_FRAME" val="{&quot;height&quot;:213.75,&quot;left&quot;:67.5,&quot;top&quot;:138.75,&quot;width&quot;:757.5}"/>
</p:tagLst>
</file>

<file path=ppt/tags/tag106.xml><?xml version="1.0" encoding="utf-8"?>
<p:tagLst xmlns:p="http://schemas.openxmlformats.org/presentationml/2006/main">
  <p:tag name="KSO_WM_DIAGRAM_VIRTUALLY_FRAME" val="{&quot;height&quot;:213.75,&quot;left&quot;:67.5,&quot;top&quot;:138.75,&quot;width&quot;:757.5}"/>
</p:tagLst>
</file>

<file path=ppt/tags/tag107.xml><?xml version="1.0" encoding="utf-8"?>
<p:tagLst xmlns:p="http://schemas.openxmlformats.org/presentationml/2006/main">
  <p:tag name="KSO_WM_DIAGRAM_VIRTUALLY_FRAME" val="{&quot;height&quot;:213.75,&quot;left&quot;:67.5,&quot;top&quot;:138.75,&quot;width&quot;:757.5}"/>
</p:tagLst>
</file>

<file path=ppt/tags/tag108.xml><?xml version="1.0" encoding="utf-8"?>
<p:tagLst xmlns:p="http://schemas.openxmlformats.org/presentationml/2006/main">
  <p:tag name="KSO_WM_DIAGRAM_VIRTUALLY_FRAME" val="{&quot;height&quot;:213.75,&quot;left&quot;:67.5,&quot;top&quot;:138.75,&quot;width&quot;:757.5}"/>
</p:tagLst>
</file>

<file path=ppt/tags/tag109.xml><?xml version="1.0" encoding="utf-8"?>
<p:tagLst xmlns:p="http://schemas.openxmlformats.org/presentationml/2006/main">
  <p:tag name="KSO_WM_DIAGRAM_VIRTUALLY_FRAME" val="{&quot;height&quot;:222,&quot;left&quot;:90,&quot;top&quot;:177.75,&quot;width&quot;:423.75}"/>
</p:tagLst>
</file>

<file path=ppt/tags/tag110.xml><?xml version="1.0" encoding="utf-8"?>
<p:tagLst xmlns:p="http://schemas.openxmlformats.org/presentationml/2006/main">
  <p:tag name="KSO_WM_DIAGRAM_VIRTUALLY_FRAME" val="{&quot;height&quot;:222,&quot;left&quot;:90,&quot;top&quot;:177.75,&quot;width&quot;:423.75}"/>
</p:tagLst>
</file>

<file path=ppt/tags/tag111.xml><?xml version="1.0" encoding="utf-8"?>
<p:tagLst xmlns:p="http://schemas.openxmlformats.org/presentationml/2006/main">
  <p:tag name="KSO_WM_DIAGRAM_VIRTUALLY_FRAME" val="{&quot;height&quot;:222,&quot;left&quot;:90,&quot;top&quot;:177.75,&quot;width&quot;:423.75}"/>
</p:tagLst>
</file>

<file path=ppt/tags/tag112.xml><?xml version="1.0" encoding="utf-8"?>
<p:tagLst xmlns:p="http://schemas.openxmlformats.org/presentationml/2006/main">
  <p:tag name="KSO_WM_DIAGRAM_VIRTUALLY_FRAME" val="{&quot;height&quot;:222,&quot;left&quot;:90,&quot;top&quot;:177.75,&quot;width&quot;:423.75}"/>
</p:tagLst>
</file>

<file path=ppt/tags/tag113.xml><?xml version="1.0" encoding="utf-8"?>
<p:tagLst xmlns:p="http://schemas.openxmlformats.org/presentationml/2006/main">
  <p:tag name="KSO_WM_DIAGRAM_VIRTUALLY_FRAME" val="{&quot;height&quot;:222,&quot;left&quot;:90,&quot;top&quot;:177.75,&quot;width&quot;:423.75}"/>
</p:tagLst>
</file>

<file path=ppt/tags/tag114.xml><?xml version="1.0" encoding="utf-8"?>
<p:tagLst xmlns:p="http://schemas.openxmlformats.org/presentationml/2006/main">
  <p:tag name="KSO_WM_DIAGRAM_VIRTUALLY_FRAME" val="{&quot;height&quot;:222,&quot;left&quot;:90,&quot;top&quot;:177.75,&quot;width&quot;:423.75}"/>
</p:tagLst>
</file>

<file path=ppt/tags/tag115.xml><?xml version="1.0" encoding="utf-8"?>
<p:tagLst xmlns:p="http://schemas.openxmlformats.org/presentationml/2006/main">
  <p:tag name="KSO_WM_DIAGRAM_VIRTUALLY_FRAME" val="{&quot;height&quot;:222,&quot;left&quot;:90,&quot;top&quot;:177.75,&quot;width&quot;:423.75}"/>
</p:tagLst>
</file>

<file path=ppt/tags/tag116.xml><?xml version="1.0" encoding="utf-8"?>
<p:tagLst xmlns:p="http://schemas.openxmlformats.org/presentationml/2006/main">
  <p:tag name="KSO_WM_DIAGRAM_VIRTUALLY_FRAME" val="{&quot;height&quot;:222,&quot;left&quot;:90,&quot;top&quot;:177.75,&quot;width&quot;:423.75}"/>
</p:tagLst>
</file>

<file path=ppt/tags/tag117.xml><?xml version="1.0" encoding="utf-8"?>
<p:tagLst xmlns:p="http://schemas.openxmlformats.org/presentationml/2006/main">
  <p:tag name="KSO_WM_DIAGRAM_VIRTUALLY_FRAME" val="{&quot;height&quot;:222,&quot;left&quot;:90,&quot;top&quot;:177.75,&quot;width&quot;:423.75}"/>
</p:tagLst>
</file>

<file path=ppt/tags/tag118.xml><?xml version="1.0" encoding="utf-8"?>
<p:tagLst xmlns:p="http://schemas.openxmlformats.org/presentationml/2006/main">
  <p:tag name="KSO_WM_DIAGRAM_VIRTUALLY_FRAME" val="{&quot;height&quot;:222,&quot;left&quot;:90,&quot;top&quot;:177.75,&quot;width&quot;:423.75}"/>
</p:tagLst>
</file>

<file path=ppt/tags/tag119.xml><?xml version="1.0" encoding="utf-8"?>
<p:tagLst xmlns:p="http://schemas.openxmlformats.org/presentationml/2006/main">
  <p:tag name="KSO_WM_DIAGRAM_VIRTUALLY_FRAME" val="{&quot;height&quot;:270,&quot;left&quot;:71.25,&quot;top&quot;:131.25,&quot;width&quot;:817.5}"/>
</p:tagLst>
</file>

<file path=ppt/tags/tag120.xml><?xml version="1.0" encoding="utf-8"?>
<p:tagLst xmlns:p="http://schemas.openxmlformats.org/presentationml/2006/main">
  <p:tag name="KSO_WM_DIAGRAM_VIRTUALLY_FRAME" val="{&quot;height&quot;:270,&quot;left&quot;:71.25,&quot;top&quot;:131.25,&quot;width&quot;:817.5}"/>
</p:tagLst>
</file>

<file path=ppt/tags/tag121.xml><?xml version="1.0" encoding="utf-8"?>
<p:tagLst xmlns:p="http://schemas.openxmlformats.org/presentationml/2006/main">
  <p:tag name="KSO_WM_DIAGRAM_VIRTUALLY_FRAME" val="{&quot;height&quot;:270,&quot;left&quot;:71.25,&quot;top&quot;:131.25,&quot;width&quot;:817.5}"/>
</p:tagLst>
</file>

<file path=ppt/tags/tag122.xml><?xml version="1.0" encoding="utf-8"?>
<p:tagLst xmlns:p="http://schemas.openxmlformats.org/presentationml/2006/main">
  <p:tag name="KSO_WM_DIAGRAM_VIRTUALLY_FRAME" val="{&quot;height&quot;:270,&quot;left&quot;:71.25,&quot;top&quot;:131.25,&quot;width&quot;:817.5}"/>
</p:tagLst>
</file>

<file path=ppt/tags/tag123.xml><?xml version="1.0" encoding="utf-8"?>
<p:tagLst xmlns:p="http://schemas.openxmlformats.org/presentationml/2006/main">
  <p:tag name="KSO_WM_DIAGRAM_VIRTUALLY_FRAME" val="{&quot;height&quot;:270,&quot;left&quot;:71.25,&quot;top&quot;:131.25,&quot;width&quot;:817.5}"/>
</p:tagLst>
</file>

<file path=ppt/tags/tag124.xml><?xml version="1.0" encoding="utf-8"?>
<p:tagLst xmlns:p="http://schemas.openxmlformats.org/presentationml/2006/main">
  <p:tag name="KSO_WM_DIAGRAM_VIRTUALLY_FRAME" val="{&quot;height&quot;:270,&quot;left&quot;:71.25,&quot;top&quot;:131.25,&quot;width&quot;:817.5}"/>
</p:tagLst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3951</Words>
  <Application>WPS 演示</Application>
  <PresentationFormat>Converted Presentation</PresentationFormat>
  <Paragraphs>511</Paragraphs>
  <Slides>34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34</vt:i4>
      </vt:variant>
    </vt:vector>
  </HeadingPairs>
  <TitlesOfParts>
    <vt:vector size="54" baseType="lpstr">
      <vt:lpstr>Arial</vt:lpstr>
      <vt:lpstr>宋体</vt:lpstr>
      <vt:lpstr>Wingdings</vt:lpstr>
      <vt:lpstr>Noto Sans SC</vt:lpstr>
      <vt:lpstr>冬青黑体简体中文</vt:lpstr>
      <vt:lpstr>微软雅黑</vt:lpstr>
      <vt:lpstr>汉仪旗黑</vt:lpstr>
      <vt:lpstr>Aptos</vt:lpstr>
      <vt:lpstr>Calibri</vt:lpstr>
      <vt:lpstr>Helvetica Neue</vt:lpstr>
      <vt:lpstr>宋体</vt:lpstr>
      <vt:lpstr>Arial Unicode MS</vt:lpstr>
      <vt:lpstr>汉仪书宋二KW</vt:lpstr>
      <vt:lpstr>Aptos Display</vt:lpstr>
      <vt:lpstr>Aptos</vt:lpstr>
      <vt:lpstr>Aptos Display</vt:lpstr>
      <vt:lpstr>Noto Sans SC</vt:lpstr>
      <vt:lpstr>微软雅黑</vt:lpstr>
      <vt:lpstr>苹方-简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第三片雪花</cp:lastModifiedBy>
  <cp:revision>42</cp:revision>
  <dcterms:created xsi:type="dcterms:W3CDTF">2026-06-15T09:21:56Z</dcterms:created>
  <dcterms:modified xsi:type="dcterms:W3CDTF">2026-06-15T09:21:56Z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2052-7.5.1.8994</vt:lpwstr>
  </property>
  <property fmtid="{D5CDD505-2E9C-101B-9397-08002B2CF9AE}" pid="3" name="ICV">
    <vt:lpwstr>CCCD634AD8564DCAB73869E3345640E5_13</vt:lpwstr>
  </property>
</Properties>
</file>